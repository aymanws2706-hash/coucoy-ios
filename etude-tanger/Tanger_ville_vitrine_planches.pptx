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_cover.jpg"/>
          <p:cNvPicPr>
            <a:picLocks noChangeAspect="1"/>
          </p:cNvPicPr>
          <p:nvPr/>
        </p:nvPicPr>
        <p:blipFill>
          <a:blip r:embed="rId2"/>
          <a:stretch>
            <a:fillRect/>
          </a:stretch>
        </p:blipFill>
        <p:spPr>
          <a:xfrm>
            <a:off x="0" y="0"/>
            <a:ext cx="12192000" cy="7000240"/>
          </a:xfrm>
          <a:prstGeom prst="rect">
            <a:avLst/>
          </a:prstGeom>
        </p:spPr>
      </p:pic>
      <p:sp>
        <p:nvSpPr>
          <p:cNvPr id="3" name="Rectangle 2"/>
          <p:cNvSpPr/>
          <p:nvPr/>
        </p:nvSpPr>
        <p:spPr>
          <a:xfrm>
            <a:off x="0" y="0"/>
            <a:ext cx="4826000" cy="6858000"/>
          </a:xfrm>
          <a:prstGeom prst="rect">
            <a:avLst/>
          </a:prstGeom>
          <a:solidFill>
            <a:srgbClr val="1B1D1E"/>
          </a:solidFill>
          <a:ln>
            <a:noFill/>
          </a:ln>
        </p:spPr>
        <p:txBody>
          <a:bodyPr rtlCol="0" anchor="ctr"/>
          <a:lstStyle/>
          <a:p>
            <a:pPr algn="ctr"/>
          </a:p>
        </p:txBody>
      </p:sp>
      <p:sp>
        <p:nvSpPr>
          <p:cNvPr id="4" name="TextBox 3"/>
          <p:cNvSpPr txBox="1"/>
          <p:nvPr/>
        </p:nvSpPr>
        <p:spPr>
          <a:xfrm>
            <a:off x="444500" y="762000"/>
            <a:ext cx="4064000" cy="190500"/>
          </a:xfrm>
          <a:prstGeom prst="rect">
            <a:avLst/>
          </a:prstGeom>
          <a:noFill/>
        </p:spPr>
        <p:txBody>
          <a:bodyPr wrap="square" lIns="0" rIns="0" tIns="0" bIns="0" anchor="t">
            <a:spAutoFit/>
          </a:bodyPr>
          <a:lstStyle/>
          <a:p>
            <a:pPr algn="l">
              <a:lnSpc>
                <a:spcPct val="120000"/>
              </a:lnSpc>
            </a:pPr>
            <a:r>
              <a:rPr sz="1100" b="0" i="0" spc="400">
                <a:solidFill>
                  <a:srgbClr val="E07A3F"/>
                </a:solidFill>
                <a:latin typeface="Barlow Condensed"/>
              </a:rPr>
              <a:t>ÉTUDE DE CAS  ·  CRITIQUE URBAINE</a:t>
            </a:r>
          </a:p>
        </p:txBody>
      </p:sp>
      <p:sp>
        <p:nvSpPr>
          <p:cNvPr id="5" name="TextBox 4"/>
          <p:cNvSpPr txBox="1"/>
          <p:nvPr/>
        </p:nvSpPr>
        <p:spPr>
          <a:xfrm>
            <a:off x="444500" y="1079500"/>
            <a:ext cx="4318000" cy="1397000"/>
          </a:xfrm>
          <a:prstGeom prst="rect">
            <a:avLst/>
          </a:prstGeom>
          <a:noFill/>
        </p:spPr>
        <p:txBody>
          <a:bodyPr wrap="square" lIns="0" rIns="0" tIns="0" bIns="0" anchor="t">
            <a:spAutoFit/>
          </a:bodyPr>
          <a:lstStyle/>
          <a:p>
            <a:pPr algn="l">
              <a:lnSpc>
                <a:spcPct val="100000"/>
              </a:lnSpc>
            </a:pPr>
            <a:r>
              <a:rPr sz="4600" b="0" i="0" spc="300">
                <a:solidFill>
                  <a:srgbClr val="FFFFFF"/>
                </a:solidFill>
                <a:latin typeface="Barlow Condensed"/>
              </a:rPr>
              <a:t>TANGER,</a:t>
            </a:r>
          </a:p>
          <a:p>
            <a:pPr algn="l">
              <a:lnSpc>
                <a:spcPct val="100000"/>
              </a:lnSpc>
            </a:pPr>
            <a:r>
              <a:rPr sz="4600" b="0" i="0" spc="300">
                <a:solidFill>
                  <a:srgbClr val="FFFFFF"/>
                </a:solidFill>
                <a:latin typeface="Barlow Condensed"/>
              </a:rPr>
              <a:t>VILLE-VITRINE</a:t>
            </a:r>
          </a:p>
        </p:txBody>
      </p:sp>
      <p:sp>
        <p:nvSpPr>
          <p:cNvPr id="6" name="TextBox 5"/>
          <p:cNvSpPr txBox="1"/>
          <p:nvPr/>
        </p:nvSpPr>
        <p:spPr>
          <a:xfrm>
            <a:off x="444500" y="2667000"/>
            <a:ext cx="3810000" cy="762000"/>
          </a:xfrm>
          <a:prstGeom prst="rect">
            <a:avLst/>
          </a:prstGeom>
          <a:noFill/>
        </p:spPr>
        <p:txBody>
          <a:bodyPr wrap="square" lIns="0" rIns="0" tIns="0" bIns="0" anchor="t">
            <a:spAutoFit/>
          </a:bodyPr>
          <a:lstStyle/>
          <a:p>
            <a:pPr algn="l">
              <a:lnSpc>
                <a:spcPct val="135000"/>
              </a:lnSpc>
            </a:pPr>
            <a:r>
              <a:rPr sz="1400" b="0" i="0">
                <a:solidFill>
                  <a:srgbClr val="D6D2CB"/>
                </a:solidFill>
                <a:latin typeface="Barlow"/>
              </a:rPr>
              <a:t>Quand l'urbanisme se met au service du tourisme. Lecture critique de la transformation de la ville, 2007-2030.</a:t>
            </a:r>
          </a:p>
        </p:txBody>
      </p:sp>
      <p:cxnSp>
        <p:nvCxnSpPr>
          <p:cNvPr id="7" name="Connector 6"/>
          <p:cNvCxnSpPr/>
          <p:nvPr/>
        </p:nvCxnSpPr>
        <p:spPr>
          <a:xfrm>
            <a:off x="444500" y="3683000"/>
            <a:ext cx="635000" cy="0"/>
          </a:xfrm>
          <a:prstGeom prst="line">
            <a:avLst/>
          </a:prstGeom>
          <a:ln w="19050">
            <a:solidFill>
              <a:srgbClr val="E07A3F"/>
            </a:solidFill>
          </a:ln>
        </p:spPr>
      </p:cxnSp>
      <p:sp>
        <p:nvSpPr>
          <p:cNvPr id="8" name="TextBox 7"/>
          <p:cNvSpPr txBox="1"/>
          <p:nvPr/>
        </p:nvSpPr>
        <p:spPr>
          <a:xfrm>
            <a:off x="444500" y="3873500"/>
            <a:ext cx="3810000" cy="762000"/>
          </a:xfrm>
          <a:prstGeom prst="rect">
            <a:avLst/>
          </a:prstGeom>
          <a:noFill/>
        </p:spPr>
        <p:txBody>
          <a:bodyPr wrap="square" lIns="0" rIns="0" tIns="0" bIns="0" anchor="t">
            <a:spAutoFit/>
          </a:bodyPr>
          <a:lstStyle/>
          <a:p>
            <a:pPr algn="l">
              <a:lnSpc>
                <a:spcPct val="150000"/>
              </a:lnSpc>
            </a:pPr>
            <a:r>
              <a:rPr sz="1200" b="0" i="0">
                <a:solidFill>
                  <a:srgbClr val="D6D2CB"/>
                </a:solidFill>
                <a:latin typeface="Barlow"/>
              </a:rPr>
              <a:t>[Nom de l'étudiant·e]</a:t>
            </a:r>
          </a:p>
          <a:p>
            <a:pPr algn="l">
              <a:lnSpc>
                <a:spcPct val="150000"/>
              </a:lnSpc>
            </a:pPr>
            <a:r>
              <a:rPr sz="1200" b="0" i="0">
                <a:solidFill>
                  <a:srgbClr val="D6D2CB"/>
                </a:solidFill>
                <a:latin typeface="Barlow"/>
              </a:rPr>
              <a:t>[Cours / atelier]  ·  [Professeur·e]</a:t>
            </a:r>
          </a:p>
          <a:p>
            <a:pPr algn="l">
              <a:lnSpc>
                <a:spcPct val="150000"/>
              </a:lnSpc>
            </a:pPr>
            <a:r>
              <a:rPr sz="1200" b="0" i="0">
                <a:solidFill>
                  <a:srgbClr val="D6D2CB"/>
                </a:solidFill>
                <a:latin typeface="Barlow"/>
              </a:rPr>
              <a:t>[Date]</a:t>
            </a:r>
          </a:p>
        </p:txBody>
      </p:sp>
      <p:sp>
        <p:nvSpPr>
          <p:cNvPr id="9" name="TextBox 8"/>
          <p:cNvSpPr txBox="1"/>
          <p:nvPr/>
        </p:nvSpPr>
        <p:spPr>
          <a:xfrm>
            <a:off x="444500" y="5715000"/>
            <a:ext cx="3937000" cy="508000"/>
          </a:xfrm>
          <a:prstGeom prst="rect">
            <a:avLst/>
          </a:prstGeom>
          <a:noFill/>
        </p:spPr>
        <p:txBody>
          <a:bodyPr wrap="square" lIns="0" rIns="0" tIns="0" bIns="0" anchor="t">
            <a:spAutoFit/>
          </a:bodyPr>
          <a:lstStyle/>
          <a:p>
            <a:pPr algn="l">
              <a:lnSpc>
                <a:spcPct val="135000"/>
              </a:lnSpc>
            </a:pPr>
            <a:r>
              <a:rPr sz="950" b="0" i="0">
                <a:solidFill>
                  <a:srgbClr val="A6A29B"/>
                </a:solidFill>
                <a:latin typeface="Barlow"/>
              </a:rPr>
              <a:t>Toutes les cartes de ce dossier sont produites à partir de données réelles : OpenStreetMap / Overture Maps, ESA WorldCover, Copernicus DEM, Sentinel-2, HCP.</a:t>
            </a:r>
          </a:p>
        </p:txBody>
      </p:sp>
      <p:sp>
        <p:nvSpPr>
          <p:cNvPr id="10" name="TextBox 9"/>
          <p:cNvSpPr txBox="1"/>
          <p:nvPr/>
        </p:nvSpPr>
        <p:spPr>
          <a:xfrm>
            <a:off x="7493000" y="6604000"/>
            <a:ext cx="4445000" cy="127000"/>
          </a:xfrm>
          <a:prstGeom prst="rect">
            <a:avLst/>
          </a:prstGeom>
          <a:noFill/>
        </p:spPr>
        <p:txBody>
          <a:bodyPr wrap="square" lIns="0" rIns="0" tIns="0" bIns="0" anchor="t">
            <a:spAutoFit/>
          </a:bodyPr>
          <a:lstStyle/>
          <a:p>
            <a:pPr algn="r">
              <a:lnSpc>
                <a:spcPct val="120000"/>
              </a:lnSpc>
            </a:pPr>
            <a:r>
              <a:rPr sz="800" b="0" i="0" spc="200">
                <a:solidFill>
                  <a:srgbClr val="D6D2CB"/>
                </a:solidFill>
                <a:latin typeface="Barlow Condensed"/>
              </a:rPr>
              <a:t>Image : Sentinel-2 L2A, 19 juillet 2025 (Copernicus / ESA)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PROBLÉMATIQUE ET MÉTHODE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Une hypothèse, testée par des données spatiales réelles et quatre cas d'étude.</a:t>
            </a:r>
          </a:p>
        </p:txBody>
      </p:sp>
      <p:sp>
        <p:nvSpPr>
          <p:cNvPr id="5" name="TextBox 4"/>
          <p:cNvSpPr txBox="1"/>
          <p:nvPr/>
        </p:nvSpPr>
        <p:spPr>
          <a:xfrm>
            <a:off x="10678160" y="215900"/>
            <a:ext cx="125984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1,28 M</a:t>
            </a:r>
          </a:p>
        </p:txBody>
      </p:sp>
      <p:sp>
        <p:nvSpPr>
          <p:cNvPr id="6" name="TextBox 5"/>
          <p:cNvSpPr txBox="1"/>
          <p:nvPr/>
        </p:nvSpPr>
        <p:spPr>
          <a:xfrm>
            <a:off x="10678160" y="546100"/>
            <a:ext cx="125984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habitants dans</a:t>
            </a:r>
          </a:p>
          <a:p>
            <a:pPr algn="r">
              <a:lnSpc>
                <a:spcPct val="110000"/>
              </a:lnSpc>
            </a:pPr>
            <a:r>
              <a:rPr sz="850" b="0" i="0">
                <a:solidFill>
                  <a:srgbClr val="77736C"/>
                </a:solidFill>
                <a:latin typeface="Barlow"/>
              </a:rPr>
              <a:t>la commune (2024)</a:t>
            </a:r>
          </a:p>
        </p:txBody>
      </p:sp>
      <p:sp>
        <p:nvSpPr>
          <p:cNvPr id="7" name="TextBox 6"/>
          <p:cNvSpPr txBox="1"/>
          <p:nvPr/>
        </p:nvSpPr>
        <p:spPr>
          <a:xfrm>
            <a:off x="9700260" y="215900"/>
            <a:ext cx="762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4</a:t>
            </a:r>
          </a:p>
        </p:txBody>
      </p:sp>
      <p:sp>
        <p:nvSpPr>
          <p:cNvPr id="8" name="TextBox 7"/>
          <p:cNvSpPr txBox="1"/>
          <p:nvPr/>
        </p:nvSpPr>
        <p:spPr>
          <a:xfrm>
            <a:off x="9700260" y="546100"/>
            <a:ext cx="762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cas d'étude</a:t>
            </a:r>
          </a:p>
        </p:txBody>
      </p:sp>
      <p:sp>
        <p:nvSpPr>
          <p:cNvPr id="9" name="TextBox 8"/>
          <p:cNvSpPr txBox="1"/>
          <p:nvPr/>
        </p:nvSpPr>
        <p:spPr>
          <a:xfrm>
            <a:off x="8500110" y="215900"/>
            <a:ext cx="98425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6</a:t>
            </a:r>
          </a:p>
        </p:txBody>
      </p:sp>
      <p:sp>
        <p:nvSpPr>
          <p:cNvPr id="10" name="TextBox 9"/>
          <p:cNvSpPr txBox="1"/>
          <p:nvPr/>
        </p:nvSpPr>
        <p:spPr>
          <a:xfrm>
            <a:off x="8500110" y="546100"/>
            <a:ext cx="98425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jeux de données</a:t>
            </a:r>
          </a:p>
          <a:p>
            <a:pPr algn="r">
              <a:lnSpc>
                <a:spcPct val="110000"/>
              </a:lnSpc>
            </a:pPr>
            <a:r>
              <a:rPr sz="850" b="0" i="0">
                <a:solidFill>
                  <a:srgbClr val="77736C"/>
                </a:solidFill>
                <a:latin typeface="Barlow"/>
              </a:rPr>
              <a:t>spatiales</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02 / 18</a:t>
            </a:r>
          </a:p>
        </p:txBody>
      </p:sp>
      <p:sp>
        <p:nvSpPr>
          <p:cNvPr id="14" name="TextBox 13"/>
          <p:cNvSpPr txBox="1"/>
          <p:nvPr/>
        </p:nvSpPr>
        <p:spPr>
          <a:xfrm>
            <a:off x="254000" y="1143000"/>
            <a:ext cx="6985000" cy="889000"/>
          </a:xfrm>
          <a:prstGeom prst="rect">
            <a:avLst/>
          </a:prstGeom>
          <a:noFill/>
        </p:spPr>
        <p:txBody>
          <a:bodyPr wrap="square" lIns="0" rIns="0" tIns="0" bIns="0" anchor="t">
            <a:spAutoFit/>
          </a:bodyPr>
          <a:lstStyle/>
          <a:p>
            <a:pPr algn="l">
              <a:lnSpc>
                <a:spcPct val="110000"/>
              </a:lnSpc>
            </a:pPr>
            <a:r>
              <a:rPr sz="2600" b="1" i="0">
                <a:solidFill>
                  <a:srgbClr val="2B2B2B"/>
                </a:solidFill>
                <a:latin typeface="Barlow Condensed"/>
              </a:rPr>
              <a:t>« Pour qui construit-on Tanger : pour ceux qui la visitent, ou pour ceux qui y vivent ? »</a:t>
            </a:r>
          </a:p>
        </p:txBody>
      </p:sp>
      <p:sp>
        <p:nvSpPr>
          <p:cNvPr id="15" name="TextBox 14"/>
          <p:cNvSpPr txBox="1"/>
          <p:nvPr/>
        </p:nvSpPr>
        <p:spPr>
          <a:xfrm>
            <a:off x="254000" y="2032000"/>
            <a:ext cx="6604000" cy="1016000"/>
          </a:xfrm>
          <a:prstGeom prst="rect">
            <a:avLst/>
          </a:prstGeom>
          <a:noFill/>
        </p:spPr>
        <p:txBody>
          <a:bodyPr wrap="square" lIns="0" rIns="0" tIns="0" bIns="0" anchor="t">
            <a:spAutoFit/>
          </a:bodyPr>
          <a:lstStyle/>
          <a:p>
            <a:pPr algn="l">
              <a:lnSpc>
                <a:spcPct val="145000"/>
              </a:lnSpc>
            </a:pPr>
            <a:r>
              <a:rPr sz="1200" b="1" i="0">
                <a:solidFill>
                  <a:srgbClr val="C8462B"/>
                </a:solidFill>
                <a:latin typeface="Barlow"/>
              </a:rPr>
              <a:t>Hypothèse. </a:t>
            </a:r>
            <a:r>
              <a:rPr sz="1200" b="0" i="0">
                <a:solidFill>
                  <a:srgbClr val="2B2B2B"/>
                </a:solidFill>
                <a:latin typeface="Barlow"/>
              </a:rPr>
              <a:t>Depuis 2007, les grands projets de Tanger (port de plaisance, corniche, médina restaurée, gare TGV, grand stade) obéissent d'abord à une logique d'image et d'attractivité touristique. La croissance démographique, elle, se fait dans des quartiers périphériques qui ne reçoivent ni la même attention ni les mêmes équipements.</a:t>
            </a:r>
          </a:p>
        </p:txBody>
      </p:sp>
      <p:sp>
        <p:nvSpPr>
          <p:cNvPr id="16" name="TextBox 15"/>
          <p:cNvSpPr txBox="1"/>
          <p:nvPr/>
        </p:nvSpPr>
        <p:spPr>
          <a:xfrm>
            <a:off x="254000" y="3302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DÉMARCHE</a:t>
            </a:r>
          </a:p>
        </p:txBody>
      </p:sp>
      <p:sp>
        <p:nvSpPr>
          <p:cNvPr id="17" name="Rectangle 16"/>
          <p:cNvSpPr/>
          <p:nvPr/>
        </p:nvSpPr>
        <p:spPr>
          <a:xfrm>
            <a:off x="254000" y="3530600"/>
            <a:ext cx="1555750" cy="952500"/>
          </a:xfrm>
          <a:prstGeom prst="rect">
            <a:avLst/>
          </a:prstGeom>
          <a:solidFill>
            <a:srgbClr val="FFFFFF"/>
          </a:solidFill>
          <a:ln w="6350">
            <a:solidFill>
              <a:srgbClr val="C9C4BA"/>
            </a:solidFill>
          </a:ln>
        </p:spPr>
        <p:txBody>
          <a:bodyPr rtlCol="0" anchor="ctr"/>
          <a:lstStyle/>
          <a:p>
            <a:pPr algn="ctr"/>
          </a:p>
        </p:txBody>
      </p:sp>
      <p:sp>
        <p:nvSpPr>
          <p:cNvPr id="18" name="TextBox 17"/>
          <p:cNvSpPr txBox="1"/>
          <p:nvPr/>
        </p:nvSpPr>
        <p:spPr>
          <a:xfrm>
            <a:off x="381000" y="3594100"/>
            <a:ext cx="508000" cy="254000"/>
          </a:xfrm>
          <a:prstGeom prst="rect">
            <a:avLst/>
          </a:prstGeom>
          <a:noFill/>
        </p:spPr>
        <p:txBody>
          <a:bodyPr wrap="square" lIns="0" rIns="0" tIns="0" bIns="0" anchor="t">
            <a:spAutoFit/>
          </a:bodyPr>
          <a:lstStyle/>
          <a:p>
            <a:pPr algn="l">
              <a:lnSpc>
                <a:spcPct val="120000"/>
              </a:lnSpc>
            </a:pPr>
            <a:r>
              <a:rPr sz="2200" b="1" i="0">
                <a:solidFill>
                  <a:srgbClr val="C8462B"/>
                </a:solidFill>
                <a:latin typeface="Barlow Condensed"/>
              </a:rPr>
              <a:t>01</a:t>
            </a:r>
          </a:p>
        </p:txBody>
      </p:sp>
      <p:sp>
        <p:nvSpPr>
          <p:cNvPr id="19" name="TextBox 18"/>
          <p:cNvSpPr txBox="1"/>
          <p:nvPr/>
        </p:nvSpPr>
        <p:spPr>
          <a:xfrm>
            <a:off x="38100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B2B2B"/>
                </a:solidFill>
                <a:latin typeface="Barlow Condensed"/>
              </a:rPr>
              <a:t>TERRITOIRE</a:t>
            </a:r>
          </a:p>
        </p:txBody>
      </p:sp>
      <p:sp>
        <p:nvSpPr>
          <p:cNvPr id="20" name="TextBox 19"/>
          <p:cNvSpPr txBox="1"/>
          <p:nvPr/>
        </p:nvSpPr>
        <p:spPr>
          <a:xfrm>
            <a:off x="381000" y="4140200"/>
            <a:ext cx="1333500" cy="317500"/>
          </a:xfrm>
          <a:prstGeom prst="rect">
            <a:avLst/>
          </a:prstGeom>
          <a:noFill/>
        </p:spPr>
        <p:txBody>
          <a:bodyPr wrap="square" lIns="0" rIns="0" tIns="0" bIns="0" anchor="t">
            <a:spAutoFit/>
          </a:bodyPr>
          <a:lstStyle/>
          <a:p>
            <a:pPr algn="l">
              <a:lnSpc>
                <a:spcPct val="125000"/>
              </a:lnSpc>
            </a:pPr>
            <a:r>
              <a:rPr sz="950" b="0" i="0">
                <a:solidFill>
                  <a:srgbClr val="77736C"/>
                </a:solidFill>
                <a:latin typeface="Barlow"/>
              </a:rPr>
              <a:t>Le détroit, les pôles, la croissance</a:t>
            </a:r>
          </a:p>
        </p:txBody>
      </p:sp>
      <p:cxnSp>
        <p:nvCxnSpPr>
          <p:cNvPr id="21" name="Connector 20"/>
          <p:cNvCxnSpPr/>
          <p:nvPr/>
        </p:nvCxnSpPr>
        <p:spPr>
          <a:xfrm>
            <a:off x="1822450" y="4006850"/>
            <a:ext cx="101600" cy="0"/>
          </a:xfrm>
          <a:prstGeom prst="line">
            <a:avLst/>
          </a:prstGeom>
          <a:ln w="9525">
            <a:solidFill>
              <a:srgbClr val="2B2B2B"/>
            </a:solidFill>
            <a:tailEnd type="triangle"/>
          </a:ln>
        </p:spPr>
      </p:cxnSp>
      <p:sp>
        <p:nvSpPr>
          <p:cNvPr id="22" name="Rectangle 21"/>
          <p:cNvSpPr/>
          <p:nvPr/>
        </p:nvSpPr>
        <p:spPr>
          <a:xfrm>
            <a:off x="1936750" y="3530600"/>
            <a:ext cx="1555750" cy="952500"/>
          </a:xfrm>
          <a:prstGeom prst="rect">
            <a:avLst/>
          </a:prstGeom>
          <a:solidFill>
            <a:srgbClr val="FFFFFF"/>
          </a:solidFill>
          <a:ln w="6350">
            <a:solidFill>
              <a:srgbClr val="C9C4BA"/>
            </a:solidFill>
          </a:ln>
        </p:spPr>
        <p:txBody>
          <a:bodyPr rtlCol="0" anchor="ctr"/>
          <a:lstStyle/>
          <a:p>
            <a:pPr algn="ctr"/>
          </a:p>
        </p:txBody>
      </p:sp>
      <p:sp>
        <p:nvSpPr>
          <p:cNvPr id="23" name="TextBox 22"/>
          <p:cNvSpPr txBox="1"/>
          <p:nvPr/>
        </p:nvSpPr>
        <p:spPr>
          <a:xfrm>
            <a:off x="2063750" y="3594100"/>
            <a:ext cx="508000" cy="254000"/>
          </a:xfrm>
          <a:prstGeom prst="rect">
            <a:avLst/>
          </a:prstGeom>
          <a:noFill/>
        </p:spPr>
        <p:txBody>
          <a:bodyPr wrap="square" lIns="0" rIns="0" tIns="0" bIns="0" anchor="t">
            <a:spAutoFit/>
          </a:bodyPr>
          <a:lstStyle/>
          <a:p>
            <a:pPr algn="l">
              <a:lnSpc>
                <a:spcPct val="120000"/>
              </a:lnSpc>
            </a:pPr>
            <a:r>
              <a:rPr sz="2200" b="1" i="0">
                <a:solidFill>
                  <a:srgbClr val="C8462B"/>
                </a:solidFill>
                <a:latin typeface="Barlow Condensed"/>
              </a:rPr>
              <a:t>02</a:t>
            </a:r>
          </a:p>
        </p:txBody>
      </p:sp>
      <p:sp>
        <p:nvSpPr>
          <p:cNvPr id="24" name="TextBox 23"/>
          <p:cNvSpPr txBox="1"/>
          <p:nvPr/>
        </p:nvSpPr>
        <p:spPr>
          <a:xfrm>
            <a:off x="206375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B2B2B"/>
                </a:solidFill>
                <a:latin typeface="Barlow Condensed"/>
              </a:rPr>
              <a:t>VILLE</a:t>
            </a:r>
          </a:p>
        </p:txBody>
      </p:sp>
      <p:sp>
        <p:nvSpPr>
          <p:cNvPr id="25" name="TextBox 24"/>
          <p:cNvSpPr txBox="1"/>
          <p:nvPr/>
        </p:nvSpPr>
        <p:spPr>
          <a:xfrm>
            <a:off x="2063750" y="4140200"/>
            <a:ext cx="1333500" cy="317500"/>
          </a:xfrm>
          <a:prstGeom prst="rect">
            <a:avLst/>
          </a:prstGeom>
          <a:noFill/>
        </p:spPr>
        <p:txBody>
          <a:bodyPr wrap="square" lIns="0" rIns="0" tIns="0" bIns="0" anchor="t">
            <a:spAutoFit/>
          </a:bodyPr>
          <a:lstStyle/>
          <a:p>
            <a:pPr algn="l">
              <a:lnSpc>
                <a:spcPct val="125000"/>
              </a:lnSpc>
            </a:pPr>
            <a:r>
              <a:rPr sz="950" b="0" i="0">
                <a:solidFill>
                  <a:srgbClr val="77736C"/>
                </a:solidFill>
                <a:latin typeface="Barlow"/>
              </a:rPr>
              <a:t>Occupation du sol, répartition des usages</a:t>
            </a:r>
          </a:p>
        </p:txBody>
      </p:sp>
      <p:cxnSp>
        <p:nvCxnSpPr>
          <p:cNvPr id="26" name="Connector 25"/>
          <p:cNvCxnSpPr/>
          <p:nvPr/>
        </p:nvCxnSpPr>
        <p:spPr>
          <a:xfrm>
            <a:off x="3505200" y="4006850"/>
            <a:ext cx="101600" cy="0"/>
          </a:xfrm>
          <a:prstGeom prst="line">
            <a:avLst/>
          </a:prstGeom>
          <a:ln w="9525">
            <a:solidFill>
              <a:srgbClr val="2B2B2B"/>
            </a:solidFill>
            <a:tailEnd type="triangle"/>
          </a:ln>
        </p:spPr>
      </p:cxnSp>
      <p:sp>
        <p:nvSpPr>
          <p:cNvPr id="27" name="Rectangle 26"/>
          <p:cNvSpPr/>
          <p:nvPr/>
        </p:nvSpPr>
        <p:spPr>
          <a:xfrm>
            <a:off x="3619500" y="3530600"/>
            <a:ext cx="1555750" cy="952500"/>
          </a:xfrm>
          <a:prstGeom prst="rect">
            <a:avLst/>
          </a:prstGeom>
          <a:solidFill>
            <a:srgbClr val="FFFFFF"/>
          </a:solidFill>
          <a:ln w="6350">
            <a:solidFill>
              <a:srgbClr val="C9C4BA"/>
            </a:solidFill>
          </a:ln>
        </p:spPr>
        <p:txBody>
          <a:bodyPr rtlCol="0" anchor="ctr"/>
          <a:lstStyle/>
          <a:p>
            <a:pPr algn="ctr"/>
          </a:p>
        </p:txBody>
      </p:sp>
      <p:sp>
        <p:nvSpPr>
          <p:cNvPr id="28" name="TextBox 27"/>
          <p:cNvSpPr txBox="1"/>
          <p:nvPr/>
        </p:nvSpPr>
        <p:spPr>
          <a:xfrm>
            <a:off x="3746500" y="3594100"/>
            <a:ext cx="508000" cy="254000"/>
          </a:xfrm>
          <a:prstGeom prst="rect">
            <a:avLst/>
          </a:prstGeom>
          <a:noFill/>
        </p:spPr>
        <p:txBody>
          <a:bodyPr wrap="square" lIns="0" rIns="0" tIns="0" bIns="0" anchor="t">
            <a:spAutoFit/>
          </a:bodyPr>
          <a:lstStyle/>
          <a:p>
            <a:pPr algn="l">
              <a:lnSpc>
                <a:spcPct val="120000"/>
              </a:lnSpc>
            </a:pPr>
            <a:r>
              <a:rPr sz="2200" b="1" i="0">
                <a:solidFill>
                  <a:srgbClr val="C8462B"/>
                </a:solidFill>
                <a:latin typeface="Barlow Condensed"/>
              </a:rPr>
              <a:t>03</a:t>
            </a:r>
          </a:p>
        </p:txBody>
      </p:sp>
      <p:sp>
        <p:nvSpPr>
          <p:cNvPr id="29" name="TextBox 28"/>
          <p:cNvSpPr txBox="1"/>
          <p:nvPr/>
        </p:nvSpPr>
        <p:spPr>
          <a:xfrm>
            <a:off x="374650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B2B2B"/>
                </a:solidFill>
                <a:latin typeface="Barlow Condensed"/>
              </a:rPr>
              <a:t>CAS</a:t>
            </a:r>
          </a:p>
        </p:txBody>
      </p:sp>
      <p:sp>
        <p:nvSpPr>
          <p:cNvPr id="30" name="TextBox 29"/>
          <p:cNvSpPr txBox="1"/>
          <p:nvPr/>
        </p:nvSpPr>
        <p:spPr>
          <a:xfrm>
            <a:off x="3746500" y="4140200"/>
            <a:ext cx="1333500" cy="317500"/>
          </a:xfrm>
          <a:prstGeom prst="rect">
            <a:avLst/>
          </a:prstGeom>
          <a:noFill/>
        </p:spPr>
        <p:txBody>
          <a:bodyPr wrap="square" lIns="0" rIns="0" tIns="0" bIns="0" anchor="t">
            <a:spAutoFit/>
          </a:bodyPr>
          <a:lstStyle/>
          <a:p>
            <a:pPr algn="l">
              <a:lnSpc>
                <a:spcPct val="125000"/>
              </a:lnSpc>
            </a:pPr>
            <a:r>
              <a:rPr sz="950" b="0" i="0">
                <a:solidFill>
                  <a:srgbClr val="77736C"/>
                </a:solidFill>
                <a:latin typeface="Barlow"/>
              </a:rPr>
              <a:t>Port · médina · stade · zones d'emploi</a:t>
            </a:r>
          </a:p>
        </p:txBody>
      </p:sp>
      <p:cxnSp>
        <p:nvCxnSpPr>
          <p:cNvPr id="31" name="Connector 30"/>
          <p:cNvCxnSpPr/>
          <p:nvPr/>
        </p:nvCxnSpPr>
        <p:spPr>
          <a:xfrm>
            <a:off x="5187950" y="4006850"/>
            <a:ext cx="101600" cy="0"/>
          </a:xfrm>
          <a:prstGeom prst="line">
            <a:avLst/>
          </a:prstGeom>
          <a:ln w="9525">
            <a:solidFill>
              <a:srgbClr val="2B2B2B"/>
            </a:solidFill>
            <a:tailEnd type="triangle"/>
          </a:ln>
        </p:spPr>
      </p:cxnSp>
      <p:sp>
        <p:nvSpPr>
          <p:cNvPr id="32" name="Rectangle 31"/>
          <p:cNvSpPr/>
          <p:nvPr/>
        </p:nvSpPr>
        <p:spPr>
          <a:xfrm>
            <a:off x="5302250" y="3530600"/>
            <a:ext cx="1555750" cy="952500"/>
          </a:xfrm>
          <a:prstGeom prst="rect">
            <a:avLst/>
          </a:prstGeom>
          <a:solidFill>
            <a:srgbClr val="FFFFFF"/>
          </a:solidFill>
          <a:ln w="6350">
            <a:solidFill>
              <a:srgbClr val="C9C4BA"/>
            </a:solidFill>
          </a:ln>
        </p:spPr>
        <p:txBody>
          <a:bodyPr rtlCol="0" anchor="ctr"/>
          <a:lstStyle/>
          <a:p>
            <a:pPr algn="ctr"/>
          </a:p>
        </p:txBody>
      </p:sp>
      <p:sp>
        <p:nvSpPr>
          <p:cNvPr id="33" name="TextBox 32"/>
          <p:cNvSpPr txBox="1"/>
          <p:nvPr/>
        </p:nvSpPr>
        <p:spPr>
          <a:xfrm>
            <a:off x="5429250" y="3594100"/>
            <a:ext cx="508000" cy="254000"/>
          </a:xfrm>
          <a:prstGeom prst="rect">
            <a:avLst/>
          </a:prstGeom>
          <a:noFill/>
        </p:spPr>
        <p:txBody>
          <a:bodyPr wrap="square" lIns="0" rIns="0" tIns="0" bIns="0" anchor="t">
            <a:spAutoFit/>
          </a:bodyPr>
          <a:lstStyle/>
          <a:p>
            <a:pPr algn="l">
              <a:lnSpc>
                <a:spcPct val="120000"/>
              </a:lnSpc>
            </a:pPr>
            <a:r>
              <a:rPr sz="2200" b="1" i="0">
                <a:solidFill>
                  <a:srgbClr val="C8462B"/>
                </a:solidFill>
                <a:latin typeface="Barlow Condensed"/>
              </a:rPr>
              <a:t>04</a:t>
            </a:r>
          </a:p>
        </p:txBody>
      </p:sp>
      <p:sp>
        <p:nvSpPr>
          <p:cNvPr id="34" name="TextBox 33"/>
          <p:cNvSpPr txBox="1"/>
          <p:nvPr/>
        </p:nvSpPr>
        <p:spPr>
          <a:xfrm>
            <a:off x="542925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B2B2B"/>
                </a:solidFill>
                <a:latin typeface="Barlow Condensed"/>
              </a:rPr>
              <a:t>SYNTHÈSE</a:t>
            </a:r>
          </a:p>
        </p:txBody>
      </p:sp>
      <p:sp>
        <p:nvSpPr>
          <p:cNvPr id="35" name="TextBox 34"/>
          <p:cNvSpPr txBox="1"/>
          <p:nvPr/>
        </p:nvSpPr>
        <p:spPr>
          <a:xfrm>
            <a:off x="5429250" y="4140200"/>
            <a:ext cx="1333500" cy="317500"/>
          </a:xfrm>
          <a:prstGeom prst="rect">
            <a:avLst/>
          </a:prstGeom>
          <a:noFill/>
        </p:spPr>
        <p:txBody>
          <a:bodyPr wrap="square" lIns="0" rIns="0" tIns="0" bIns="0" anchor="t">
            <a:spAutoFit/>
          </a:bodyPr>
          <a:lstStyle/>
          <a:p>
            <a:pPr algn="l">
              <a:lnSpc>
                <a:spcPct val="125000"/>
              </a:lnSpc>
            </a:pPr>
            <a:r>
              <a:rPr sz="950" b="0" i="0">
                <a:solidFill>
                  <a:srgbClr val="77736C"/>
                </a:solidFill>
                <a:latin typeface="Barlow"/>
              </a:rPr>
              <a:t>Enjeux spatiaux et propositions</a:t>
            </a:r>
          </a:p>
        </p:txBody>
      </p:sp>
      <p:sp>
        <p:nvSpPr>
          <p:cNvPr id="36" name="TextBox 35"/>
          <p:cNvSpPr txBox="1"/>
          <p:nvPr/>
        </p:nvSpPr>
        <p:spPr>
          <a:xfrm>
            <a:off x="7620000" y="1143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DONNÉES MOBILISÉES</a:t>
            </a:r>
          </a:p>
        </p:txBody>
      </p:sp>
      <p:cxnSp>
        <p:nvCxnSpPr>
          <p:cNvPr id="37" name="Connector 36"/>
          <p:cNvCxnSpPr/>
          <p:nvPr/>
        </p:nvCxnSpPr>
        <p:spPr>
          <a:xfrm>
            <a:off x="7620000" y="1371600"/>
            <a:ext cx="4318000" cy="0"/>
          </a:xfrm>
          <a:prstGeom prst="line">
            <a:avLst/>
          </a:prstGeom>
          <a:ln w="6350">
            <a:solidFill>
              <a:srgbClr val="C9C4BA"/>
            </a:solidFill>
          </a:ln>
        </p:spPr>
      </p:cxnSp>
      <p:sp>
        <p:nvSpPr>
          <p:cNvPr id="38" name="TextBox 37"/>
          <p:cNvSpPr txBox="1"/>
          <p:nvPr/>
        </p:nvSpPr>
        <p:spPr>
          <a:xfrm>
            <a:off x="7620000" y="1435100"/>
            <a:ext cx="27305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OpenStreetMap / Overture Maps</a:t>
            </a:r>
          </a:p>
        </p:txBody>
      </p:sp>
      <p:sp>
        <p:nvSpPr>
          <p:cNvPr id="39" name="TextBox 38"/>
          <p:cNvSpPr txBox="1"/>
          <p:nvPr/>
        </p:nvSpPr>
        <p:spPr>
          <a:xfrm>
            <a:off x="10414000" y="1447800"/>
            <a:ext cx="1524000" cy="152400"/>
          </a:xfrm>
          <a:prstGeom prst="rect">
            <a:avLst/>
          </a:prstGeom>
          <a:noFill/>
        </p:spPr>
        <p:txBody>
          <a:bodyPr wrap="square" lIns="0" rIns="0" tIns="0" bIns="0" anchor="t">
            <a:spAutoFit/>
          </a:bodyPr>
          <a:lstStyle/>
          <a:p>
            <a:pPr algn="r">
              <a:lnSpc>
                <a:spcPct val="120000"/>
              </a:lnSpc>
            </a:pPr>
            <a:r>
              <a:rPr sz="900" b="0" i="0" spc="150">
                <a:solidFill>
                  <a:srgbClr val="C8462B"/>
                </a:solidFill>
                <a:latin typeface="Barlow Condensed"/>
              </a:rPr>
              <a:t>release 2026-09</a:t>
            </a:r>
          </a:p>
        </p:txBody>
      </p:sp>
      <p:sp>
        <p:nvSpPr>
          <p:cNvPr id="40" name="TextBox 39"/>
          <p:cNvSpPr txBox="1"/>
          <p:nvPr/>
        </p:nvSpPr>
        <p:spPr>
          <a:xfrm>
            <a:off x="7620000" y="1612900"/>
            <a:ext cx="4318000" cy="2540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voirie (62 000 tronçons), bâti, 1 674 arrêts de bus, lieux (hôtels, écoles, santé), limites</a:t>
            </a:r>
          </a:p>
        </p:txBody>
      </p:sp>
      <p:cxnSp>
        <p:nvCxnSpPr>
          <p:cNvPr id="41" name="Connector 40"/>
          <p:cNvCxnSpPr/>
          <p:nvPr/>
        </p:nvCxnSpPr>
        <p:spPr>
          <a:xfrm>
            <a:off x="7620000" y="1892300"/>
            <a:ext cx="4318000" cy="0"/>
          </a:xfrm>
          <a:prstGeom prst="line">
            <a:avLst/>
          </a:prstGeom>
          <a:ln w="6350">
            <a:solidFill>
              <a:srgbClr val="C9C4BA"/>
            </a:solidFill>
          </a:ln>
        </p:spPr>
      </p:cxnSp>
      <p:sp>
        <p:nvSpPr>
          <p:cNvPr id="42" name="TextBox 41"/>
          <p:cNvSpPr txBox="1"/>
          <p:nvPr/>
        </p:nvSpPr>
        <p:spPr>
          <a:xfrm>
            <a:off x="7620000" y="1955800"/>
            <a:ext cx="27305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ESA WorldCover 2021</a:t>
            </a:r>
          </a:p>
        </p:txBody>
      </p:sp>
      <p:sp>
        <p:nvSpPr>
          <p:cNvPr id="43" name="TextBox 42"/>
          <p:cNvSpPr txBox="1"/>
          <p:nvPr/>
        </p:nvSpPr>
        <p:spPr>
          <a:xfrm>
            <a:off x="10414000" y="1968500"/>
            <a:ext cx="1524000" cy="152400"/>
          </a:xfrm>
          <a:prstGeom prst="rect">
            <a:avLst/>
          </a:prstGeom>
          <a:noFill/>
        </p:spPr>
        <p:txBody>
          <a:bodyPr wrap="square" lIns="0" rIns="0" tIns="0" bIns="0" anchor="t">
            <a:spAutoFit/>
          </a:bodyPr>
          <a:lstStyle/>
          <a:p>
            <a:pPr algn="r">
              <a:lnSpc>
                <a:spcPct val="120000"/>
              </a:lnSpc>
            </a:pPr>
            <a:r>
              <a:rPr sz="900" b="0" i="0" spc="150">
                <a:solidFill>
                  <a:srgbClr val="C8462B"/>
                </a:solidFill>
                <a:latin typeface="Barlow Condensed"/>
              </a:rPr>
              <a:t>10 m</a:t>
            </a:r>
          </a:p>
        </p:txBody>
      </p:sp>
      <p:sp>
        <p:nvSpPr>
          <p:cNvPr id="44" name="TextBox 43"/>
          <p:cNvSpPr txBox="1"/>
          <p:nvPr/>
        </p:nvSpPr>
        <p:spPr>
          <a:xfrm>
            <a:off x="7620000" y="2133600"/>
            <a:ext cx="4318000" cy="2540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occupation du sol : bâti, arbres, cultures, eau</a:t>
            </a:r>
          </a:p>
        </p:txBody>
      </p:sp>
      <p:cxnSp>
        <p:nvCxnSpPr>
          <p:cNvPr id="45" name="Connector 44"/>
          <p:cNvCxnSpPr/>
          <p:nvPr/>
        </p:nvCxnSpPr>
        <p:spPr>
          <a:xfrm>
            <a:off x="7620000" y="2413000"/>
            <a:ext cx="4318000" cy="0"/>
          </a:xfrm>
          <a:prstGeom prst="line">
            <a:avLst/>
          </a:prstGeom>
          <a:ln w="6350">
            <a:solidFill>
              <a:srgbClr val="C9C4BA"/>
            </a:solidFill>
          </a:ln>
        </p:spPr>
      </p:cxnSp>
      <p:sp>
        <p:nvSpPr>
          <p:cNvPr id="46" name="TextBox 45"/>
          <p:cNvSpPr txBox="1"/>
          <p:nvPr/>
        </p:nvSpPr>
        <p:spPr>
          <a:xfrm>
            <a:off x="7620000" y="2476500"/>
            <a:ext cx="27305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Copernicus DEM GLO-30</a:t>
            </a:r>
          </a:p>
        </p:txBody>
      </p:sp>
      <p:sp>
        <p:nvSpPr>
          <p:cNvPr id="47" name="TextBox 46"/>
          <p:cNvSpPr txBox="1"/>
          <p:nvPr/>
        </p:nvSpPr>
        <p:spPr>
          <a:xfrm>
            <a:off x="10414000" y="2489200"/>
            <a:ext cx="1524000" cy="152400"/>
          </a:xfrm>
          <a:prstGeom prst="rect">
            <a:avLst/>
          </a:prstGeom>
          <a:noFill/>
        </p:spPr>
        <p:txBody>
          <a:bodyPr wrap="square" lIns="0" rIns="0" tIns="0" bIns="0" anchor="t">
            <a:spAutoFit/>
          </a:bodyPr>
          <a:lstStyle/>
          <a:p>
            <a:pPr algn="r">
              <a:lnSpc>
                <a:spcPct val="120000"/>
              </a:lnSpc>
            </a:pPr>
            <a:r>
              <a:rPr sz="900" b="0" i="0" spc="150">
                <a:solidFill>
                  <a:srgbClr val="C8462B"/>
                </a:solidFill>
                <a:latin typeface="Barlow Condensed"/>
              </a:rPr>
              <a:t>30 m</a:t>
            </a:r>
          </a:p>
        </p:txBody>
      </p:sp>
      <p:sp>
        <p:nvSpPr>
          <p:cNvPr id="48" name="TextBox 47"/>
          <p:cNvSpPr txBox="1"/>
          <p:nvPr/>
        </p:nvSpPr>
        <p:spPr>
          <a:xfrm>
            <a:off x="7620000" y="2654300"/>
            <a:ext cx="4318000" cy="2540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relief, ombrage, coupes topographiques</a:t>
            </a:r>
          </a:p>
        </p:txBody>
      </p:sp>
      <p:cxnSp>
        <p:nvCxnSpPr>
          <p:cNvPr id="49" name="Connector 48"/>
          <p:cNvCxnSpPr/>
          <p:nvPr/>
        </p:nvCxnSpPr>
        <p:spPr>
          <a:xfrm>
            <a:off x="7620000" y="2933700"/>
            <a:ext cx="4318000" cy="0"/>
          </a:xfrm>
          <a:prstGeom prst="line">
            <a:avLst/>
          </a:prstGeom>
          <a:ln w="6350">
            <a:solidFill>
              <a:srgbClr val="C9C4BA"/>
            </a:solidFill>
          </a:ln>
        </p:spPr>
      </p:cxnSp>
      <p:sp>
        <p:nvSpPr>
          <p:cNvPr id="50" name="TextBox 49"/>
          <p:cNvSpPr txBox="1"/>
          <p:nvPr/>
        </p:nvSpPr>
        <p:spPr>
          <a:xfrm>
            <a:off x="7620000" y="2997200"/>
            <a:ext cx="27305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Sentinel-2 L2A</a:t>
            </a:r>
          </a:p>
        </p:txBody>
      </p:sp>
      <p:sp>
        <p:nvSpPr>
          <p:cNvPr id="51" name="TextBox 50"/>
          <p:cNvSpPr txBox="1"/>
          <p:nvPr/>
        </p:nvSpPr>
        <p:spPr>
          <a:xfrm>
            <a:off x="10414000" y="3009900"/>
            <a:ext cx="1524000" cy="152400"/>
          </a:xfrm>
          <a:prstGeom prst="rect">
            <a:avLst/>
          </a:prstGeom>
          <a:noFill/>
        </p:spPr>
        <p:txBody>
          <a:bodyPr wrap="square" lIns="0" rIns="0" tIns="0" bIns="0" anchor="t">
            <a:spAutoFit/>
          </a:bodyPr>
          <a:lstStyle/>
          <a:p>
            <a:pPr algn="r">
              <a:lnSpc>
                <a:spcPct val="120000"/>
              </a:lnSpc>
            </a:pPr>
            <a:r>
              <a:rPr sz="900" b="0" i="0" spc="150">
                <a:solidFill>
                  <a:srgbClr val="C8462B"/>
                </a:solidFill>
                <a:latin typeface="Barlow Condensed"/>
              </a:rPr>
              <a:t>10 m · 2017 / 2025</a:t>
            </a:r>
          </a:p>
        </p:txBody>
      </p:sp>
      <p:sp>
        <p:nvSpPr>
          <p:cNvPr id="52" name="TextBox 51"/>
          <p:cNvSpPr txBox="1"/>
          <p:nvPr/>
        </p:nvSpPr>
        <p:spPr>
          <a:xfrm>
            <a:off x="7620000" y="3175000"/>
            <a:ext cx="4318000" cy="2540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images satellite avant / après</a:t>
            </a:r>
          </a:p>
        </p:txBody>
      </p:sp>
      <p:cxnSp>
        <p:nvCxnSpPr>
          <p:cNvPr id="53" name="Connector 52"/>
          <p:cNvCxnSpPr/>
          <p:nvPr/>
        </p:nvCxnSpPr>
        <p:spPr>
          <a:xfrm>
            <a:off x="7620000" y="3454400"/>
            <a:ext cx="4318000" cy="0"/>
          </a:xfrm>
          <a:prstGeom prst="line">
            <a:avLst/>
          </a:prstGeom>
          <a:ln w="6350">
            <a:solidFill>
              <a:srgbClr val="C9C4BA"/>
            </a:solidFill>
          </a:ln>
        </p:spPr>
      </p:cxnSp>
      <p:sp>
        <p:nvSpPr>
          <p:cNvPr id="54" name="TextBox 53"/>
          <p:cNvSpPr txBox="1"/>
          <p:nvPr/>
        </p:nvSpPr>
        <p:spPr>
          <a:xfrm>
            <a:off x="7620000" y="3517900"/>
            <a:ext cx="27305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HCP, RGPH 2014 et 2024</a:t>
            </a:r>
          </a:p>
        </p:txBody>
      </p:sp>
      <p:sp>
        <p:nvSpPr>
          <p:cNvPr id="55" name="TextBox 54"/>
          <p:cNvSpPr txBox="1"/>
          <p:nvPr/>
        </p:nvSpPr>
        <p:spPr>
          <a:xfrm>
            <a:off x="10414000" y="3530600"/>
            <a:ext cx="1524000" cy="152400"/>
          </a:xfrm>
          <a:prstGeom prst="rect">
            <a:avLst/>
          </a:prstGeom>
          <a:noFill/>
        </p:spPr>
        <p:txBody>
          <a:bodyPr wrap="square" lIns="0" rIns="0" tIns="0" bIns="0" anchor="t">
            <a:spAutoFit/>
          </a:bodyPr>
          <a:lstStyle/>
          <a:p>
            <a:pPr algn="r">
              <a:lnSpc>
                <a:spcPct val="120000"/>
              </a:lnSpc>
            </a:pPr>
            <a:r>
              <a:rPr sz="900" b="0" i="0" spc="150">
                <a:solidFill>
                  <a:srgbClr val="C8462B"/>
                </a:solidFill>
                <a:latin typeface="Barlow Condensed"/>
              </a:rPr>
              <a:t>arrondissements</a:t>
            </a:r>
          </a:p>
        </p:txBody>
      </p:sp>
      <p:sp>
        <p:nvSpPr>
          <p:cNvPr id="56" name="TextBox 55"/>
          <p:cNvSpPr txBox="1"/>
          <p:nvPr/>
        </p:nvSpPr>
        <p:spPr>
          <a:xfrm>
            <a:off x="7620000" y="3695700"/>
            <a:ext cx="4318000" cy="2540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population et croissance</a:t>
            </a:r>
          </a:p>
        </p:txBody>
      </p:sp>
      <p:cxnSp>
        <p:nvCxnSpPr>
          <p:cNvPr id="57" name="Connector 56"/>
          <p:cNvCxnSpPr/>
          <p:nvPr/>
        </p:nvCxnSpPr>
        <p:spPr>
          <a:xfrm>
            <a:off x="7620000" y="3975100"/>
            <a:ext cx="4318000" cy="0"/>
          </a:xfrm>
          <a:prstGeom prst="line">
            <a:avLst/>
          </a:prstGeom>
          <a:ln w="6350">
            <a:solidFill>
              <a:srgbClr val="C9C4BA"/>
            </a:solidFill>
          </a:ln>
        </p:spPr>
      </p:cxnSp>
      <p:sp>
        <p:nvSpPr>
          <p:cNvPr id="58" name="TextBox 57"/>
          <p:cNvSpPr txBox="1"/>
          <p:nvPr/>
        </p:nvSpPr>
        <p:spPr>
          <a:xfrm>
            <a:off x="7620000" y="4038600"/>
            <a:ext cx="27305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Presse et rapports publics</a:t>
            </a:r>
          </a:p>
        </p:txBody>
      </p:sp>
      <p:sp>
        <p:nvSpPr>
          <p:cNvPr id="59" name="TextBox 58"/>
          <p:cNvSpPr txBox="1"/>
          <p:nvPr/>
        </p:nvSpPr>
        <p:spPr>
          <a:xfrm>
            <a:off x="10414000" y="4051300"/>
            <a:ext cx="1524000" cy="152400"/>
          </a:xfrm>
          <a:prstGeom prst="rect">
            <a:avLst/>
          </a:prstGeom>
          <a:noFill/>
        </p:spPr>
        <p:txBody>
          <a:bodyPr wrap="square" lIns="0" rIns="0" tIns="0" bIns="0" anchor="t">
            <a:spAutoFit/>
          </a:bodyPr>
          <a:lstStyle/>
          <a:p>
            <a:pPr algn="r">
              <a:lnSpc>
                <a:spcPct val="120000"/>
              </a:lnSpc>
            </a:pPr>
            <a:r>
              <a:rPr sz="900" b="0" i="0" spc="150">
                <a:solidFill>
                  <a:srgbClr val="C8462B"/>
                </a:solidFill>
                <a:latin typeface="Barlow Condensed"/>
              </a:rPr>
              <a:t>2013-2025</a:t>
            </a:r>
          </a:p>
        </p:txBody>
      </p:sp>
      <p:sp>
        <p:nvSpPr>
          <p:cNvPr id="60" name="TextBox 59"/>
          <p:cNvSpPr txBox="1"/>
          <p:nvPr/>
        </p:nvSpPr>
        <p:spPr>
          <a:xfrm>
            <a:off x="7620000" y="4216400"/>
            <a:ext cx="4318000" cy="2540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budgets, Cour des comptes, ONT, FIFA</a:t>
            </a:r>
          </a:p>
        </p:txBody>
      </p:sp>
      <p:sp>
        <p:nvSpPr>
          <p:cNvPr id="61" name="TextBox 60"/>
          <p:cNvSpPr txBox="1"/>
          <p:nvPr/>
        </p:nvSpPr>
        <p:spPr>
          <a:xfrm>
            <a:off x="254000" y="4762500"/>
            <a:ext cx="6858000" cy="1270000"/>
          </a:xfrm>
          <a:prstGeom prst="rect">
            <a:avLst/>
          </a:prstGeom>
          <a:noFill/>
        </p:spPr>
        <p:txBody>
          <a:bodyPr wrap="square" lIns="0" rIns="0" tIns="0" bIns="0" anchor="t">
            <a:spAutoFit/>
          </a:bodyPr>
          <a:lstStyle/>
          <a:p>
            <a:pPr algn="l">
              <a:lnSpc>
                <a:spcPct val="140000"/>
              </a:lnSpc>
            </a:pPr>
            <a:r>
              <a:rPr sz="1000" b="1" i="0">
                <a:solidFill>
                  <a:srgbClr val="77736C"/>
                </a:solidFill>
                <a:latin typeface="Barlow"/>
              </a:rPr>
              <a:t>Précaution. </a:t>
            </a:r>
            <a:r>
              <a:rPr sz="1000" b="0" i="0">
                <a:solidFill>
                  <a:srgbClr val="77736C"/>
                </a:solidFill>
                <a:latin typeface="Barlow"/>
              </a:rPr>
              <a:t>Les lieux (hôtels, écoles, santé) viennent de bases collaboratives et commerciales : elles sont incomplètes, surtout dans les quartiers populaires. Cette sous-représentation est elle-même un indice de la visibilité inégale des quartiers. Les écarts mesurés sont à lire comme des ordres de grandeur.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2526"/>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EDEDED"/>
                </a:solidFill>
                <a:latin typeface="Barlow Condensed"/>
              </a:rPr>
              <a:t>UN TERRITOIRE TOURNÉ VERS LE DÉTROIT</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A6A29B"/>
                </a:solidFill>
                <a:latin typeface="Barlow"/>
              </a:rPr>
              <a:t>Les pôles de l'image sur la côte, les pôles productifs le long des autoroutes.</a:t>
            </a:r>
          </a:p>
        </p:txBody>
      </p:sp>
      <p:sp>
        <p:nvSpPr>
          <p:cNvPr id="5" name="TextBox 4"/>
          <p:cNvSpPr txBox="1"/>
          <p:nvPr/>
        </p:nvSpPr>
        <p:spPr>
          <a:xfrm>
            <a:off x="11111230" y="215900"/>
            <a:ext cx="82677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167 100</a:t>
            </a:r>
          </a:p>
        </p:txBody>
      </p:sp>
      <p:sp>
        <p:nvSpPr>
          <p:cNvPr id="6" name="TextBox 5"/>
          <p:cNvSpPr txBox="1"/>
          <p:nvPr/>
        </p:nvSpPr>
        <p:spPr>
          <a:xfrm>
            <a:off x="11111230" y="546100"/>
            <a:ext cx="82677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croisiéristes</a:t>
            </a:r>
          </a:p>
          <a:p>
            <a:pPr algn="r">
              <a:lnSpc>
                <a:spcPct val="110000"/>
              </a:lnSpc>
            </a:pPr>
            <a:r>
              <a:rPr sz="850" b="0" i="0">
                <a:solidFill>
                  <a:srgbClr val="A6A29B"/>
                </a:solidFill>
                <a:latin typeface="Barlow"/>
              </a:rPr>
              <a:t>en 2025</a:t>
            </a:r>
          </a:p>
        </p:txBody>
      </p:sp>
      <p:sp>
        <p:nvSpPr>
          <p:cNvPr id="7" name="TextBox 6"/>
          <p:cNvSpPr txBox="1"/>
          <p:nvPr/>
        </p:nvSpPr>
        <p:spPr>
          <a:xfrm>
            <a:off x="10133330" y="215900"/>
            <a:ext cx="76200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+40 %</a:t>
            </a:r>
          </a:p>
        </p:txBody>
      </p:sp>
      <p:sp>
        <p:nvSpPr>
          <p:cNvPr id="8" name="TextBox 7"/>
          <p:cNvSpPr txBox="1"/>
          <p:nvPr/>
        </p:nvSpPr>
        <p:spPr>
          <a:xfrm>
            <a:off x="10133330" y="546100"/>
            <a:ext cx="76200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en dix ans</a:t>
            </a:r>
          </a:p>
        </p:txBody>
      </p:sp>
      <p:sp>
        <p:nvSpPr>
          <p:cNvPr id="9" name="TextBox 8"/>
          <p:cNvSpPr txBox="1"/>
          <p:nvPr/>
        </p:nvSpPr>
        <p:spPr>
          <a:xfrm>
            <a:off x="8224520" y="215900"/>
            <a:ext cx="169291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1,49 M</a:t>
            </a:r>
          </a:p>
        </p:txBody>
      </p:sp>
      <p:sp>
        <p:nvSpPr>
          <p:cNvPr id="10" name="TextBox 9"/>
          <p:cNvSpPr txBox="1"/>
          <p:nvPr/>
        </p:nvSpPr>
        <p:spPr>
          <a:xfrm>
            <a:off x="8224520" y="546100"/>
            <a:ext cx="169291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habitants, préfecture</a:t>
            </a:r>
          </a:p>
          <a:p>
            <a:pPr algn="r">
              <a:lnSpc>
                <a:spcPct val="110000"/>
              </a:lnSpc>
            </a:pPr>
            <a:r>
              <a:rPr sz="850" b="0" i="0">
                <a:solidFill>
                  <a:srgbClr val="A6A29B"/>
                </a:solidFill>
                <a:latin typeface="Barlow"/>
              </a:rPr>
              <a:t>Tanger-Assilah (2024)</a:t>
            </a:r>
          </a:p>
        </p:txBody>
      </p:sp>
      <p:cxnSp>
        <p:nvCxnSpPr>
          <p:cNvPr id="11" name="Connector 10"/>
          <p:cNvCxnSpPr/>
          <p:nvPr/>
        </p:nvCxnSpPr>
        <p:spPr>
          <a:xfrm>
            <a:off x="254000" y="6578600"/>
            <a:ext cx="11684000" cy="0"/>
          </a:xfrm>
          <a:prstGeom prst="line">
            <a:avLst/>
          </a:prstGeom>
          <a:ln w="6350">
            <a:solidFill>
              <a:srgbClr val="4A4C4D"/>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A6A29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A6A29B"/>
                </a:solidFill>
                <a:latin typeface="Barlow Condensed"/>
              </a:rPr>
              <a:t>[NOM]  ·  [COURS]  ·  [DATE]        03 / 18</a:t>
            </a:r>
          </a:p>
        </p:txBody>
      </p:sp>
      <p:pic>
        <p:nvPicPr>
          <p:cNvPr id="14" name="Picture 13" descr="m01_territoire.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E0E0E0"/>
                </a:solidFill>
                <a:latin typeface="Barlow Condensed"/>
              </a:rPr>
              <a:t>LES GRANDS REPÈRES</a:t>
            </a:r>
          </a:p>
        </p:txBody>
      </p:sp>
      <p:sp>
        <p:nvSpPr>
          <p:cNvPr id="16" name="Oval 15"/>
          <p:cNvSpPr/>
          <p:nvPr/>
        </p:nvSpPr>
        <p:spPr>
          <a:xfrm>
            <a:off x="8451850" y="1168400"/>
            <a:ext cx="152400" cy="152400"/>
          </a:xfrm>
          <a:prstGeom prst="ellipse">
            <a:avLst/>
          </a:prstGeom>
          <a:solidFill>
            <a:srgbClr val="C8462B"/>
          </a:solidFill>
          <a:ln w="9525">
            <a:solidFill>
              <a:srgbClr val="FFFFFF"/>
            </a:solidFill>
          </a:ln>
        </p:spPr>
        <p:txBody>
          <a:bodyPr rtlCol="0" anchor="ctr"/>
          <a:lstStyle/>
          <a:p>
            <a:pPr algn="ctr"/>
          </a:p>
        </p:txBody>
      </p:sp>
      <p:sp>
        <p:nvSpPr>
          <p:cNvPr id="17" name="TextBox 16"/>
          <p:cNvSpPr txBox="1"/>
          <p:nvPr/>
        </p:nvSpPr>
        <p:spPr>
          <a:xfrm>
            <a:off x="8451850" y="11684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18" name="TextBox 17"/>
          <p:cNvSpPr txBox="1"/>
          <p:nvPr/>
        </p:nvSpPr>
        <p:spPr>
          <a:xfrm>
            <a:off x="8674100" y="11811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Port Tanger Ville et Tanja Marina Bay</a:t>
            </a:r>
          </a:p>
        </p:txBody>
      </p:sp>
      <p:sp>
        <p:nvSpPr>
          <p:cNvPr id="19" name="Oval 18"/>
          <p:cNvSpPr/>
          <p:nvPr/>
        </p:nvSpPr>
        <p:spPr>
          <a:xfrm>
            <a:off x="8451850" y="1384300"/>
            <a:ext cx="152400" cy="152400"/>
          </a:xfrm>
          <a:prstGeom prst="ellipse">
            <a:avLst/>
          </a:prstGeom>
          <a:solidFill>
            <a:srgbClr val="C8462B"/>
          </a:solidFill>
          <a:ln w="9525">
            <a:solidFill>
              <a:srgbClr val="FFFFFF"/>
            </a:solidFill>
          </a:ln>
        </p:spPr>
        <p:txBody>
          <a:bodyPr rtlCol="0" anchor="ctr"/>
          <a:lstStyle/>
          <a:p>
            <a:pPr algn="ctr"/>
          </a:p>
        </p:txBody>
      </p:sp>
      <p:sp>
        <p:nvSpPr>
          <p:cNvPr id="20" name="TextBox 19"/>
          <p:cNvSpPr txBox="1"/>
          <p:nvPr/>
        </p:nvSpPr>
        <p:spPr>
          <a:xfrm>
            <a:off x="8451850" y="13843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7</a:t>
            </a:r>
          </a:p>
        </p:txBody>
      </p:sp>
      <p:sp>
        <p:nvSpPr>
          <p:cNvPr id="21" name="TextBox 20"/>
          <p:cNvSpPr txBox="1"/>
          <p:nvPr/>
        </p:nvSpPr>
        <p:spPr>
          <a:xfrm>
            <a:off x="8674100" y="13970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Gare TGV Tanger Ville (Al Boraq, 2018)</a:t>
            </a:r>
          </a:p>
        </p:txBody>
      </p:sp>
      <p:sp>
        <p:nvSpPr>
          <p:cNvPr id="22" name="Oval 21"/>
          <p:cNvSpPr/>
          <p:nvPr/>
        </p:nvSpPr>
        <p:spPr>
          <a:xfrm>
            <a:off x="8451850" y="1600200"/>
            <a:ext cx="152400" cy="152400"/>
          </a:xfrm>
          <a:prstGeom prst="ellipse">
            <a:avLst/>
          </a:prstGeom>
          <a:solidFill>
            <a:srgbClr val="C8462B"/>
          </a:solidFill>
          <a:ln w="9525">
            <a:solidFill>
              <a:srgbClr val="FFFFFF"/>
            </a:solidFill>
          </a:ln>
        </p:spPr>
        <p:txBody>
          <a:bodyPr rtlCol="0" anchor="ctr"/>
          <a:lstStyle/>
          <a:p>
            <a:pPr algn="ctr"/>
          </a:p>
        </p:txBody>
      </p:sp>
      <p:sp>
        <p:nvSpPr>
          <p:cNvPr id="23" name="TextBox 22"/>
          <p:cNvSpPr txBox="1"/>
          <p:nvPr/>
        </p:nvSpPr>
        <p:spPr>
          <a:xfrm>
            <a:off x="8451850" y="16002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8</a:t>
            </a:r>
          </a:p>
        </p:txBody>
      </p:sp>
      <p:sp>
        <p:nvSpPr>
          <p:cNvPr id="24" name="TextBox 23"/>
          <p:cNvSpPr txBox="1"/>
          <p:nvPr/>
        </p:nvSpPr>
        <p:spPr>
          <a:xfrm>
            <a:off x="8674100" y="16129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Grand stade Ibn Batouta (Mondial 2030)</a:t>
            </a:r>
          </a:p>
        </p:txBody>
      </p:sp>
      <p:sp>
        <p:nvSpPr>
          <p:cNvPr id="25" name="Oval 24"/>
          <p:cNvSpPr/>
          <p:nvPr/>
        </p:nvSpPr>
        <p:spPr>
          <a:xfrm>
            <a:off x="8451850" y="1816100"/>
            <a:ext cx="152400" cy="152400"/>
          </a:xfrm>
          <a:prstGeom prst="ellipse">
            <a:avLst/>
          </a:prstGeom>
          <a:solidFill>
            <a:srgbClr val="C8462B"/>
          </a:solidFill>
          <a:ln w="9525">
            <a:solidFill>
              <a:srgbClr val="FFFFFF"/>
            </a:solidFill>
          </a:ln>
        </p:spPr>
        <p:txBody>
          <a:bodyPr rtlCol="0" anchor="ctr"/>
          <a:lstStyle/>
          <a:p>
            <a:pPr algn="ctr"/>
          </a:p>
        </p:txBody>
      </p:sp>
      <p:sp>
        <p:nvSpPr>
          <p:cNvPr id="26" name="TextBox 25"/>
          <p:cNvSpPr txBox="1"/>
          <p:nvPr/>
        </p:nvSpPr>
        <p:spPr>
          <a:xfrm>
            <a:off x="8451850" y="18161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9</a:t>
            </a:r>
          </a:p>
        </p:txBody>
      </p:sp>
      <p:sp>
        <p:nvSpPr>
          <p:cNvPr id="27" name="TextBox 26"/>
          <p:cNvSpPr txBox="1"/>
          <p:nvPr/>
        </p:nvSpPr>
        <p:spPr>
          <a:xfrm>
            <a:off x="8674100" y="18288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Cap Spartel, grottes d'Hercule</a:t>
            </a:r>
          </a:p>
        </p:txBody>
      </p:sp>
      <p:sp>
        <p:nvSpPr>
          <p:cNvPr id="28" name="Oval 27"/>
          <p:cNvSpPr/>
          <p:nvPr/>
        </p:nvSpPr>
        <p:spPr>
          <a:xfrm>
            <a:off x="8451850" y="2032000"/>
            <a:ext cx="152400" cy="152400"/>
          </a:xfrm>
          <a:prstGeom prst="ellipse">
            <a:avLst/>
          </a:prstGeom>
          <a:solidFill>
            <a:srgbClr val="C8462B"/>
          </a:solidFill>
          <a:ln w="9525">
            <a:solidFill>
              <a:srgbClr val="FFFFFF"/>
            </a:solidFill>
          </a:ln>
        </p:spPr>
        <p:txBody>
          <a:bodyPr rtlCol="0" anchor="ctr"/>
          <a:lstStyle/>
          <a:p>
            <a:pPr algn="ctr"/>
          </a:p>
        </p:txBody>
      </p:sp>
      <p:sp>
        <p:nvSpPr>
          <p:cNvPr id="29" name="TextBox 28"/>
          <p:cNvSpPr txBox="1"/>
          <p:nvPr/>
        </p:nvSpPr>
        <p:spPr>
          <a:xfrm>
            <a:off x="8451850" y="20320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10</a:t>
            </a:r>
          </a:p>
        </p:txBody>
      </p:sp>
      <p:sp>
        <p:nvSpPr>
          <p:cNvPr id="30" name="TextBox 29"/>
          <p:cNvSpPr txBox="1"/>
          <p:nvPr/>
        </p:nvSpPr>
        <p:spPr>
          <a:xfrm>
            <a:off x="8674100" y="20447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Cap Malabata, front hôtelier</a:t>
            </a:r>
          </a:p>
        </p:txBody>
      </p:sp>
      <p:sp>
        <p:nvSpPr>
          <p:cNvPr id="31" name="Oval 30"/>
          <p:cNvSpPr/>
          <p:nvPr/>
        </p:nvSpPr>
        <p:spPr>
          <a:xfrm>
            <a:off x="8451850" y="2247900"/>
            <a:ext cx="152400" cy="152400"/>
          </a:xfrm>
          <a:prstGeom prst="ellipse">
            <a:avLst/>
          </a:prstGeom>
          <a:solidFill>
            <a:srgbClr val="1F3A5F"/>
          </a:solidFill>
          <a:ln w="9525">
            <a:solidFill>
              <a:srgbClr val="FFFFFF"/>
            </a:solidFill>
          </a:ln>
        </p:spPr>
        <p:txBody>
          <a:bodyPr rtlCol="0" anchor="ctr"/>
          <a:lstStyle/>
          <a:p>
            <a:pPr algn="ctr"/>
          </a:p>
        </p:txBody>
      </p:sp>
      <p:sp>
        <p:nvSpPr>
          <p:cNvPr id="32" name="TextBox 31"/>
          <p:cNvSpPr txBox="1"/>
          <p:nvPr/>
        </p:nvSpPr>
        <p:spPr>
          <a:xfrm>
            <a:off x="8451850" y="22479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33" name="TextBox 32"/>
          <p:cNvSpPr txBox="1"/>
          <p:nvPr/>
        </p:nvSpPr>
        <p:spPr>
          <a:xfrm>
            <a:off x="8674100" y="22606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Port Tanger Med (2007)</a:t>
            </a:r>
          </a:p>
        </p:txBody>
      </p:sp>
      <p:sp>
        <p:nvSpPr>
          <p:cNvPr id="34" name="Oval 33"/>
          <p:cNvSpPr/>
          <p:nvPr/>
        </p:nvSpPr>
        <p:spPr>
          <a:xfrm>
            <a:off x="8451850" y="2463800"/>
            <a:ext cx="152400" cy="152400"/>
          </a:xfrm>
          <a:prstGeom prst="ellipse">
            <a:avLst/>
          </a:prstGeom>
          <a:solidFill>
            <a:srgbClr val="1F3A5F"/>
          </a:solidFill>
          <a:ln w="9525">
            <a:solidFill>
              <a:srgbClr val="FFFFFF"/>
            </a:solidFill>
          </a:ln>
        </p:spPr>
        <p:txBody>
          <a:bodyPr rtlCol="0" anchor="ctr"/>
          <a:lstStyle/>
          <a:p>
            <a:pPr algn="ctr"/>
          </a:p>
        </p:txBody>
      </p:sp>
      <p:sp>
        <p:nvSpPr>
          <p:cNvPr id="35" name="TextBox 34"/>
          <p:cNvSpPr txBox="1"/>
          <p:nvPr/>
        </p:nvSpPr>
        <p:spPr>
          <a:xfrm>
            <a:off x="8451850" y="24638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36" name="TextBox 35"/>
          <p:cNvSpPr txBox="1"/>
          <p:nvPr/>
        </p:nvSpPr>
        <p:spPr>
          <a:xfrm>
            <a:off x="8674100" y="24765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Zone franche de Tanger</a:t>
            </a:r>
          </a:p>
        </p:txBody>
      </p:sp>
      <p:sp>
        <p:nvSpPr>
          <p:cNvPr id="37" name="Oval 36"/>
          <p:cNvSpPr/>
          <p:nvPr/>
        </p:nvSpPr>
        <p:spPr>
          <a:xfrm>
            <a:off x="8451850" y="2679700"/>
            <a:ext cx="152400" cy="152400"/>
          </a:xfrm>
          <a:prstGeom prst="ellipse">
            <a:avLst/>
          </a:prstGeom>
          <a:solidFill>
            <a:srgbClr val="1F3A5F"/>
          </a:solidFill>
          <a:ln w="9525">
            <a:solidFill>
              <a:srgbClr val="FFFFFF"/>
            </a:solidFill>
          </a:ln>
        </p:spPr>
        <p:txBody>
          <a:bodyPr rtlCol="0" anchor="ctr"/>
          <a:lstStyle/>
          <a:p>
            <a:pPr algn="ctr"/>
          </a:p>
        </p:txBody>
      </p:sp>
      <p:sp>
        <p:nvSpPr>
          <p:cNvPr id="38" name="TextBox 37"/>
          <p:cNvSpPr txBox="1"/>
          <p:nvPr/>
        </p:nvSpPr>
        <p:spPr>
          <a:xfrm>
            <a:off x="8451850" y="26797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5</a:t>
            </a:r>
          </a:p>
        </p:txBody>
      </p:sp>
      <p:sp>
        <p:nvSpPr>
          <p:cNvPr id="39" name="TextBox 38"/>
          <p:cNvSpPr txBox="1"/>
          <p:nvPr/>
        </p:nvSpPr>
        <p:spPr>
          <a:xfrm>
            <a:off x="8674100" y="26924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Usine Renault Melloussa</a:t>
            </a:r>
          </a:p>
        </p:txBody>
      </p:sp>
      <p:sp>
        <p:nvSpPr>
          <p:cNvPr id="40" name="Oval 39"/>
          <p:cNvSpPr/>
          <p:nvPr/>
        </p:nvSpPr>
        <p:spPr>
          <a:xfrm>
            <a:off x="8451850" y="2895600"/>
            <a:ext cx="152400" cy="152400"/>
          </a:xfrm>
          <a:prstGeom prst="ellipse">
            <a:avLst/>
          </a:prstGeom>
          <a:solidFill>
            <a:srgbClr val="1F3A5F"/>
          </a:solidFill>
          <a:ln w="9525">
            <a:solidFill>
              <a:srgbClr val="FFFFFF"/>
            </a:solidFill>
          </a:ln>
        </p:spPr>
        <p:txBody>
          <a:bodyPr rtlCol="0" anchor="ctr"/>
          <a:lstStyle/>
          <a:p>
            <a:pPr algn="ctr"/>
          </a:p>
        </p:txBody>
      </p:sp>
      <p:sp>
        <p:nvSpPr>
          <p:cNvPr id="41" name="TextBox 40"/>
          <p:cNvSpPr txBox="1"/>
          <p:nvPr/>
        </p:nvSpPr>
        <p:spPr>
          <a:xfrm>
            <a:off x="8451850" y="28956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6</a:t>
            </a:r>
          </a:p>
        </p:txBody>
      </p:sp>
      <p:sp>
        <p:nvSpPr>
          <p:cNvPr id="42" name="TextBox 41"/>
          <p:cNvSpPr txBox="1"/>
          <p:nvPr/>
        </p:nvSpPr>
        <p:spPr>
          <a:xfrm>
            <a:off x="8674100" y="29083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Tanger Automotive City</a:t>
            </a:r>
          </a:p>
        </p:txBody>
      </p:sp>
      <p:sp>
        <p:nvSpPr>
          <p:cNvPr id="43" name="Oval 42"/>
          <p:cNvSpPr/>
          <p:nvPr/>
        </p:nvSpPr>
        <p:spPr>
          <a:xfrm>
            <a:off x="8451850" y="3111500"/>
            <a:ext cx="152400" cy="152400"/>
          </a:xfrm>
          <a:prstGeom prst="ellipse">
            <a:avLst/>
          </a:prstGeom>
          <a:solidFill>
            <a:srgbClr val="7D8B96"/>
          </a:solidFill>
          <a:ln w="9525">
            <a:solidFill>
              <a:srgbClr val="FFFFFF"/>
            </a:solidFill>
          </a:ln>
        </p:spPr>
        <p:txBody>
          <a:bodyPr rtlCol="0" anchor="ctr"/>
          <a:lstStyle/>
          <a:p>
            <a:pPr algn="ctr"/>
          </a:p>
        </p:txBody>
      </p:sp>
      <p:sp>
        <p:nvSpPr>
          <p:cNvPr id="44" name="TextBox 43"/>
          <p:cNvSpPr txBox="1"/>
          <p:nvPr/>
        </p:nvSpPr>
        <p:spPr>
          <a:xfrm>
            <a:off x="8451850" y="31115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45" name="TextBox 44"/>
          <p:cNvSpPr txBox="1"/>
          <p:nvPr/>
        </p:nvSpPr>
        <p:spPr>
          <a:xfrm>
            <a:off x="8674100" y="31242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Aéroport Ibn Battouta</a:t>
            </a:r>
          </a:p>
        </p:txBody>
      </p:sp>
      <p:sp>
        <p:nvSpPr>
          <p:cNvPr id="46" name="TextBox 45"/>
          <p:cNvSpPr txBox="1"/>
          <p:nvPr/>
        </p:nvSpPr>
        <p:spPr>
          <a:xfrm>
            <a:off x="8445500" y="3492500"/>
            <a:ext cx="5715000" cy="127000"/>
          </a:xfrm>
          <a:prstGeom prst="rect">
            <a:avLst/>
          </a:prstGeom>
          <a:noFill/>
        </p:spPr>
        <p:txBody>
          <a:bodyPr wrap="square" lIns="0" rIns="0" tIns="0" bIns="0" anchor="t">
            <a:spAutoFit/>
          </a:bodyPr>
          <a:lstStyle/>
          <a:p>
            <a:pPr algn="l">
              <a:lnSpc>
                <a:spcPct val="120000"/>
              </a:lnSpc>
            </a:pPr>
            <a:r>
              <a:rPr sz="900" b="1" i="0" spc="250">
                <a:solidFill>
                  <a:srgbClr val="E0E0E0"/>
                </a:solidFill>
                <a:latin typeface="Barlow Condensed"/>
              </a:rPr>
              <a:t>FAMILLES</a:t>
            </a:r>
          </a:p>
        </p:txBody>
      </p:sp>
      <p:sp>
        <p:nvSpPr>
          <p:cNvPr id="47" name="Oval 46"/>
          <p:cNvSpPr/>
          <p:nvPr/>
        </p:nvSpPr>
        <p:spPr>
          <a:xfrm>
            <a:off x="8483600" y="3708400"/>
            <a:ext cx="88900" cy="88900"/>
          </a:xfrm>
          <a:prstGeom prst="ellipse">
            <a:avLst/>
          </a:prstGeom>
          <a:solidFill>
            <a:srgbClr val="C8462B"/>
          </a:solidFill>
          <a:ln w="6350">
            <a:solidFill>
              <a:srgbClr val="FFFFFF"/>
            </a:solidFill>
          </a:ln>
        </p:spPr>
        <p:txBody>
          <a:bodyPr rtlCol="0" anchor="ctr"/>
          <a:lstStyle/>
          <a:p>
            <a:pPr algn="ctr"/>
          </a:p>
        </p:txBody>
      </p:sp>
      <p:sp>
        <p:nvSpPr>
          <p:cNvPr id="48" name="TextBox 47"/>
          <p:cNvSpPr txBox="1"/>
          <p:nvPr/>
        </p:nvSpPr>
        <p:spPr>
          <a:xfrm>
            <a:off x="8699500" y="36893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Image, tourisme, événement</a:t>
            </a:r>
          </a:p>
        </p:txBody>
      </p:sp>
      <p:sp>
        <p:nvSpPr>
          <p:cNvPr id="49" name="Oval 48"/>
          <p:cNvSpPr/>
          <p:nvPr/>
        </p:nvSpPr>
        <p:spPr>
          <a:xfrm>
            <a:off x="8483600" y="3886200"/>
            <a:ext cx="88900" cy="88900"/>
          </a:xfrm>
          <a:prstGeom prst="ellipse">
            <a:avLst/>
          </a:prstGeom>
          <a:solidFill>
            <a:srgbClr val="1F3A5F"/>
          </a:solidFill>
          <a:ln w="6350">
            <a:solidFill>
              <a:srgbClr val="FFFFFF"/>
            </a:solidFill>
          </a:ln>
        </p:spPr>
        <p:txBody>
          <a:bodyPr rtlCol="0" anchor="ctr"/>
          <a:lstStyle/>
          <a:p>
            <a:pPr algn="ctr"/>
          </a:p>
        </p:txBody>
      </p:sp>
      <p:sp>
        <p:nvSpPr>
          <p:cNvPr id="50" name="TextBox 49"/>
          <p:cNvSpPr txBox="1"/>
          <p:nvPr/>
        </p:nvSpPr>
        <p:spPr>
          <a:xfrm>
            <a:off x="8699500" y="38671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Économie productive (port, industrie)</a:t>
            </a:r>
          </a:p>
        </p:txBody>
      </p:sp>
      <p:cxnSp>
        <p:nvCxnSpPr>
          <p:cNvPr id="51" name="Connector 50"/>
          <p:cNvCxnSpPr/>
          <p:nvPr/>
        </p:nvCxnSpPr>
        <p:spPr>
          <a:xfrm>
            <a:off x="8445500" y="4108450"/>
            <a:ext cx="165100" cy="0"/>
          </a:xfrm>
          <a:prstGeom prst="line">
            <a:avLst/>
          </a:prstGeom>
          <a:ln w="22225">
            <a:solidFill>
              <a:srgbClr val="E07A3F"/>
            </a:solidFill>
          </a:ln>
        </p:spPr>
      </p:cxnSp>
      <p:sp>
        <p:nvSpPr>
          <p:cNvPr id="52" name="TextBox 51"/>
          <p:cNvSpPr txBox="1"/>
          <p:nvPr/>
        </p:nvSpPr>
        <p:spPr>
          <a:xfrm>
            <a:off x="8699500" y="40449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Autoroutes et voies express</a:t>
            </a:r>
          </a:p>
        </p:txBody>
      </p:sp>
      <p:cxnSp>
        <p:nvCxnSpPr>
          <p:cNvPr id="53" name="Connector 52"/>
          <p:cNvCxnSpPr/>
          <p:nvPr/>
        </p:nvCxnSpPr>
        <p:spPr>
          <a:xfrm>
            <a:off x="8445500" y="4286250"/>
            <a:ext cx="165100" cy="0"/>
          </a:xfrm>
          <a:prstGeom prst="line">
            <a:avLst/>
          </a:prstGeom>
          <a:ln w="13970">
            <a:solidFill>
              <a:srgbClr val="EDEDED"/>
            </a:solidFill>
            <a:prstDash val="dash"/>
          </a:ln>
        </p:spPr>
      </p:cxnSp>
      <p:sp>
        <p:nvSpPr>
          <p:cNvPr id="54" name="TextBox 53"/>
          <p:cNvSpPr txBox="1"/>
          <p:nvPr/>
        </p:nvSpPr>
        <p:spPr>
          <a:xfrm>
            <a:off x="8699500" y="42227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Voie ferrée et LGV</a:t>
            </a:r>
          </a:p>
        </p:txBody>
      </p:sp>
      <p:cxnSp>
        <p:nvCxnSpPr>
          <p:cNvPr id="55" name="Connector 54"/>
          <p:cNvCxnSpPr/>
          <p:nvPr/>
        </p:nvCxnSpPr>
        <p:spPr>
          <a:xfrm>
            <a:off x="8445500" y="4464050"/>
            <a:ext cx="165100" cy="0"/>
          </a:xfrm>
          <a:prstGeom prst="line">
            <a:avLst/>
          </a:prstGeom>
          <a:ln w="22225">
            <a:solidFill>
              <a:srgbClr val="FFFFFF"/>
            </a:solidFill>
          </a:ln>
        </p:spPr>
      </p:cxnSp>
      <p:sp>
        <p:nvSpPr>
          <p:cNvPr id="56" name="TextBox 55"/>
          <p:cNvSpPr txBox="1"/>
          <p:nvPr/>
        </p:nvSpPr>
        <p:spPr>
          <a:xfrm>
            <a:off x="8699500" y="44005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Commune de Tanger</a:t>
            </a:r>
          </a:p>
        </p:txBody>
      </p:sp>
      <p:sp>
        <p:nvSpPr>
          <p:cNvPr id="57" name="TextBox 56"/>
          <p:cNvSpPr txBox="1"/>
          <p:nvPr/>
        </p:nvSpPr>
        <p:spPr>
          <a:xfrm>
            <a:off x="8445500" y="4826000"/>
            <a:ext cx="3492500" cy="1270000"/>
          </a:xfrm>
          <a:prstGeom prst="rect">
            <a:avLst/>
          </a:prstGeom>
          <a:noFill/>
        </p:spPr>
        <p:txBody>
          <a:bodyPr wrap="square" lIns="0" rIns="0" tIns="0" bIns="0" anchor="t">
            <a:spAutoFit/>
          </a:bodyPr>
          <a:lstStyle/>
          <a:p>
            <a:pPr algn="l">
              <a:lnSpc>
                <a:spcPct val="140000"/>
              </a:lnSpc>
            </a:pPr>
            <a:r>
              <a:rPr sz="1050" b="1" i="0">
                <a:solidFill>
                  <a:srgbClr val="E07A3F"/>
                </a:solidFill>
                <a:latin typeface="Barlow"/>
              </a:rPr>
              <a:t>Lecture. </a:t>
            </a:r>
            <a:r>
              <a:rPr sz="1050" b="0" i="0">
                <a:solidFill>
                  <a:srgbClr val="D6D2CB"/>
                </a:solidFill>
                <a:latin typeface="Barlow"/>
              </a:rPr>
              <a:t>Tous les projets d'image se concentrent sur la façade maritime de la commune. Les pôles d'emploi sont rejetés à 9-32 km, le long des autoroutes, hors de la ville habitée.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QUI HABITE TANGER ?</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Population et croissance des quatre arrondissements de la commune, 2014-2024.</a:t>
            </a:r>
          </a:p>
        </p:txBody>
      </p:sp>
      <p:sp>
        <p:nvSpPr>
          <p:cNvPr id="5" name="TextBox 4"/>
          <p:cNvSpPr txBox="1"/>
          <p:nvPr/>
        </p:nvSpPr>
        <p:spPr>
          <a:xfrm>
            <a:off x="10953750" y="215900"/>
            <a:ext cx="98425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+47 %</a:t>
            </a:r>
          </a:p>
        </p:txBody>
      </p:sp>
      <p:sp>
        <p:nvSpPr>
          <p:cNvPr id="6" name="TextBox 5"/>
          <p:cNvSpPr txBox="1"/>
          <p:nvPr/>
        </p:nvSpPr>
        <p:spPr>
          <a:xfrm>
            <a:off x="10953750" y="546100"/>
            <a:ext cx="98425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croissance de</a:t>
            </a:r>
          </a:p>
          <a:p>
            <a:pPr algn="r">
              <a:lnSpc>
                <a:spcPct val="110000"/>
              </a:lnSpc>
            </a:pPr>
            <a:r>
              <a:rPr sz="850" b="0" i="0">
                <a:solidFill>
                  <a:srgbClr val="77736C"/>
                </a:solidFill>
                <a:latin typeface="Barlow"/>
              </a:rPr>
              <a:t>Beni Makada</a:t>
            </a:r>
          </a:p>
        </p:txBody>
      </p:sp>
      <p:sp>
        <p:nvSpPr>
          <p:cNvPr id="7" name="TextBox 6"/>
          <p:cNvSpPr txBox="1"/>
          <p:nvPr/>
        </p:nvSpPr>
        <p:spPr>
          <a:xfrm>
            <a:off x="9950450" y="215900"/>
            <a:ext cx="7874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44 %</a:t>
            </a:r>
          </a:p>
        </p:txBody>
      </p:sp>
      <p:sp>
        <p:nvSpPr>
          <p:cNvPr id="8" name="TextBox 7"/>
          <p:cNvSpPr txBox="1"/>
          <p:nvPr/>
        </p:nvSpPr>
        <p:spPr>
          <a:xfrm>
            <a:off x="9950450" y="546100"/>
            <a:ext cx="7874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vivent à</a:t>
            </a:r>
          </a:p>
          <a:p>
            <a:pPr algn="r">
              <a:lnSpc>
                <a:spcPct val="110000"/>
              </a:lnSpc>
            </a:pPr>
            <a:r>
              <a:rPr sz="850" b="0" i="0">
                <a:solidFill>
                  <a:srgbClr val="77736C"/>
                </a:solidFill>
                <a:latin typeface="Barlow"/>
              </a:rPr>
              <a:t>Beni Makada</a:t>
            </a:r>
          </a:p>
        </p:txBody>
      </p:sp>
      <p:sp>
        <p:nvSpPr>
          <p:cNvPr id="9" name="TextBox 8"/>
          <p:cNvSpPr txBox="1"/>
          <p:nvPr/>
        </p:nvSpPr>
        <p:spPr>
          <a:xfrm>
            <a:off x="8356600" y="215900"/>
            <a:ext cx="137795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1 275 428</a:t>
            </a:r>
          </a:p>
        </p:txBody>
      </p:sp>
      <p:sp>
        <p:nvSpPr>
          <p:cNvPr id="10" name="TextBox 9"/>
          <p:cNvSpPr txBox="1"/>
          <p:nvPr/>
        </p:nvSpPr>
        <p:spPr>
          <a:xfrm>
            <a:off x="8356600" y="546100"/>
            <a:ext cx="137795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habitants, commune</a:t>
            </a:r>
          </a:p>
          <a:p>
            <a:pPr algn="r">
              <a:lnSpc>
                <a:spcPct val="110000"/>
              </a:lnSpc>
            </a:pPr>
            <a:r>
              <a:rPr sz="850" b="0" i="0">
                <a:solidFill>
                  <a:srgbClr val="77736C"/>
                </a:solidFill>
                <a:latin typeface="Barlow"/>
              </a:rPr>
              <a:t>de Tanger (2024)</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04 / 18</a:t>
            </a:r>
          </a:p>
        </p:txBody>
      </p:sp>
      <p:pic>
        <p:nvPicPr>
          <p:cNvPr id="14" name="Picture 13" descr="m02_arrondissements.jpg"/>
          <p:cNvPicPr>
            <a:picLocks noChangeAspect="1"/>
          </p:cNvPicPr>
          <p:nvPr/>
        </p:nvPicPr>
        <p:blipFill>
          <a:blip r:embed="rId2"/>
          <a:stretch>
            <a:fillRect/>
          </a:stretch>
        </p:blipFill>
        <p:spPr>
          <a:xfrm>
            <a:off x="254000" y="952500"/>
            <a:ext cx="6826250" cy="5461000"/>
          </a:xfrm>
          <a:prstGeom prst="rect">
            <a:avLst/>
          </a:prstGeom>
        </p:spPr>
      </p:pic>
      <p:sp>
        <p:nvSpPr>
          <p:cNvPr id="15" name="TextBox 14"/>
          <p:cNvSpPr txBox="1"/>
          <p:nvPr/>
        </p:nvSpPr>
        <p:spPr>
          <a:xfrm>
            <a:off x="7302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POPULATION 2014 ET 2024</a:t>
            </a:r>
          </a:p>
        </p:txBody>
      </p:sp>
      <p:sp>
        <p:nvSpPr>
          <p:cNvPr id="16" name="TextBox 15"/>
          <p:cNvSpPr txBox="1"/>
          <p:nvPr/>
        </p:nvSpPr>
        <p:spPr>
          <a:xfrm>
            <a:off x="7302500" y="1206500"/>
            <a:ext cx="1905000" cy="139700"/>
          </a:xfrm>
          <a:prstGeom prst="rect">
            <a:avLst/>
          </a:prstGeom>
          <a:noFill/>
        </p:spPr>
        <p:txBody>
          <a:bodyPr wrap="square" lIns="0" rIns="0" tIns="0" bIns="0" anchor="t">
            <a:spAutoFit/>
          </a:bodyPr>
          <a:lstStyle/>
          <a:p>
            <a:pPr algn="l">
              <a:lnSpc>
                <a:spcPct val="120000"/>
              </a:lnSpc>
            </a:pPr>
            <a:r>
              <a:rPr sz="1100" b="1" i="0">
                <a:solidFill>
                  <a:srgbClr val="C8462B"/>
                </a:solidFill>
                <a:latin typeface="Barlow"/>
              </a:rPr>
              <a:t>Beni Makada</a:t>
            </a:r>
          </a:p>
        </p:txBody>
      </p:sp>
      <p:sp>
        <p:nvSpPr>
          <p:cNvPr id="17" name="Rectangle 16"/>
          <p:cNvSpPr/>
          <p:nvPr/>
        </p:nvSpPr>
        <p:spPr>
          <a:xfrm>
            <a:off x="7302500" y="1384300"/>
            <a:ext cx="2125338" cy="114300"/>
          </a:xfrm>
          <a:prstGeom prst="rect">
            <a:avLst/>
          </a:prstGeom>
          <a:solidFill>
            <a:srgbClr val="B9B1A5"/>
          </a:solidFill>
          <a:ln>
            <a:noFill/>
          </a:ln>
        </p:spPr>
        <p:txBody>
          <a:bodyPr rtlCol="0" anchor="ctr"/>
          <a:lstStyle/>
          <a:p>
            <a:pPr algn="ctr"/>
          </a:p>
        </p:txBody>
      </p:sp>
      <p:sp>
        <p:nvSpPr>
          <p:cNvPr id="18" name="TextBox 17"/>
          <p:cNvSpPr txBox="1"/>
          <p:nvPr/>
        </p:nvSpPr>
        <p:spPr>
          <a:xfrm>
            <a:off x="9478638" y="1371600"/>
            <a:ext cx="1016000" cy="139700"/>
          </a:xfrm>
          <a:prstGeom prst="rect">
            <a:avLst/>
          </a:prstGeom>
          <a:noFill/>
        </p:spPr>
        <p:txBody>
          <a:bodyPr wrap="square" lIns="0" rIns="0" tIns="0" bIns="0" anchor="t">
            <a:spAutoFit/>
          </a:bodyPr>
          <a:lstStyle/>
          <a:p>
            <a:pPr algn="l">
              <a:lnSpc>
                <a:spcPct val="120000"/>
              </a:lnSpc>
            </a:pPr>
            <a:r>
              <a:rPr sz="850" b="0" i="0">
                <a:solidFill>
                  <a:srgbClr val="77736C"/>
                </a:solidFill>
                <a:latin typeface="Barlow"/>
              </a:rPr>
              <a:t>386 191  (2014)</a:t>
            </a:r>
          </a:p>
        </p:txBody>
      </p:sp>
      <p:sp>
        <p:nvSpPr>
          <p:cNvPr id="19" name="Rectangle 18"/>
          <p:cNvSpPr/>
          <p:nvPr/>
        </p:nvSpPr>
        <p:spPr>
          <a:xfrm>
            <a:off x="7302500" y="1524000"/>
            <a:ext cx="3122949" cy="114300"/>
          </a:xfrm>
          <a:prstGeom prst="rect">
            <a:avLst/>
          </a:prstGeom>
          <a:solidFill>
            <a:srgbClr val="C8462B"/>
          </a:solidFill>
          <a:ln>
            <a:noFill/>
          </a:ln>
        </p:spPr>
        <p:txBody>
          <a:bodyPr rtlCol="0" anchor="ctr"/>
          <a:lstStyle/>
          <a:p>
            <a:pPr algn="ctr"/>
          </a:p>
        </p:txBody>
      </p:sp>
      <p:sp>
        <p:nvSpPr>
          <p:cNvPr id="20" name="TextBox 19"/>
          <p:cNvSpPr txBox="1"/>
          <p:nvPr/>
        </p:nvSpPr>
        <p:spPr>
          <a:xfrm>
            <a:off x="10476249" y="1511300"/>
            <a:ext cx="1397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567 465  (+47 %)</a:t>
            </a:r>
          </a:p>
        </p:txBody>
      </p:sp>
      <p:sp>
        <p:nvSpPr>
          <p:cNvPr id="21" name="TextBox 20"/>
          <p:cNvSpPr txBox="1"/>
          <p:nvPr/>
        </p:nvSpPr>
        <p:spPr>
          <a:xfrm>
            <a:off x="7302500" y="1828800"/>
            <a:ext cx="1905000" cy="1397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Tanger-Médina</a:t>
            </a:r>
          </a:p>
        </p:txBody>
      </p:sp>
      <p:sp>
        <p:nvSpPr>
          <p:cNvPr id="22" name="Rectangle 21"/>
          <p:cNvSpPr/>
          <p:nvPr/>
        </p:nvSpPr>
        <p:spPr>
          <a:xfrm>
            <a:off x="7302500" y="2006600"/>
            <a:ext cx="1337761" cy="114300"/>
          </a:xfrm>
          <a:prstGeom prst="rect">
            <a:avLst/>
          </a:prstGeom>
          <a:solidFill>
            <a:srgbClr val="B9B1A5"/>
          </a:solidFill>
          <a:ln>
            <a:noFill/>
          </a:ln>
        </p:spPr>
        <p:txBody>
          <a:bodyPr rtlCol="0" anchor="ctr"/>
          <a:lstStyle/>
          <a:p>
            <a:pPr algn="ctr"/>
          </a:p>
        </p:txBody>
      </p:sp>
      <p:sp>
        <p:nvSpPr>
          <p:cNvPr id="23" name="TextBox 22"/>
          <p:cNvSpPr txBox="1"/>
          <p:nvPr/>
        </p:nvSpPr>
        <p:spPr>
          <a:xfrm>
            <a:off x="8691061" y="1993900"/>
            <a:ext cx="1016000" cy="139700"/>
          </a:xfrm>
          <a:prstGeom prst="rect">
            <a:avLst/>
          </a:prstGeom>
          <a:noFill/>
        </p:spPr>
        <p:txBody>
          <a:bodyPr wrap="square" lIns="0" rIns="0" tIns="0" bIns="0" anchor="t">
            <a:spAutoFit/>
          </a:bodyPr>
          <a:lstStyle/>
          <a:p>
            <a:pPr algn="l">
              <a:lnSpc>
                <a:spcPct val="120000"/>
              </a:lnSpc>
            </a:pPr>
            <a:r>
              <a:rPr sz="850" b="0" i="0">
                <a:solidFill>
                  <a:srgbClr val="77736C"/>
                </a:solidFill>
                <a:latin typeface="Barlow"/>
              </a:rPr>
              <a:t>243 082  (2014)</a:t>
            </a:r>
          </a:p>
        </p:txBody>
      </p:sp>
      <p:sp>
        <p:nvSpPr>
          <p:cNvPr id="24" name="Rectangle 23"/>
          <p:cNvSpPr/>
          <p:nvPr/>
        </p:nvSpPr>
        <p:spPr>
          <a:xfrm>
            <a:off x="7302500" y="2146300"/>
            <a:ext cx="1890588" cy="114300"/>
          </a:xfrm>
          <a:prstGeom prst="rect">
            <a:avLst/>
          </a:prstGeom>
          <a:solidFill>
            <a:srgbClr val="8C8478"/>
          </a:solidFill>
          <a:ln>
            <a:noFill/>
          </a:ln>
        </p:spPr>
        <p:txBody>
          <a:bodyPr rtlCol="0" anchor="ctr"/>
          <a:lstStyle/>
          <a:p>
            <a:pPr algn="ctr"/>
          </a:p>
        </p:txBody>
      </p:sp>
      <p:sp>
        <p:nvSpPr>
          <p:cNvPr id="25" name="TextBox 24"/>
          <p:cNvSpPr txBox="1"/>
          <p:nvPr/>
        </p:nvSpPr>
        <p:spPr>
          <a:xfrm>
            <a:off x="9243888" y="2133600"/>
            <a:ext cx="1397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343 535  (+41 %)</a:t>
            </a:r>
          </a:p>
        </p:txBody>
      </p:sp>
      <p:sp>
        <p:nvSpPr>
          <p:cNvPr id="26" name="TextBox 25"/>
          <p:cNvSpPr txBox="1"/>
          <p:nvPr/>
        </p:nvSpPr>
        <p:spPr>
          <a:xfrm>
            <a:off x="7302500" y="2451100"/>
            <a:ext cx="1905000" cy="1397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Charf-Mghogha</a:t>
            </a:r>
          </a:p>
        </p:txBody>
      </p:sp>
      <p:sp>
        <p:nvSpPr>
          <p:cNvPr id="27" name="Rectangle 26"/>
          <p:cNvSpPr/>
          <p:nvPr/>
        </p:nvSpPr>
        <p:spPr>
          <a:xfrm>
            <a:off x="7302500" y="2628900"/>
            <a:ext cx="1106841" cy="114300"/>
          </a:xfrm>
          <a:prstGeom prst="rect">
            <a:avLst/>
          </a:prstGeom>
          <a:solidFill>
            <a:srgbClr val="B9B1A5"/>
          </a:solidFill>
          <a:ln>
            <a:noFill/>
          </a:ln>
        </p:spPr>
        <p:txBody>
          <a:bodyPr rtlCol="0" anchor="ctr"/>
          <a:lstStyle/>
          <a:p>
            <a:pPr algn="ctr"/>
          </a:p>
        </p:txBody>
      </p:sp>
      <p:sp>
        <p:nvSpPr>
          <p:cNvPr id="28" name="TextBox 27"/>
          <p:cNvSpPr txBox="1"/>
          <p:nvPr/>
        </p:nvSpPr>
        <p:spPr>
          <a:xfrm>
            <a:off x="8460141" y="2616200"/>
            <a:ext cx="1016000" cy="139700"/>
          </a:xfrm>
          <a:prstGeom prst="rect">
            <a:avLst/>
          </a:prstGeom>
          <a:noFill/>
        </p:spPr>
        <p:txBody>
          <a:bodyPr wrap="square" lIns="0" rIns="0" tIns="0" bIns="0" anchor="t">
            <a:spAutoFit/>
          </a:bodyPr>
          <a:lstStyle/>
          <a:p>
            <a:pPr algn="l">
              <a:lnSpc>
                <a:spcPct val="120000"/>
              </a:lnSpc>
            </a:pPr>
            <a:r>
              <a:rPr sz="850" b="0" i="0">
                <a:solidFill>
                  <a:srgbClr val="77736C"/>
                </a:solidFill>
                <a:latin typeface="Barlow"/>
              </a:rPr>
              <a:t>201 122  (2014)</a:t>
            </a:r>
          </a:p>
        </p:txBody>
      </p:sp>
      <p:sp>
        <p:nvSpPr>
          <p:cNvPr id="29" name="Rectangle 28"/>
          <p:cNvSpPr/>
          <p:nvPr/>
        </p:nvSpPr>
        <p:spPr>
          <a:xfrm>
            <a:off x="7302500" y="2768600"/>
            <a:ext cx="1390450" cy="114300"/>
          </a:xfrm>
          <a:prstGeom prst="rect">
            <a:avLst/>
          </a:prstGeom>
          <a:solidFill>
            <a:srgbClr val="8C8478"/>
          </a:solidFill>
          <a:ln>
            <a:noFill/>
          </a:ln>
        </p:spPr>
        <p:txBody>
          <a:bodyPr rtlCol="0" anchor="ctr"/>
          <a:lstStyle/>
          <a:p>
            <a:pPr algn="ctr"/>
          </a:p>
        </p:txBody>
      </p:sp>
      <p:sp>
        <p:nvSpPr>
          <p:cNvPr id="30" name="TextBox 29"/>
          <p:cNvSpPr txBox="1"/>
          <p:nvPr/>
        </p:nvSpPr>
        <p:spPr>
          <a:xfrm>
            <a:off x="8743750" y="2755900"/>
            <a:ext cx="1397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252 656  (+26 %)</a:t>
            </a:r>
          </a:p>
        </p:txBody>
      </p:sp>
      <p:sp>
        <p:nvSpPr>
          <p:cNvPr id="31" name="TextBox 30"/>
          <p:cNvSpPr txBox="1"/>
          <p:nvPr/>
        </p:nvSpPr>
        <p:spPr>
          <a:xfrm>
            <a:off x="7302500" y="3073400"/>
            <a:ext cx="1905000" cy="1397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Charf-Souani</a:t>
            </a:r>
          </a:p>
        </p:txBody>
      </p:sp>
      <p:sp>
        <p:nvSpPr>
          <p:cNvPr id="32" name="Rectangle 31"/>
          <p:cNvSpPr/>
          <p:nvPr/>
        </p:nvSpPr>
        <p:spPr>
          <a:xfrm>
            <a:off x="7302500" y="3251200"/>
            <a:ext cx="646955" cy="114300"/>
          </a:xfrm>
          <a:prstGeom prst="rect">
            <a:avLst/>
          </a:prstGeom>
          <a:solidFill>
            <a:srgbClr val="B9B1A5"/>
          </a:solidFill>
          <a:ln>
            <a:noFill/>
          </a:ln>
        </p:spPr>
        <p:txBody>
          <a:bodyPr rtlCol="0" anchor="ctr"/>
          <a:lstStyle/>
          <a:p>
            <a:pPr algn="ctr"/>
          </a:p>
        </p:txBody>
      </p:sp>
      <p:sp>
        <p:nvSpPr>
          <p:cNvPr id="33" name="TextBox 32"/>
          <p:cNvSpPr txBox="1"/>
          <p:nvPr/>
        </p:nvSpPr>
        <p:spPr>
          <a:xfrm>
            <a:off x="8000255" y="3238500"/>
            <a:ext cx="1016000" cy="139700"/>
          </a:xfrm>
          <a:prstGeom prst="rect">
            <a:avLst/>
          </a:prstGeom>
          <a:noFill/>
        </p:spPr>
        <p:txBody>
          <a:bodyPr wrap="square" lIns="0" rIns="0" tIns="0" bIns="0" anchor="t">
            <a:spAutoFit/>
          </a:bodyPr>
          <a:lstStyle/>
          <a:p>
            <a:pPr algn="l">
              <a:lnSpc>
                <a:spcPct val="120000"/>
              </a:lnSpc>
            </a:pPr>
            <a:r>
              <a:rPr sz="850" b="0" i="0">
                <a:solidFill>
                  <a:srgbClr val="77736C"/>
                </a:solidFill>
                <a:latin typeface="Barlow"/>
              </a:rPr>
              <a:t>117 557  (2014)</a:t>
            </a:r>
          </a:p>
        </p:txBody>
      </p:sp>
      <p:sp>
        <p:nvSpPr>
          <p:cNvPr id="34" name="Rectangle 33"/>
          <p:cNvSpPr/>
          <p:nvPr/>
        </p:nvSpPr>
        <p:spPr>
          <a:xfrm>
            <a:off x="7302500" y="3390900"/>
            <a:ext cx="615119" cy="114300"/>
          </a:xfrm>
          <a:prstGeom prst="rect">
            <a:avLst/>
          </a:prstGeom>
          <a:solidFill>
            <a:srgbClr val="8C8478"/>
          </a:solidFill>
          <a:ln>
            <a:noFill/>
          </a:ln>
        </p:spPr>
        <p:txBody>
          <a:bodyPr rtlCol="0" anchor="ctr"/>
          <a:lstStyle/>
          <a:p>
            <a:pPr algn="ctr"/>
          </a:p>
        </p:txBody>
      </p:sp>
      <p:sp>
        <p:nvSpPr>
          <p:cNvPr id="35" name="TextBox 34"/>
          <p:cNvSpPr txBox="1"/>
          <p:nvPr/>
        </p:nvSpPr>
        <p:spPr>
          <a:xfrm>
            <a:off x="7968419" y="3378200"/>
            <a:ext cx="1397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111 772  (-5 %)</a:t>
            </a:r>
          </a:p>
        </p:txBody>
      </p:sp>
      <p:sp>
        <p:nvSpPr>
          <p:cNvPr id="36" name="TextBox 35"/>
          <p:cNvSpPr txBox="1"/>
          <p:nvPr/>
        </p:nvSpPr>
        <p:spPr>
          <a:xfrm>
            <a:off x="7302500" y="3810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DENSITÉ SUR LE BÂTI (HAB. / KM² BÂTI)</a:t>
            </a:r>
          </a:p>
        </p:txBody>
      </p:sp>
      <p:sp>
        <p:nvSpPr>
          <p:cNvPr id="37" name="TextBox 36"/>
          <p:cNvSpPr txBox="1"/>
          <p:nvPr/>
        </p:nvSpPr>
        <p:spPr>
          <a:xfrm>
            <a:off x="7302500" y="4000500"/>
            <a:ext cx="889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38" name="Rectangle 37"/>
          <p:cNvSpPr/>
          <p:nvPr/>
        </p:nvSpPr>
        <p:spPr>
          <a:xfrm>
            <a:off x="8191500" y="4025900"/>
            <a:ext cx="2652833" cy="88900"/>
          </a:xfrm>
          <a:prstGeom prst="rect">
            <a:avLst/>
          </a:prstGeom>
          <a:solidFill>
            <a:srgbClr val="C8462B"/>
          </a:solidFill>
          <a:ln>
            <a:noFill/>
          </a:ln>
        </p:spPr>
        <p:txBody>
          <a:bodyPr rtlCol="0" anchor="ctr"/>
          <a:lstStyle/>
          <a:p>
            <a:pPr algn="ctr"/>
          </a:p>
        </p:txBody>
      </p:sp>
      <p:sp>
        <p:nvSpPr>
          <p:cNvPr id="39" name="TextBox 38"/>
          <p:cNvSpPr txBox="1"/>
          <p:nvPr/>
        </p:nvSpPr>
        <p:spPr>
          <a:xfrm>
            <a:off x="10895133" y="4000500"/>
            <a:ext cx="635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46 750</a:t>
            </a:r>
          </a:p>
        </p:txBody>
      </p:sp>
      <p:sp>
        <p:nvSpPr>
          <p:cNvPr id="40" name="TextBox 39"/>
          <p:cNvSpPr txBox="1"/>
          <p:nvPr/>
        </p:nvSpPr>
        <p:spPr>
          <a:xfrm>
            <a:off x="7302500" y="4191000"/>
            <a:ext cx="889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41" name="Rectangle 40"/>
          <p:cNvSpPr/>
          <p:nvPr/>
        </p:nvSpPr>
        <p:spPr>
          <a:xfrm>
            <a:off x="8191500" y="4216400"/>
            <a:ext cx="1419150" cy="88900"/>
          </a:xfrm>
          <a:prstGeom prst="rect">
            <a:avLst/>
          </a:prstGeom>
          <a:solidFill>
            <a:srgbClr val="B9B1A5"/>
          </a:solidFill>
          <a:ln>
            <a:noFill/>
          </a:ln>
        </p:spPr>
        <p:txBody>
          <a:bodyPr rtlCol="0" anchor="ctr"/>
          <a:lstStyle/>
          <a:p>
            <a:pPr algn="ctr"/>
          </a:p>
        </p:txBody>
      </p:sp>
      <p:sp>
        <p:nvSpPr>
          <p:cNvPr id="42" name="TextBox 41"/>
          <p:cNvSpPr txBox="1"/>
          <p:nvPr/>
        </p:nvSpPr>
        <p:spPr>
          <a:xfrm>
            <a:off x="9661450" y="4191000"/>
            <a:ext cx="635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25 009</a:t>
            </a:r>
          </a:p>
        </p:txBody>
      </p:sp>
      <p:sp>
        <p:nvSpPr>
          <p:cNvPr id="43" name="TextBox 42"/>
          <p:cNvSpPr txBox="1"/>
          <p:nvPr/>
        </p:nvSpPr>
        <p:spPr>
          <a:xfrm>
            <a:off x="7302500" y="4381500"/>
            <a:ext cx="889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44" name="Rectangle 43"/>
          <p:cNvSpPr/>
          <p:nvPr/>
        </p:nvSpPr>
        <p:spPr>
          <a:xfrm>
            <a:off x="8191500" y="4406900"/>
            <a:ext cx="1332399" cy="88900"/>
          </a:xfrm>
          <a:prstGeom prst="rect">
            <a:avLst/>
          </a:prstGeom>
          <a:solidFill>
            <a:srgbClr val="B9B1A5"/>
          </a:solidFill>
          <a:ln>
            <a:noFill/>
          </a:ln>
        </p:spPr>
        <p:txBody>
          <a:bodyPr rtlCol="0" anchor="ctr"/>
          <a:lstStyle/>
          <a:p>
            <a:pPr algn="ctr"/>
          </a:p>
        </p:txBody>
      </p:sp>
      <p:sp>
        <p:nvSpPr>
          <p:cNvPr id="45" name="TextBox 44"/>
          <p:cNvSpPr txBox="1"/>
          <p:nvPr/>
        </p:nvSpPr>
        <p:spPr>
          <a:xfrm>
            <a:off x="9574699" y="4381500"/>
            <a:ext cx="635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23 481</a:t>
            </a:r>
          </a:p>
        </p:txBody>
      </p:sp>
      <p:sp>
        <p:nvSpPr>
          <p:cNvPr id="46" name="TextBox 45"/>
          <p:cNvSpPr txBox="1"/>
          <p:nvPr/>
        </p:nvSpPr>
        <p:spPr>
          <a:xfrm>
            <a:off x="7302500" y="4572000"/>
            <a:ext cx="889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47" name="Rectangle 46"/>
          <p:cNvSpPr/>
          <p:nvPr/>
        </p:nvSpPr>
        <p:spPr>
          <a:xfrm>
            <a:off x="8191500" y="4597400"/>
            <a:ext cx="1166915" cy="88900"/>
          </a:xfrm>
          <a:prstGeom prst="rect">
            <a:avLst/>
          </a:prstGeom>
          <a:solidFill>
            <a:srgbClr val="B9B1A5"/>
          </a:solidFill>
          <a:ln>
            <a:noFill/>
          </a:ln>
        </p:spPr>
        <p:txBody>
          <a:bodyPr rtlCol="0" anchor="ctr"/>
          <a:lstStyle/>
          <a:p>
            <a:pPr algn="ctr"/>
          </a:p>
        </p:txBody>
      </p:sp>
      <p:sp>
        <p:nvSpPr>
          <p:cNvPr id="48" name="TextBox 47"/>
          <p:cNvSpPr txBox="1"/>
          <p:nvPr/>
        </p:nvSpPr>
        <p:spPr>
          <a:xfrm>
            <a:off x="9409215" y="4572000"/>
            <a:ext cx="635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20 564</a:t>
            </a:r>
          </a:p>
        </p:txBody>
      </p:sp>
      <p:sp>
        <p:nvSpPr>
          <p:cNvPr id="49" name="TextBox 48"/>
          <p:cNvSpPr txBox="1"/>
          <p:nvPr/>
        </p:nvSpPr>
        <p:spPr>
          <a:xfrm>
            <a:off x="7302500" y="5016500"/>
            <a:ext cx="4572000" cy="1143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Beni Makada a gagné 181 000 habitants en dix ans, plus que toute la croissance des trois autres arrondissements réunis. Avec près de 47 000 habitants par km² bâti, c'est le cœur démographique de Tanger, à 5 km de la mer. Charf-Souani, central, perd des habitants.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LA VILLE RÉELLE : OCCUPATION DU SOL</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Ce que voit le satellite : bâti, arbres, cultures et relief, à 10 m de résolution.</a:t>
            </a:r>
          </a:p>
        </p:txBody>
      </p:sp>
      <p:sp>
        <p:nvSpPr>
          <p:cNvPr id="5" name="TextBox 4"/>
          <p:cNvSpPr txBox="1"/>
          <p:nvPr/>
        </p:nvSpPr>
        <p:spPr>
          <a:xfrm>
            <a:off x="11071860" y="215900"/>
            <a:ext cx="86614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0.4 km²</a:t>
            </a:r>
          </a:p>
        </p:txBody>
      </p:sp>
      <p:sp>
        <p:nvSpPr>
          <p:cNvPr id="6" name="TextBox 5"/>
          <p:cNvSpPr txBox="1"/>
          <p:nvPr/>
        </p:nvSpPr>
        <p:spPr>
          <a:xfrm>
            <a:off x="11071860" y="546100"/>
            <a:ext cx="86614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d'arbres à</a:t>
            </a:r>
          </a:p>
          <a:p>
            <a:pPr algn="r">
              <a:lnSpc>
                <a:spcPct val="110000"/>
              </a:lnSpc>
            </a:pPr>
            <a:r>
              <a:rPr sz="850" b="0" i="0">
                <a:solidFill>
                  <a:srgbClr val="77736C"/>
                </a:solidFill>
                <a:latin typeface="Barlow"/>
              </a:rPr>
              <a:t>Beni Makada</a:t>
            </a:r>
          </a:p>
        </p:txBody>
      </p:sp>
      <p:sp>
        <p:nvSpPr>
          <p:cNvPr id="7" name="TextBox 6"/>
          <p:cNvSpPr txBox="1"/>
          <p:nvPr/>
        </p:nvSpPr>
        <p:spPr>
          <a:xfrm>
            <a:off x="9714230" y="215900"/>
            <a:ext cx="114173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82 %</a:t>
            </a:r>
          </a:p>
        </p:txBody>
      </p:sp>
      <p:sp>
        <p:nvSpPr>
          <p:cNvPr id="8" name="TextBox 7"/>
          <p:cNvSpPr txBox="1"/>
          <p:nvPr/>
        </p:nvSpPr>
        <p:spPr>
          <a:xfrm>
            <a:off x="9714230" y="546100"/>
            <a:ext cx="114173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des arbres dans</a:t>
            </a:r>
          </a:p>
          <a:p>
            <a:pPr algn="r">
              <a:lnSpc>
                <a:spcPct val="110000"/>
              </a:lnSpc>
            </a:pPr>
            <a:r>
              <a:rPr sz="850" b="0" i="0">
                <a:solidFill>
                  <a:srgbClr val="77736C"/>
                </a:solidFill>
                <a:latin typeface="Barlow"/>
              </a:rPr>
              <a:t>Tanger-Médina</a:t>
            </a:r>
          </a:p>
        </p:txBody>
      </p:sp>
      <p:sp>
        <p:nvSpPr>
          <p:cNvPr id="9" name="TextBox 8"/>
          <p:cNvSpPr txBox="1"/>
          <p:nvPr/>
        </p:nvSpPr>
        <p:spPr>
          <a:xfrm>
            <a:off x="8736330" y="215900"/>
            <a:ext cx="762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31 km²</a:t>
            </a:r>
          </a:p>
        </p:txBody>
      </p:sp>
      <p:sp>
        <p:nvSpPr>
          <p:cNvPr id="10" name="TextBox 9"/>
          <p:cNvSpPr txBox="1"/>
          <p:nvPr/>
        </p:nvSpPr>
        <p:spPr>
          <a:xfrm>
            <a:off x="8736330" y="546100"/>
            <a:ext cx="762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 couvert</a:t>
            </a:r>
          </a:p>
          <a:p>
            <a:pPr algn="r">
              <a:lnSpc>
                <a:spcPct val="110000"/>
              </a:lnSpc>
            </a:pPr>
            <a:r>
              <a:rPr sz="850" b="0" i="0">
                <a:solidFill>
                  <a:srgbClr val="77736C"/>
                </a:solidFill>
                <a:latin typeface="Barlow"/>
              </a:rPr>
              <a:t>arboré</a:t>
            </a:r>
          </a:p>
        </p:txBody>
      </p:sp>
      <p:sp>
        <p:nvSpPr>
          <p:cNvPr id="11" name="TextBox 10"/>
          <p:cNvSpPr txBox="1"/>
          <p:nvPr/>
        </p:nvSpPr>
        <p:spPr>
          <a:xfrm>
            <a:off x="7693660" y="215900"/>
            <a:ext cx="82677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44 km²</a:t>
            </a:r>
          </a:p>
        </p:txBody>
      </p:sp>
      <p:sp>
        <p:nvSpPr>
          <p:cNvPr id="12" name="TextBox 11"/>
          <p:cNvSpPr txBox="1"/>
          <p:nvPr/>
        </p:nvSpPr>
        <p:spPr>
          <a:xfrm>
            <a:off x="7693660" y="546100"/>
            <a:ext cx="82677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bâtis dans la</a:t>
            </a:r>
          </a:p>
          <a:p>
            <a:pPr algn="r">
              <a:lnSpc>
                <a:spcPct val="110000"/>
              </a:lnSpc>
            </a:pPr>
            <a:r>
              <a:rPr sz="850" b="0" i="0">
                <a:solidFill>
                  <a:srgbClr val="77736C"/>
                </a:solidFill>
                <a:latin typeface="Barlow"/>
              </a:rPr>
              <a:t>commune</a:t>
            </a:r>
          </a:p>
        </p:txBody>
      </p:sp>
      <p:cxnSp>
        <p:nvCxnSpPr>
          <p:cNvPr id="13" name="Connector 12"/>
          <p:cNvCxnSpPr/>
          <p:nvPr/>
        </p:nvCxnSpPr>
        <p:spPr>
          <a:xfrm>
            <a:off x="254000" y="6578600"/>
            <a:ext cx="11684000" cy="0"/>
          </a:xfrm>
          <a:prstGeom prst="line">
            <a:avLst/>
          </a:prstGeom>
          <a:ln w="6350">
            <a:solidFill>
              <a:srgbClr val="C9C4BA"/>
            </a:solidFill>
          </a:ln>
        </p:spPr>
      </p:cxnSp>
      <p:sp>
        <p:nvSpPr>
          <p:cNvPr id="14" name="TextBox 13"/>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5" name="TextBox 14"/>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05 / 18</a:t>
            </a:r>
          </a:p>
        </p:txBody>
      </p:sp>
      <p:pic>
        <p:nvPicPr>
          <p:cNvPr id="16" name="Picture 15" descr="m03_occupation.jpg"/>
          <p:cNvPicPr>
            <a:picLocks noChangeAspect="1"/>
          </p:cNvPicPr>
          <p:nvPr/>
        </p:nvPicPr>
        <p:blipFill>
          <a:blip r:embed="rId2"/>
          <a:stretch>
            <a:fillRect/>
          </a:stretch>
        </p:blipFill>
        <p:spPr>
          <a:xfrm>
            <a:off x="254000" y="952500"/>
            <a:ext cx="7937500" cy="5622396"/>
          </a:xfrm>
          <a:prstGeom prst="rect">
            <a:avLst/>
          </a:prstGeom>
        </p:spPr>
      </p:pic>
      <p:sp>
        <p:nvSpPr>
          <p:cNvPr id="17" name="TextBox 16"/>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LÉGENDE</a:t>
            </a:r>
          </a:p>
        </p:txBody>
      </p:sp>
      <p:sp>
        <p:nvSpPr>
          <p:cNvPr id="18" name="Rectangle 17"/>
          <p:cNvSpPr/>
          <p:nvPr/>
        </p:nvSpPr>
        <p:spPr>
          <a:xfrm>
            <a:off x="8445500" y="1174750"/>
            <a:ext cx="165100" cy="101600"/>
          </a:xfrm>
          <a:prstGeom prst="rect">
            <a:avLst/>
          </a:prstGeom>
          <a:solidFill>
            <a:srgbClr val="DFA283"/>
          </a:solidFill>
          <a:ln>
            <a:noFill/>
          </a:ln>
        </p:spPr>
        <p:txBody>
          <a:bodyPr rtlCol="0" anchor="ctr"/>
          <a:lstStyle/>
          <a:p>
            <a:pPr algn="ctr"/>
          </a:p>
        </p:txBody>
      </p:sp>
      <p:sp>
        <p:nvSpPr>
          <p:cNvPr id="19" name="TextBox 18"/>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Surfaces bâties</a:t>
            </a:r>
          </a:p>
        </p:txBody>
      </p:sp>
      <p:sp>
        <p:nvSpPr>
          <p:cNvPr id="20" name="Rectangle 19"/>
          <p:cNvSpPr/>
          <p:nvPr/>
        </p:nvSpPr>
        <p:spPr>
          <a:xfrm>
            <a:off x="8445500" y="1352550"/>
            <a:ext cx="165100" cy="101600"/>
          </a:xfrm>
          <a:prstGeom prst="rect">
            <a:avLst/>
          </a:prstGeom>
          <a:solidFill>
            <a:srgbClr val="A3B78F"/>
          </a:solidFill>
          <a:ln>
            <a:noFill/>
          </a:ln>
        </p:spPr>
        <p:txBody>
          <a:bodyPr rtlCol="0" anchor="ctr"/>
          <a:lstStyle/>
          <a:p>
            <a:pPr algn="ctr"/>
          </a:p>
        </p:txBody>
      </p:sp>
      <p:sp>
        <p:nvSpPr>
          <p:cNvPr id="21" name="TextBox 20"/>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Arbres, forêts (Rmilat, Perdicaris, Malabata)</a:t>
            </a:r>
          </a:p>
        </p:txBody>
      </p:sp>
      <p:sp>
        <p:nvSpPr>
          <p:cNvPr id="22" name="Rectangle 21"/>
          <p:cNvSpPr/>
          <p:nvPr/>
        </p:nvSpPr>
        <p:spPr>
          <a:xfrm>
            <a:off x="8445500" y="1530350"/>
            <a:ext cx="165100" cy="101600"/>
          </a:xfrm>
          <a:prstGeom prst="rect">
            <a:avLst/>
          </a:prstGeom>
          <a:solidFill>
            <a:srgbClr val="C8CFAE"/>
          </a:solidFill>
          <a:ln>
            <a:noFill/>
          </a:ln>
        </p:spPr>
        <p:txBody>
          <a:bodyPr rtlCol="0" anchor="ctr"/>
          <a:lstStyle/>
          <a:p>
            <a:pPr algn="ctr"/>
          </a:p>
        </p:txBody>
      </p:sp>
      <p:sp>
        <p:nvSpPr>
          <p:cNvPr id="23" name="TextBox 22"/>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Arbustes</a:t>
            </a:r>
          </a:p>
        </p:txBody>
      </p:sp>
      <p:sp>
        <p:nvSpPr>
          <p:cNvPr id="24" name="Rectangle 23"/>
          <p:cNvSpPr/>
          <p:nvPr/>
        </p:nvSpPr>
        <p:spPr>
          <a:xfrm>
            <a:off x="8445500" y="1708150"/>
            <a:ext cx="165100" cy="101600"/>
          </a:xfrm>
          <a:prstGeom prst="rect">
            <a:avLst/>
          </a:prstGeom>
          <a:solidFill>
            <a:srgbClr val="DAD9C2"/>
          </a:solidFill>
          <a:ln>
            <a:noFill/>
          </a:ln>
        </p:spPr>
        <p:txBody>
          <a:bodyPr rtlCol="0" anchor="ctr"/>
          <a:lstStyle/>
          <a:p>
            <a:pPr algn="ctr"/>
          </a:p>
        </p:txBody>
      </p:sp>
      <p:sp>
        <p:nvSpPr>
          <p:cNvPr id="25" name="TextBox 24"/>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Prairies</a:t>
            </a:r>
          </a:p>
        </p:txBody>
      </p:sp>
      <p:sp>
        <p:nvSpPr>
          <p:cNvPr id="26" name="Rectangle 25"/>
          <p:cNvSpPr/>
          <p:nvPr/>
        </p:nvSpPr>
        <p:spPr>
          <a:xfrm>
            <a:off x="8445500" y="1885950"/>
            <a:ext cx="165100" cy="101600"/>
          </a:xfrm>
          <a:prstGeom prst="rect">
            <a:avLst/>
          </a:prstGeom>
          <a:solidFill>
            <a:srgbClr val="E5DEC8"/>
          </a:solidFill>
          <a:ln>
            <a:noFill/>
          </a:ln>
        </p:spPr>
        <p:txBody>
          <a:bodyPr rtlCol="0" anchor="ctr"/>
          <a:lstStyle/>
          <a:p>
            <a:pPr algn="ctr"/>
          </a:p>
        </p:txBody>
      </p:sp>
      <p:sp>
        <p:nvSpPr>
          <p:cNvPr id="27" name="TextBox 26"/>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Cultures</a:t>
            </a:r>
          </a:p>
        </p:txBody>
      </p:sp>
      <p:sp>
        <p:nvSpPr>
          <p:cNvPr id="28" name="Rectangle 27"/>
          <p:cNvSpPr/>
          <p:nvPr/>
        </p:nvSpPr>
        <p:spPr>
          <a:xfrm>
            <a:off x="8445500" y="2063750"/>
            <a:ext cx="165100" cy="101600"/>
          </a:xfrm>
          <a:prstGeom prst="rect">
            <a:avLst/>
          </a:prstGeom>
          <a:solidFill>
            <a:srgbClr val="A9C3CC"/>
          </a:solidFill>
          <a:ln>
            <a:noFill/>
          </a:ln>
        </p:spPr>
        <p:txBody>
          <a:bodyPr rtlCol="0" anchor="ctr"/>
          <a:lstStyle/>
          <a:p>
            <a:pPr algn="ctr"/>
          </a:p>
        </p:txBody>
      </p:sp>
      <p:sp>
        <p:nvSpPr>
          <p:cNvPr id="29" name="TextBox 28"/>
          <p:cNvSpPr txBox="1"/>
          <p:nvPr/>
        </p:nvSpPr>
        <p:spPr>
          <a:xfrm>
            <a:off x="8699500" y="20510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Mer et plans d'eau</a:t>
            </a:r>
          </a:p>
        </p:txBody>
      </p:sp>
      <p:cxnSp>
        <p:nvCxnSpPr>
          <p:cNvPr id="30" name="Connector 29"/>
          <p:cNvCxnSpPr/>
          <p:nvPr/>
        </p:nvCxnSpPr>
        <p:spPr>
          <a:xfrm>
            <a:off x="8445500" y="2292350"/>
            <a:ext cx="165100" cy="0"/>
          </a:xfrm>
          <a:prstGeom prst="line">
            <a:avLst/>
          </a:prstGeom>
          <a:ln w="22225">
            <a:solidFill>
              <a:srgbClr val="C8462B"/>
            </a:solidFill>
          </a:ln>
        </p:spPr>
      </p:cxnSp>
      <p:sp>
        <p:nvSpPr>
          <p:cNvPr id="31" name="TextBox 30"/>
          <p:cNvSpPr txBox="1"/>
          <p:nvPr/>
        </p:nvSpPr>
        <p:spPr>
          <a:xfrm>
            <a:off x="8699500" y="22288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Autoroute, voie express</a:t>
            </a:r>
          </a:p>
        </p:txBody>
      </p:sp>
      <p:cxnSp>
        <p:nvCxnSpPr>
          <p:cNvPr id="32" name="Connector 31"/>
          <p:cNvCxnSpPr/>
          <p:nvPr/>
        </p:nvCxnSpPr>
        <p:spPr>
          <a:xfrm>
            <a:off x="8445500" y="2470150"/>
            <a:ext cx="165100" cy="0"/>
          </a:xfrm>
          <a:prstGeom prst="line">
            <a:avLst/>
          </a:prstGeom>
          <a:ln w="22225">
            <a:solidFill>
              <a:srgbClr val="D9824F"/>
            </a:solidFill>
          </a:ln>
        </p:spPr>
      </p:cxnSp>
      <p:sp>
        <p:nvSpPr>
          <p:cNvPr id="33" name="TextBox 32"/>
          <p:cNvSpPr txBox="1"/>
          <p:nvPr/>
        </p:nvSpPr>
        <p:spPr>
          <a:xfrm>
            <a:off x="8699500" y="24066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Route principale</a:t>
            </a:r>
          </a:p>
        </p:txBody>
      </p:sp>
      <p:cxnSp>
        <p:nvCxnSpPr>
          <p:cNvPr id="34" name="Connector 33"/>
          <p:cNvCxnSpPr/>
          <p:nvPr/>
        </p:nvCxnSpPr>
        <p:spPr>
          <a:xfrm>
            <a:off x="8445500" y="2647950"/>
            <a:ext cx="165100" cy="0"/>
          </a:xfrm>
          <a:prstGeom prst="line">
            <a:avLst/>
          </a:prstGeom>
          <a:ln w="13970">
            <a:solidFill>
              <a:srgbClr val="2B2B2B"/>
            </a:solidFill>
            <a:prstDash val="dash"/>
          </a:ln>
        </p:spPr>
      </p:cxnSp>
      <p:sp>
        <p:nvSpPr>
          <p:cNvPr id="35" name="TextBox 34"/>
          <p:cNvSpPr txBox="1"/>
          <p:nvPr/>
        </p:nvSpPr>
        <p:spPr>
          <a:xfrm>
            <a:off x="8699500" y="25844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Voie ferrée</a:t>
            </a:r>
          </a:p>
        </p:txBody>
      </p:sp>
      <p:cxnSp>
        <p:nvCxnSpPr>
          <p:cNvPr id="36" name="Connector 35"/>
          <p:cNvCxnSpPr/>
          <p:nvPr/>
        </p:nvCxnSpPr>
        <p:spPr>
          <a:xfrm>
            <a:off x="8445500" y="2825750"/>
            <a:ext cx="165100" cy="0"/>
          </a:xfrm>
          <a:prstGeom prst="line">
            <a:avLst/>
          </a:prstGeom>
          <a:ln w="22225">
            <a:solidFill>
              <a:srgbClr val="2B2B2B"/>
            </a:solidFill>
          </a:ln>
        </p:spPr>
      </p:cxnSp>
      <p:sp>
        <p:nvSpPr>
          <p:cNvPr id="37" name="TextBox 36"/>
          <p:cNvSpPr txBox="1"/>
          <p:nvPr/>
        </p:nvSpPr>
        <p:spPr>
          <a:xfrm>
            <a:off x="8699500" y="27622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Commune et arrondissements</a:t>
            </a:r>
          </a:p>
        </p:txBody>
      </p:sp>
      <p:sp>
        <p:nvSpPr>
          <p:cNvPr id="38" name="TextBox 37"/>
          <p:cNvSpPr txBox="1"/>
          <p:nvPr/>
        </p:nvSpPr>
        <p:spPr>
          <a:xfrm>
            <a:off x="8445500" y="3124200"/>
            <a:ext cx="3492500" cy="1905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La ville forme une tache bâtie continue qui s'étire vers le sud et le sud-ouest, le long des voies express. Au nord, le massif forestier de Rmilat et du cap Spartel reste le grand poumon vert, mais il est presque entièrement dans l'arrondissement côtier. Beni Makada, le plus peuplé, n'a presque plus d'arbres.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2017 → 2025 : CE QUE MONTRE LE SATELLITE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Deux images Sentinel-2 prises en juillet, à huit ans d'écart.</a:t>
            </a:r>
          </a:p>
        </p:txBody>
      </p:sp>
      <p:sp>
        <p:nvSpPr>
          <p:cNvPr id="5" name="TextBox 4"/>
          <p:cNvSpPr txBox="1"/>
          <p:nvPr/>
        </p:nvSpPr>
        <p:spPr>
          <a:xfrm>
            <a:off x="11111230" y="215900"/>
            <a:ext cx="82677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10 m</a:t>
            </a:r>
          </a:p>
        </p:txBody>
      </p:sp>
      <p:sp>
        <p:nvSpPr>
          <p:cNvPr id="6" name="TextBox 5"/>
          <p:cNvSpPr txBox="1"/>
          <p:nvPr/>
        </p:nvSpPr>
        <p:spPr>
          <a:xfrm>
            <a:off x="11111230" y="546100"/>
            <a:ext cx="82677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résolution</a:t>
            </a:r>
          </a:p>
          <a:p>
            <a:pPr algn="r">
              <a:lnSpc>
                <a:spcPct val="110000"/>
              </a:lnSpc>
            </a:pPr>
            <a:r>
              <a:rPr sz="850" b="0" i="0">
                <a:solidFill>
                  <a:srgbClr val="77736C"/>
                </a:solidFill>
                <a:latin typeface="Barlow"/>
              </a:rPr>
              <a:t>Sentinel-2</a:t>
            </a:r>
          </a:p>
        </p:txBody>
      </p:sp>
      <p:sp>
        <p:nvSpPr>
          <p:cNvPr id="7" name="TextBox 6"/>
          <p:cNvSpPr txBox="1"/>
          <p:nvPr/>
        </p:nvSpPr>
        <p:spPr>
          <a:xfrm>
            <a:off x="10133330" y="215900"/>
            <a:ext cx="762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8 ans</a:t>
            </a:r>
          </a:p>
        </p:txBody>
      </p:sp>
      <p:sp>
        <p:nvSpPr>
          <p:cNvPr id="8" name="TextBox 7"/>
          <p:cNvSpPr txBox="1"/>
          <p:nvPr/>
        </p:nvSpPr>
        <p:spPr>
          <a:xfrm>
            <a:off x="10133330" y="546100"/>
            <a:ext cx="762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d'écart</a:t>
            </a:r>
          </a:p>
        </p:txBody>
      </p:sp>
      <p:cxnSp>
        <p:nvCxnSpPr>
          <p:cNvPr id="9" name="Connector 8"/>
          <p:cNvCxnSpPr/>
          <p:nvPr/>
        </p:nvCxnSpPr>
        <p:spPr>
          <a:xfrm>
            <a:off x="254000" y="6578600"/>
            <a:ext cx="11684000" cy="0"/>
          </a:xfrm>
          <a:prstGeom prst="line">
            <a:avLst/>
          </a:prstGeom>
          <a:ln w="6350">
            <a:solidFill>
              <a:srgbClr val="C9C4BA"/>
            </a:solidFill>
          </a:ln>
        </p:spPr>
      </p:cxnSp>
      <p:sp>
        <p:nvSpPr>
          <p:cNvPr id="10" name="TextBox 9"/>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1" name="TextBox 10"/>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06 / 18</a:t>
            </a:r>
          </a:p>
        </p:txBody>
      </p:sp>
      <p:pic>
        <p:nvPicPr>
          <p:cNvPr id="12" name="Picture 11" descr="s01_ville_2017.jpg"/>
          <p:cNvPicPr>
            <a:picLocks noChangeAspect="1"/>
          </p:cNvPicPr>
          <p:nvPr/>
        </p:nvPicPr>
        <p:blipFill>
          <a:blip r:embed="rId2"/>
          <a:stretch>
            <a:fillRect/>
          </a:stretch>
        </p:blipFill>
        <p:spPr>
          <a:xfrm>
            <a:off x="254000" y="1079500"/>
            <a:ext cx="5778500" cy="3316859"/>
          </a:xfrm>
          <a:prstGeom prst="rect">
            <a:avLst/>
          </a:prstGeom>
        </p:spPr>
      </p:pic>
      <p:pic>
        <p:nvPicPr>
          <p:cNvPr id="13" name="Picture 12" descr="s01_ville_2025.jpg"/>
          <p:cNvPicPr>
            <a:picLocks noChangeAspect="1"/>
          </p:cNvPicPr>
          <p:nvPr/>
        </p:nvPicPr>
        <p:blipFill>
          <a:blip r:embed="rId3"/>
          <a:stretch>
            <a:fillRect/>
          </a:stretch>
        </p:blipFill>
        <p:spPr>
          <a:xfrm>
            <a:off x="6159500" y="1079500"/>
            <a:ext cx="5778500" cy="3316859"/>
          </a:xfrm>
          <a:prstGeom prst="rect">
            <a:avLst/>
          </a:prstGeom>
        </p:spPr>
      </p:pic>
      <p:sp>
        <p:nvSpPr>
          <p:cNvPr id="14" name="TextBox 13"/>
          <p:cNvSpPr txBox="1"/>
          <p:nvPr/>
        </p:nvSpPr>
        <p:spPr>
          <a:xfrm>
            <a:off x="317500" y="1143000"/>
            <a:ext cx="1270000" cy="190500"/>
          </a:xfrm>
          <a:prstGeom prst="rect">
            <a:avLst/>
          </a:prstGeom>
          <a:noFill/>
        </p:spPr>
        <p:txBody>
          <a:bodyPr wrap="square" lIns="0" rIns="0" tIns="0" bIns="0" anchor="t">
            <a:spAutoFit/>
          </a:bodyPr>
          <a:lstStyle/>
          <a:p>
            <a:pPr algn="l">
              <a:lnSpc>
                <a:spcPct val="120000"/>
              </a:lnSpc>
            </a:pPr>
            <a:r>
              <a:rPr sz="1400" b="1" i="0" spc="200">
                <a:solidFill>
                  <a:srgbClr val="FFFFFF"/>
                </a:solidFill>
                <a:latin typeface="Barlow Condensed"/>
              </a:rPr>
              <a:t>16 / 07 / 2017</a:t>
            </a:r>
          </a:p>
        </p:txBody>
      </p:sp>
      <p:sp>
        <p:nvSpPr>
          <p:cNvPr id="15" name="TextBox 14"/>
          <p:cNvSpPr txBox="1"/>
          <p:nvPr/>
        </p:nvSpPr>
        <p:spPr>
          <a:xfrm>
            <a:off x="6223000" y="1143000"/>
            <a:ext cx="1270000" cy="190500"/>
          </a:xfrm>
          <a:prstGeom prst="rect">
            <a:avLst/>
          </a:prstGeom>
          <a:noFill/>
        </p:spPr>
        <p:txBody>
          <a:bodyPr wrap="square" lIns="0" rIns="0" tIns="0" bIns="0" anchor="t">
            <a:spAutoFit/>
          </a:bodyPr>
          <a:lstStyle/>
          <a:p>
            <a:pPr algn="l">
              <a:lnSpc>
                <a:spcPct val="120000"/>
              </a:lnSpc>
            </a:pPr>
            <a:r>
              <a:rPr sz="1400" b="1" i="0" spc="200">
                <a:solidFill>
                  <a:srgbClr val="FFFFFF"/>
                </a:solidFill>
                <a:latin typeface="Barlow Condensed"/>
              </a:rPr>
              <a:t>19 / 07 / 2025</a:t>
            </a:r>
          </a:p>
        </p:txBody>
      </p:sp>
      <p:sp>
        <p:nvSpPr>
          <p:cNvPr id="16" name="Oval 15"/>
          <p:cNvSpPr/>
          <p:nvPr/>
        </p:nvSpPr>
        <p:spPr>
          <a:xfrm>
            <a:off x="9972819" y="1708708"/>
            <a:ext cx="279400" cy="279400"/>
          </a:xfrm>
          <a:prstGeom prst="ellipse">
            <a:avLst/>
          </a:prstGeom>
          <a:noFill/>
          <a:ln w="12700">
            <a:solidFill>
              <a:srgbClr val="FFFFFF"/>
            </a:solidFill>
          </a:ln>
        </p:spPr>
        <p:txBody>
          <a:bodyPr rtlCol="0" anchor="ctr"/>
          <a:lstStyle/>
          <a:p>
            <a:pPr algn="ctr"/>
          </a:p>
        </p:txBody>
      </p:sp>
      <p:sp>
        <p:nvSpPr>
          <p:cNvPr id="17" name="Oval 16"/>
          <p:cNvSpPr/>
          <p:nvPr/>
        </p:nvSpPr>
        <p:spPr>
          <a:xfrm>
            <a:off x="10176019" y="1632508"/>
            <a:ext cx="152400" cy="152400"/>
          </a:xfrm>
          <a:prstGeom prst="ellipse">
            <a:avLst/>
          </a:prstGeom>
          <a:solidFill>
            <a:srgbClr val="C8462B"/>
          </a:solidFill>
          <a:ln w="9525">
            <a:solidFill>
              <a:srgbClr val="FFFFFF"/>
            </a:solidFill>
          </a:ln>
        </p:spPr>
        <p:txBody>
          <a:bodyPr rtlCol="0" anchor="ctr"/>
          <a:lstStyle/>
          <a:p>
            <a:pPr algn="ctr"/>
          </a:p>
        </p:txBody>
      </p:sp>
      <p:sp>
        <p:nvSpPr>
          <p:cNvPr id="18" name="TextBox 17"/>
          <p:cNvSpPr txBox="1"/>
          <p:nvPr/>
        </p:nvSpPr>
        <p:spPr>
          <a:xfrm>
            <a:off x="10176019" y="1632508"/>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19" name="Oval 18"/>
          <p:cNvSpPr/>
          <p:nvPr/>
        </p:nvSpPr>
        <p:spPr>
          <a:xfrm>
            <a:off x="8564967" y="3165111"/>
            <a:ext cx="279400" cy="279400"/>
          </a:xfrm>
          <a:prstGeom prst="ellipse">
            <a:avLst/>
          </a:prstGeom>
          <a:noFill/>
          <a:ln w="12700">
            <a:solidFill>
              <a:srgbClr val="FFFFFF"/>
            </a:solidFill>
          </a:ln>
        </p:spPr>
        <p:txBody>
          <a:bodyPr rtlCol="0" anchor="ctr"/>
          <a:lstStyle/>
          <a:p>
            <a:pPr algn="ctr"/>
          </a:p>
        </p:txBody>
      </p:sp>
      <p:sp>
        <p:nvSpPr>
          <p:cNvPr id="20" name="Oval 19"/>
          <p:cNvSpPr/>
          <p:nvPr/>
        </p:nvSpPr>
        <p:spPr>
          <a:xfrm>
            <a:off x="8768167" y="3088911"/>
            <a:ext cx="152400" cy="152400"/>
          </a:xfrm>
          <a:prstGeom prst="ellipse">
            <a:avLst/>
          </a:prstGeom>
          <a:solidFill>
            <a:srgbClr val="C8462B"/>
          </a:solidFill>
          <a:ln w="9525">
            <a:solidFill>
              <a:srgbClr val="FFFFFF"/>
            </a:solidFill>
          </a:ln>
        </p:spPr>
        <p:txBody>
          <a:bodyPr rtlCol="0" anchor="ctr"/>
          <a:lstStyle/>
          <a:p>
            <a:pPr algn="ctr"/>
          </a:p>
        </p:txBody>
      </p:sp>
      <p:sp>
        <p:nvSpPr>
          <p:cNvPr id="21" name="TextBox 20"/>
          <p:cNvSpPr txBox="1"/>
          <p:nvPr/>
        </p:nvSpPr>
        <p:spPr>
          <a:xfrm>
            <a:off x="8768167" y="3088911"/>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22" name="Oval 21"/>
          <p:cNvSpPr/>
          <p:nvPr/>
        </p:nvSpPr>
        <p:spPr>
          <a:xfrm>
            <a:off x="7325216" y="3940050"/>
            <a:ext cx="279400" cy="279400"/>
          </a:xfrm>
          <a:prstGeom prst="ellipse">
            <a:avLst/>
          </a:prstGeom>
          <a:noFill/>
          <a:ln w="12700">
            <a:solidFill>
              <a:srgbClr val="FFFFFF"/>
            </a:solidFill>
          </a:ln>
        </p:spPr>
        <p:txBody>
          <a:bodyPr rtlCol="0" anchor="ctr"/>
          <a:lstStyle/>
          <a:p>
            <a:pPr algn="ctr"/>
          </a:p>
        </p:txBody>
      </p:sp>
      <p:sp>
        <p:nvSpPr>
          <p:cNvPr id="23" name="Oval 22"/>
          <p:cNvSpPr/>
          <p:nvPr/>
        </p:nvSpPr>
        <p:spPr>
          <a:xfrm>
            <a:off x="7528416" y="3863850"/>
            <a:ext cx="152400" cy="152400"/>
          </a:xfrm>
          <a:prstGeom prst="ellipse">
            <a:avLst/>
          </a:prstGeom>
          <a:solidFill>
            <a:srgbClr val="C8462B"/>
          </a:solidFill>
          <a:ln w="9525">
            <a:solidFill>
              <a:srgbClr val="FFFFFF"/>
            </a:solidFill>
          </a:ln>
        </p:spPr>
        <p:txBody>
          <a:bodyPr rtlCol="0" anchor="ctr"/>
          <a:lstStyle/>
          <a:p>
            <a:pPr algn="ctr"/>
          </a:p>
        </p:txBody>
      </p:sp>
      <p:sp>
        <p:nvSpPr>
          <p:cNvPr id="24" name="TextBox 23"/>
          <p:cNvSpPr txBox="1"/>
          <p:nvPr/>
        </p:nvSpPr>
        <p:spPr>
          <a:xfrm>
            <a:off x="7528416" y="386385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25" name="Oval 24"/>
          <p:cNvSpPr/>
          <p:nvPr/>
        </p:nvSpPr>
        <p:spPr>
          <a:xfrm>
            <a:off x="10878993" y="3412368"/>
            <a:ext cx="279400" cy="279400"/>
          </a:xfrm>
          <a:prstGeom prst="ellipse">
            <a:avLst/>
          </a:prstGeom>
          <a:noFill/>
          <a:ln w="12700">
            <a:solidFill>
              <a:srgbClr val="FFFFFF"/>
            </a:solidFill>
          </a:ln>
        </p:spPr>
        <p:txBody>
          <a:bodyPr rtlCol="0" anchor="ctr"/>
          <a:lstStyle/>
          <a:p>
            <a:pPr algn="ctr"/>
          </a:p>
        </p:txBody>
      </p:sp>
      <p:sp>
        <p:nvSpPr>
          <p:cNvPr id="26" name="Oval 25"/>
          <p:cNvSpPr/>
          <p:nvPr/>
        </p:nvSpPr>
        <p:spPr>
          <a:xfrm>
            <a:off x="11082193" y="3336168"/>
            <a:ext cx="152400" cy="152400"/>
          </a:xfrm>
          <a:prstGeom prst="ellipse">
            <a:avLst/>
          </a:prstGeom>
          <a:solidFill>
            <a:srgbClr val="C8462B"/>
          </a:solidFill>
          <a:ln w="9525">
            <a:solidFill>
              <a:srgbClr val="FFFFFF"/>
            </a:solidFill>
          </a:ln>
        </p:spPr>
        <p:txBody>
          <a:bodyPr rtlCol="0" anchor="ctr"/>
          <a:lstStyle/>
          <a:p>
            <a:pPr algn="ctr"/>
          </a:p>
        </p:txBody>
      </p:sp>
      <p:sp>
        <p:nvSpPr>
          <p:cNvPr id="27" name="TextBox 26"/>
          <p:cNvSpPr txBox="1"/>
          <p:nvPr/>
        </p:nvSpPr>
        <p:spPr>
          <a:xfrm>
            <a:off x="11082193" y="3336168"/>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28" name="Oval 27"/>
          <p:cNvSpPr/>
          <p:nvPr/>
        </p:nvSpPr>
        <p:spPr>
          <a:xfrm>
            <a:off x="6172200" y="4561459"/>
            <a:ext cx="152400" cy="152400"/>
          </a:xfrm>
          <a:prstGeom prst="ellipse">
            <a:avLst/>
          </a:prstGeom>
          <a:solidFill>
            <a:srgbClr val="C8462B"/>
          </a:solidFill>
          <a:ln w="9525">
            <a:solidFill>
              <a:srgbClr val="FFFFFF"/>
            </a:solidFill>
          </a:ln>
        </p:spPr>
        <p:txBody>
          <a:bodyPr rtlCol="0" anchor="ctr"/>
          <a:lstStyle/>
          <a:p>
            <a:pPr algn="ctr"/>
          </a:p>
        </p:txBody>
      </p:sp>
      <p:sp>
        <p:nvSpPr>
          <p:cNvPr id="29" name="TextBox 28"/>
          <p:cNvSpPr txBox="1"/>
          <p:nvPr/>
        </p:nvSpPr>
        <p:spPr>
          <a:xfrm>
            <a:off x="6172200" y="45614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30" name="TextBox 29"/>
          <p:cNvSpPr txBox="1"/>
          <p:nvPr/>
        </p:nvSpPr>
        <p:spPr>
          <a:xfrm>
            <a:off x="6388100" y="4567809"/>
            <a:ext cx="2540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Port reconverti et marina</a:t>
            </a:r>
          </a:p>
        </p:txBody>
      </p:sp>
      <p:sp>
        <p:nvSpPr>
          <p:cNvPr id="31" name="Oval 30"/>
          <p:cNvSpPr/>
          <p:nvPr/>
        </p:nvSpPr>
        <p:spPr>
          <a:xfrm>
            <a:off x="9029700" y="4561459"/>
            <a:ext cx="152400" cy="152400"/>
          </a:xfrm>
          <a:prstGeom prst="ellipse">
            <a:avLst/>
          </a:prstGeom>
          <a:solidFill>
            <a:srgbClr val="C8462B"/>
          </a:solidFill>
          <a:ln w="9525">
            <a:solidFill>
              <a:srgbClr val="FFFFFF"/>
            </a:solidFill>
          </a:ln>
        </p:spPr>
        <p:txBody>
          <a:bodyPr rtlCol="0" anchor="ctr"/>
          <a:lstStyle/>
          <a:p>
            <a:pPr algn="ctr"/>
          </a:p>
        </p:txBody>
      </p:sp>
      <p:sp>
        <p:nvSpPr>
          <p:cNvPr id="32" name="TextBox 31"/>
          <p:cNvSpPr txBox="1"/>
          <p:nvPr/>
        </p:nvSpPr>
        <p:spPr>
          <a:xfrm>
            <a:off x="9029700" y="45614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33" name="TextBox 32"/>
          <p:cNvSpPr txBox="1"/>
          <p:nvPr/>
        </p:nvSpPr>
        <p:spPr>
          <a:xfrm>
            <a:off x="9245600" y="4567809"/>
            <a:ext cx="2540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Grand stade : nouvelle toiture</a:t>
            </a:r>
          </a:p>
        </p:txBody>
      </p:sp>
      <p:sp>
        <p:nvSpPr>
          <p:cNvPr id="34" name="Oval 33"/>
          <p:cNvSpPr/>
          <p:nvPr/>
        </p:nvSpPr>
        <p:spPr>
          <a:xfrm>
            <a:off x="6172200" y="4777359"/>
            <a:ext cx="152400" cy="152400"/>
          </a:xfrm>
          <a:prstGeom prst="ellipse">
            <a:avLst/>
          </a:prstGeom>
          <a:solidFill>
            <a:srgbClr val="C8462B"/>
          </a:solidFill>
          <a:ln w="9525">
            <a:solidFill>
              <a:srgbClr val="FFFFFF"/>
            </a:solidFill>
          </a:ln>
        </p:spPr>
        <p:txBody>
          <a:bodyPr rtlCol="0" anchor="ctr"/>
          <a:lstStyle/>
          <a:p>
            <a:pPr algn="ctr"/>
          </a:p>
        </p:txBody>
      </p:sp>
      <p:sp>
        <p:nvSpPr>
          <p:cNvPr id="35" name="TextBox 34"/>
          <p:cNvSpPr txBox="1"/>
          <p:nvPr/>
        </p:nvSpPr>
        <p:spPr>
          <a:xfrm>
            <a:off x="6172200" y="47773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36" name="TextBox 35"/>
          <p:cNvSpPr txBox="1"/>
          <p:nvPr/>
        </p:nvSpPr>
        <p:spPr>
          <a:xfrm>
            <a:off x="6388100" y="4783709"/>
            <a:ext cx="2540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Zone franche étendue</a:t>
            </a:r>
          </a:p>
        </p:txBody>
      </p:sp>
      <p:sp>
        <p:nvSpPr>
          <p:cNvPr id="37" name="Oval 36"/>
          <p:cNvSpPr/>
          <p:nvPr/>
        </p:nvSpPr>
        <p:spPr>
          <a:xfrm>
            <a:off x="9029700" y="4777359"/>
            <a:ext cx="152400" cy="152400"/>
          </a:xfrm>
          <a:prstGeom prst="ellipse">
            <a:avLst/>
          </a:prstGeom>
          <a:solidFill>
            <a:srgbClr val="C8462B"/>
          </a:solidFill>
          <a:ln w="9525">
            <a:solidFill>
              <a:srgbClr val="FFFFFF"/>
            </a:solidFill>
          </a:ln>
        </p:spPr>
        <p:txBody>
          <a:bodyPr rtlCol="0" anchor="ctr"/>
          <a:lstStyle/>
          <a:p>
            <a:pPr algn="ctr"/>
          </a:p>
        </p:txBody>
      </p:sp>
      <p:sp>
        <p:nvSpPr>
          <p:cNvPr id="38" name="TextBox 37"/>
          <p:cNvSpPr txBox="1"/>
          <p:nvPr/>
        </p:nvSpPr>
        <p:spPr>
          <a:xfrm>
            <a:off x="9029700" y="47773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39" name="TextBox 38"/>
          <p:cNvSpPr txBox="1"/>
          <p:nvPr/>
        </p:nvSpPr>
        <p:spPr>
          <a:xfrm>
            <a:off x="9245600" y="4783709"/>
            <a:ext cx="2540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Lotissements de Mghogha</a:t>
            </a:r>
          </a:p>
        </p:txBody>
      </p:sp>
      <p:sp>
        <p:nvSpPr>
          <p:cNvPr id="40" name="TextBox 39"/>
          <p:cNvSpPr txBox="1"/>
          <p:nvPr/>
        </p:nvSpPr>
        <p:spPr>
          <a:xfrm>
            <a:off x="254000" y="4548759"/>
            <a:ext cx="5778500" cy="762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Les transformations les plus visibles depuis l'espace sont les projets d'image : le front portuaire et le grand stade. Pendant ce temps, la ville s'étale au sud par lotissements successifs, sans transport en site propre pour les relier.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DEUX VILLES DANS LA VILLE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Densité des lieux recensés : à gauche, l'offre pour le visiteur ; à droite, les équipements du quotidien.</a:t>
            </a:r>
          </a:p>
        </p:txBody>
      </p:sp>
      <p:sp>
        <p:nvSpPr>
          <p:cNvPr id="5" name="TextBox 4"/>
          <p:cNvSpPr txBox="1"/>
          <p:nvPr/>
        </p:nvSpPr>
        <p:spPr>
          <a:xfrm>
            <a:off x="10520680" y="215900"/>
            <a:ext cx="141732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27 %</a:t>
            </a:r>
          </a:p>
        </p:txBody>
      </p:sp>
      <p:sp>
        <p:nvSpPr>
          <p:cNvPr id="6" name="TextBox 5"/>
          <p:cNvSpPr txBox="1"/>
          <p:nvPr/>
        </p:nvSpPr>
        <p:spPr>
          <a:xfrm>
            <a:off x="10520680" y="546100"/>
            <a:ext cx="141732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des écoles à moins</a:t>
            </a:r>
          </a:p>
          <a:p>
            <a:pPr algn="r">
              <a:lnSpc>
                <a:spcPct val="110000"/>
              </a:lnSpc>
            </a:pPr>
            <a:r>
              <a:rPr sz="850" b="0" i="0">
                <a:solidFill>
                  <a:srgbClr val="77736C"/>
                </a:solidFill>
                <a:latin typeface="Barlow"/>
              </a:rPr>
              <a:t>de 1 km de la mer</a:t>
            </a:r>
          </a:p>
        </p:txBody>
      </p:sp>
      <p:sp>
        <p:nvSpPr>
          <p:cNvPr id="7" name="TextBox 6"/>
          <p:cNvSpPr txBox="1"/>
          <p:nvPr/>
        </p:nvSpPr>
        <p:spPr>
          <a:xfrm>
            <a:off x="9005570" y="215900"/>
            <a:ext cx="129921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14 %</a:t>
            </a:r>
          </a:p>
        </p:txBody>
      </p:sp>
      <p:sp>
        <p:nvSpPr>
          <p:cNvPr id="8" name="TextBox 7"/>
          <p:cNvSpPr txBox="1"/>
          <p:nvPr/>
        </p:nvSpPr>
        <p:spPr>
          <a:xfrm>
            <a:off x="9005570" y="546100"/>
            <a:ext cx="129921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du bâti à moins</a:t>
            </a:r>
          </a:p>
          <a:p>
            <a:pPr algn="r">
              <a:lnSpc>
                <a:spcPct val="110000"/>
              </a:lnSpc>
            </a:pPr>
            <a:r>
              <a:rPr sz="850" b="0" i="0">
                <a:solidFill>
                  <a:srgbClr val="77736C"/>
                </a:solidFill>
                <a:latin typeface="Barlow"/>
              </a:rPr>
              <a:t>de 1 km de la mer</a:t>
            </a:r>
          </a:p>
        </p:txBody>
      </p:sp>
      <p:sp>
        <p:nvSpPr>
          <p:cNvPr id="9" name="TextBox 8"/>
          <p:cNvSpPr txBox="1"/>
          <p:nvPr/>
        </p:nvSpPr>
        <p:spPr>
          <a:xfrm>
            <a:off x="7136130" y="215900"/>
            <a:ext cx="165354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77 %</a:t>
            </a:r>
          </a:p>
        </p:txBody>
      </p:sp>
      <p:sp>
        <p:nvSpPr>
          <p:cNvPr id="10" name="TextBox 9"/>
          <p:cNvSpPr txBox="1"/>
          <p:nvPr/>
        </p:nvSpPr>
        <p:spPr>
          <a:xfrm>
            <a:off x="7136130" y="546100"/>
            <a:ext cx="165354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des hébergements à</a:t>
            </a:r>
          </a:p>
          <a:p>
            <a:pPr algn="r">
              <a:lnSpc>
                <a:spcPct val="110000"/>
              </a:lnSpc>
            </a:pPr>
            <a:r>
              <a:rPr sz="850" b="0" i="0">
                <a:solidFill>
                  <a:srgbClr val="77736C"/>
                </a:solidFill>
                <a:latin typeface="Barlow"/>
              </a:rPr>
              <a:t>moins de 1 km de la mer</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07 / 18</a:t>
            </a:r>
          </a:p>
        </p:txBody>
      </p:sp>
      <p:pic>
        <p:nvPicPr>
          <p:cNvPr id="14" name="Picture 13" descr="m04a_vitrine.jpg"/>
          <p:cNvPicPr>
            <a:picLocks noChangeAspect="1"/>
          </p:cNvPicPr>
          <p:nvPr/>
        </p:nvPicPr>
        <p:blipFill>
          <a:blip r:embed="rId2"/>
          <a:stretch>
            <a:fillRect/>
          </a:stretch>
        </p:blipFill>
        <p:spPr>
          <a:xfrm>
            <a:off x="254000" y="1206500"/>
            <a:ext cx="5715000" cy="4214812"/>
          </a:xfrm>
          <a:prstGeom prst="rect">
            <a:avLst/>
          </a:prstGeom>
        </p:spPr>
      </p:pic>
      <p:pic>
        <p:nvPicPr>
          <p:cNvPr id="15" name="Picture 14" descr="m04b_vecue.jpg"/>
          <p:cNvPicPr>
            <a:picLocks noChangeAspect="1"/>
          </p:cNvPicPr>
          <p:nvPr/>
        </p:nvPicPr>
        <p:blipFill>
          <a:blip r:embed="rId3"/>
          <a:stretch>
            <a:fillRect/>
          </a:stretch>
        </p:blipFill>
        <p:spPr>
          <a:xfrm>
            <a:off x="6223000" y="1206500"/>
            <a:ext cx="5715000" cy="4214812"/>
          </a:xfrm>
          <a:prstGeom prst="rect">
            <a:avLst/>
          </a:prstGeom>
        </p:spPr>
      </p:pic>
      <p:sp>
        <p:nvSpPr>
          <p:cNvPr id="16" name="TextBox 15"/>
          <p:cNvSpPr txBox="1"/>
          <p:nvPr/>
        </p:nvSpPr>
        <p:spPr>
          <a:xfrm>
            <a:off x="254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C8462B"/>
                </a:solidFill>
                <a:latin typeface="Barlow Condensed"/>
              </a:rPr>
              <a:t>LA VILLE DU VISITEUR : HÉBERGEMENTS, SITES PATRIMONIAUX, PLAGES</a:t>
            </a:r>
          </a:p>
        </p:txBody>
      </p:sp>
      <p:sp>
        <p:nvSpPr>
          <p:cNvPr id="17" name="TextBox 16"/>
          <p:cNvSpPr txBox="1"/>
          <p:nvPr/>
        </p:nvSpPr>
        <p:spPr>
          <a:xfrm>
            <a:off x="6223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1F3A5F"/>
                </a:solidFill>
                <a:latin typeface="Barlow Condensed"/>
              </a:rPr>
              <a:t>LA VILLE DE L'HABITANT : ÉCOLES ET ÉQUIPEMENTS DE SANTÉ</a:t>
            </a:r>
          </a:p>
        </p:txBody>
      </p:sp>
      <p:sp>
        <p:nvSpPr>
          <p:cNvPr id="18" name="TextBox 17"/>
          <p:cNvSpPr txBox="1"/>
          <p:nvPr/>
        </p:nvSpPr>
        <p:spPr>
          <a:xfrm>
            <a:off x="254000" y="5548312"/>
            <a:ext cx="5715000" cy="762000"/>
          </a:xfrm>
          <a:prstGeom prst="rect">
            <a:avLst/>
          </a:prstGeom>
          <a:noFill/>
        </p:spPr>
        <p:txBody>
          <a:bodyPr wrap="square" lIns="0" rIns="0" tIns="0" bIns="0" anchor="t">
            <a:spAutoFit/>
          </a:bodyPr>
          <a:lstStyle/>
          <a:p>
            <a:pPr algn="l">
              <a:lnSpc>
                <a:spcPct val="135000"/>
              </a:lnSpc>
            </a:pPr>
            <a:r>
              <a:rPr sz="1050" b="1" i="0">
                <a:solidFill>
                  <a:srgbClr val="2B2B2B"/>
                </a:solidFill>
                <a:latin typeface="Barlow"/>
              </a:rPr>
              <a:t>Hébergements : </a:t>
            </a:r>
            <a:r>
              <a:rPr sz="1050" b="0" i="0">
                <a:solidFill>
                  <a:srgbClr val="2B2B2B"/>
                </a:solidFill>
                <a:latin typeface="Barlow"/>
              </a:rPr>
              <a:t>207 dans la commune, 62 % à moins de 500 m de la mer, concentrés entre médina, port et corniche.</a:t>
            </a:r>
          </a:p>
        </p:txBody>
      </p:sp>
      <p:sp>
        <p:nvSpPr>
          <p:cNvPr id="19" name="TextBox 18"/>
          <p:cNvSpPr txBox="1"/>
          <p:nvPr/>
        </p:nvSpPr>
        <p:spPr>
          <a:xfrm>
            <a:off x="6223000" y="5548312"/>
            <a:ext cx="5715000" cy="762000"/>
          </a:xfrm>
          <a:prstGeom prst="rect">
            <a:avLst/>
          </a:prstGeom>
          <a:noFill/>
        </p:spPr>
        <p:txBody>
          <a:bodyPr wrap="square" lIns="0" rIns="0" tIns="0" bIns="0" anchor="t">
            <a:spAutoFit/>
          </a:bodyPr>
          <a:lstStyle/>
          <a:p>
            <a:pPr algn="l">
              <a:lnSpc>
                <a:spcPct val="135000"/>
              </a:lnSpc>
            </a:pPr>
            <a:r>
              <a:rPr sz="1050" b="1" i="0">
                <a:solidFill>
                  <a:srgbClr val="2B2B2B"/>
                </a:solidFill>
                <a:latin typeface="Barlow"/>
              </a:rPr>
              <a:t>Écoles et santé : </a:t>
            </a:r>
            <a:r>
              <a:rPr sz="1050" b="0" i="0">
                <a:solidFill>
                  <a:srgbClr val="2B2B2B"/>
                </a:solidFill>
                <a:latin typeface="Barlow"/>
              </a:rPr>
              <a:t>573 lieux, plus diffus, mais leur densité chute fortement dans Beni Makada, pourtant le plus peuplé.</a:t>
            </a:r>
          </a:p>
        </p:txBody>
      </p:sp>
      <p:sp>
        <p:nvSpPr>
          <p:cNvPr id="20" name="TextBox 19"/>
          <p:cNvSpPr txBox="1"/>
          <p:nvPr/>
        </p:nvSpPr>
        <p:spPr>
          <a:xfrm>
            <a:off x="254000" y="6056312"/>
            <a:ext cx="11684000" cy="381000"/>
          </a:xfrm>
          <a:prstGeom prst="rect">
            <a:avLst/>
          </a:prstGeom>
          <a:noFill/>
        </p:spPr>
        <p:txBody>
          <a:bodyPr wrap="square" lIns="0" rIns="0" tIns="0" bIns="0" anchor="t">
            <a:spAutoFit/>
          </a:bodyPr>
          <a:lstStyle/>
          <a:p>
            <a:pPr algn="l">
              <a:lnSpc>
                <a:spcPct val="120000"/>
              </a:lnSpc>
            </a:pPr>
            <a:r>
              <a:rPr sz="850" b="0" i="1">
                <a:solidFill>
                  <a:srgbClr val="77736C"/>
                </a:solidFill>
                <a:latin typeface="Barlow"/>
              </a:rPr>
              <a:t>Estimation par noyau (KDE) des lieux Overture Places 2026. Distance à la mer calculée sur le trait de côte ESA WorldCover. Calculs de l'auteur.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INDICATEURS PAR ARRONDISSEMENT</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Équipements et services rapportés à la population 2024. Beni Makada en rouge.</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 4</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écoles / hab.</a:t>
            </a:r>
          </a:p>
        </p:txBody>
      </p:sp>
      <p:sp>
        <p:nvSpPr>
          <p:cNvPr id="7" name="TextBox 6"/>
          <p:cNvSpPr txBox="1"/>
          <p:nvPr/>
        </p:nvSpPr>
        <p:spPr>
          <a:xfrm>
            <a:off x="9897110" y="215900"/>
            <a:ext cx="106299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 6</a:t>
            </a:r>
          </a:p>
        </p:txBody>
      </p:sp>
      <p:sp>
        <p:nvSpPr>
          <p:cNvPr id="8" name="TextBox 7"/>
          <p:cNvSpPr txBox="1"/>
          <p:nvPr/>
        </p:nvSpPr>
        <p:spPr>
          <a:xfrm>
            <a:off x="9897110" y="546100"/>
            <a:ext cx="106299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équipements de santé</a:t>
            </a:r>
          </a:p>
          <a:p>
            <a:pPr algn="r">
              <a:lnSpc>
                <a:spcPct val="110000"/>
              </a:lnSpc>
            </a:pPr>
            <a:r>
              <a:rPr sz="850" b="0" i="0">
                <a:solidFill>
                  <a:srgbClr val="77736C"/>
                </a:solidFill>
                <a:latin typeface="Barlow"/>
              </a:rPr>
              <a:t>/ hab.</a:t>
            </a:r>
          </a:p>
        </p:txBody>
      </p:sp>
      <p:sp>
        <p:nvSpPr>
          <p:cNvPr id="9" name="TextBox 8"/>
          <p:cNvSpPr txBox="1"/>
          <p:nvPr/>
        </p:nvSpPr>
        <p:spPr>
          <a:xfrm>
            <a:off x="8067040" y="215900"/>
            <a:ext cx="161417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 29</a:t>
            </a:r>
          </a:p>
        </p:txBody>
      </p:sp>
      <p:sp>
        <p:nvSpPr>
          <p:cNvPr id="10" name="TextBox 9"/>
          <p:cNvSpPr txBox="1"/>
          <p:nvPr/>
        </p:nvSpPr>
        <p:spPr>
          <a:xfrm>
            <a:off x="8067040" y="546100"/>
            <a:ext cx="161417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hébergements / hab.</a:t>
            </a:r>
          </a:p>
          <a:p>
            <a:pPr algn="r">
              <a:lnSpc>
                <a:spcPct val="110000"/>
              </a:lnSpc>
            </a:pPr>
            <a:r>
              <a:rPr sz="850" b="0" i="0">
                <a:solidFill>
                  <a:srgbClr val="77736C"/>
                </a:solidFill>
                <a:latin typeface="Barlow"/>
              </a:rPr>
              <a:t>Médina vs Beni Makada</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08 / 18</a:t>
            </a:r>
          </a:p>
        </p:txBody>
      </p:sp>
      <p:sp>
        <p:nvSpPr>
          <p:cNvPr id="14" name="Rectangle 13"/>
          <p:cNvSpPr/>
          <p:nvPr/>
        </p:nvSpPr>
        <p:spPr>
          <a:xfrm>
            <a:off x="254000" y="1333500"/>
            <a:ext cx="3746500" cy="1841500"/>
          </a:xfrm>
          <a:prstGeom prst="rect">
            <a:avLst/>
          </a:prstGeom>
          <a:solidFill>
            <a:srgbClr val="FFFFFF"/>
          </a:solidFill>
          <a:ln w="6350">
            <a:solidFill>
              <a:srgbClr val="C9C4BA"/>
            </a:solidFill>
          </a:ln>
        </p:spPr>
        <p:txBody>
          <a:bodyPr rtlCol="0" anchor="ctr"/>
          <a:lstStyle/>
          <a:p>
            <a:pPr algn="ctr"/>
          </a:p>
        </p:txBody>
      </p:sp>
      <p:sp>
        <p:nvSpPr>
          <p:cNvPr id="15" name="TextBox 14"/>
          <p:cNvSpPr txBox="1"/>
          <p:nvPr/>
        </p:nvSpPr>
        <p:spPr>
          <a:xfrm>
            <a:off x="406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HÉBERGEMENTS TOURISTIQUES / 10 000 HAB.</a:t>
            </a:r>
          </a:p>
        </p:txBody>
      </p:sp>
      <p:sp>
        <p:nvSpPr>
          <p:cNvPr id="16" name="TextBox 15"/>
          <p:cNvSpPr txBox="1"/>
          <p:nvPr/>
        </p:nvSpPr>
        <p:spPr>
          <a:xfrm>
            <a:off x="406400" y="1651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17" name="Rectangle 16"/>
          <p:cNvSpPr/>
          <p:nvPr/>
        </p:nvSpPr>
        <p:spPr>
          <a:xfrm>
            <a:off x="1193800" y="1676400"/>
            <a:ext cx="2349500" cy="88900"/>
          </a:xfrm>
          <a:prstGeom prst="rect">
            <a:avLst/>
          </a:prstGeom>
          <a:solidFill>
            <a:srgbClr val="B9B1A5"/>
          </a:solidFill>
          <a:ln>
            <a:noFill/>
          </a:ln>
        </p:spPr>
        <p:txBody>
          <a:bodyPr rtlCol="0" anchor="ctr"/>
          <a:lstStyle/>
          <a:p>
            <a:pPr algn="ctr"/>
          </a:p>
        </p:txBody>
      </p:sp>
      <p:sp>
        <p:nvSpPr>
          <p:cNvPr id="18" name="TextBox 17"/>
          <p:cNvSpPr txBox="1"/>
          <p:nvPr/>
        </p:nvSpPr>
        <p:spPr>
          <a:xfrm>
            <a:off x="3581400" y="1651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4,1</a:t>
            </a:r>
          </a:p>
        </p:txBody>
      </p:sp>
      <p:sp>
        <p:nvSpPr>
          <p:cNvPr id="19" name="TextBox 18"/>
          <p:cNvSpPr txBox="1"/>
          <p:nvPr/>
        </p:nvSpPr>
        <p:spPr>
          <a:xfrm>
            <a:off x="406400" y="1841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20" name="Rectangle 19"/>
          <p:cNvSpPr/>
          <p:nvPr/>
        </p:nvSpPr>
        <p:spPr>
          <a:xfrm>
            <a:off x="1193800" y="1866900"/>
            <a:ext cx="717005" cy="88900"/>
          </a:xfrm>
          <a:prstGeom prst="rect">
            <a:avLst/>
          </a:prstGeom>
          <a:solidFill>
            <a:srgbClr val="B9B1A5"/>
          </a:solidFill>
          <a:ln>
            <a:noFill/>
          </a:ln>
        </p:spPr>
        <p:txBody>
          <a:bodyPr rtlCol="0" anchor="ctr"/>
          <a:lstStyle/>
          <a:p>
            <a:pPr algn="ctr"/>
          </a:p>
        </p:txBody>
      </p:sp>
      <p:sp>
        <p:nvSpPr>
          <p:cNvPr id="21" name="TextBox 20"/>
          <p:cNvSpPr txBox="1"/>
          <p:nvPr/>
        </p:nvSpPr>
        <p:spPr>
          <a:xfrm>
            <a:off x="1948905" y="1841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1,3</a:t>
            </a:r>
          </a:p>
        </p:txBody>
      </p:sp>
      <p:sp>
        <p:nvSpPr>
          <p:cNvPr id="22" name="TextBox 21"/>
          <p:cNvSpPr txBox="1"/>
          <p:nvPr/>
        </p:nvSpPr>
        <p:spPr>
          <a:xfrm>
            <a:off x="406400" y="2032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23" name="Rectangle 22"/>
          <p:cNvSpPr/>
          <p:nvPr/>
        </p:nvSpPr>
        <p:spPr>
          <a:xfrm>
            <a:off x="1193800" y="2057400"/>
            <a:ext cx="996897" cy="88900"/>
          </a:xfrm>
          <a:prstGeom prst="rect">
            <a:avLst/>
          </a:prstGeom>
          <a:solidFill>
            <a:srgbClr val="B9B1A5"/>
          </a:solidFill>
          <a:ln>
            <a:noFill/>
          </a:ln>
        </p:spPr>
        <p:txBody>
          <a:bodyPr rtlCol="0" anchor="ctr"/>
          <a:lstStyle/>
          <a:p>
            <a:pPr algn="ctr"/>
          </a:p>
        </p:txBody>
      </p:sp>
      <p:sp>
        <p:nvSpPr>
          <p:cNvPr id="24" name="TextBox 23"/>
          <p:cNvSpPr txBox="1"/>
          <p:nvPr/>
        </p:nvSpPr>
        <p:spPr>
          <a:xfrm>
            <a:off x="2228797" y="2032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1,7</a:t>
            </a:r>
          </a:p>
        </p:txBody>
      </p:sp>
      <p:sp>
        <p:nvSpPr>
          <p:cNvPr id="25" name="TextBox 24"/>
          <p:cNvSpPr txBox="1"/>
          <p:nvPr/>
        </p:nvSpPr>
        <p:spPr>
          <a:xfrm>
            <a:off x="406400" y="2222500"/>
            <a:ext cx="762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26" name="Rectangle 25"/>
          <p:cNvSpPr/>
          <p:nvPr/>
        </p:nvSpPr>
        <p:spPr>
          <a:xfrm>
            <a:off x="1193800" y="2247900"/>
            <a:ext cx="80701" cy="88900"/>
          </a:xfrm>
          <a:prstGeom prst="rect">
            <a:avLst/>
          </a:prstGeom>
          <a:solidFill>
            <a:srgbClr val="C8462B"/>
          </a:solidFill>
          <a:ln>
            <a:noFill/>
          </a:ln>
        </p:spPr>
        <p:txBody>
          <a:bodyPr rtlCol="0" anchor="ctr"/>
          <a:lstStyle/>
          <a:p>
            <a:pPr algn="ctr"/>
          </a:p>
        </p:txBody>
      </p:sp>
      <p:sp>
        <p:nvSpPr>
          <p:cNvPr id="27" name="TextBox 26"/>
          <p:cNvSpPr txBox="1"/>
          <p:nvPr/>
        </p:nvSpPr>
        <p:spPr>
          <a:xfrm>
            <a:off x="1312601" y="2222500"/>
            <a:ext cx="508000" cy="139700"/>
          </a:xfrm>
          <a:prstGeom prst="rect">
            <a:avLst/>
          </a:prstGeom>
          <a:noFill/>
        </p:spPr>
        <p:txBody>
          <a:bodyPr wrap="square" lIns="0" rIns="0" tIns="0" bIns="0" anchor="t">
            <a:spAutoFit/>
          </a:bodyPr>
          <a:lstStyle/>
          <a:p>
            <a:pPr algn="l">
              <a:lnSpc>
                <a:spcPct val="120000"/>
              </a:lnSpc>
            </a:pPr>
            <a:r>
              <a:rPr sz="900" b="1" i="0">
                <a:solidFill>
                  <a:srgbClr val="C8462B"/>
                </a:solidFill>
                <a:latin typeface="Barlow"/>
              </a:rPr>
              <a:t>0,1</a:t>
            </a:r>
          </a:p>
        </p:txBody>
      </p:sp>
      <p:sp>
        <p:nvSpPr>
          <p:cNvPr id="28" name="Rectangle 27"/>
          <p:cNvSpPr/>
          <p:nvPr/>
        </p:nvSpPr>
        <p:spPr>
          <a:xfrm>
            <a:off x="4191000" y="1333500"/>
            <a:ext cx="3746500" cy="1841500"/>
          </a:xfrm>
          <a:prstGeom prst="rect">
            <a:avLst/>
          </a:prstGeom>
          <a:solidFill>
            <a:srgbClr val="FFFFFF"/>
          </a:solidFill>
          <a:ln w="6350">
            <a:solidFill>
              <a:srgbClr val="C9C4BA"/>
            </a:solidFill>
          </a:ln>
        </p:spPr>
        <p:txBody>
          <a:bodyPr rtlCol="0" anchor="ctr"/>
          <a:lstStyle/>
          <a:p>
            <a:pPr algn="ctr"/>
          </a:p>
        </p:txBody>
      </p:sp>
      <p:sp>
        <p:nvSpPr>
          <p:cNvPr id="29" name="TextBox 28"/>
          <p:cNvSpPr txBox="1"/>
          <p:nvPr/>
        </p:nvSpPr>
        <p:spPr>
          <a:xfrm>
            <a:off x="4343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ÉCOLES / 10 000 HAB.</a:t>
            </a:r>
          </a:p>
        </p:txBody>
      </p:sp>
      <p:sp>
        <p:nvSpPr>
          <p:cNvPr id="30" name="TextBox 29"/>
          <p:cNvSpPr txBox="1"/>
          <p:nvPr/>
        </p:nvSpPr>
        <p:spPr>
          <a:xfrm>
            <a:off x="4343400" y="1651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31" name="Rectangle 30"/>
          <p:cNvSpPr/>
          <p:nvPr/>
        </p:nvSpPr>
        <p:spPr>
          <a:xfrm>
            <a:off x="5130800" y="1676400"/>
            <a:ext cx="1806834" cy="88900"/>
          </a:xfrm>
          <a:prstGeom prst="rect">
            <a:avLst/>
          </a:prstGeom>
          <a:solidFill>
            <a:srgbClr val="B9B1A5"/>
          </a:solidFill>
          <a:ln>
            <a:noFill/>
          </a:ln>
        </p:spPr>
        <p:txBody>
          <a:bodyPr rtlCol="0" anchor="ctr"/>
          <a:lstStyle/>
          <a:p>
            <a:pPr algn="ctr"/>
          </a:p>
        </p:txBody>
      </p:sp>
      <p:sp>
        <p:nvSpPr>
          <p:cNvPr id="32" name="TextBox 31"/>
          <p:cNvSpPr txBox="1"/>
          <p:nvPr/>
        </p:nvSpPr>
        <p:spPr>
          <a:xfrm>
            <a:off x="6975734" y="1651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5,3</a:t>
            </a:r>
          </a:p>
        </p:txBody>
      </p:sp>
      <p:sp>
        <p:nvSpPr>
          <p:cNvPr id="33" name="TextBox 32"/>
          <p:cNvSpPr txBox="1"/>
          <p:nvPr/>
        </p:nvSpPr>
        <p:spPr>
          <a:xfrm>
            <a:off x="4343400" y="1841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34" name="Rectangle 33"/>
          <p:cNvSpPr/>
          <p:nvPr/>
        </p:nvSpPr>
        <p:spPr>
          <a:xfrm>
            <a:off x="5130800" y="1866900"/>
            <a:ext cx="2349500" cy="88900"/>
          </a:xfrm>
          <a:prstGeom prst="rect">
            <a:avLst/>
          </a:prstGeom>
          <a:solidFill>
            <a:srgbClr val="B9B1A5"/>
          </a:solidFill>
          <a:ln>
            <a:noFill/>
          </a:ln>
        </p:spPr>
        <p:txBody>
          <a:bodyPr rtlCol="0" anchor="ctr"/>
          <a:lstStyle/>
          <a:p>
            <a:pPr algn="ctr"/>
          </a:p>
        </p:txBody>
      </p:sp>
      <p:sp>
        <p:nvSpPr>
          <p:cNvPr id="35" name="TextBox 34"/>
          <p:cNvSpPr txBox="1"/>
          <p:nvPr/>
        </p:nvSpPr>
        <p:spPr>
          <a:xfrm>
            <a:off x="7518400" y="1841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6,9</a:t>
            </a:r>
          </a:p>
        </p:txBody>
      </p:sp>
      <p:sp>
        <p:nvSpPr>
          <p:cNvPr id="36" name="TextBox 35"/>
          <p:cNvSpPr txBox="1"/>
          <p:nvPr/>
        </p:nvSpPr>
        <p:spPr>
          <a:xfrm>
            <a:off x="4343400" y="2032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37" name="Rectangle 36"/>
          <p:cNvSpPr/>
          <p:nvPr/>
        </p:nvSpPr>
        <p:spPr>
          <a:xfrm>
            <a:off x="5130800" y="2057400"/>
            <a:ext cx="1201374" cy="88900"/>
          </a:xfrm>
          <a:prstGeom prst="rect">
            <a:avLst/>
          </a:prstGeom>
          <a:solidFill>
            <a:srgbClr val="B9B1A5"/>
          </a:solidFill>
          <a:ln>
            <a:noFill/>
          </a:ln>
        </p:spPr>
        <p:txBody>
          <a:bodyPr rtlCol="0" anchor="ctr"/>
          <a:lstStyle/>
          <a:p>
            <a:pPr algn="ctr"/>
          </a:p>
        </p:txBody>
      </p:sp>
      <p:sp>
        <p:nvSpPr>
          <p:cNvPr id="38" name="TextBox 37"/>
          <p:cNvSpPr txBox="1"/>
          <p:nvPr/>
        </p:nvSpPr>
        <p:spPr>
          <a:xfrm>
            <a:off x="6370274" y="2032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3,5</a:t>
            </a:r>
          </a:p>
        </p:txBody>
      </p:sp>
      <p:sp>
        <p:nvSpPr>
          <p:cNvPr id="39" name="TextBox 38"/>
          <p:cNvSpPr txBox="1"/>
          <p:nvPr/>
        </p:nvSpPr>
        <p:spPr>
          <a:xfrm>
            <a:off x="4343400" y="2222500"/>
            <a:ext cx="762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40" name="Rectangle 39"/>
          <p:cNvSpPr/>
          <p:nvPr/>
        </p:nvSpPr>
        <p:spPr>
          <a:xfrm>
            <a:off x="5130800" y="2247900"/>
            <a:ext cx="420704" cy="88900"/>
          </a:xfrm>
          <a:prstGeom prst="rect">
            <a:avLst/>
          </a:prstGeom>
          <a:solidFill>
            <a:srgbClr val="C8462B"/>
          </a:solidFill>
          <a:ln>
            <a:noFill/>
          </a:ln>
        </p:spPr>
        <p:txBody>
          <a:bodyPr rtlCol="0" anchor="ctr"/>
          <a:lstStyle/>
          <a:p>
            <a:pPr algn="ctr"/>
          </a:p>
        </p:txBody>
      </p:sp>
      <p:sp>
        <p:nvSpPr>
          <p:cNvPr id="41" name="TextBox 40"/>
          <p:cNvSpPr txBox="1"/>
          <p:nvPr/>
        </p:nvSpPr>
        <p:spPr>
          <a:xfrm>
            <a:off x="5589604" y="2222500"/>
            <a:ext cx="508000" cy="139700"/>
          </a:xfrm>
          <a:prstGeom prst="rect">
            <a:avLst/>
          </a:prstGeom>
          <a:noFill/>
        </p:spPr>
        <p:txBody>
          <a:bodyPr wrap="square" lIns="0" rIns="0" tIns="0" bIns="0" anchor="t">
            <a:spAutoFit/>
          </a:bodyPr>
          <a:lstStyle/>
          <a:p>
            <a:pPr algn="l">
              <a:lnSpc>
                <a:spcPct val="120000"/>
              </a:lnSpc>
            </a:pPr>
            <a:r>
              <a:rPr sz="900" b="1" i="0">
                <a:solidFill>
                  <a:srgbClr val="C8462B"/>
                </a:solidFill>
                <a:latin typeface="Barlow"/>
              </a:rPr>
              <a:t>1,2</a:t>
            </a:r>
          </a:p>
        </p:txBody>
      </p:sp>
      <p:sp>
        <p:nvSpPr>
          <p:cNvPr id="42" name="Rectangle 41"/>
          <p:cNvSpPr/>
          <p:nvPr/>
        </p:nvSpPr>
        <p:spPr>
          <a:xfrm>
            <a:off x="8128000" y="1333500"/>
            <a:ext cx="3746500" cy="1841500"/>
          </a:xfrm>
          <a:prstGeom prst="rect">
            <a:avLst/>
          </a:prstGeom>
          <a:solidFill>
            <a:srgbClr val="FFFFFF"/>
          </a:solidFill>
          <a:ln w="6350">
            <a:solidFill>
              <a:srgbClr val="C9C4BA"/>
            </a:solidFill>
          </a:ln>
        </p:spPr>
        <p:txBody>
          <a:bodyPr rtlCol="0" anchor="ctr"/>
          <a:lstStyle/>
          <a:p>
            <a:pPr algn="ctr"/>
          </a:p>
        </p:txBody>
      </p:sp>
      <p:sp>
        <p:nvSpPr>
          <p:cNvPr id="43" name="TextBox 42"/>
          <p:cNvSpPr txBox="1"/>
          <p:nvPr/>
        </p:nvSpPr>
        <p:spPr>
          <a:xfrm>
            <a:off x="8280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ÉQUIPEMENTS DE SANTÉ / 10 000 HAB.</a:t>
            </a:r>
          </a:p>
        </p:txBody>
      </p:sp>
      <p:sp>
        <p:nvSpPr>
          <p:cNvPr id="44" name="TextBox 43"/>
          <p:cNvSpPr txBox="1"/>
          <p:nvPr/>
        </p:nvSpPr>
        <p:spPr>
          <a:xfrm>
            <a:off x="8280400" y="1651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45" name="Rectangle 44"/>
          <p:cNvSpPr/>
          <p:nvPr/>
        </p:nvSpPr>
        <p:spPr>
          <a:xfrm>
            <a:off x="9067800" y="1676400"/>
            <a:ext cx="2349500" cy="88900"/>
          </a:xfrm>
          <a:prstGeom prst="rect">
            <a:avLst/>
          </a:prstGeom>
          <a:solidFill>
            <a:srgbClr val="B9B1A5"/>
          </a:solidFill>
          <a:ln>
            <a:noFill/>
          </a:ln>
        </p:spPr>
        <p:txBody>
          <a:bodyPr rtlCol="0" anchor="ctr"/>
          <a:lstStyle/>
          <a:p>
            <a:pPr algn="ctr"/>
          </a:p>
        </p:txBody>
      </p:sp>
      <p:sp>
        <p:nvSpPr>
          <p:cNvPr id="46" name="TextBox 45"/>
          <p:cNvSpPr txBox="1"/>
          <p:nvPr/>
        </p:nvSpPr>
        <p:spPr>
          <a:xfrm>
            <a:off x="11455400" y="1651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2,4</a:t>
            </a:r>
          </a:p>
        </p:txBody>
      </p:sp>
      <p:sp>
        <p:nvSpPr>
          <p:cNvPr id="47" name="TextBox 46"/>
          <p:cNvSpPr txBox="1"/>
          <p:nvPr/>
        </p:nvSpPr>
        <p:spPr>
          <a:xfrm>
            <a:off x="8280400" y="1841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48" name="Rectangle 47"/>
          <p:cNvSpPr/>
          <p:nvPr/>
        </p:nvSpPr>
        <p:spPr>
          <a:xfrm>
            <a:off x="9067800" y="1866900"/>
            <a:ext cx="2262084" cy="88900"/>
          </a:xfrm>
          <a:prstGeom prst="rect">
            <a:avLst/>
          </a:prstGeom>
          <a:solidFill>
            <a:srgbClr val="B9B1A5"/>
          </a:solidFill>
          <a:ln>
            <a:noFill/>
          </a:ln>
        </p:spPr>
        <p:txBody>
          <a:bodyPr rtlCol="0" anchor="ctr"/>
          <a:lstStyle/>
          <a:p>
            <a:pPr algn="ctr"/>
          </a:p>
        </p:txBody>
      </p:sp>
      <p:sp>
        <p:nvSpPr>
          <p:cNvPr id="49" name="TextBox 48"/>
          <p:cNvSpPr txBox="1"/>
          <p:nvPr/>
        </p:nvSpPr>
        <p:spPr>
          <a:xfrm>
            <a:off x="11367984" y="1841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2,3</a:t>
            </a:r>
          </a:p>
        </p:txBody>
      </p:sp>
      <p:sp>
        <p:nvSpPr>
          <p:cNvPr id="50" name="TextBox 49"/>
          <p:cNvSpPr txBox="1"/>
          <p:nvPr/>
        </p:nvSpPr>
        <p:spPr>
          <a:xfrm>
            <a:off x="8280400" y="2032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51" name="Rectangle 50"/>
          <p:cNvSpPr/>
          <p:nvPr/>
        </p:nvSpPr>
        <p:spPr>
          <a:xfrm>
            <a:off x="9067800" y="2057400"/>
            <a:ext cx="885251" cy="88900"/>
          </a:xfrm>
          <a:prstGeom prst="rect">
            <a:avLst/>
          </a:prstGeom>
          <a:solidFill>
            <a:srgbClr val="B9B1A5"/>
          </a:solidFill>
          <a:ln>
            <a:noFill/>
          </a:ln>
        </p:spPr>
        <p:txBody>
          <a:bodyPr rtlCol="0" anchor="ctr"/>
          <a:lstStyle/>
          <a:p>
            <a:pPr algn="ctr"/>
          </a:p>
        </p:txBody>
      </p:sp>
      <p:sp>
        <p:nvSpPr>
          <p:cNvPr id="52" name="TextBox 51"/>
          <p:cNvSpPr txBox="1"/>
          <p:nvPr/>
        </p:nvSpPr>
        <p:spPr>
          <a:xfrm>
            <a:off x="9991151" y="2032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0,9</a:t>
            </a:r>
          </a:p>
        </p:txBody>
      </p:sp>
      <p:sp>
        <p:nvSpPr>
          <p:cNvPr id="53" name="TextBox 52"/>
          <p:cNvSpPr txBox="1"/>
          <p:nvPr/>
        </p:nvSpPr>
        <p:spPr>
          <a:xfrm>
            <a:off x="8280400" y="2222500"/>
            <a:ext cx="762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54" name="Rectangle 53"/>
          <p:cNvSpPr/>
          <p:nvPr/>
        </p:nvSpPr>
        <p:spPr>
          <a:xfrm>
            <a:off x="9067800" y="2247900"/>
            <a:ext cx="394146" cy="88900"/>
          </a:xfrm>
          <a:prstGeom prst="rect">
            <a:avLst/>
          </a:prstGeom>
          <a:solidFill>
            <a:srgbClr val="C8462B"/>
          </a:solidFill>
          <a:ln>
            <a:noFill/>
          </a:ln>
        </p:spPr>
        <p:txBody>
          <a:bodyPr rtlCol="0" anchor="ctr"/>
          <a:lstStyle/>
          <a:p>
            <a:pPr algn="ctr"/>
          </a:p>
        </p:txBody>
      </p:sp>
      <p:sp>
        <p:nvSpPr>
          <p:cNvPr id="55" name="TextBox 54"/>
          <p:cNvSpPr txBox="1"/>
          <p:nvPr/>
        </p:nvSpPr>
        <p:spPr>
          <a:xfrm>
            <a:off x="9500046" y="2222500"/>
            <a:ext cx="508000" cy="139700"/>
          </a:xfrm>
          <a:prstGeom prst="rect">
            <a:avLst/>
          </a:prstGeom>
          <a:noFill/>
        </p:spPr>
        <p:txBody>
          <a:bodyPr wrap="square" lIns="0" rIns="0" tIns="0" bIns="0" anchor="t">
            <a:spAutoFit/>
          </a:bodyPr>
          <a:lstStyle/>
          <a:p>
            <a:pPr algn="l">
              <a:lnSpc>
                <a:spcPct val="120000"/>
              </a:lnSpc>
            </a:pPr>
            <a:r>
              <a:rPr sz="900" b="1" i="0">
                <a:solidFill>
                  <a:srgbClr val="C8462B"/>
                </a:solidFill>
                <a:latin typeface="Barlow"/>
              </a:rPr>
              <a:t>0,4</a:t>
            </a:r>
          </a:p>
        </p:txBody>
      </p:sp>
      <p:sp>
        <p:nvSpPr>
          <p:cNvPr id="56" name="Rectangle 55"/>
          <p:cNvSpPr/>
          <p:nvPr/>
        </p:nvSpPr>
        <p:spPr>
          <a:xfrm>
            <a:off x="254000" y="3429000"/>
            <a:ext cx="3746500" cy="1841500"/>
          </a:xfrm>
          <a:prstGeom prst="rect">
            <a:avLst/>
          </a:prstGeom>
          <a:solidFill>
            <a:srgbClr val="FFFFFF"/>
          </a:solidFill>
          <a:ln w="6350">
            <a:solidFill>
              <a:srgbClr val="C9C4BA"/>
            </a:solidFill>
          </a:ln>
        </p:spPr>
        <p:txBody>
          <a:bodyPr rtlCol="0" anchor="ctr"/>
          <a:lstStyle/>
          <a:p>
            <a:pPr algn="ctr"/>
          </a:p>
        </p:txBody>
      </p:sp>
      <p:sp>
        <p:nvSpPr>
          <p:cNvPr id="57" name="TextBox 56"/>
          <p:cNvSpPr txBox="1"/>
          <p:nvPr/>
        </p:nvSpPr>
        <p:spPr>
          <a:xfrm>
            <a:off x="406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ARRÊTS DE BUS / 10 000 HAB.</a:t>
            </a:r>
          </a:p>
        </p:txBody>
      </p:sp>
      <p:sp>
        <p:nvSpPr>
          <p:cNvPr id="58" name="TextBox 57"/>
          <p:cNvSpPr txBox="1"/>
          <p:nvPr/>
        </p:nvSpPr>
        <p:spPr>
          <a:xfrm>
            <a:off x="406400" y="3746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59" name="Rectangle 58"/>
          <p:cNvSpPr/>
          <p:nvPr/>
        </p:nvSpPr>
        <p:spPr>
          <a:xfrm>
            <a:off x="1193800" y="3771900"/>
            <a:ext cx="2349500" cy="88900"/>
          </a:xfrm>
          <a:prstGeom prst="rect">
            <a:avLst/>
          </a:prstGeom>
          <a:solidFill>
            <a:srgbClr val="B9B1A5"/>
          </a:solidFill>
          <a:ln>
            <a:noFill/>
          </a:ln>
        </p:spPr>
        <p:txBody>
          <a:bodyPr rtlCol="0" anchor="ctr"/>
          <a:lstStyle/>
          <a:p>
            <a:pPr algn="ctr"/>
          </a:p>
        </p:txBody>
      </p:sp>
      <p:sp>
        <p:nvSpPr>
          <p:cNvPr id="60" name="TextBox 59"/>
          <p:cNvSpPr txBox="1"/>
          <p:nvPr/>
        </p:nvSpPr>
        <p:spPr>
          <a:xfrm>
            <a:off x="3581400" y="3746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7,5</a:t>
            </a:r>
          </a:p>
        </p:txBody>
      </p:sp>
      <p:sp>
        <p:nvSpPr>
          <p:cNvPr id="61" name="TextBox 60"/>
          <p:cNvSpPr txBox="1"/>
          <p:nvPr/>
        </p:nvSpPr>
        <p:spPr>
          <a:xfrm>
            <a:off x="406400" y="3937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62" name="Rectangle 61"/>
          <p:cNvSpPr/>
          <p:nvPr/>
        </p:nvSpPr>
        <p:spPr>
          <a:xfrm>
            <a:off x="1193800" y="3962400"/>
            <a:ext cx="2087398" cy="88900"/>
          </a:xfrm>
          <a:prstGeom prst="rect">
            <a:avLst/>
          </a:prstGeom>
          <a:solidFill>
            <a:srgbClr val="B9B1A5"/>
          </a:solidFill>
          <a:ln>
            <a:noFill/>
          </a:ln>
        </p:spPr>
        <p:txBody>
          <a:bodyPr rtlCol="0" anchor="ctr"/>
          <a:lstStyle/>
          <a:p>
            <a:pPr algn="ctr"/>
          </a:p>
        </p:txBody>
      </p:sp>
      <p:sp>
        <p:nvSpPr>
          <p:cNvPr id="63" name="TextBox 62"/>
          <p:cNvSpPr txBox="1"/>
          <p:nvPr/>
        </p:nvSpPr>
        <p:spPr>
          <a:xfrm>
            <a:off x="3319298" y="3937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6,6</a:t>
            </a:r>
          </a:p>
        </p:txBody>
      </p:sp>
      <p:sp>
        <p:nvSpPr>
          <p:cNvPr id="64" name="TextBox 63"/>
          <p:cNvSpPr txBox="1"/>
          <p:nvPr/>
        </p:nvSpPr>
        <p:spPr>
          <a:xfrm>
            <a:off x="406400" y="4127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65" name="Rectangle 64"/>
          <p:cNvSpPr/>
          <p:nvPr/>
        </p:nvSpPr>
        <p:spPr>
          <a:xfrm>
            <a:off x="1193800" y="4152900"/>
            <a:ext cx="1796964" cy="88900"/>
          </a:xfrm>
          <a:prstGeom prst="rect">
            <a:avLst/>
          </a:prstGeom>
          <a:solidFill>
            <a:srgbClr val="B9B1A5"/>
          </a:solidFill>
          <a:ln>
            <a:noFill/>
          </a:ln>
        </p:spPr>
        <p:txBody>
          <a:bodyPr rtlCol="0" anchor="ctr"/>
          <a:lstStyle/>
          <a:p>
            <a:pPr algn="ctr"/>
          </a:p>
        </p:txBody>
      </p:sp>
      <p:sp>
        <p:nvSpPr>
          <p:cNvPr id="66" name="TextBox 65"/>
          <p:cNvSpPr txBox="1"/>
          <p:nvPr/>
        </p:nvSpPr>
        <p:spPr>
          <a:xfrm>
            <a:off x="3028864" y="4127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5,7</a:t>
            </a:r>
          </a:p>
        </p:txBody>
      </p:sp>
      <p:sp>
        <p:nvSpPr>
          <p:cNvPr id="67" name="TextBox 66"/>
          <p:cNvSpPr txBox="1"/>
          <p:nvPr/>
        </p:nvSpPr>
        <p:spPr>
          <a:xfrm>
            <a:off x="406400" y="4318000"/>
            <a:ext cx="762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68" name="Rectangle 67"/>
          <p:cNvSpPr/>
          <p:nvPr/>
        </p:nvSpPr>
        <p:spPr>
          <a:xfrm>
            <a:off x="1193800" y="4343400"/>
            <a:ext cx="800074" cy="88900"/>
          </a:xfrm>
          <a:prstGeom prst="rect">
            <a:avLst/>
          </a:prstGeom>
          <a:solidFill>
            <a:srgbClr val="C8462B"/>
          </a:solidFill>
          <a:ln>
            <a:noFill/>
          </a:ln>
        </p:spPr>
        <p:txBody>
          <a:bodyPr rtlCol="0" anchor="ctr"/>
          <a:lstStyle/>
          <a:p>
            <a:pPr algn="ctr"/>
          </a:p>
        </p:txBody>
      </p:sp>
      <p:sp>
        <p:nvSpPr>
          <p:cNvPr id="69" name="TextBox 68"/>
          <p:cNvSpPr txBox="1"/>
          <p:nvPr/>
        </p:nvSpPr>
        <p:spPr>
          <a:xfrm>
            <a:off x="2031974" y="4318000"/>
            <a:ext cx="508000" cy="139700"/>
          </a:xfrm>
          <a:prstGeom prst="rect">
            <a:avLst/>
          </a:prstGeom>
          <a:noFill/>
        </p:spPr>
        <p:txBody>
          <a:bodyPr wrap="square" lIns="0" rIns="0" tIns="0" bIns="0" anchor="t">
            <a:spAutoFit/>
          </a:bodyPr>
          <a:lstStyle/>
          <a:p>
            <a:pPr algn="l">
              <a:lnSpc>
                <a:spcPct val="120000"/>
              </a:lnSpc>
            </a:pPr>
            <a:r>
              <a:rPr sz="900" b="1" i="0">
                <a:solidFill>
                  <a:srgbClr val="C8462B"/>
                </a:solidFill>
                <a:latin typeface="Barlow"/>
              </a:rPr>
              <a:t>2,5</a:t>
            </a:r>
          </a:p>
        </p:txBody>
      </p:sp>
      <p:sp>
        <p:nvSpPr>
          <p:cNvPr id="70" name="Rectangle 69"/>
          <p:cNvSpPr/>
          <p:nvPr/>
        </p:nvSpPr>
        <p:spPr>
          <a:xfrm>
            <a:off x="4191000" y="3429000"/>
            <a:ext cx="3746500" cy="1841500"/>
          </a:xfrm>
          <a:prstGeom prst="rect">
            <a:avLst/>
          </a:prstGeom>
          <a:solidFill>
            <a:srgbClr val="FFFFFF"/>
          </a:solidFill>
          <a:ln w="6350">
            <a:solidFill>
              <a:srgbClr val="C9C4BA"/>
            </a:solidFill>
          </a:ln>
        </p:spPr>
        <p:txBody>
          <a:bodyPr rtlCol="0" anchor="ctr"/>
          <a:lstStyle/>
          <a:p>
            <a:pPr algn="ctr"/>
          </a:p>
        </p:txBody>
      </p:sp>
      <p:sp>
        <p:nvSpPr>
          <p:cNvPr id="71" name="TextBox 70"/>
          <p:cNvSpPr txBox="1"/>
          <p:nvPr/>
        </p:nvSpPr>
        <p:spPr>
          <a:xfrm>
            <a:off x="4343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PARCS URBAINS (M² / HABITANT)</a:t>
            </a:r>
          </a:p>
        </p:txBody>
      </p:sp>
      <p:sp>
        <p:nvSpPr>
          <p:cNvPr id="72" name="TextBox 71"/>
          <p:cNvSpPr txBox="1"/>
          <p:nvPr/>
        </p:nvSpPr>
        <p:spPr>
          <a:xfrm>
            <a:off x="4343400" y="3746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73" name="Rectangle 72"/>
          <p:cNvSpPr/>
          <p:nvPr/>
        </p:nvSpPr>
        <p:spPr>
          <a:xfrm>
            <a:off x="5130800" y="3771900"/>
            <a:ext cx="1963933" cy="88900"/>
          </a:xfrm>
          <a:prstGeom prst="rect">
            <a:avLst/>
          </a:prstGeom>
          <a:solidFill>
            <a:srgbClr val="B9B1A5"/>
          </a:solidFill>
          <a:ln>
            <a:noFill/>
          </a:ln>
        </p:spPr>
        <p:txBody>
          <a:bodyPr rtlCol="0" anchor="ctr"/>
          <a:lstStyle/>
          <a:p>
            <a:pPr algn="ctr"/>
          </a:p>
        </p:txBody>
      </p:sp>
      <p:sp>
        <p:nvSpPr>
          <p:cNvPr id="74" name="TextBox 73"/>
          <p:cNvSpPr txBox="1"/>
          <p:nvPr/>
        </p:nvSpPr>
        <p:spPr>
          <a:xfrm>
            <a:off x="7132833" y="3746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0,98 m²</a:t>
            </a:r>
          </a:p>
        </p:txBody>
      </p:sp>
      <p:sp>
        <p:nvSpPr>
          <p:cNvPr id="75" name="TextBox 74"/>
          <p:cNvSpPr txBox="1"/>
          <p:nvPr/>
        </p:nvSpPr>
        <p:spPr>
          <a:xfrm>
            <a:off x="4343400" y="3937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76" name="Rectangle 75"/>
          <p:cNvSpPr/>
          <p:nvPr/>
        </p:nvSpPr>
        <p:spPr>
          <a:xfrm>
            <a:off x="5130800" y="3962400"/>
            <a:ext cx="2349500" cy="88900"/>
          </a:xfrm>
          <a:prstGeom prst="rect">
            <a:avLst/>
          </a:prstGeom>
          <a:solidFill>
            <a:srgbClr val="B9B1A5"/>
          </a:solidFill>
          <a:ln>
            <a:noFill/>
          </a:ln>
        </p:spPr>
        <p:txBody>
          <a:bodyPr rtlCol="0" anchor="ctr"/>
          <a:lstStyle/>
          <a:p>
            <a:pPr algn="ctr"/>
          </a:p>
        </p:txBody>
      </p:sp>
      <p:sp>
        <p:nvSpPr>
          <p:cNvPr id="77" name="TextBox 76"/>
          <p:cNvSpPr txBox="1"/>
          <p:nvPr/>
        </p:nvSpPr>
        <p:spPr>
          <a:xfrm>
            <a:off x="7518400" y="3937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1,18 m²</a:t>
            </a:r>
          </a:p>
        </p:txBody>
      </p:sp>
      <p:sp>
        <p:nvSpPr>
          <p:cNvPr id="78" name="TextBox 77"/>
          <p:cNvSpPr txBox="1"/>
          <p:nvPr/>
        </p:nvSpPr>
        <p:spPr>
          <a:xfrm>
            <a:off x="4343400" y="4127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79" name="Rectangle 78"/>
          <p:cNvSpPr/>
          <p:nvPr/>
        </p:nvSpPr>
        <p:spPr>
          <a:xfrm>
            <a:off x="5130800" y="4152900"/>
            <a:ext cx="1847053" cy="88900"/>
          </a:xfrm>
          <a:prstGeom prst="rect">
            <a:avLst/>
          </a:prstGeom>
          <a:solidFill>
            <a:srgbClr val="B9B1A5"/>
          </a:solidFill>
          <a:ln>
            <a:noFill/>
          </a:ln>
        </p:spPr>
        <p:txBody>
          <a:bodyPr rtlCol="0" anchor="ctr"/>
          <a:lstStyle/>
          <a:p>
            <a:pPr algn="ctr"/>
          </a:p>
        </p:txBody>
      </p:sp>
      <p:sp>
        <p:nvSpPr>
          <p:cNvPr id="80" name="TextBox 79"/>
          <p:cNvSpPr txBox="1"/>
          <p:nvPr/>
        </p:nvSpPr>
        <p:spPr>
          <a:xfrm>
            <a:off x="7015953" y="4127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0,92 m²</a:t>
            </a:r>
          </a:p>
        </p:txBody>
      </p:sp>
      <p:sp>
        <p:nvSpPr>
          <p:cNvPr id="81" name="TextBox 80"/>
          <p:cNvSpPr txBox="1"/>
          <p:nvPr/>
        </p:nvSpPr>
        <p:spPr>
          <a:xfrm>
            <a:off x="4343400" y="4318000"/>
            <a:ext cx="762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82" name="Rectangle 81"/>
          <p:cNvSpPr/>
          <p:nvPr/>
        </p:nvSpPr>
        <p:spPr>
          <a:xfrm>
            <a:off x="5130800" y="4343400"/>
            <a:ext cx="349780" cy="88900"/>
          </a:xfrm>
          <a:prstGeom prst="rect">
            <a:avLst/>
          </a:prstGeom>
          <a:solidFill>
            <a:srgbClr val="C8462B"/>
          </a:solidFill>
          <a:ln>
            <a:noFill/>
          </a:ln>
        </p:spPr>
        <p:txBody>
          <a:bodyPr rtlCol="0" anchor="ctr"/>
          <a:lstStyle/>
          <a:p>
            <a:pPr algn="ctr"/>
          </a:p>
        </p:txBody>
      </p:sp>
      <p:sp>
        <p:nvSpPr>
          <p:cNvPr id="83" name="TextBox 82"/>
          <p:cNvSpPr txBox="1"/>
          <p:nvPr/>
        </p:nvSpPr>
        <p:spPr>
          <a:xfrm>
            <a:off x="5518680" y="4318000"/>
            <a:ext cx="508000" cy="139700"/>
          </a:xfrm>
          <a:prstGeom prst="rect">
            <a:avLst/>
          </a:prstGeom>
          <a:noFill/>
        </p:spPr>
        <p:txBody>
          <a:bodyPr wrap="square" lIns="0" rIns="0" tIns="0" bIns="0" anchor="t">
            <a:spAutoFit/>
          </a:bodyPr>
          <a:lstStyle/>
          <a:p>
            <a:pPr algn="l">
              <a:lnSpc>
                <a:spcPct val="120000"/>
              </a:lnSpc>
            </a:pPr>
            <a:r>
              <a:rPr sz="900" b="1" i="0">
                <a:solidFill>
                  <a:srgbClr val="C8462B"/>
                </a:solidFill>
                <a:latin typeface="Barlow"/>
              </a:rPr>
              <a:t>0,18 m²</a:t>
            </a:r>
          </a:p>
        </p:txBody>
      </p:sp>
      <p:sp>
        <p:nvSpPr>
          <p:cNvPr id="84" name="Rectangle 83"/>
          <p:cNvSpPr/>
          <p:nvPr/>
        </p:nvSpPr>
        <p:spPr>
          <a:xfrm>
            <a:off x="8128000" y="3429000"/>
            <a:ext cx="3746500" cy="1841500"/>
          </a:xfrm>
          <a:prstGeom prst="rect">
            <a:avLst/>
          </a:prstGeom>
          <a:solidFill>
            <a:srgbClr val="FFFFFF"/>
          </a:solidFill>
          <a:ln w="6350">
            <a:solidFill>
              <a:srgbClr val="C9C4BA"/>
            </a:solidFill>
          </a:ln>
        </p:spPr>
        <p:txBody>
          <a:bodyPr rtlCol="0" anchor="ctr"/>
          <a:lstStyle/>
          <a:p>
            <a:pPr algn="ctr"/>
          </a:p>
        </p:txBody>
      </p:sp>
      <p:sp>
        <p:nvSpPr>
          <p:cNvPr id="85" name="TextBox 84"/>
          <p:cNvSpPr txBox="1"/>
          <p:nvPr/>
        </p:nvSpPr>
        <p:spPr>
          <a:xfrm>
            <a:off x="8280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COUVERT ARBORÉ (KM²)</a:t>
            </a:r>
          </a:p>
        </p:txBody>
      </p:sp>
      <p:sp>
        <p:nvSpPr>
          <p:cNvPr id="86" name="TextBox 85"/>
          <p:cNvSpPr txBox="1"/>
          <p:nvPr/>
        </p:nvSpPr>
        <p:spPr>
          <a:xfrm>
            <a:off x="8280400" y="3746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87" name="Rectangle 86"/>
          <p:cNvSpPr/>
          <p:nvPr/>
        </p:nvSpPr>
        <p:spPr>
          <a:xfrm>
            <a:off x="9067800" y="3771900"/>
            <a:ext cx="2349500" cy="88900"/>
          </a:xfrm>
          <a:prstGeom prst="rect">
            <a:avLst/>
          </a:prstGeom>
          <a:solidFill>
            <a:srgbClr val="B9B1A5"/>
          </a:solidFill>
          <a:ln>
            <a:noFill/>
          </a:ln>
        </p:spPr>
        <p:txBody>
          <a:bodyPr rtlCol="0" anchor="ctr"/>
          <a:lstStyle/>
          <a:p>
            <a:pPr algn="ctr"/>
          </a:p>
        </p:txBody>
      </p:sp>
      <p:sp>
        <p:nvSpPr>
          <p:cNvPr id="88" name="TextBox 87"/>
          <p:cNvSpPr txBox="1"/>
          <p:nvPr/>
        </p:nvSpPr>
        <p:spPr>
          <a:xfrm>
            <a:off x="11455400" y="3746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25,7 km²</a:t>
            </a:r>
          </a:p>
        </p:txBody>
      </p:sp>
      <p:sp>
        <p:nvSpPr>
          <p:cNvPr id="89" name="TextBox 88"/>
          <p:cNvSpPr txBox="1"/>
          <p:nvPr/>
        </p:nvSpPr>
        <p:spPr>
          <a:xfrm>
            <a:off x="8280400" y="3937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90" name="Rectangle 89"/>
          <p:cNvSpPr/>
          <p:nvPr/>
        </p:nvSpPr>
        <p:spPr>
          <a:xfrm>
            <a:off x="9067800" y="3962400"/>
            <a:ext cx="24789" cy="88900"/>
          </a:xfrm>
          <a:prstGeom prst="rect">
            <a:avLst/>
          </a:prstGeom>
          <a:solidFill>
            <a:srgbClr val="B9B1A5"/>
          </a:solidFill>
          <a:ln>
            <a:noFill/>
          </a:ln>
        </p:spPr>
        <p:txBody>
          <a:bodyPr rtlCol="0" anchor="ctr"/>
          <a:lstStyle/>
          <a:p>
            <a:pPr algn="ctr"/>
          </a:p>
        </p:txBody>
      </p:sp>
      <p:sp>
        <p:nvSpPr>
          <p:cNvPr id="91" name="TextBox 90"/>
          <p:cNvSpPr txBox="1"/>
          <p:nvPr/>
        </p:nvSpPr>
        <p:spPr>
          <a:xfrm>
            <a:off x="9130689" y="3937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0,3 km²</a:t>
            </a:r>
          </a:p>
        </p:txBody>
      </p:sp>
      <p:sp>
        <p:nvSpPr>
          <p:cNvPr id="92" name="TextBox 91"/>
          <p:cNvSpPr txBox="1"/>
          <p:nvPr/>
        </p:nvSpPr>
        <p:spPr>
          <a:xfrm>
            <a:off x="8280400" y="4127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93" name="Rectangle 92"/>
          <p:cNvSpPr/>
          <p:nvPr/>
        </p:nvSpPr>
        <p:spPr>
          <a:xfrm>
            <a:off x="9067800" y="4152900"/>
            <a:ext cx="452357" cy="88900"/>
          </a:xfrm>
          <a:prstGeom prst="rect">
            <a:avLst/>
          </a:prstGeom>
          <a:solidFill>
            <a:srgbClr val="B9B1A5"/>
          </a:solidFill>
          <a:ln>
            <a:noFill/>
          </a:ln>
        </p:spPr>
        <p:txBody>
          <a:bodyPr rtlCol="0" anchor="ctr"/>
          <a:lstStyle/>
          <a:p>
            <a:pPr algn="ctr"/>
          </a:p>
        </p:txBody>
      </p:sp>
      <p:sp>
        <p:nvSpPr>
          <p:cNvPr id="94" name="TextBox 93"/>
          <p:cNvSpPr txBox="1"/>
          <p:nvPr/>
        </p:nvSpPr>
        <p:spPr>
          <a:xfrm>
            <a:off x="9558257" y="4127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4,9 km²</a:t>
            </a:r>
          </a:p>
        </p:txBody>
      </p:sp>
      <p:sp>
        <p:nvSpPr>
          <p:cNvPr id="95" name="TextBox 94"/>
          <p:cNvSpPr txBox="1"/>
          <p:nvPr/>
        </p:nvSpPr>
        <p:spPr>
          <a:xfrm>
            <a:off x="8280400" y="4318000"/>
            <a:ext cx="762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96" name="Rectangle 95"/>
          <p:cNvSpPr/>
          <p:nvPr/>
        </p:nvSpPr>
        <p:spPr>
          <a:xfrm>
            <a:off x="9067800" y="4343400"/>
            <a:ext cx="39779" cy="88900"/>
          </a:xfrm>
          <a:prstGeom prst="rect">
            <a:avLst/>
          </a:prstGeom>
          <a:solidFill>
            <a:srgbClr val="C8462B"/>
          </a:solidFill>
          <a:ln>
            <a:noFill/>
          </a:ln>
        </p:spPr>
        <p:txBody>
          <a:bodyPr rtlCol="0" anchor="ctr"/>
          <a:lstStyle/>
          <a:p>
            <a:pPr algn="ctr"/>
          </a:p>
        </p:txBody>
      </p:sp>
      <p:sp>
        <p:nvSpPr>
          <p:cNvPr id="97" name="TextBox 96"/>
          <p:cNvSpPr txBox="1"/>
          <p:nvPr/>
        </p:nvSpPr>
        <p:spPr>
          <a:xfrm>
            <a:off x="9145679" y="4318000"/>
            <a:ext cx="508000" cy="139700"/>
          </a:xfrm>
          <a:prstGeom prst="rect">
            <a:avLst/>
          </a:prstGeom>
          <a:noFill/>
        </p:spPr>
        <p:txBody>
          <a:bodyPr wrap="square" lIns="0" rIns="0" tIns="0" bIns="0" anchor="t">
            <a:spAutoFit/>
          </a:bodyPr>
          <a:lstStyle/>
          <a:p>
            <a:pPr algn="l">
              <a:lnSpc>
                <a:spcPct val="120000"/>
              </a:lnSpc>
            </a:pPr>
            <a:r>
              <a:rPr sz="900" b="1" i="0">
                <a:solidFill>
                  <a:srgbClr val="C8462B"/>
                </a:solidFill>
                <a:latin typeface="Barlow"/>
              </a:rPr>
              <a:t>0,4 km²</a:t>
            </a:r>
          </a:p>
        </p:txBody>
      </p:sp>
      <p:sp>
        <p:nvSpPr>
          <p:cNvPr id="98" name="TextBox 97"/>
          <p:cNvSpPr txBox="1"/>
          <p:nvPr/>
        </p:nvSpPr>
        <p:spPr>
          <a:xfrm>
            <a:off x="254000" y="5588000"/>
            <a:ext cx="11684000" cy="762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À chaque indicateur, l'arrondissement le plus peuplé arrive dernier ou presque. Un habitant de Beni Makada dispose de 0,17 m² de parc, de six fois moins d'équipements de santé recensés et de trois fois moins d'arrêts de bus qu'un habitant de Tanger-Médina. Les bases de lieux étant moins complètes dans les quartiers populaires, ces écarts sont à lire comme des ordres de grandeur.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LE LITTORAL CAPTÉ</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Bande de 1 km depuis le trait de côte : le bâti qui s'y trouve et les hébergements recensés.</a:t>
            </a:r>
          </a:p>
        </p:txBody>
      </p:sp>
      <p:sp>
        <p:nvSpPr>
          <p:cNvPr id="5" name="TextBox 4"/>
          <p:cNvSpPr txBox="1"/>
          <p:nvPr/>
        </p:nvSpPr>
        <p:spPr>
          <a:xfrm>
            <a:off x="10875010" y="215900"/>
            <a:ext cx="106299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9 %</a:t>
            </a:r>
          </a:p>
        </p:txBody>
      </p:sp>
      <p:sp>
        <p:nvSpPr>
          <p:cNvPr id="6" name="TextBox 5"/>
          <p:cNvSpPr txBox="1"/>
          <p:nvPr/>
        </p:nvSpPr>
        <p:spPr>
          <a:xfrm>
            <a:off x="10875010" y="546100"/>
            <a:ext cx="106299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des écoles</a:t>
            </a:r>
          </a:p>
          <a:p>
            <a:pPr algn="r">
              <a:lnSpc>
                <a:spcPct val="110000"/>
              </a:lnSpc>
            </a:pPr>
            <a:r>
              <a:rPr sz="850" b="0" i="0">
                <a:solidFill>
                  <a:srgbClr val="77736C"/>
                </a:solidFill>
                <a:latin typeface="Barlow"/>
              </a:rPr>
              <a:t>à moins de 500 m</a:t>
            </a:r>
          </a:p>
        </p:txBody>
      </p:sp>
      <p:sp>
        <p:nvSpPr>
          <p:cNvPr id="7" name="TextBox 6"/>
          <p:cNvSpPr txBox="1"/>
          <p:nvPr/>
        </p:nvSpPr>
        <p:spPr>
          <a:xfrm>
            <a:off x="9517380" y="215900"/>
            <a:ext cx="114173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14 %</a:t>
            </a:r>
          </a:p>
        </p:txBody>
      </p:sp>
      <p:sp>
        <p:nvSpPr>
          <p:cNvPr id="8" name="TextBox 7"/>
          <p:cNvSpPr txBox="1"/>
          <p:nvPr/>
        </p:nvSpPr>
        <p:spPr>
          <a:xfrm>
            <a:off x="9517380" y="546100"/>
            <a:ext cx="114173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du bâti dans</a:t>
            </a:r>
          </a:p>
          <a:p>
            <a:pPr algn="r">
              <a:lnSpc>
                <a:spcPct val="110000"/>
              </a:lnSpc>
            </a:pPr>
            <a:r>
              <a:rPr sz="850" b="0" i="0">
                <a:solidFill>
                  <a:srgbClr val="77736C"/>
                </a:solidFill>
                <a:latin typeface="Barlow"/>
              </a:rPr>
              <a:t>la bande de 1 km</a:t>
            </a:r>
          </a:p>
        </p:txBody>
      </p:sp>
      <p:sp>
        <p:nvSpPr>
          <p:cNvPr id="9" name="TextBox 8"/>
          <p:cNvSpPr txBox="1"/>
          <p:nvPr/>
        </p:nvSpPr>
        <p:spPr>
          <a:xfrm>
            <a:off x="8002270" y="215900"/>
            <a:ext cx="129921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62 %</a:t>
            </a:r>
          </a:p>
        </p:txBody>
      </p:sp>
      <p:sp>
        <p:nvSpPr>
          <p:cNvPr id="10" name="TextBox 9"/>
          <p:cNvSpPr txBox="1"/>
          <p:nvPr/>
        </p:nvSpPr>
        <p:spPr>
          <a:xfrm>
            <a:off x="8002270" y="546100"/>
            <a:ext cx="129921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des hébergements</a:t>
            </a:r>
          </a:p>
          <a:p>
            <a:pPr algn="r">
              <a:lnSpc>
                <a:spcPct val="110000"/>
              </a:lnSpc>
            </a:pPr>
            <a:r>
              <a:rPr sz="850" b="0" i="0">
                <a:solidFill>
                  <a:srgbClr val="77736C"/>
                </a:solidFill>
                <a:latin typeface="Barlow"/>
              </a:rPr>
              <a:t>à moins de 500 m</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09 / 18</a:t>
            </a:r>
          </a:p>
        </p:txBody>
      </p:sp>
      <p:pic>
        <p:nvPicPr>
          <p:cNvPr id="14" name="Picture 13" descr="m05_littoral.jpg"/>
          <p:cNvPicPr>
            <a:picLocks noChangeAspect="1"/>
          </p:cNvPicPr>
          <p:nvPr/>
        </p:nvPicPr>
        <p:blipFill>
          <a:blip r:embed="rId2"/>
          <a:stretch>
            <a:fillRect/>
          </a:stretch>
        </p:blipFill>
        <p:spPr>
          <a:xfrm>
            <a:off x="254000" y="1016000"/>
            <a:ext cx="7937500" cy="4299479"/>
          </a:xfrm>
          <a:prstGeom prst="rect">
            <a:avLst/>
          </a:prstGeom>
        </p:spPr>
      </p:pic>
      <p:sp>
        <p:nvSpPr>
          <p:cNvPr id="15" name="TextBox 14"/>
          <p:cNvSpPr txBox="1"/>
          <p:nvPr/>
        </p:nvSpPr>
        <p:spPr>
          <a:xfrm>
            <a:off x="84455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LÉGENDE</a:t>
            </a:r>
          </a:p>
        </p:txBody>
      </p:sp>
      <p:sp>
        <p:nvSpPr>
          <p:cNvPr id="16" name="Rectangle 15"/>
          <p:cNvSpPr/>
          <p:nvPr/>
        </p:nvSpPr>
        <p:spPr>
          <a:xfrm>
            <a:off x="8445500" y="1238250"/>
            <a:ext cx="165100" cy="101600"/>
          </a:xfrm>
          <a:prstGeom prst="rect">
            <a:avLst/>
          </a:prstGeom>
          <a:solidFill>
            <a:srgbClr val="B7553A"/>
          </a:solidFill>
          <a:ln>
            <a:noFill/>
          </a:ln>
        </p:spPr>
        <p:txBody>
          <a:bodyPr rtlCol="0" anchor="ctr"/>
          <a:lstStyle/>
          <a:p>
            <a:pPr algn="ctr"/>
          </a:p>
        </p:txBody>
      </p:sp>
      <p:sp>
        <p:nvSpPr>
          <p:cNvPr id="17" name="TextBox 16"/>
          <p:cNvSpPr txBox="1"/>
          <p:nvPr/>
        </p:nvSpPr>
        <p:spPr>
          <a:xfrm>
            <a:off x="8699500" y="12255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 dans la bande littorale de 1 km</a:t>
            </a:r>
          </a:p>
        </p:txBody>
      </p:sp>
      <p:sp>
        <p:nvSpPr>
          <p:cNvPr id="18" name="Rectangle 17"/>
          <p:cNvSpPr/>
          <p:nvPr/>
        </p:nvSpPr>
        <p:spPr>
          <a:xfrm>
            <a:off x="8445500" y="1416050"/>
            <a:ext cx="165100" cy="101600"/>
          </a:xfrm>
          <a:prstGeom prst="rect">
            <a:avLst/>
          </a:prstGeom>
          <a:solidFill>
            <a:srgbClr val="9A9184"/>
          </a:solidFill>
          <a:ln>
            <a:noFill/>
          </a:ln>
        </p:spPr>
        <p:txBody>
          <a:bodyPr rtlCol="0" anchor="ctr"/>
          <a:lstStyle/>
          <a:p>
            <a:pPr algn="ctr"/>
          </a:p>
        </p:txBody>
      </p:sp>
      <p:sp>
        <p:nvSpPr>
          <p:cNvPr id="19" name="TextBox 18"/>
          <p:cNvSpPr txBox="1"/>
          <p:nvPr/>
        </p:nvSpPr>
        <p:spPr>
          <a:xfrm>
            <a:off x="8699500" y="14033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 au-delà de 1 km</a:t>
            </a:r>
          </a:p>
        </p:txBody>
      </p:sp>
      <p:cxnSp>
        <p:nvCxnSpPr>
          <p:cNvPr id="20" name="Connector 19"/>
          <p:cNvCxnSpPr/>
          <p:nvPr/>
        </p:nvCxnSpPr>
        <p:spPr>
          <a:xfrm>
            <a:off x="8445500" y="1644650"/>
            <a:ext cx="165100" cy="0"/>
          </a:xfrm>
          <a:prstGeom prst="line">
            <a:avLst/>
          </a:prstGeom>
          <a:ln w="13970">
            <a:solidFill>
              <a:srgbClr val="C8462B"/>
            </a:solidFill>
            <a:prstDash val="dash"/>
          </a:ln>
        </p:spPr>
      </p:cxnSp>
      <p:sp>
        <p:nvSpPr>
          <p:cNvPr id="21" name="TextBox 20"/>
          <p:cNvSpPr txBox="1"/>
          <p:nvPr/>
        </p:nvSpPr>
        <p:spPr>
          <a:xfrm>
            <a:off x="8699500" y="15811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Limite de la bande de 1 km</a:t>
            </a:r>
          </a:p>
        </p:txBody>
      </p:sp>
      <p:sp>
        <p:nvSpPr>
          <p:cNvPr id="22" name="Oval 21"/>
          <p:cNvSpPr/>
          <p:nvPr/>
        </p:nvSpPr>
        <p:spPr>
          <a:xfrm>
            <a:off x="8483600" y="1778000"/>
            <a:ext cx="88900" cy="88900"/>
          </a:xfrm>
          <a:prstGeom prst="ellipse">
            <a:avLst/>
          </a:prstGeom>
          <a:solidFill>
            <a:srgbClr val="C8462B"/>
          </a:solidFill>
          <a:ln w="6350">
            <a:solidFill>
              <a:srgbClr val="FFFFFF"/>
            </a:solidFill>
          </a:ln>
        </p:spPr>
        <p:txBody>
          <a:bodyPr rtlCol="0" anchor="ctr"/>
          <a:lstStyle/>
          <a:p>
            <a:pPr algn="ctr"/>
          </a:p>
        </p:txBody>
      </p:sp>
      <p:sp>
        <p:nvSpPr>
          <p:cNvPr id="23" name="TextBox 22"/>
          <p:cNvSpPr txBox="1"/>
          <p:nvPr/>
        </p:nvSpPr>
        <p:spPr>
          <a:xfrm>
            <a:off x="8699500" y="17589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Hébergement touristique</a:t>
            </a:r>
          </a:p>
        </p:txBody>
      </p:sp>
      <p:sp>
        <p:nvSpPr>
          <p:cNvPr id="24" name="Rectangle 23"/>
          <p:cNvSpPr/>
          <p:nvPr/>
        </p:nvSpPr>
        <p:spPr>
          <a:xfrm>
            <a:off x="8489950" y="1962150"/>
            <a:ext cx="76200" cy="76200"/>
          </a:xfrm>
          <a:prstGeom prst="rect">
            <a:avLst/>
          </a:prstGeom>
          <a:solidFill>
            <a:srgbClr val="1F3A5F"/>
          </a:solidFill>
          <a:ln>
            <a:noFill/>
          </a:ln>
        </p:spPr>
        <p:txBody>
          <a:bodyPr rtlCol="0" anchor="ctr"/>
          <a:lstStyle/>
          <a:p>
            <a:pPr algn="ctr"/>
          </a:p>
        </p:txBody>
      </p:sp>
      <p:sp>
        <p:nvSpPr>
          <p:cNvPr id="25" name="TextBox 24"/>
          <p:cNvSpPr txBox="1"/>
          <p:nvPr/>
        </p:nvSpPr>
        <p:spPr>
          <a:xfrm>
            <a:off x="8699500" y="19367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École ou équipement de santé</a:t>
            </a:r>
          </a:p>
        </p:txBody>
      </p:sp>
      <p:cxnSp>
        <p:nvCxnSpPr>
          <p:cNvPr id="26" name="Connector 25"/>
          <p:cNvCxnSpPr/>
          <p:nvPr/>
        </p:nvCxnSpPr>
        <p:spPr>
          <a:xfrm>
            <a:off x="8445500" y="2178050"/>
            <a:ext cx="165100" cy="0"/>
          </a:xfrm>
          <a:prstGeom prst="line">
            <a:avLst/>
          </a:prstGeom>
          <a:ln w="22225">
            <a:solidFill>
              <a:srgbClr val="C8462B"/>
            </a:solidFill>
          </a:ln>
        </p:spPr>
      </p:cxnSp>
      <p:sp>
        <p:nvSpPr>
          <p:cNvPr id="27" name="TextBox 26"/>
          <p:cNvSpPr txBox="1"/>
          <p:nvPr/>
        </p:nvSpPr>
        <p:spPr>
          <a:xfrm>
            <a:off x="8699500" y="21145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Voie express</a:t>
            </a:r>
          </a:p>
        </p:txBody>
      </p:sp>
      <p:cxnSp>
        <p:nvCxnSpPr>
          <p:cNvPr id="28" name="Connector 27"/>
          <p:cNvCxnSpPr/>
          <p:nvPr/>
        </p:nvCxnSpPr>
        <p:spPr>
          <a:xfrm>
            <a:off x="8445500" y="2355850"/>
            <a:ext cx="165100" cy="0"/>
          </a:xfrm>
          <a:prstGeom prst="line">
            <a:avLst/>
          </a:prstGeom>
          <a:ln w="22225">
            <a:solidFill>
              <a:srgbClr val="2B2B2B"/>
            </a:solidFill>
          </a:ln>
        </p:spPr>
      </p:cxnSp>
      <p:sp>
        <p:nvSpPr>
          <p:cNvPr id="29" name="TextBox 28"/>
          <p:cNvSpPr txBox="1"/>
          <p:nvPr/>
        </p:nvSpPr>
        <p:spPr>
          <a:xfrm>
            <a:off x="8699500" y="22923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Commune et arrondissements</a:t>
            </a:r>
          </a:p>
        </p:txBody>
      </p:sp>
      <p:sp>
        <p:nvSpPr>
          <p:cNvPr id="30" name="TextBox 29"/>
          <p:cNvSpPr txBox="1"/>
          <p:nvPr/>
        </p:nvSpPr>
        <p:spPr>
          <a:xfrm>
            <a:off x="8445500" y="2654300"/>
            <a:ext cx="3492500" cy="2540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La bande littorale ne porte qu'un septième du bâti de la commune, mais plus des trois quarts des hébergements. La côte est traitée comme un produit : marina, hôtels de Malabata, résidences du cap Spartel. La majorité des habitants vit à plus de 3 km de la mer et n'y accède que par la route.</a:t>
            </a:r>
          </a:p>
          <a:p>
            <a:pPr algn="l">
              <a:lnSpc>
                <a:spcPct val="140000"/>
              </a:lnSpc>
            </a:pPr>
            <a:r>
              <a:rPr sz="1050" b="0" i="0">
                <a:solidFill>
                  <a:srgbClr val="2B2B2B"/>
                </a:solidFill>
                <a:latin typeface="Barlow"/>
              </a:rPr>
              <a:t/>
            </a:r>
          </a:p>
          <a:p>
            <a:pPr algn="l">
              <a:lnSpc>
                <a:spcPct val="140000"/>
              </a:lnSpc>
            </a:pPr>
            <a:r>
              <a:rPr sz="1050" b="1" i="0">
                <a:solidFill>
                  <a:srgbClr val="2B2B2B"/>
                </a:solidFill>
                <a:latin typeface="Barlow"/>
              </a:rPr>
              <a:t>Médiane de la distance à la mer : </a:t>
            </a:r>
            <a:r>
              <a:rPr sz="1050" b="0" i="0">
                <a:solidFill>
                  <a:srgbClr val="2B2B2B"/>
                </a:solidFill>
                <a:latin typeface="Barlow"/>
              </a:rPr>
              <a:t>390 m pour un hébergement, 1,8 km pour une école, 4,9 km pour le bâti de Beni Makada.</a:t>
            </a:r>
          </a:p>
        </p:txBody>
      </p:sp>
      <p:sp>
        <p:nvSpPr>
          <p:cNvPr id="31" name="TextBox 30"/>
          <p:cNvSpPr txBox="1"/>
          <p:nvPr/>
        </p:nvSpPr>
        <p:spPr>
          <a:xfrm>
            <a:off x="254000" y="5461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DISTANCE MÉDIANE À LA MER</a:t>
            </a:r>
          </a:p>
        </p:txBody>
      </p:sp>
      <p:sp>
        <p:nvSpPr>
          <p:cNvPr id="32" name="TextBox 31"/>
          <p:cNvSpPr txBox="1"/>
          <p:nvPr/>
        </p:nvSpPr>
        <p:spPr>
          <a:xfrm>
            <a:off x="254000" y="5664200"/>
            <a:ext cx="1270000" cy="1397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Hébergements</a:t>
            </a:r>
          </a:p>
        </p:txBody>
      </p:sp>
      <p:sp>
        <p:nvSpPr>
          <p:cNvPr id="33" name="Rectangle 32"/>
          <p:cNvSpPr/>
          <p:nvPr/>
        </p:nvSpPr>
        <p:spPr>
          <a:xfrm>
            <a:off x="1524000" y="5689600"/>
            <a:ext cx="165871" cy="101600"/>
          </a:xfrm>
          <a:prstGeom prst="rect">
            <a:avLst/>
          </a:prstGeom>
          <a:solidFill>
            <a:srgbClr val="C8462B"/>
          </a:solidFill>
          <a:ln>
            <a:noFill/>
          </a:ln>
        </p:spPr>
        <p:txBody>
          <a:bodyPr rtlCol="0" anchor="ctr"/>
          <a:lstStyle/>
          <a:p>
            <a:pPr algn="ctr"/>
          </a:p>
        </p:txBody>
      </p:sp>
      <p:sp>
        <p:nvSpPr>
          <p:cNvPr id="34" name="TextBox 33"/>
          <p:cNvSpPr txBox="1"/>
          <p:nvPr/>
        </p:nvSpPr>
        <p:spPr>
          <a:xfrm>
            <a:off x="1740671" y="5664200"/>
            <a:ext cx="635000" cy="139700"/>
          </a:xfrm>
          <a:prstGeom prst="rect">
            <a:avLst/>
          </a:prstGeom>
          <a:noFill/>
        </p:spPr>
        <p:txBody>
          <a:bodyPr wrap="square" lIns="0" rIns="0" tIns="0" bIns="0" anchor="t">
            <a:spAutoFit/>
          </a:bodyPr>
          <a:lstStyle/>
          <a:p>
            <a:pPr algn="l">
              <a:lnSpc>
                <a:spcPct val="120000"/>
              </a:lnSpc>
            </a:pPr>
            <a:r>
              <a:rPr sz="950" b="1" i="0">
                <a:solidFill>
                  <a:srgbClr val="2B2B2B"/>
                </a:solidFill>
                <a:latin typeface="Barlow"/>
              </a:rPr>
              <a:t>390 m</a:t>
            </a:r>
          </a:p>
        </p:txBody>
      </p:sp>
      <p:sp>
        <p:nvSpPr>
          <p:cNvPr id="35" name="TextBox 34"/>
          <p:cNvSpPr txBox="1"/>
          <p:nvPr/>
        </p:nvSpPr>
        <p:spPr>
          <a:xfrm>
            <a:off x="4318000" y="5664200"/>
            <a:ext cx="1270000" cy="1397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Équipements de santé</a:t>
            </a:r>
          </a:p>
        </p:txBody>
      </p:sp>
      <p:sp>
        <p:nvSpPr>
          <p:cNvPr id="36" name="Rectangle 35"/>
          <p:cNvSpPr/>
          <p:nvPr/>
        </p:nvSpPr>
        <p:spPr>
          <a:xfrm>
            <a:off x="5588000" y="5689600"/>
            <a:ext cx="610744" cy="101600"/>
          </a:xfrm>
          <a:prstGeom prst="rect">
            <a:avLst/>
          </a:prstGeom>
          <a:solidFill>
            <a:srgbClr val="1F3A5F"/>
          </a:solidFill>
          <a:ln>
            <a:noFill/>
          </a:ln>
        </p:spPr>
        <p:txBody>
          <a:bodyPr rtlCol="0" anchor="ctr"/>
          <a:lstStyle/>
          <a:p>
            <a:pPr algn="ctr"/>
          </a:p>
        </p:txBody>
      </p:sp>
      <p:sp>
        <p:nvSpPr>
          <p:cNvPr id="37" name="TextBox 36"/>
          <p:cNvSpPr txBox="1"/>
          <p:nvPr/>
        </p:nvSpPr>
        <p:spPr>
          <a:xfrm>
            <a:off x="6249544" y="5664200"/>
            <a:ext cx="635000" cy="139700"/>
          </a:xfrm>
          <a:prstGeom prst="rect">
            <a:avLst/>
          </a:prstGeom>
          <a:noFill/>
        </p:spPr>
        <p:txBody>
          <a:bodyPr wrap="square" lIns="0" rIns="0" tIns="0" bIns="0" anchor="t">
            <a:spAutoFit/>
          </a:bodyPr>
          <a:lstStyle/>
          <a:p>
            <a:pPr algn="l">
              <a:lnSpc>
                <a:spcPct val="120000"/>
              </a:lnSpc>
            </a:pPr>
            <a:r>
              <a:rPr sz="950" b="1" i="0">
                <a:solidFill>
                  <a:srgbClr val="2B2B2B"/>
                </a:solidFill>
                <a:latin typeface="Barlow"/>
              </a:rPr>
              <a:t>1,4 km</a:t>
            </a:r>
          </a:p>
        </p:txBody>
      </p:sp>
      <p:sp>
        <p:nvSpPr>
          <p:cNvPr id="38" name="TextBox 37"/>
          <p:cNvSpPr txBox="1"/>
          <p:nvPr/>
        </p:nvSpPr>
        <p:spPr>
          <a:xfrm>
            <a:off x="254000" y="5943600"/>
            <a:ext cx="1270000" cy="1397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Écoles</a:t>
            </a:r>
          </a:p>
        </p:txBody>
      </p:sp>
      <p:sp>
        <p:nvSpPr>
          <p:cNvPr id="39" name="Rectangle 38"/>
          <p:cNvSpPr/>
          <p:nvPr/>
        </p:nvSpPr>
        <p:spPr>
          <a:xfrm>
            <a:off x="1524000" y="5969000"/>
            <a:ext cx="771937" cy="101600"/>
          </a:xfrm>
          <a:prstGeom prst="rect">
            <a:avLst/>
          </a:prstGeom>
          <a:solidFill>
            <a:srgbClr val="1F3A5F"/>
          </a:solidFill>
          <a:ln>
            <a:noFill/>
          </a:ln>
        </p:spPr>
        <p:txBody>
          <a:bodyPr rtlCol="0" anchor="ctr"/>
          <a:lstStyle/>
          <a:p>
            <a:pPr algn="ctr"/>
          </a:p>
        </p:txBody>
      </p:sp>
      <p:sp>
        <p:nvSpPr>
          <p:cNvPr id="40" name="TextBox 39"/>
          <p:cNvSpPr txBox="1"/>
          <p:nvPr/>
        </p:nvSpPr>
        <p:spPr>
          <a:xfrm>
            <a:off x="2346737" y="5943600"/>
            <a:ext cx="635000" cy="139700"/>
          </a:xfrm>
          <a:prstGeom prst="rect">
            <a:avLst/>
          </a:prstGeom>
          <a:noFill/>
        </p:spPr>
        <p:txBody>
          <a:bodyPr wrap="square" lIns="0" rIns="0" tIns="0" bIns="0" anchor="t">
            <a:spAutoFit/>
          </a:bodyPr>
          <a:lstStyle/>
          <a:p>
            <a:pPr algn="l">
              <a:lnSpc>
                <a:spcPct val="120000"/>
              </a:lnSpc>
            </a:pPr>
            <a:r>
              <a:rPr sz="950" b="1" i="0">
                <a:solidFill>
                  <a:srgbClr val="2B2B2B"/>
                </a:solidFill>
                <a:latin typeface="Barlow"/>
              </a:rPr>
              <a:t>1,8 km</a:t>
            </a:r>
          </a:p>
        </p:txBody>
      </p:sp>
      <p:sp>
        <p:nvSpPr>
          <p:cNvPr id="41" name="TextBox 40"/>
          <p:cNvSpPr txBox="1"/>
          <p:nvPr/>
        </p:nvSpPr>
        <p:spPr>
          <a:xfrm>
            <a:off x="4318000" y="5943600"/>
            <a:ext cx="1270000" cy="1397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 de Beni Makada</a:t>
            </a:r>
          </a:p>
        </p:txBody>
      </p:sp>
      <p:sp>
        <p:nvSpPr>
          <p:cNvPr id="42" name="Rectangle 41"/>
          <p:cNvSpPr/>
          <p:nvPr/>
        </p:nvSpPr>
        <p:spPr>
          <a:xfrm>
            <a:off x="5588000" y="5969000"/>
            <a:ext cx="2095500" cy="101600"/>
          </a:xfrm>
          <a:prstGeom prst="rect">
            <a:avLst/>
          </a:prstGeom>
          <a:solidFill>
            <a:srgbClr val="B9B1A5"/>
          </a:solidFill>
          <a:ln>
            <a:noFill/>
          </a:ln>
        </p:spPr>
        <p:txBody>
          <a:bodyPr rtlCol="0" anchor="ctr"/>
          <a:lstStyle/>
          <a:p>
            <a:pPr algn="ctr"/>
          </a:p>
        </p:txBody>
      </p:sp>
      <p:sp>
        <p:nvSpPr>
          <p:cNvPr id="43" name="TextBox 42"/>
          <p:cNvSpPr txBox="1"/>
          <p:nvPr/>
        </p:nvSpPr>
        <p:spPr>
          <a:xfrm>
            <a:off x="7734300" y="5943600"/>
            <a:ext cx="635000" cy="139700"/>
          </a:xfrm>
          <a:prstGeom prst="rect">
            <a:avLst/>
          </a:prstGeom>
          <a:noFill/>
        </p:spPr>
        <p:txBody>
          <a:bodyPr wrap="square" lIns="0" rIns="0" tIns="0" bIns="0" anchor="t">
            <a:spAutoFit/>
          </a:bodyPr>
          <a:lstStyle/>
          <a:p>
            <a:pPr algn="l">
              <a:lnSpc>
                <a:spcPct val="120000"/>
              </a:lnSpc>
            </a:pPr>
            <a:r>
              <a:rPr sz="950" b="1" i="0">
                <a:solidFill>
                  <a:srgbClr val="2B2B2B"/>
                </a:solidFill>
                <a:latin typeface="Barlow"/>
              </a:rPr>
              <a:t>4,9 km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CAS 1 · LE PORT : DU TRAVAIL AU LOISIR</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Le front portuaire vu par Sentinel-2, avant et après la reconversion.</a:t>
            </a:r>
          </a:p>
        </p:txBody>
      </p:sp>
      <p:sp>
        <p:nvSpPr>
          <p:cNvPr id="5" name="TextBox 4"/>
          <p:cNvSpPr txBox="1"/>
          <p:nvPr/>
        </p:nvSpPr>
        <p:spPr>
          <a:xfrm>
            <a:off x="10668000" y="215900"/>
            <a:ext cx="1270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7 / 6 / 2018</a:t>
            </a:r>
          </a:p>
        </p:txBody>
      </p:sp>
      <p:sp>
        <p:nvSpPr>
          <p:cNvPr id="6" name="TextBox 5"/>
          <p:cNvSpPr txBox="1"/>
          <p:nvPr/>
        </p:nvSpPr>
        <p:spPr>
          <a:xfrm>
            <a:off x="10668000" y="546100"/>
            <a:ext cx="1270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inauguration</a:t>
            </a:r>
          </a:p>
        </p:txBody>
      </p:sp>
      <p:sp>
        <p:nvSpPr>
          <p:cNvPr id="7" name="TextBox 6"/>
          <p:cNvSpPr txBox="1"/>
          <p:nvPr/>
        </p:nvSpPr>
        <p:spPr>
          <a:xfrm>
            <a:off x="9389110" y="215900"/>
            <a:ext cx="106299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1 400</a:t>
            </a:r>
          </a:p>
        </p:txBody>
      </p:sp>
      <p:sp>
        <p:nvSpPr>
          <p:cNvPr id="8" name="TextBox 7"/>
          <p:cNvSpPr txBox="1"/>
          <p:nvPr/>
        </p:nvSpPr>
        <p:spPr>
          <a:xfrm>
            <a:off x="9389110" y="546100"/>
            <a:ext cx="106299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anneaux de</a:t>
            </a:r>
          </a:p>
          <a:p>
            <a:pPr algn="r">
              <a:lnSpc>
                <a:spcPct val="110000"/>
              </a:lnSpc>
            </a:pPr>
            <a:r>
              <a:rPr sz="850" b="0" i="0">
                <a:solidFill>
                  <a:srgbClr val="77736C"/>
                </a:solidFill>
                <a:latin typeface="Barlow"/>
              </a:rPr>
              <a:t>plaisance prévus</a:t>
            </a:r>
          </a:p>
        </p:txBody>
      </p:sp>
      <p:sp>
        <p:nvSpPr>
          <p:cNvPr id="9" name="TextBox 8"/>
          <p:cNvSpPr txBox="1"/>
          <p:nvPr/>
        </p:nvSpPr>
        <p:spPr>
          <a:xfrm>
            <a:off x="7992110" y="215900"/>
            <a:ext cx="11811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6,2 Md</a:t>
            </a:r>
          </a:p>
        </p:txBody>
      </p:sp>
      <p:sp>
        <p:nvSpPr>
          <p:cNvPr id="10" name="TextBox 9"/>
          <p:cNvSpPr txBox="1"/>
          <p:nvPr/>
        </p:nvSpPr>
        <p:spPr>
          <a:xfrm>
            <a:off x="7992110" y="546100"/>
            <a:ext cx="11811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MAD, programme</a:t>
            </a:r>
          </a:p>
          <a:p>
            <a:pPr algn="r">
              <a:lnSpc>
                <a:spcPct val="110000"/>
              </a:lnSpc>
            </a:pPr>
            <a:r>
              <a:rPr sz="850" b="0" i="0">
                <a:solidFill>
                  <a:srgbClr val="77736C"/>
                </a:solidFill>
                <a:latin typeface="Barlow"/>
              </a:rPr>
              <a:t>de reconversion</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10 / 18</a:t>
            </a:r>
          </a:p>
        </p:txBody>
      </p:sp>
      <p:pic>
        <p:nvPicPr>
          <p:cNvPr id="14" name="Picture 13" descr="s02_port_2017.jpg"/>
          <p:cNvPicPr>
            <a:picLocks noChangeAspect="1"/>
          </p:cNvPicPr>
          <p:nvPr/>
        </p:nvPicPr>
        <p:blipFill>
          <a:blip r:embed="rId2"/>
          <a:stretch>
            <a:fillRect/>
          </a:stretch>
        </p:blipFill>
        <p:spPr>
          <a:xfrm>
            <a:off x="254000" y="1079500"/>
            <a:ext cx="3873500" cy="2885758"/>
          </a:xfrm>
          <a:prstGeom prst="rect">
            <a:avLst/>
          </a:prstGeom>
        </p:spPr>
      </p:pic>
      <p:pic>
        <p:nvPicPr>
          <p:cNvPr id="15" name="Picture 14" descr="s02_port_2025.jpg"/>
          <p:cNvPicPr>
            <a:picLocks noChangeAspect="1"/>
          </p:cNvPicPr>
          <p:nvPr/>
        </p:nvPicPr>
        <p:blipFill>
          <a:blip r:embed="rId3"/>
          <a:stretch>
            <a:fillRect/>
          </a:stretch>
        </p:blipFill>
        <p:spPr>
          <a:xfrm>
            <a:off x="4254500" y="1079500"/>
            <a:ext cx="3873500" cy="2885758"/>
          </a:xfrm>
          <a:prstGeom prst="rect">
            <a:avLst/>
          </a:prstGeom>
        </p:spPr>
      </p:pic>
      <p:sp>
        <p:nvSpPr>
          <p:cNvPr id="16" name="TextBox 15"/>
          <p:cNvSpPr txBox="1"/>
          <p:nvPr/>
        </p:nvSpPr>
        <p:spPr>
          <a:xfrm>
            <a:off x="330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2017</a:t>
            </a:r>
          </a:p>
        </p:txBody>
      </p:sp>
      <p:sp>
        <p:nvSpPr>
          <p:cNvPr id="17" name="TextBox 16"/>
          <p:cNvSpPr txBox="1"/>
          <p:nvPr/>
        </p:nvSpPr>
        <p:spPr>
          <a:xfrm>
            <a:off x="43307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2025</a:t>
            </a:r>
          </a:p>
        </p:txBody>
      </p:sp>
      <p:sp>
        <p:nvSpPr>
          <p:cNvPr id="18" name="TextBox 17"/>
          <p:cNvSpPr txBox="1"/>
          <p:nvPr/>
        </p:nvSpPr>
        <p:spPr>
          <a:xfrm>
            <a:off x="254000" y="4092258"/>
            <a:ext cx="3873500" cy="762000"/>
          </a:xfrm>
          <a:prstGeom prst="rect">
            <a:avLst/>
          </a:prstGeom>
          <a:noFill/>
        </p:spPr>
        <p:txBody>
          <a:bodyPr wrap="square" lIns="0" rIns="0" tIns="0" bIns="0" anchor="t">
            <a:spAutoFit/>
          </a:bodyPr>
          <a:lstStyle/>
          <a:p>
            <a:pPr algn="l">
              <a:lnSpc>
                <a:spcPct val="135000"/>
              </a:lnSpc>
            </a:pPr>
            <a:r>
              <a:rPr sz="1050" b="0" i="0">
                <a:solidFill>
                  <a:srgbClr val="77736C"/>
                </a:solidFill>
                <a:latin typeface="Barlow"/>
              </a:rPr>
              <a:t>Chantier en cours : la ville tourne encore le dos à un port de travail, de ferries et de pêche.</a:t>
            </a:r>
          </a:p>
        </p:txBody>
      </p:sp>
      <p:sp>
        <p:nvSpPr>
          <p:cNvPr id="19" name="TextBox 18"/>
          <p:cNvSpPr txBox="1"/>
          <p:nvPr/>
        </p:nvSpPr>
        <p:spPr>
          <a:xfrm>
            <a:off x="4254500" y="4092258"/>
            <a:ext cx="3873500" cy="762000"/>
          </a:xfrm>
          <a:prstGeom prst="rect">
            <a:avLst/>
          </a:prstGeom>
          <a:noFill/>
        </p:spPr>
        <p:txBody>
          <a:bodyPr wrap="square" lIns="0" rIns="0" tIns="0" bIns="0" anchor="t">
            <a:spAutoFit/>
          </a:bodyPr>
          <a:lstStyle/>
          <a:p>
            <a:pPr algn="l">
              <a:lnSpc>
                <a:spcPct val="135000"/>
              </a:lnSpc>
            </a:pPr>
            <a:r>
              <a:rPr sz="1050" b="0" i="0">
                <a:solidFill>
                  <a:srgbClr val="77736C"/>
                </a:solidFill>
                <a:latin typeface="Barlow"/>
              </a:rPr>
              <a:t>Bassins de plaisance, esplanades et parkings : le front d'eau est devenu un espace de loisir et de consommation.</a:t>
            </a:r>
          </a:p>
        </p:txBody>
      </p:sp>
      <p:sp>
        <p:nvSpPr>
          <p:cNvPr id="20" name="TextBox 19"/>
          <p:cNvSpPr txBox="1"/>
          <p:nvPr/>
        </p:nvSpPr>
        <p:spPr>
          <a:xfrm>
            <a:off x="8445500" y="1079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CHIFFRES CLÉS</a:t>
            </a:r>
          </a:p>
        </p:txBody>
      </p:sp>
      <p:sp>
        <p:nvSpPr>
          <p:cNvPr id="21" name="TextBox 20"/>
          <p:cNvSpPr txBox="1"/>
          <p:nvPr/>
        </p:nvSpPr>
        <p:spPr>
          <a:xfrm>
            <a:off x="8445500" y="1270000"/>
            <a:ext cx="3492500" cy="228600"/>
          </a:xfrm>
          <a:prstGeom prst="rect">
            <a:avLst/>
          </a:prstGeom>
          <a:noFill/>
        </p:spPr>
        <p:txBody>
          <a:bodyPr wrap="square" lIns="0" rIns="0" tIns="0" bIns="0" anchor="t">
            <a:spAutoFit/>
          </a:bodyPr>
          <a:lstStyle/>
          <a:p>
            <a:pPr algn="l">
              <a:lnSpc>
                <a:spcPct val="120000"/>
              </a:lnSpc>
            </a:pPr>
            <a:r>
              <a:rPr sz="1900" b="1" i="0">
                <a:solidFill>
                  <a:srgbClr val="C8462B"/>
                </a:solidFill>
                <a:latin typeface="Barlow Condensed"/>
              </a:rPr>
              <a:t>6,2 Md MAD</a:t>
            </a:r>
          </a:p>
        </p:txBody>
      </p:sp>
      <p:sp>
        <p:nvSpPr>
          <p:cNvPr id="22" name="TextBox 21"/>
          <p:cNvSpPr txBox="1"/>
          <p:nvPr/>
        </p:nvSpPr>
        <p:spPr>
          <a:xfrm>
            <a:off x="8445500" y="1549400"/>
            <a:ext cx="34925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programme de reconversion du port</a:t>
            </a:r>
          </a:p>
        </p:txBody>
      </p:sp>
      <p:sp>
        <p:nvSpPr>
          <p:cNvPr id="23" name="TextBox 22"/>
          <p:cNvSpPr txBox="1"/>
          <p:nvPr/>
        </p:nvSpPr>
        <p:spPr>
          <a:xfrm>
            <a:off x="8445500" y="1752600"/>
            <a:ext cx="3492500" cy="228600"/>
          </a:xfrm>
          <a:prstGeom prst="rect">
            <a:avLst/>
          </a:prstGeom>
          <a:noFill/>
        </p:spPr>
        <p:txBody>
          <a:bodyPr wrap="square" lIns="0" rIns="0" tIns="0" bIns="0" anchor="t">
            <a:spAutoFit/>
          </a:bodyPr>
          <a:lstStyle/>
          <a:p>
            <a:pPr algn="l">
              <a:lnSpc>
                <a:spcPct val="120000"/>
              </a:lnSpc>
            </a:pPr>
            <a:r>
              <a:rPr sz="1900" b="1" i="0">
                <a:solidFill>
                  <a:srgbClr val="C8462B"/>
                </a:solidFill>
                <a:latin typeface="Barlow Condensed"/>
              </a:rPr>
              <a:t>635 M MAD</a:t>
            </a:r>
          </a:p>
        </p:txBody>
      </p:sp>
      <p:sp>
        <p:nvSpPr>
          <p:cNvPr id="24" name="TextBox 23"/>
          <p:cNvSpPr txBox="1"/>
          <p:nvPr/>
        </p:nvSpPr>
        <p:spPr>
          <a:xfrm>
            <a:off x="8445500" y="2032000"/>
            <a:ext cx="34925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coût de la marina Tanja Marina Bay</a:t>
            </a:r>
          </a:p>
        </p:txBody>
      </p:sp>
      <p:sp>
        <p:nvSpPr>
          <p:cNvPr id="25" name="TextBox 24"/>
          <p:cNvSpPr txBox="1"/>
          <p:nvPr/>
        </p:nvSpPr>
        <p:spPr>
          <a:xfrm>
            <a:off x="8445500" y="2235200"/>
            <a:ext cx="3492500" cy="228600"/>
          </a:xfrm>
          <a:prstGeom prst="rect">
            <a:avLst/>
          </a:prstGeom>
          <a:noFill/>
        </p:spPr>
        <p:txBody>
          <a:bodyPr wrap="square" lIns="0" rIns="0" tIns="0" bIns="0" anchor="t">
            <a:spAutoFit/>
          </a:bodyPr>
          <a:lstStyle/>
          <a:p>
            <a:pPr algn="l">
              <a:lnSpc>
                <a:spcPct val="120000"/>
              </a:lnSpc>
            </a:pPr>
            <a:r>
              <a:rPr sz="1900" b="1" i="0">
                <a:solidFill>
                  <a:srgbClr val="2B2B2B"/>
                </a:solidFill>
                <a:latin typeface="Barlow Condensed"/>
              </a:rPr>
              <a:t>1,19 Md MAD</a:t>
            </a:r>
          </a:p>
        </p:txBody>
      </p:sp>
      <p:sp>
        <p:nvSpPr>
          <p:cNvPr id="26" name="TextBox 25"/>
          <p:cNvSpPr txBox="1"/>
          <p:nvPr/>
        </p:nvSpPr>
        <p:spPr>
          <a:xfrm>
            <a:off x="8445500" y="2514600"/>
            <a:ext cx="34925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coût du nouveau port de pêche</a:t>
            </a:r>
          </a:p>
        </p:txBody>
      </p:sp>
      <p:sp>
        <p:nvSpPr>
          <p:cNvPr id="27" name="TextBox 26"/>
          <p:cNvSpPr txBox="1"/>
          <p:nvPr/>
        </p:nvSpPr>
        <p:spPr>
          <a:xfrm>
            <a:off x="8445500" y="2717800"/>
            <a:ext cx="3492500" cy="228600"/>
          </a:xfrm>
          <a:prstGeom prst="rect">
            <a:avLst/>
          </a:prstGeom>
          <a:noFill/>
        </p:spPr>
        <p:txBody>
          <a:bodyPr wrap="square" lIns="0" rIns="0" tIns="0" bIns="0" anchor="t">
            <a:spAutoFit/>
          </a:bodyPr>
          <a:lstStyle/>
          <a:p>
            <a:pPr algn="l">
              <a:lnSpc>
                <a:spcPct val="120000"/>
              </a:lnSpc>
            </a:pPr>
            <a:r>
              <a:rPr sz="1900" b="1" i="0">
                <a:solidFill>
                  <a:srgbClr val="2B2B2B"/>
                </a:solidFill>
                <a:latin typeface="Barlow Condensed"/>
              </a:rPr>
              <a:t>1 400</a:t>
            </a:r>
          </a:p>
        </p:txBody>
      </p:sp>
      <p:sp>
        <p:nvSpPr>
          <p:cNvPr id="28" name="TextBox 27"/>
          <p:cNvSpPr txBox="1"/>
          <p:nvPr/>
        </p:nvSpPr>
        <p:spPr>
          <a:xfrm>
            <a:off x="8445500" y="2997200"/>
            <a:ext cx="34925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anneaux prévus : plus grande marina du Maroc</a:t>
            </a:r>
          </a:p>
        </p:txBody>
      </p:sp>
      <p:cxnSp>
        <p:nvCxnSpPr>
          <p:cNvPr id="29" name="Connector 28"/>
          <p:cNvCxnSpPr/>
          <p:nvPr/>
        </p:nvCxnSpPr>
        <p:spPr>
          <a:xfrm>
            <a:off x="8445500" y="3238500"/>
            <a:ext cx="3492500" cy="0"/>
          </a:xfrm>
          <a:prstGeom prst="line">
            <a:avLst/>
          </a:prstGeom>
          <a:ln w="6350">
            <a:solidFill>
              <a:srgbClr val="C9C4BA"/>
            </a:solidFill>
          </a:ln>
        </p:spPr>
      </p:cxnSp>
      <p:sp>
        <p:nvSpPr>
          <p:cNvPr id="30" name="TextBox 29"/>
          <p:cNvSpPr txBox="1"/>
          <p:nvPr/>
        </p:nvSpPr>
        <p:spPr>
          <a:xfrm>
            <a:off x="8445500" y="33401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BILAN</a:t>
            </a:r>
          </a:p>
        </p:txBody>
      </p:sp>
      <p:sp>
        <p:nvSpPr>
          <p:cNvPr id="31" name="Oval 30"/>
          <p:cNvSpPr/>
          <p:nvPr/>
        </p:nvSpPr>
        <p:spPr>
          <a:xfrm>
            <a:off x="8445500" y="3556000"/>
            <a:ext cx="152400" cy="152400"/>
          </a:xfrm>
          <a:prstGeom prst="ellipse">
            <a:avLst/>
          </a:prstGeom>
          <a:solidFill>
            <a:srgbClr val="5E7F4F"/>
          </a:solidFill>
          <a:ln w="9525">
            <a:solidFill>
              <a:srgbClr val="FFFFFF"/>
            </a:solidFill>
          </a:ln>
        </p:spPr>
        <p:txBody>
          <a:bodyPr rtlCol="0" anchor="ctr"/>
          <a:lstStyle/>
          <a:p>
            <a:pPr algn="ctr"/>
          </a:p>
        </p:txBody>
      </p:sp>
      <p:sp>
        <p:nvSpPr>
          <p:cNvPr id="32" name="TextBox 31"/>
          <p:cNvSpPr txBox="1"/>
          <p:nvPr/>
        </p:nvSpPr>
        <p:spPr>
          <a:xfrm>
            <a:off x="8445500" y="3556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33" name="TextBox 32"/>
          <p:cNvSpPr txBox="1"/>
          <p:nvPr/>
        </p:nvSpPr>
        <p:spPr>
          <a:xfrm>
            <a:off x="8674100" y="3562350"/>
            <a:ext cx="3302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Promenade publique continue sur la baie</a:t>
            </a:r>
          </a:p>
        </p:txBody>
      </p:sp>
      <p:sp>
        <p:nvSpPr>
          <p:cNvPr id="34" name="Oval 33"/>
          <p:cNvSpPr/>
          <p:nvPr/>
        </p:nvSpPr>
        <p:spPr>
          <a:xfrm>
            <a:off x="8445500" y="3810000"/>
            <a:ext cx="152400" cy="152400"/>
          </a:xfrm>
          <a:prstGeom prst="ellipse">
            <a:avLst/>
          </a:prstGeom>
          <a:solidFill>
            <a:srgbClr val="C8462B"/>
          </a:solidFill>
          <a:ln w="9525">
            <a:solidFill>
              <a:srgbClr val="FFFFFF"/>
            </a:solidFill>
          </a:ln>
        </p:spPr>
        <p:txBody>
          <a:bodyPr rtlCol="0" anchor="ctr"/>
          <a:lstStyle/>
          <a:p>
            <a:pPr algn="ctr"/>
          </a:p>
        </p:txBody>
      </p:sp>
      <p:sp>
        <p:nvSpPr>
          <p:cNvPr id="35" name="TextBox 34"/>
          <p:cNvSpPr txBox="1"/>
          <p:nvPr/>
        </p:nvSpPr>
        <p:spPr>
          <a:xfrm>
            <a:off x="8445500" y="3810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36" name="TextBox 35"/>
          <p:cNvSpPr txBox="1"/>
          <p:nvPr/>
        </p:nvSpPr>
        <p:spPr>
          <a:xfrm>
            <a:off x="8674100" y="3816350"/>
            <a:ext cx="3302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Le travail portuaire sort du centre</a:t>
            </a:r>
          </a:p>
        </p:txBody>
      </p:sp>
      <p:sp>
        <p:nvSpPr>
          <p:cNvPr id="37" name="Oval 36"/>
          <p:cNvSpPr/>
          <p:nvPr/>
        </p:nvSpPr>
        <p:spPr>
          <a:xfrm>
            <a:off x="8445500" y="4064000"/>
            <a:ext cx="152400" cy="152400"/>
          </a:xfrm>
          <a:prstGeom prst="ellipse">
            <a:avLst/>
          </a:prstGeom>
          <a:solidFill>
            <a:srgbClr val="C8462B"/>
          </a:solidFill>
          <a:ln w="9525">
            <a:solidFill>
              <a:srgbClr val="FFFFFF"/>
            </a:solidFill>
          </a:ln>
        </p:spPr>
        <p:txBody>
          <a:bodyPr rtlCol="0" anchor="ctr"/>
          <a:lstStyle/>
          <a:p>
            <a:pPr algn="ctr"/>
          </a:p>
        </p:txBody>
      </p:sp>
      <p:sp>
        <p:nvSpPr>
          <p:cNvPr id="38" name="TextBox 37"/>
          <p:cNvSpPr txBox="1"/>
          <p:nvPr/>
        </p:nvSpPr>
        <p:spPr>
          <a:xfrm>
            <a:off x="8445500" y="4064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39" name="TextBox 38"/>
          <p:cNvSpPr txBox="1"/>
          <p:nvPr/>
        </p:nvSpPr>
        <p:spPr>
          <a:xfrm>
            <a:off x="8674100" y="4070350"/>
            <a:ext cx="3302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Usages payants : plaisanciers, croisiéristes</a:t>
            </a:r>
          </a:p>
        </p:txBody>
      </p:sp>
      <p:sp>
        <p:nvSpPr>
          <p:cNvPr id="40" name="Oval 39"/>
          <p:cNvSpPr/>
          <p:nvPr/>
        </p:nvSpPr>
        <p:spPr>
          <a:xfrm>
            <a:off x="8445500" y="4318000"/>
            <a:ext cx="152400" cy="152400"/>
          </a:xfrm>
          <a:prstGeom prst="ellipse">
            <a:avLst/>
          </a:prstGeom>
          <a:solidFill>
            <a:srgbClr val="C8462B"/>
          </a:solidFill>
          <a:ln w="9525">
            <a:solidFill>
              <a:srgbClr val="FFFFFF"/>
            </a:solidFill>
          </a:ln>
        </p:spPr>
        <p:txBody>
          <a:bodyPr rtlCol="0" anchor="ctr"/>
          <a:lstStyle/>
          <a:p>
            <a:pPr algn="ctr"/>
          </a:p>
        </p:txBody>
      </p:sp>
      <p:sp>
        <p:nvSpPr>
          <p:cNvPr id="41" name="TextBox 40"/>
          <p:cNvSpPr txBox="1"/>
          <p:nvPr/>
        </p:nvSpPr>
        <p:spPr>
          <a:xfrm>
            <a:off x="8445500" y="4318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42" name="TextBox 41"/>
          <p:cNvSpPr txBox="1"/>
          <p:nvPr/>
        </p:nvSpPr>
        <p:spPr>
          <a:xfrm>
            <a:off x="8674100" y="4324350"/>
            <a:ext cx="3302000" cy="152400"/>
          </a:xfrm>
          <a:prstGeom prst="rect">
            <a:avLst/>
          </a:prstGeom>
          <a:noFill/>
        </p:spPr>
        <p:txBody>
          <a:bodyPr wrap="square" lIns="0" rIns="0" tIns="0" bIns="0" anchor="t">
            <a:spAutoFit/>
          </a:bodyPr>
          <a:lstStyle/>
          <a:p>
            <a:pPr algn="l">
              <a:lnSpc>
                <a:spcPct val="120000"/>
              </a:lnSpc>
            </a:pPr>
            <a:r>
              <a:rPr sz="1050" b="0" i="0">
                <a:solidFill>
                  <a:srgbClr val="2B2B2B"/>
                </a:solidFill>
                <a:latin typeface="Barlow"/>
              </a:rPr>
              <a:t>La route littorale sépare toujours ville et plage</a:t>
            </a:r>
          </a:p>
        </p:txBody>
      </p:sp>
      <p:sp>
        <p:nvSpPr>
          <p:cNvPr id="43" name="TextBox 42"/>
          <p:cNvSpPr txBox="1"/>
          <p:nvPr/>
        </p:nvSpPr>
        <p:spPr>
          <a:xfrm>
            <a:off x="8445500" y="4762500"/>
            <a:ext cx="3492500" cy="1397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Le port n'a pas été rendu aux Tangérois : il a été converti en vitrine. Le programme visait à « réconcilier la ville et la mer » ; le résultat est un espace calibré pour le visiteur et le plaisancier.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COUPES : LA PENTE ET LA DISTANCE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Profils topographiques réels (Copernicus DEM), bâti relevé par satellite le long des tracés.</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4,7 km</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coupe B-B'</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3 km</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coupe A-A'</a:t>
            </a:r>
          </a:p>
        </p:txBody>
      </p:sp>
      <p:sp>
        <p:nvSpPr>
          <p:cNvPr id="9" name="TextBox 8"/>
          <p:cNvSpPr txBox="1"/>
          <p:nvPr/>
        </p:nvSpPr>
        <p:spPr>
          <a:xfrm>
            <a:off x="8564880" y="215900"/>
            <a:ext cx="141732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90 m</a:t>
            </a:r>
          </a:p>
        </p:txBody>
      </p:sp>
      <p:sp>
        <p:nvSpPr>
          <p:cNvPr id="10" name="TextBox 9"/>
          <p:cNvSpPr txBox="1"/>
          <p:nvPr/>
        </p:nvSpPr>
        <p:spPr>
          <a:xfrm>
            <a:off x="8564880" y="546100"/>
            <a:ext cx="141732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 dénivelé entre</a:t>
            </a:r>
          </a:p>
          <a:p>
            <a:pPr algn="r">
              <a:lnSpc>
                <a:spcPct val="110000"/>
              </a:lnSpc>
            </a:pPr>
            <a:r>
              <a:rPr sz="850" b="0" i="0">
                <a:solidFill>
                  <a:srgbClr val="77736C"/>
                </a:solidFill>
                <a:latin typeface="Barlow"/>
              </a:rPr>
              <a:t>Marshan et le port</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11 / 18</a:t>
            </a:r>
          </a:p>
        </p:txBody>
      </p:sp>
      <p:sp>
        <p:nvSpPr>
          <p:cNvPr id="14" name="TextBox 13"/>
          <p:cNvSpPr txBox="1"/>
          <p:nvPr/>
        </p:nvSpPr>
        <p:spPr>
          <a:xfrm>
            <a:off x="254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C8462B"/>
                </a:solidFill>
                <a:latin typeface="Barlow Condensed"/>
              </a:rPr>
              <a:t>COUPE A-A' : MARSHAN, KASBAH, MÉDINA, PORT</a:t>
            </a:r>
          </a:p>
        </p:txBody>
      </p:sp>
      <p:pic>
        <p:nvPicPr>
          <p:cNvPr id="15" name="Picture 14" descr="m09_coupeA.jpg"/>
          <p:cNvPicPr>
            <a:picLocks noChangeAspect="1"/>
          </p:cNvPicPr>
          <p:nvPr/>
        </p:nvPicPr>
        <p:blipFill>
          <a:blip r:embed="rId2"/>
          <a:stretch>
            <a:fillRect/>
          </a:stretch>
        </p:blipFill>
        <p:spPr>
          <a:xfrm>
            <a:off x="254000" y="1206500"/>
            <a:ext cx="8445500" cy="2663581"/>
          </a:xfrm>
          <a:prstGeom prst="rect">
            <a:avLst/>
          </a:prstGeom>
        </p:spPr>
      </p:pic>
      <p:sp>
        <p:nvSpPr>
          <p:cNvPr id="16" name="TextBox 15"/>
          <p:cNvSpPr txBox="1"/>
          <p:nvPr/>
        </p:nvSpPr>
        <p:spPr>
          <a:xfrm>
            <a:off x="254000" y="3746500"/>
            <a:ext cx="5715000" cy="127000"/>
          </a:xfrm>
          <a:prstGeom prst="rect">
            <a:avLst/>
          </a:prstGeom>
          <a:noFill/>
        </p:spPr>
        <p:txBody>
          <a:bodyPr wrap="square" lIns="0" rIns="0" tIns="0" bIns="0" anchor="t">
            <a:spAutoFit/>
          </a:bodyPr>
          <a:lstStyle/>
          <a:p>
            <a:pPr algn="l">
              <a:lnSpc>
                <a:spcPct val="120000"/>
              </a:lnSpc>
            </a:pPr>
            <a:r>
              <a:rPr sz="900" b="1" i="0" spc="250">
                <a:solidFill>
                  <a:srgbClr val="C8462B"/>
                </a:solidFill>
                <a:latin typeface="Barlow Condensed"/>
              </a:rPr>
              <a:t>COUPE B-B' : CORNICHE, VILLE NOUVELLE, BENI MAKADA</a:t>
            </a:r>
          </a:p>
        </p:txBody>
      </p:sp>
      <p:pic>
        <p:nvPicPr>
          <p:cNvPr id="17" name="Picture 16" descr="m09_coupeB.jpg"/>
          <p:cNvPicPr>
            <a:picLocks noChangeAspect="1"/>
          </p:cNvPicPr>
          <p:nvPr/>
        </p:nvPicPr>
        <p:blipFill>
          <a:blip r:embed="rId3"/>
          <a:stretch>
            <a:fillRect/>
          </a:stretch>
        </p:blipFill>
        <p:spPr>
          <a:xfrm>
            <a:off x="254000" y="3911600"/>
            <a:ext cx="8445500" cy="2663581"/>
          </a:xfrm>
          <a:prstGeom prst="rect">
            <a:avLst/>
          </a:prstGeom>
        </p:spPr>
      </p:pic>
      <p:pic>
        <p:nvPicPr>
          <p:cNvPr id="18" name="Picture 17" descr="m09_coupe_loc.jpg"/>
          <p:cNvPicPr>
            <a:picLocks noChangeAspect="1"/>
          </p:cNvPicPr>
          <p:nvPr/>
        </p:nvPicPr>
        <p:blipFill>
          <a:blip r:embed="rId4"/>
          <a:stretch>
            <a:fillRect/>
          </a:stretch>
        </p:blipFill>
        <p:spPr>
          <a:xfrm>
            <a:off x="9207500" y="1181100"/>
            <a:ext cx="2730500" cy="3033889"/>
          </a:xfrm>
          <a:prstGeom prst="rect">
            <a:avLst/>
          </a:prstGeom>
        </p:spPr>
      </p:pic>
      <p:sp>
        <p:nvSpPr>
          <p:cNvPr id="19" name="TextBox 18"/>
          <p:cNvSpPr txBox="1"/>
          <p:nvPr/>
        </p:nvSpPr>
        <p:spPr>
          <a:xfrm>
            <a:off x="9207500" y="4318000"/>
            <a:ext cx="2730500" cy="1905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La vieille ville domine la mer, mais n'y descend que par des escaliers, des portes et une route à plusieurs voies. Depuis Beni Makada, la mer est à près de 5 km, derrière les collines : la corniche n'est pas un espace de proximité pour la majorité des habitants.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CAS 2 · LA MÉDINA, VITRINE PATRIMONIALE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Bâti, voirie, remparts et lieux recensés dans la médina et la Kasbah.</a:t>
            </a:r>
          </a:p>
        </p:txBody>
      </p:sp>
      <p:sp>
        <p:nvSpPr>
          <p:cNvPr id="5" name="TextBox 4"/>
          <p:cNvSpPr txBox="1"/>
          <p:nvPr/>
        </p:nvSpPr>
        <p:spPr>
          <a:xfrm>
            <a:off x="10993120" y="215900"/>
            <a:ext cx="9448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328</a:t>
            </a:r>
          </a:p>
        </p:txBody>
      </p:sp>
      <p:sp>
        <p:nvSpPr>
          <p:cNvPr id="6" name="TextBox 5"/>
          <p:cNvSpPr txBox="1"/>
          <p:nvPr/>
        </p:nvSpPr>
        <p:spPr>
          <a:xfrm>
            <a:off x="10993120" y="546100"/>
            <a:ext cx="9448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bâtiments menaçant</a:t>
            </a:r>
          </a:p>
          <a:p>
            <a:pPr algn="r">
              <a:lnSpc>
                <a:spcPct val="110000"/>
              </a:lnSpc>
            </a:pPr>
            <a:r>
              <a:rPr sz="850" b="0" i="0">
                <a:solidFill>
                  <a:srgbClr val="77736C"/>
                </a:solidFill>
                <a:latin typeface="Barlow"/>
              </a:rPr>
              <a:t>ruine</a:t>
            </a:r>
          </a:p>
        </p:txBody>
      </p:sp>
      <p:sp>
        <p:nvSpPr>
          <p:cNvPr id="7" name="TextBox 6"/>
          <p:cNvSpPr txBox="1"/>
          <p:nvPr/>
        </p:nvSpPr>
        <p:spPr>
          <a:xfrm>
            <a:off x="9832340" y="215900"/>
            <a:ext cx="9448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850 M</a:t>
            </a:r>
          </a:p>
        </p:txBody>
      </p:sp>
      <p:sp>
        <p:nvSpPr>
          <p:cNvPr id="8" name="TextBox 7"/>
          <p:cNvSpPr txBox="1"/>
          <p:nvPr/>
        </p:nvSpPr>
        <p:spPr>
          <a:xfrm>
            <a:off x="9832340" y="546100"/>
            <a:ext cx="9448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MAD, programme</a:t>
            </a:r>
          </a:p>
          <a:p>
            <a:pPr algn="r">
              <a:lnSpc>
                <a:spcPct val="110000"/>
              </a:lnSpc>
            </a:pPr>
            <a:r>
              <a:rPr sz="850" b="0" i="0">
                <a:solidFill>
                  <a:srgbClr val="77736C"/>
                </a:solidFill>
                <a:latin typeface="Barlow"/>
              </a:rPr>
              <a:t>2020-2024</a:t>
            </a:r>
          </a:p>
        </p:txBody>
      </p:sp>
      <p:sp>
        <p:nvSpPr>
          <p:cNvPr id="9" name="TextBox 8"/>
          <p:cNvSpPr txBox="1"/>
          <p:nvPr/>
        </p:nvSpPr>
        <p:spPr>
          <a:xfrm>
            <a:off x="8277860" y="215900"/>
            <a:ext cx="13385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65</a:t>
            </a:r>
          </a:p>
        </p:txBody>
      </p:sp>
      <p:sp>
        <p:nvSpPr>
          <p:cNvPr id="10" name="TextBox 9"/>
          <p:cNvSpPr txBox="1"/>
          <p:nvPr/>
        </p:nvSpPr>
        <p:spPr>
          <a:xfrm>
            <a:off x="8277860" y="546100"/>
            <a:ext cx="13385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hébergements recensés</a:t>
            </a:r>
          </a:p>
          <a:p>
            <a:pPr algn="r">
              <a:lnSpc>
                <a:spcPct val="110000"/>
              </a:lnSpc>
            </a:pPr>
            <a:r>
              <a:rPr sz="850" b="0" i="0">
                <a:solidFill>
                  <a:srgbClr val="77736C"/>
                </a:solidFill>
                <a:latin typeface="Barlow"/>
              </a:rPr>
              <a:t>dans 0,9 km²</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12 / 18</a:t>
            </a:r>
          </a:p>
        </p:txBody>
      </p:sp>
      <p:pic>
        <p:nvPicPr>
          <p:cNvPr id="14" name="Picture 13" descr="m07_medina.jpg"/>
          <p:cNvPicPr>
            <a:picLocks noChangeAspect="1"/>
          </p:cNvPicPr>
          <p:nvPr/>
        </p:nvPicPr>
        <p:blipFill>
          <a:blip r:embed="rId2"/>
          <a:stretch>
            <a:fillRect/>
          </a:stretch>
        </p:blipFill>
        <p:spPr>
          <a:xfrm>
            <a:off x="254000" y="952500"/>
            <a:ext cx="7281333" cy="5461000"/>
          </a:xfrm>
          <a:prstGeom prst="rect">
            <a:avLst/>
          </a:prstGeom>
        </p:spPr>
      </p:pic>
      <p:sp>
        <p:nvSpPr>
          <p:cNvPr id="15" name="TextBox 14"/>
          <p:cNvSpPr txBox="1"/>
          <p:nvPr/>
        </p:nvSpPr>
        <p:spPr>
          <a:xfrm>
            <a:off x="7810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LÉGENDE</a:t>
            </a:r>
          </a:p>
        </p:txBody>
      </p:sp>
      <p:sp>
        <p:nvSpPr>
          <p:cNvPr id="16" name="Oval 15"/>
          <p:cNvSpPr/>
          <p:nvPr/>
        </p:nvSpPr>
        <p:spPr>
          <a:xfrm>
            <a:off x="7848600" y="1181100"/>
            <a:ext cx="88900" cy="88900"/>
          </a:xfrm>
          <a:prstGeom prst="ellipse">
            <a:avLst/>
          </a:prstGeom>
          <a:solidFill>
            <a:srgbClr val="C8462B"/>
          </a:solidFill>
          <a:ln w="6350">
            <a:solidFill>
              <a:srgbClr val="FFFFFF"/>
            </a:solidFill>
          </a:ln>
        </p:spPr>
        <p:txBody>
          <a:bodyPr rtlCol="0" anchor="ctr"/>
          <a:lstStyle/>
          <a:p>
            <a:pPr algn="ctr"/>
          </a:p>
        </p:txBody>
      </p:sp>
      <p:sp>
        <p:nvSpPr>
          <p:cNvPr id="17" name="TextBox 16"/>
          <p:cNvSpPr txBox="1"/>
          <p:nvPr/>
        </p:nvSpPr>
        <p:spPr>
          <a:xfrm>
            <a:off x="8064500" y="1162050"/>
            <a:ext cx="3810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Hébergement touristique (hôtel, riad, maison d'hôtes)</a:t>
            </a:r>
          </a:p>
        </p:txBody>
      </p:sp>
      <p:sp>
        <p:nvSpPr>
          <p:cNvPr id="18" name="Diamond 17"/>
          <p:cNvSpPr/>
          <p:nvPr/>
        </p:nvSpPr>
        <p:spPr>
          <a:xfrm>
            <a:off x="7848600" y="1358900"/>
            <a:ext cx="88900" cy="88900"/>
          </a:xfrm>
          <a:prstGeom prst="diamond">
            <a:avLst/>
          </a:prstGeom>
          <a:solidFill>
            <a:srgbClr val="D9A441"/>
          </a:solidFill>
          <a:ln>
            <a:noFill/>
          </a:ln>
        </p:spPr>
        <p:txBody>
          <a:bodyPr rtlCol="0" anchor="ctr"/>
          <a:lstStyle/>
          <a:p>
            <a:pPr algn="ctr"/>
          </a:p>
        </p:txBody>
      </p:sp>
      <p:sp>
        <p:nvSpPr>
          <p:cNvPr id="19" name="TextBox 18"/>
          <p:cNvSpPr txBox="1"/>
          <p:nvPr/>
        </p:nvSpPr>
        <p:spPr>
          <a:xfrm>
            <a:off x="8064500" y="1339850"/>
            <a:ext cx="3810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Site patrimonial, musée, monument</a:t>
            </a:r>
          </a:p>
        </p:txBody>
      </p:sp>
      <p:sp>
        <p:nvSpPr>
          <p:cNvPr id="20" name="Rectangle 19"/>
          <p:cNvSpPr/>
          <p:nvPr/>
        </p:nvSpPr>
        <p:spPr>
          <a:xfrm>
            <a:off x="7810500" y="1530350"/>
            <a:ext cx="165100" cy="101600"/>
          </a:xfrm>
          <a:prstGeom prst="rect">
            <a:avLst/>
          </a:prstGeom>
          <a:solidFill>
            <a:srgbClr val="B9B1A5"/>
          </a:solidFill>
          <a:ln>
            <a:noFill/>
          </a:ln>
        </p:spPr>
        <p:txBody>
          <a:bodyPr rtlCol="0" anchor="ctr"/>
          <a:lstStyle/>
          <a:p>
            <a:pPr algn="ctr"/>
          </a:p>
        </p:txBody>
      </p:sp>
      <p:sp>
        <p:nvSpPr>
          <p:cNvPr id="21" name="TextBox 20"/>
          <p:cNvSpPr txBox="1"/>
          <p:nvPr/>
        </p:nvSpPr>
        <p:spPr>
          <a:xfrm>
            <a:off x="8064500" y="1517650"/>
            <a:ext cx="3810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 relevé (OSM)</a:t>
            </a:r>
          </a:p>
        </p:txBody>
      </p:sp>
      <p:cxnSp>
        <p:nvCxnSpPr>
          <p:cNvPr id="22" name="Connector 21"/>
          <p:cNvCxnSpPr/>
          <p:nvPr/>
        </p:nvCxnSpPr>
        <p:spPr>
          <a:xfrm>
            <a:off x="7810500" y="1758950"/>
            <a:ext cx="165100" cy="0"/>
          </a:xfrm>
          <a:prstGeom prst="line">
            <a:avLst/>
          </a:prstGeom>
          <a:ln w="22225">
            <a:solidFill>
              <a:srgbClr val="2B2B2B"/>
            </a:solidFill>
          </a:ln>
        </p:spPr>
      </p:cxnSp>
      <p:sp>
        <p:nvSpPr>
          <p:cNvPr id="23" name="TextBox 22"/>
          <p:cNvSpPr txBox="1"/>
          <p:nvPr/>
        </p:nvSpPr>
        <p:spPr>
          <a:xfrm>
            <a:off x="8064500" y="1695450"/>
            <a:ext cx="3810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Remparts</a:t>
            </a:r>
          </a:p>
        </p:txBody>
      </p:sp>
      <p:sp>
        <p:nvSpPr>
          <p:cNvPr id="24" name="Rectangle 23"/>
          <p:cNvSpPr/>
          <p:nvPr/>
        </p:nvSpPr>
        <p:spPr>
          <a:xfrm>
            <a:off x="7810500" y="1885950"/>
            <a:ext cx="165100" cy="101600"/>
          </a:xfrm>
          <a:prstGeom prst="rect">
            <a:avLst/>
          </a:prstGeom>
          <a:solidFill>
            <a:srgbClr val="C9D3BB"/>
          </a:solidFill>
          <a:ln>
            <a:noFill/>
          </a:ln>
        </p:spPr>
        <p:txBody>
          <a:bodyPr rtlCol="0" anchor="ctr"/>
          <a:lstStyle/>
          <a:p>
            <a:pPr algn="ctr"/>
          </a:p>
        </p:txBody>
      </p:sp>
      <p:sp>
        <p:nvSpPr>
          <p:cNvPr id="25" name="TextBox 24"/>
          <p:cNvSpPr txBox="1"/>
          <p:nvPr/>
        </p:nvSpPr>
        <p:spPr>
          <a:xfrm>
            <a:off x="8064500" y="1873250"/>
            <a:ext cx="3810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Jardins et espaces verts</a:t>
            </a:r>
          </a:p>
        </p:txBody>
      </p:sp>
      <p:sp>
        <p:nvSpPr>
          <p:cNvPr id="26" name="Rectangle 25"/>
          <p:cNvSpPr/>
          <p:nvPr/>
        </p:nvSpPr>
        <p:spPr>
          <a:xfrm>
            <a:off x="7810500" y="2063750"/>
            <a:ext cx="165100" cy="101600"/>
          </a:xfrm>
          <a:prstGeom prst="rect">
            <a:avLst/>
          </a:prstGeom>
          <a:solidFill>
            <a:srgbClr val="A9C3CC"/>
          </a:solidFill>
          <a:ln>
            <a:noFill/>
          </a:ln>
        </p:spPr>
        <p:txBody>
          <a:bodyPr rtlCol="0" anchor="ctr"/>
          <a:lstStyle/>
          <a:p>
            <a:pPr algn="ctr"/>
          </a:p>
        </p:txBody>
      </p:sp>
      <p:sp>
        <p:nvSpPr>
          <p:cNvPr id="27" name="TextBox 26"/>
          <p:cNvSpPr txBox="1"/>
          <p:nvPr/>
        </p:nvSpPr>
        <p:spPr>
          <a:xfrm>
            <a:off x="8064500" y="2051050"/>
            <a:ext cx="3810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Mer et bassins portuaires</a:t>
            </a:r>
          </a:p>
        </p:txBody>
      </p:sp>
      <p:sp>
        <p:nvSpPr>
          <p:cNvPr id="28" name="TextBox 27"/>
          <p:cNvSpPr txBox="1"/>
          <p:nvPr/>
        </p:nvSpPr>
        <p:spPr>
          <a:xfrm>
            <a:off x="7810500" y="2413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OÙ VA L'ARGENT ?</a:t>
            </a:r>
          </a:p>
        </p:txBody>
      </p:sp>
      <p:sp>
        <p:nvSpPr>
          <p:cNvPr id="29" name="TextBox 28"/>
          <p:cNvSpPr txBox="1"/>
          <p:nvPr/>
        </p:nvSpPr>
        <p:spPr>
          <a:xfrm>
            <a:off x="7810500" y="2628900"/>
            <a:ext cx="3175000" cy="139700"/>
          </a:xfrm>
          <a:prstGeom prst="rect">
            <a:avLst/>
          </a:prstGeom>
          <a:noFill/>
        </p:spPr>
        <p:txBody>
          <a:bodyPr wrap="square" lIns="0" rIns="0" tIns="0" bIns="0" anchor="t">
            <a:spAutoFit/>
          </a:bodyPr>
          <a:lstStyle/>
          <a:p>
            <a:pPr algn="l">
              <a:lnSpc>
                <a:spcPct val="120000"/>
              </a:lnSpc>
            </a:pPr>
            <a:r>
              <a:rPr sz="1000" b="1" i="0">
                <a:solidFill>
                  <a:srgbClr val="2B2B2B"/>
                </a:solidFill>
                <a:latin typeface="Barlow"/>
              </a:rPr>
              <a:t>Programme médina 2020-2024</a:t>
            </a:r>
          </a:p>
        </p:txBody>
      </p:sp>
      <p:sp>
        <p:nvSpPr>
          <p:cNvPr id="30" name="Rectangle 29"/>
          <p:cNvSpPr/>
          <p:nvPr/>
        </p:nvSpPr>
        <p:spPr>
          <a:xfrm>
            <a:off x="7810500" y="2794000"/>
            <a:ext cx="3048000" cy="139700"/>
          </a:xfrm>
          <a:prstGeom prst="rect">
            <a:avLst/>
          </a:prstGeom>
          <a:solidFill>
            <a:srgbClr val="C8462B"/>
          </a:solidFill>
          <a:ln>
            <a:noFill/>
          </a:ln>
        </p:spPr>
        <p:txBody>
          <a:bodyPr rtlCol="0" anchor="ctr"/>
          <a:lstStyle/>
          <a:p>
            <a:pPr algn="ctr"/>
          </a:p>
        </p:txBody>
      </p:sp>
      <p:sp>
        <p:nvSpPr>
          <p:cNvPr id="31" name="TextBox 30"/>
          <p:cNvSpPr txBox="1"/>
          <p:nvPr/>
        </p:nvSpPr>
        <p:spPr>
          <a:xfrm>
            <a:off x="10922000" y="2781300"/>
            <a:ext cx="1016000" cy="152400"/>
          </a:xfrm>
          <a:prstGeom prst="rect">
            <a:avLst/>
          </a:prstGeom>
          <a:noFill/>
        </p:spPr>
        <p:txBody>
          <a:bodyPr wrap="square" lIns="0" rIns="0" tIns="0" bIns="0" anchor="t">
            <a:spAutoFit/>
          </a:bodyPr>
          <a:lstStyle/>
          <a:p>
            <a:pPr algn="l">
              <a:lnSpc>
                <a:spcPct val="120000"/>
              </a:lnSpc>
            </a:pPr>
            <a:r>
              <a:rPr sz="1100" b="1" i="0">
                <a:solidFill>
                  <a:srgbClr val="C8462B"/>
                </a:solidFill>
                <a:latin typeface="Barlow Condensed"/>
              </a:rPr>
              <a:t>850 M MAD</a:t>
            </a:r>
          </a:p>
        </p:txBody>
      </p:sp>
      <p:sp>
        <p:nvSpPr>
          <p:cNvPr id="32" name="TextBox 31"/>
          <p:cNvSpPr txBox="1"/>
          <p:nvPr/>
        </p:nvSpPr>
        <p:spPr>
          <a:xfrm>
            <a:off x="7810500" y="3035300"/>
            <a:ext cx="3175000" cy="139700"/>
          </a:xfrm>
          <a:prstGeom prst="rect">
            <a:avLst/>
          </a:prstGeom>
          <a:noFill/>
        </p:spPr>
        <p:txBody>
          <a:bodyPr wrap="square" lIns="0" rIns="0" tIns="0" bIns="0" anchor="t">
            <a:spAutoFit/>
          </a:bodyPr>
          <a:lstStyle/>
          <a:p>
            <a:pPr algn="l">
              <a:lnSpc>
                <a:spcPct val="120000"/>
              </a:lnSpc>
            </a:pPr>
            <a:r>
              <a:rPr sz="1000" b="1" i="0">
                <a:solidFill>
                  <a:srgbClr val="2B2B2B"/>
                </a:solidFill>
                <a:latin typeface="Barlow"/>
              </a:rPr>
              <a:t>Bâtiments menaçant ruine 2024-2027</a:t>
            </a:r>
          </a:p>
        </p:txBody>
      </p:sp>
      <p:sp>
        <p:nvSpPr>
          <p:cNvPr id="33" name="Rectangle 32"/>
          <p:cNvSpPr/>
          <p:nvPr/>
        </p:nvSpPr>
        <p:spPr>
          <a:xfrm>
            <a:off x="7810500" y="3200400"/>
            <a:ext cx="351416" cy="139700"/>
          </a:xfrm>
          <a:prstGeom prst="rect">
            <a:avLst/>
          </a:prstGeom>
          <a:solidFill>
            <a:srgbClr val="1F3A5F"/>
          </a:solidFill>
          <a:ln>
            <a:noFill/>
          </a:ln>
        </p:spPr>
        <p:txBody>
          <a:bodyPr rtlCol="0" anchor="ctr"/>
          <a:lstStyle/>
          <a:p>
            <a:pPr algn="ctr"/>
          </a:p>
        </p:txBody>
      </p:sp>
      <p:sp>
        <p:nvSpPr>
          <p:cNvPr id="34" name="TextBox 33"/>
          <p:cNvSpPr txBox="1"/>
          <p:nvPr/>
        </p:nvSpPr>
        <p:spPr>
          <a:xfrm>
            <a:off x="8225416" y="3187700"/>
            <a:ext cx="1016000" cy="152400"/>
          </a:xfrm>
          <a:prstGeom prst="rect">
            <a:avLst/>
          </a:prstGeom>
          <a:noFill/>
        </p:spPr>
        <p:txBody>
          <a:bodyPr wrap="square" lIns="0" rIns="0" tIns="0" bIns="0" anchor="t">
            <a:spAutoFit/>
          </a:bodyPr>
          <a:lstStyle/>
          <a:p>
            <a:pPr algn="l">
              <a:lnSpc>
                <a:spcPct val="120000"/>
              </a:lnSpc>
            </a:pPr>
            <a:r>
              <a:rPr sz="1100" b="1" i="0">
                <a:solidFill>
                  <a:srgbClr val="1F3A5F"/>
                </a:solidFill>
                <a:latin typeface="Barlow Condensed"/>
              </a:rPr>
              <a:t>98 M MAD</a:t>
            </a:r>
          </a:p>
        </p:txBody>
      </p:sp>
      <p:sp>
        <p:nvSpPr>
          <p:cNvPr id="35" name="TextBox 34"/>
          <p:cNvSpPr txBox="1"/>
          <p:nvPr/>
        </p:nvSpPr>
        <p:spPr>
          <a:xfrm>
            <a:off x="7810500" y="3556000"/>
            <a:ext cx="4064000" cy="1905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Dans moins d'un kilomètre carré, on recense 65 hébergements touristiques pour 5 équipements de santé. Les travaux suivent les portes, places et parcours des visiteurs, alors que 328 bâtiments habités menacent ruine et relèvent d'un budget près de neuf fois plus petit. La médina se transforme en décor : logements convertis en maisons d'hôtes, commerces tournés vers le visiteur.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CAS 3 · MONDIAL 2030 : L'URBANISME D'EXCEPTION</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Le grand stade Ibn Batouta vu par Sentinel-2, et l'évaluation de la ville par la FIFA.</a:t>
            </a:r>
          </a:p>
        </p:txBody>
      </p:sp>
      <p:sp>
        <p:nvSpPr>
          <p:cNvPr id="5" name="TextBox 4"/>
          <p:cNvSpPr txBox="1"/>
          <p:nvPr/>
        </p:nvSpPr>
        <p:spPr>
          <a:xfrm>
            <a:off x="11144250" y="215900"/>
            <a:ext cx="79375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2,2 / 5</a:t>
            </a:r>
          </a:p>
        </p:txBody>
      </p:sp>
      <p:sp>
        <p:nvSpPr>
          <p:cNvPr id="6" name="TextBox 5"/>
          <p:cNvSpPr txBox="1"/>
          <p:nvPr/>
        </p:nvSpPr>
        <p:spPr>
          <a:xfrm>
            <a:off x="11144250" y="546100"/>
            <a:ext cx="79375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hôtels</a:t>
            </a:r>
          </a:p>
        </p:txBody>
      </p:sp>
      <p:sp>
        <p:nvSpPr>
          <p:cNvPr id="7" name="TextBox 6"/>
          <p:cNvSpPr txBox="1"/>
          <p:nvPr/>
        </p:nvSpPr>
        <p:spPr>
          <a:xfrm>
            <a:off x="10134600" y="215900"/>
            <a:ext cx="79375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2,6 / 5</a:t>
            </a:r>
          </a:p>
        </p:txBody>
      </p:sp>
      <p:sp>
        <p:nvSpPr>
          <p:cNvPr id="8" name="TextBox 7"/>
          <p:cNvSpPr txBox="1"/>
          <p:nvPr/>
        </p:nvSpPr>
        <p:spPr>
          <a:xfrm>
            <a:off x="10134600" y="546100"/>
            <a:ext cx="79375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transports</a:t>
            </a:r>
          </a:p>
        </p:txBody>
      </p:sp>
      <p:sp>
        <p:nvSpPr>
          <p:cNvPr id="9" name="TextBox 8"/>
          <p:cNvSpPr txBox="1"/>
          <p:nvPr/>
        </p:nvSpPr>
        <p:spPr>
          <a:xfrm>
            <a:off x="9124950" y="215900"/>
            <a:ext cx="79375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4,0 / 5</a:t>
            </a:r>
          </a:p>
        </p:txBody>
      </p:sp>
      <p:sp>
        <p:nvSpPr>
          <p:cNvPr id="10" name="TextBox 9"/>
          <p:cNvSpPr txBox="1"/>
          <p:nvPr/>
        </p:nvSpPr>
        <p:spPr>
          <a:xfrm>
            <a:off x="9124950" y="546100"/>
            <a:ext cx="79375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stade</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13 / 18</a:t>
            </a:r>
          </a:p>
        </p:txBody>
      </p:sp>
      <p:pic>
        <p:nvPicPr>
          <p:cNvPr id="14" name="Picture 13" descr="s03_stade_2017.jpg"/>
          <p:cNvPicPr>
            <a:picLocks noChangeAspect="1"/>
          </p:cNvPicPr>
          <p:nvPr/>
        </p:nvPicPr>
        <p:blipFill>
          <a:blip r:embed="rId2"/>
          <a:stretch>
            <a:fillRect/>
          </a:stretch>
        </p:blipFill>
        <p:spPr>
          <a:xfrm>
            <a:off x="254000" y="1079500"/>
            <a:ext cx="3810000" cy="2659380"/>
          </a:xfrm>
          <a:prstGeom prst="rect">
            <a:avLst/>
          </a:prstGeom>
        </p:spPr>
      </p:pic>
      <p:pic>
        <p:nvPicPr>
          <p:cNvPr id="15" name="Picture 14" descr="s03_stade_2025.jpg"/>
          <p:cNvPicPr>
            <a:picLocks noChangeAspect="1"/>
          </p:cNvPicPr>
          <p:nvPr/>
        </p:nvPicPr>
        <p:blipFill>
          <a:blip r:embed="rId3"/>
          <a:stretch>
            <a:fillRect/>
          </a:stretch>
        </p:blipFill>
        <p:spPr>
          <a:xfrm>
            <a:off x="4191000" y="1079500"/>
            <a:ext cx="3810000" cy="2659380"/>
          </a:xfrm>
          <a:prstGeom prst="rect">
            <a:avLst/>
          </a:prstGeom>
        </p:spPr>
      </p:pic>
      <p:sp>
        <p:nvSpPr>
          <p:cNvPr id="16" name="TextBox 15"/>
          <p:cNvSpPr txBox="1"/>
          <p:nvPr/>
        </p:nvSpPr>
        <p:spPr>
          <a:xfrm>
            <a:off x="330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2017</a:t>
            </a:r>
          </a:p>
        </p:txBody>
      </p:sp>
      <p:sp>
        <p:nvSpPr>
          <p:cNvPr id="17" name="TextBox 16"/>
          <p:cNvSpPr txBox="1"/>
          <p:nvPr/>
        </p:nvSpPr>
        <p:spPr>
          <a:xfrm>
            <a:off x="4267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2025</a:t>
            </a:r>
          </a:p>
        </p:txBody>
      </p:sp>
      <p:sp>
        <p:nvSpPr>
          <p:cNvPr id="18" name="TextBox 17"/>
          <p:cNvSpPr txBox="1"/>
          <p:nvPr/>
        </p:nvSpPr>
        <p:spPr>
          <a:xfrm>
            <a:off x="254000" y="392938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DEUX CHEMINS POUR CONSTRUIRE</a:t>
            </a:r>
          </a:p>
        </p:txBody>
      </p:sp>
      <p:sp>
        <p:nvSpPr>
          <p:cNvPr id="19" name="TextBox 18"/>
          <p:cNvSpPr txBox="1"/>
          <p:nvPr/>
        </p:nvSpPr>
        <p:spPr>
          <a:xfrm>
            <a:off x="254000" y="4259580"/>
            <a:ext cx="749300" cy="190500"/>
          </a:xfrm>
          <a:prstGeom prst="rect">
            <a:avLst/>
          </a:prstGeom>
          <a:noFill/>
        </p:spPr>
        <p:txBody>
          <a:bodyPr wrap="square" lIns="0" rIns="0" tIns="0" bIns="0" anchor="t">
            <a:spAutoFit/>
          </a:bodyPr>
          <a:lstStyle/>
          <a:p>
            <a:pPr algn="l">
              <a:lnSpc>
                <a:spcPct val="120000"/>
              </a:lnSpc>
            </a:pPr>
            <a:r>
              <a:rPr sz="1000" b="1" i="0" spc="100">
                <a:solidFill>
                  <a:srgbClr val="1F3A5F"/>
                </a:solidFill>
                <a:latin typeface="Barlow Condensed"/>
              </a:rPr>
              <a:t>LA RÈGLE</a:t>
            </a:r>
          </a:p>
        </p:txBody>
      </p:sp>
      <p:sp>
        <p:nvSpPr>
          <p:cNvPr id="20" name="Rectangle 19"/>
          <p:cNvSpPr/>
          <p:nvPr/>
        </p:nvSpPr>
        <p:spPr>
          <a:xfrm>
            <a:off x="1016000" y="4145280"/>
            <a:ext cx="1524000" cy="381000"/>
          </a:xfrm>
          <a:prstGeom prst="rect">
            <a:avLst/>
          </a:prstGeom>
          <a:solidFill>
            <a:srgbClr val="FFFFFF"/>
          </a:solidFill>
          <a:ln w="9525">
            <a:solidFill>
              <a:srgbClr val="1F3A5F"/>
            </a:solidFill>
          </a:ln>
        </p:spPr>
        <p:txBody>
          <a:bodyPr rtlCol="0" anchor="ctr"/>
          <a:lstStyle/>
          <a:p>
            <a:pPr algn="ctr"/>
          </a:p>
        </p:txBody>
      </p:sp>
      <p:sp>
        <p:nvSpPr>
          <p:cNvPr id="21" name="TextBox 20"/>
          <p:cNvSpPr txBox="1"/>
          <p:nvPr/>
        </p:nvSpPr>
        <p:spPr>
          <a:xfrm>
            <a:off x="1066800" y="4145280"/>
            <a:ext cx="1422400" cy="381000"/>
          </a:xfrm>
          <a:prstGeom prst="rect">
            <a:avLst/>
          </a:prstGeom>
          <a:noFill/>
        </p:spPr>
        <p:txBody>
          <a:bodyPr wrap="square" lIns="0" rIns="0" tIns="0" bIns="0" anchor="ctr">
            <a:spAutoFit/>
          </a:bodyPr>
          <a:lstStyle/>
          <a:p>
            <a:pPr algn="ctr">
              <a:lnSpc>
                <a:spcPct val="120000"/>
              </a:lnSpc>
            </a:pPr>
            <a:r>
              <a:rPr sz="1050" b="1" i="0">
                <a:solidFill>
                  <a:srgbClr val="1F3A5F"/>
                </a:solidFill>
                <a:latin typeface="Barlow"/>
              </a:rPr>
              <a:t>Plan d'aménagement</a:t>
            </a:r>
          </a:p>
        </p:txBody>
      </p:sp>
      <p:cxnSp>
        <p:nvCxnSpPr>
          <p:cNvPr id="22" name="Connector 21"/>
          <p:cNvCxnSpPr/>
          <p:nvPr/>
        </p:nvCxnSpPr>
        <p:spPr>
          <a:xfrm>
            <a:off x="2552700" y="4335780"/>
            <a:ext cx="165100" cy="0"/>
          </a:xfrm>
          <a:prstGeom prst="line">
            <a:avLst/>
          </a:prstGeom>
          <a:ln w="9525">
            <a:solidFill>
              <a:srgbClr val="1F3A5F"/>
            </a:solidFill>
            <a:tailEnd type="triangle"/>
          </a:ln>
        </p:spPr>
      </p:cxnSp>
      <p:sp>
        <p:nvSpPr>
          <p:cNvPr id="23" name="Rectangle 22"/>
          <p:cNvSpPr/>
          <p:nvPr/>
        </p:nvSpPr>
        <p:spPr>
          <a:xfrm>
            <a:off x="2730500" y="4145280"/>
            <a:ext cx="1524000" cy="381000"/>
          </a:xfrm>
          <a:prstGeom prst="rect">
            <a:avLst/>
          </a:prstGeom>
          <a:solidFill>
            <a:srgbClr val="FFFFFF"/>
          </a:solidFill>
          <a:ln w="9525">
            <a:solidFill>
              <a:srgbClr val="1F3A5F"/>
            </a:solidFill>
          </a:ln>
        </p:spPr>
        <p:txBody>
          <a:bodyPr rtlCol="0" anchor="ctr"/>
          <a:lstStyle/>
          <a:p>
            <a:pPr algn="ctr"/>
          </a:p>
        </p:txBody>
      </p:sp>
      <p:sp>
        <p:nvSpPr>
          <p:cNvPr id="24" name="TextBox 23"/>
          <p:cNvSpPr txBox="1"/>
          <p:nvPr/>
        </p:nvSpPr>
        <p:spPr>
          <a:xfrm>
            <a:off x="2781300" y="4145280"/>
            <a:ext cx="1422400" cy="381000"/>
          </a:xfrm>
          <a:prstGeom prst="rect">
            <a:avLst/>
          </a:prstGeom>
          <a:noFill/>
        </p:spPr>
        <p:txBody>
          <a:bodyPr wrap="square" lIns="0" rIns="0" tIns="0" bIns="0" anchor="ctr">
            <a:spAutoFit/>
          </a:bodyPr>
          <a:lstStyle/>
          <a:p>
            <a:pPr algn="ctr">
              <a:lnSpc>
                <a:spcPct val="120000"/>
              </a:lnSpc>
            </a:pPr>
            <a:r>
              <a:rPr sz="1050" b="1" i="0">
                <a:solidFill>
                  <a:srgbClr val="1F3A5F"/>
                </a:solidFill>
                <a:latin typeface="Barlow"/>
              </a:rPr>
              <a:t>Enquête publique</a:t>
            </a:r>
          </a:p>
        </p:txBody>
      </p:sp>
      <p:cxnSp>
        <p:nvCxnSpPr>
          <p:cNvPr id="25" name="Connector 24"/>
          <p:cNvCxnSpPr/>
          <p:nvPr/>
        </p:nvCxnSpPr>
        <p:spPr>
          <a:xfrm>
            <a:off x="4267200" y="4335780"/>
            <a:ext cx="165100" cy="0"/>
          </a:xfrm>
          <a:prstGeom prst="line">
            <a:avLst/>
          </a:prstGeom>
          <a:ln w="9525">
            <a:solidFill>
              <a:srgbClr val="1F3A5F"/>
            </a:solidFill>
            <a:tailEnd type="triangle"/>
          </a:ln>
        </p:spPr>
      </p:cxnSp>
      <p:sp>
        <p:nvSpPr>
          <p:cNvPr id="26" name="Rectangle 25"/>
          <p:cNvSpPr/>
          <p:nvPr/>
        </p:nvSpPr>
        <p:spPr>
          <a:xfrm>
            <a:off x="4445000" y="4145280"/>
            <a:ext cx="1524000" cy="381000"/>
          </a:xfrm>
          <a:prstGeom prst="rect">
            <a:avLst/>
          </a:prstGeom>
          <a:solidFill>
            <a:srgbClr val="FFFFFF"/>
          </a:solidFill>
          <a:ln w="9525">
            <a:solidFill>
              <a:srgbClr val="1F3A5F"/>
            </a:solidFill>
          </a:ln>
        </p:spPr>
        <p:txBody>
          <a:bodyPr rtlCol="0" anchor="ctr"/>
          <a:lstStyle/>
          <a:p>
            <a:pPr algn="ctr"/>
          </a:p>
        </p:txBody>
      </p:sp>
      <p:sp>
        <p:nvSpPr>
          <p:cNvPr id="27" name="TextBox 26"/>
          <p:cNvSpPr txBox="1"/>
          <p:nvPr/>
        </p:nvSpPr>
        <p:spPr>
          <a:xfrm>
            <a:off x="4495800" y="4145280"/>
            <a:ext cx="1422400" cy="381000"/>
          </a:xfrm>
          <a:prstGeom prst="rect">
            <a:avLst/>
          </a:prstGeom>
          <a:noFill/>
        </p:spPr>
        <p:txBody>
          <a:bodyPr wrap="square" lIns="0" rIns="0" tIns="0" bIns="0" anchor="ctr">
            <a:spAutoFit/>
          </a:bodyPr>
          <a:lstStyle/>
          <a:p>
            <a:pPr algn="ctr">
              <a:lnSpc>
                <a:spcPct val="120000"/>
              </a:lnSpc>
            </a:pPr>
            <a:r>
              <a:rPr sz="1050" b="1" i="0">
                <a:solidFill>
                  <a:srgbClr val="1F3A5F"/>
                </a:solidFill>
                <a:latin typeface="Barlow"/>
              </a:rPr>
              <a:t>Avis des habitants</a:t>
            </a:r>
          </a:p>
        </p:txBody>
      </p:sp>
      <p:cxnSp>
        <p:nvCxnSpPr>
          <p:cNvPr id="28" name="Connector 27"/>
          <p:cNvCxnSpPr/>
          <p:nvPr/>
        </p:nvCxnSpPr>
        <p:spPr>
          <a:xfrm>
            <a:off x="5981700" y="4335780"/>
            <a:ext cx="165100" cy="0"/>
          </a:xfrm>
          <a:prstGeom prst="line">
            <a:avLst/>
          </a:prstGeom>
          <a:ln w="9525">
            <a:solidFill>
              <a:srgbClr val="1F3A5F"/>
            </a:solidFill>
            <a:tailEnd type="triangle"/>
          </a:ln>
        </p:spPr>
      </p:cxnSp>
      <p:sp>
        <p:nvSpPr>
          <p:cNvPr id="29" name="Rectangle 28"/>
          <p:cNvSpPr/>
          <p:nvPr/>
        </p:nvSpPr>
        <p:spPr>
          <a:xfrm>
            <a:off x="6159500" y="4145280"/>
            <a:ext cx="1524000" cy="381000"/>
          </a:xfrm>
          <a:prstGeom prst="rect">
            <a:avLst/>
          </a:prstGeom>
          <a:solidFill>
            <a:srgbClr val="FFFFFF"/>
          </a:solidFill>
          <a:ln w="9525">
            <a:solidFill>
              <a:srgbClr val="1F3A5F"/>
            </a:solidFill>
          </a:ln>
        </p:spPr>
        <p:txBody>
          <a:bodyPr rtlCol="0" anchor="ctr"/>
          <a:lstStyle/>
          <a:p>
            <a:pPr algn="ctr"/>
          </a:p>
        </p:txBody>
      </p:sp>
      <p:sp>
        <p:nvSpPr>
          <p:cNvPr id="30" name="TextBox 29"/>
          <p:cNvSpPr txBox="1"/>
          <p:nvPr/>
        </p:nvSpPr>
        <p:spPr>
          <a:xfrm>
            <a:off x="6210300" y="4145280"/>
            <a:ext cx="1422400" cy="381000"/>
          </a:xfrm>
          <a:prstGeom prst="rect">
            <a:avLst/>
          </a:prstGeom>
          <a:noFill/>
        </p:spPr>
        <p:txBody>
          <a:bodyPr wrap="square" lIns="0" rIns="0" tIns="0" bIns="0" anchor="ctr">
            <a:spAutoFit/>
          </a:bodyPr>
          <a:lstStyle/>
          <a:p>
            <a:pPr algn="ctr">
              <a:lnSpc>
                <a:spcPct val="120000"/>
              </a:lnSpc>
            </a:pPr>
            <a:r>
              <a:rPr sz="1050" b="1" i="0">
                <a:solidFill>
                  <a:srgbClr val="1F3A5F"/>
                </a:solidFill>
                <a:latin typeface="Barlow"/>
              </a:rPr>
              <a:t>Permis</a:t>
            </a:r>
          </a:p>
        </p:txBody>
      </p:sp>
      <p:sp>
        <p:nvSpPr>
          <p:cNvPr id="31" name="TextBox 30"/>
          <p:cNvSpPr txBox="1"/>
          <p:nvPr/>
        </p:nvSpPr>
        <p:spPr>
          <a:xfrm>
            <a:off x="254000" y="4831080"/>
            <a:ext cx="749300" cy="190500"/>
          </a:xfrm>
          <a:prstGeom prst="rect">
            <a:avLst/>
          </a:prstGeom>
          <a:noFill/>
        </p:spPr>
        <p:txBody>
          <a:bodyPr wrap="square" lIns="0" rIns="0" tIns="0" bIns="0" anchor="t">
            <a:spAutoFit/>
          </a:bodyPr>
          <a:lstStyle/>
          <a:p>
            <a:pPr algn="l">
              <a:lnSpc>
                <a:spcPct val="120000"/>
              </a:lnSpc>
            </a:pPr>
            <a:r>
              <a:rPr sz="1000" b="1" i="0" spc="100">
                <a:solidFill>
                  <a:srgbClr val="C8462B"/>
                </a:solidFill>
                <a:latin typeface="Barlow Condensed"/>
              </a:rPr>
              <a:t>L'EXCEPTION</a:t>
            </a:r>
          </a:p>
        </p:txBody>
      </p:sp>
      <p:sp>
        <p:nvSpPr>
          <p:cNvPr id="32" name="Rectangle 31"/>
          <p:cNvSpPr/>
          <p:nvPr/>
        </p:nvSpPr>
        <p:spPr>
          <a:xfrm>
            <a:off x="1016000" y="4716780"/>
            <a:ext cx="1524000" cy="381000"/>
          </a:xfrm>
          <a:prstGeom prst="rect">
            <a:avLst/>
          </a:prstGeom>
          <a:solidFill>
            <a:srgbClr val="C8462B"/>
          </a:solidFill>
          <a:ln w="9525">
            <a:solidFill>
              <a:srgbClr val="C8462B"/>
            </a:solidFill>
          </a:ln>
        </p:spPr>
        <p:txBody>
          <a:bodyPr rtlCol="0" anchor="ctr"/>
          <a:lstStyle/>
          <a:p>
            <a:pPr algn="ctr"/>
          </a:p>
        </p:txBody>
      </p:sp>
      <p:sp>
        <p:nvSpPr>
          <p:cNvPr id="33" name="TextBox 32"/>
          <p:cNvSpPr txBox="1"/>
          <p:nvPr/>
        </p:nvSpPr>
        <p:spPr>
          <a:xfrm>
            <a:off x="10668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Événement (2030)</a:t>
            </a:r>
          </a:p>
        </p:txBody>
      </p:sp>
      <p:cxnSp>
        <p:nvCxnSpPr>
          <p:cNvPr id="34" name="Connector 33"/>
          <p:cNvCxnSpPr/>
          <p:nvPr/>
        </p:nvCxnSpPr>
        <p:spPr>
          <a:xfrm>
            <a:off x="2552700" y="4907280"/>
            <a:ext cx="165100" cy="0"/>
          </a:xfrm>
          <a:prstGeom prst="line">
            <a:avLst/>
          </a:prstGeom>
          <a:ln w="9525">
            <a:solidFill>
              <a:srgbClr val="C8462B"/>
            </a:solidFill>
            <a:tailEnd type="triangle"/>
          </a:ln>
        </p:spPr>
      </p:cxnSp>
      <p:sp>
        <p:nvSpPr>
          <p:cNvPr id="35" name="Rectangle 34"/>
          <p:cNvSpPr/>
          <p:nvPr/>
        </p:nvSpPr>
        <p:spPr>
          <a:xfrm>
            <a:off x="2730500" y="4716780"/>
            <a:ext cx="1524000" cy="381000"/>
          </a:xfrm>
          <a:prstGeom prst="rect">
            <a:avLst/>
          </a:prstGeom>
          <a:solidFill>
            <a:srgbClr val="C8462B"/>
          </a:solidFill>
          <a:ln w="9525">
            <a:solidFill>
              <a:srgbClr val="C8462B"/>
            </a:solidFill>
          </a:ln>
        </p:spPr>
        <p:txBody>
          <a:bodyPr rtlCol="0" anchor="ctr"/>
          <a:lstStyle/>
          <a:p>
            <a:pPr algn="ctr"/>
          </a:p>
        </p:txBody>
      </p:sp>
      <p:sp>
        <p:nvSpPr>
          <p:cNvPr id="36" name="TextBox 35"/>
          <p:cNvSpPr txBox="1"/>
          <p:nvPr/>
        </p:nvSpPr>
        <p:spPr>
          <a:xfrm>
            <a:off x="27813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Urgence « date FIFA »</a:t>
            </a:r>
          </a:p>
        </p:txBody>
      </p:sp>
      <p:cxnSp>
        <p:nvCxnSpPr>
          <p:cNvPr id="37" name="Connector 36"/>
          <p:cNvCxnSpPr/>
          <p:nvPr/>
        </p:nvCxnSpPr>
        <p:spPr>
          <a:xfrm>
            <a:off x="4267200" y="4907280"/>
            <a:ext cx="165100" cy="0"/>
          </a:xfrm>
          <a:prstGeom prst="line">
            <a:avLst/>
          </a:prstGeom>
          <a:ln w="9525">
            <a:solidFill>
              <a:srgbClr val="C8462B"/>
            </a:solidFill>
            <a:tailEnd type="triangle"/>
          </a:ln>
        </p:spPr>
      </p:cxnSp>
      <p:sp>
        <p:nvSpPr>
          <p:cNvPr id="38" name="Rectangle 37"/>
          <p:cNvSpPr/>
          <p:nvPr/>
        </p:nvSpPr>
        <p:spPr>
          <a:xfrm>
            <a:off x="4445000" y="4716780"/>
            <a:ext cx="1524000" cy="381000"/>
          </a:xfrm>
          <a:prstGeom prst="rect">
            <a:avLst/>
          </a:prstGeom>
          <a:solidFill>
            <a:srgbClr val="C8462B"/>
          </a:solidFill>
          <a:ln w="9525">
            <a:solidFill>
              <a:srgbClr val="C8462B"/>
            </a:solidFill>
          </a:ln>
        </p:spPr>
        <p:txBody>
          <a:bodyPr rtlCol="0" anchor="ctr"/>
          <a:lstStyle/>
          <a:p>
            <a:pPr algn="ctr"/>
          </a:p>
        </p:txBody>
      </p:sp>
      <p:sp>
        <p:nvSpPr>
          <p:cNvPr id="39" name="TextBox 38"/>
          <p:cNvSpPr txBox="1"/>
          <p:nvPr/>
        </p:nvSpPr>
        <p:spPr>
          <a:xfrm>
            <a:off x="44958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Autorisation exceptionnelle</a:t>
            </a:r>
          </a:p>
        </p:txBody>
      </p:sp>
      <p:cxnSp>
        <p:nvCxnSpPr>
          <p:cNvPr id="40" name="Connector 39"/>
          <p:cNvCxnSpPr/>
          <p:nvPr/>
        </p:nvCxnSpPr>
        <p:spPr>
          <a:xfrm>
            <a:off x="5981700" y="4907280"/>
            <a:ext cx="165100" cy="0"/>
          </a:xfrm>
          <a:prstGeom prst="line">
            <a:avLst/>
          </a:prstGeom>
          <a:ln w="9525">
            <a:solidFill>
              <a:srgbClr val="C8462B"/>
            </a:solidFill>
            <a:tailEnd type="triangle"/>
          </a:ln>
        </p:spPr>
      </p:cxnSp>
      <p:sp>
        <p:nvSpPr>
          <p:cNvPr id="41" name="Rectangle 40"/>
          <p:cNvSpPr/>
          <p:nvPr/>
        </p:nvSpPr>
        <p:spPr>
          <a:xfrm>
            <a:off x="6159500" y="4716780"/>
            <a:ext cx="1524000" cy="381000"/>
          </a:xfrm>
          <a:prstGeom prst="rect">
            <a:avLst/>
          </a:prstGeom>
          <a:solidFill>
            <a:srgbClr val="C8462B"/>
          </a:solidFill>
          <a:ln w="9525">
            <a:solidFill>
              <a:srgbClr val="C8462B"/>
            </a:solidFill>
          </a:ln>
        </p:spPr>
        <p:txBody>
          <a:bodyPr rtlCol="0" anchor="ctr"/>
          <a:lstStyle/>
          <a:p>
            <a:pPr algn="ctr"/>
          </a:p>
        </p:txBody>
      </p:sp>
      <p:sp>
        <p:nvSpPr>
          <p:cNvPr id="42" name="TextBox 41"/>
          <p:cNvSpPr txBox="1"/>
          <p:nvPr/>
        </p:nvSpPr>
        <p:spPr>
          <a:xfrm>
            <a:off x="62103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Hôtels, résidences</a:t>
            </a:r>
          </a:p>
        </p:txBody>
      </p:sp>
      <p:sp>
        <p:nvSpPr>
          <p:cNvPr id="43" name="TextBox 42"/>
          <p:cNvSpPr txBox="1"/>
          <p:nvPr/>
        </p:nvSpPr>
        <p:spPr>
          <a:xfrm>
            <a:off x="8445500" y="1079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CAPACITÉ DU STADE (PLACES)</a:t>
            </a:r>
          </a:p>
        </p:txBody>
      </p:sp>
      <p:sp>
        <p:nvSpPr>
          <p:cNvPr id="44" name="TextBox 43"/>
          <p:cNvSpPr txBox="1"/>
          <p:nvPr/>
        </p:nvSpPr>
        <p:spPr>
          <a:xfrm>
            <a:off x="8445500" y="1308100"/>
            <a:ext cx="1016000" cy="139700"/>
          </a:xfrm>
          <a:prstGeom prst="rect">
            <a:avLst/>
          </a:prstGeom>
          <a:noFill/>
        </p:spPr>
        <p:txBody>
          <a:bodyPr wrap="square" lIns="0" rIns="0" tIns="0" bIns="0" anchor="t">
            <a:spAutoFit/>
          </a:bodyPr>
          <a:lstStyle/>
          <a:p>
            <a:pPr algn="l">
              <a:lnSpc>
                <a:spcPct val="120000"/>
              </a:lnSpc>
            </a:pPr>
            <a:r>
              <a:rPr sz="1000" b="0" i="0">
                <a:solidFill>
                  <a:srgbClr val="2B2B2B"/>
                </a:solidFill>
                <a:latin typeface="Barlow"/>
              </a:rPr>
              <a:t>Origine</a:t>
            </a:r>
          </a:p>
        </p:txBody>
      </p:sp>
      <p:sp>
        <p:nvSpPr>
          <p:cNvPr id="45" name="Rectangle 44"/>
          <p:cNvSpPr/>
          <p:nvPr/>
        </p:nvSpPr>
        <p:spPr>
          <a:xfrm>
            <a:off x="9461500" y="1320800"/>
            <a:ext cx="1008529" cy="127000"/>
          </a:xfrm>
          <a:prstGeom prst="rect">
            <a:avLst/>
          </a:prstGeom>
          <a:solidFill>
            <a:srgbClr val="B9B1A5"/>
          </a:solidFill>
          <a:ln>
            <a:noFill/>
          </a:ln>
        </p:spPr>
        <p:txBody>
          <a:bodyPr rtlCol="0" anchor="ctr"/>
          <a:lstStyle/>
          <a:p>
            <a:pPr algn="ctr"/>
          </a:p>
        </p:txBody>
      </p:sp>
      <p:sp>
        <p:nvSpPr>
          <p:cNvPr id="46" name="TextBox 45"/>
          <p:cNvSpPr txBox="1"/>
          <p:nvPr/>
        </p:nvSpPr>
        <p:spPr>
          <a:xfrm>
            <a:off x="10533529" y="1308100"/>
            <a:ext cx="635000" cy="139700"/>
          </a:xfrm>
          <a:prstGeom prst="rect">
            <a:avLst/>
          </a:prstGeom>
          <a:noFill/>
        </p:spPr>
        <p:txBody>
          <a:bodyPr wrap="square" lIns="0" rIns="0" tIns="0" bIns="0" anchor="t">
            <a:spAutoFit/>
          </a:bodyPr>
          <a:lstStyle/>
          <a:p>
            <a:pPr algn="l">
              <a:lnSpc>
                <a:spcPct val="120000"/>
              </a:lnSpc>
            </a:pPr>
            <a:r>
              <a:rPr sz="1000" b="1" i="0">
                <a:solidFill>
                  <a:srgbClr val="2B2B2B"/>
                </a:solidFill>
                <a:latin typeface="Barlow"/>
              </a:rPr>
              <a:t>&gt;40 000</a:t>
            </a:r>
          </a:p>
        </p:txBody>
      </p:sp>
      <p:sp>
        <p:nvSpPr>
          <p:cNvPr id="47" name="TextBox 46"/>
          <p:cNvSpPr txBox="1"/>
          <p:nvPr/>
        </p:nvSpPr>
        <p:spPr>
          <a:xfrm>
            <a:off x="8445500" y="1625600"/>
            <a:ext cx="1016000" cy="139700"/>
          </a:xfrm>
          <a:prstGeom prst="rect">
            <a:avLst/>
          </a:prstGeom>
          <a:noFill/>
        </p:spPr>
        <p:txBody>
          <a:bodyPr wrap="square" lIns="0" rIns="0" tIns="0" bIns="0" anchor="t">
            <a:spAutoFit/>
          </a:bodyPr>
          <a:lstStyle/>
          <a:p>
            <a:pPr algn="l">
              <a:lnSpc>
                <a:spcPct val="120000"/>
              </a:lnSpc>
            </a:pPr>
            <a:r>
              <a:rPr sz="1000" b="0" i="0">
                <a:solidFill>
                  <a:srgbClr val="2B2B2B"/>
                </a:solidFill>
                <a:latin typeface="Barlow"/>
              </a:rPr>
              <a:t>Après extension</a:t>
            </a:r>
          </a:p>
        </p:txBody>
      </p:sp>
      <p:sp>
        <p:nvSpPr>
          <p:cNvPr id="48" name="Rectangle 47"/>
          <p:cNvSpPr/>
          <p:nvPr/>
        </p:nvSpPr>
        <p:spPr>
          <a:xfrm>
            <a:off x="9461500" y="1638300"/>
            <a:ext cx="1456765" cy="127000"/>
          </a:xfrm>
          <a:prstGeom prst="rect">
            <a:avLst/>
          </a:prstGeom>
          <a:solidFill>
            <a:srgbClr val="C8462B"/>
          </a:solidFill>
          <a:ln>
            <a:noFill/>
          </a:ln>
        </p:spPr>
        <p:txBody>
          <a:bodyPr rtlCol="0" anchor="ctr"/>
          <a:lstStyle/>
          <a:p>
            <a:pPr algn="ctr"/>
          </a:p>
        </p:txBody>
      </p:sp>
      <p:sp>
        <p:nvSpPr>
          <p:cNvPr id="49" name="TextBox 48"/>
          <p:cNvSpPr txBox="1"/>
          <p:nvPr/>
        </p:nvSpPr>
        <p:spPr>
          <a:xfrm>
            <a:off x="10981765" y="1625600"/>
            <a:ext cx="635000" cy="139700"/>
          </a:xfrm>
          <a:prstGeom prst="rect">
            <a:avLst/>
          </a:prstGeom>
          <a:noFill/>
        </p:spPr>
        <p:txBody>
          <a:bodyPr wrap="square" lIns="0" rIns="0" tIns="0" bIns="0" anchor="t">
            <a:spAutoFit/>
          </a:bodyPr>
          <a:lstStyle/>
          <a:p>
            <a:pPr algn="l">
              <a:lnSpc>
                <a:spcPct val="120000"/>
              </a:lnSpc>
            </a:pPr>
            <a:r>
              <a:rPr sz="1000" b="1" i="0">
                <a:solidFill>
                  <a:srgbClr val="2B2B2B"/>
                </a:solidFill>
                <a:latin typeface="Barlow"/>
              </a:rPr>
              <a:t>65 000</a:t>
            </a:r>
          </a:p>
        </p:txBody>
      </p:sp>
      <p:sp>
        <p:nvSpPr>
          <p:cNvPr id="50" name="TextBox 49"/>
          <p:cNvSpPr txBox="1"/>
          <p:nvPr/>
        </p:nvSpPr>
        <p:spPr>
          <a:xfrm>
            <a:off x="8445500" y="1943100"/>
            <a:ext cx="1016000" cy="139700"/>
          </a:xfrm>
          <a:prstGeom prst="rect">
            <a:avLst/>
          </a:prstGeom>
          <a:noFill/>
        </p:spPr>
        <p:txBody>
          <a:bodyPr wrap="square" lIns="0" rIns="0" tIns="0" bIns="0" anchor="t">
            <a:spAutoFit/>
          </a:bodyPr>
          <a:lstStyle/>
          <a:p>
            <a:pPr algn="l">
              <a:lnSpc>
                <a:spcPct val="120000"/>
              </a:lnSpc>
            </a:pPr>
            <a:r>
              <a:rPr sz="1000" b="0" i="0">
                <a:solidFill>
                  <a:srgbClr val="2B2B2B"/>
                </a:solidFill>
                <a:latin typeface="Barlow"/>
              </a:rPr>
              <a:t>Objectif Mondial</a:t>
            </a:r>
          </a:p>
        </p:txBody>
      </p:sp>
      <p:sp>
        <p:nvSpPr>
          <p:cNvPr id="51" name="Rectangle 50"/>
          <p:cNvSpPr/>
          <p:nvPr/>
        </p:nvSpPr>
        <p:spPr>
          <a:xfrm>
            <a:off x="9461500" y="1955800"/>
            <a:ext cx="1905000" cy="127000"/>
          </a:xfrm>
          <a:prstGeom prst="rect">
            <a:avLst/>
          </a:prstGeom>
          <a:solidFill>
            <a:srgbClr val="E4A08A"/>
          </a:solidFill>
          <a:ln>
            <a:noFill/>
          </a:ln>
        </p:spPr>
        <p:txBody>
          <a:bodyPr rtlCol="0" anchor="ctr"/>
          <a:lstStyle/>
          <a:p>
            <a:pPr algn="ctr"/>
          </a:p>
        </p:txBody>
      </p:sp>
      <p:sp>
        <p:nvSpPr>
          <p:cNvPr id="52" name="TextBox 51"/>
          <p:cNvSpPr txBox="1"/>
          <p:nvPr/>
        </p:nvSpPr>
        <p:spPr>
          <a:xfrm>
            <a:off x="11430000" y="1943100"/>
            <a:ext cx="635000" cy="139700"/>
          </a:xfrm>
          <a:prstGeom prst="rect">
            <a:avLst/>
          </a:prstGeom>
          <a:noFill/>
        </p:spPr>
        <p:txBody>
          <a:bodyPr wrap="square" lIns="0" rIns="0" tIns="0" bIns="0" anchor="t">
            <a:spAutoFit/>
          </a:bodyPr>
          <a:lstStyle/>
          <a:p>
            <a:pPr algn="l">
              <a:lnSpc>
                <a:spcPct val="120000"/>
              </a:lnSpc>
            </a:pPr>
            <a:r>
              <a:rPr sz="1000" b="1" i="0">
                <a:solidFill>
                  <a:srgbClr val="2B2B2B"/>
                </a:solidFill>
                <a:latin typeface="Barlow"/>
              </a:rPr>
              <a:t>85 000</a:t>
            </a:r>
          </a:p>
        </p:txBody>
      </p:sp>
      <p:sp>
        <p:nvSpPr>
          <p:cNvPr id="53" name="TextBox 52"/>
          <p:cNvSpPr txBox="1"/>
          <p:nvPr/>
        </p:nvSpPr>
        <p:spPr>
          <a:xfrm>
            <a:off x="8445500" y="2413000"/>
            <a:ext cx="3492500" cy="3810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Le stade a été agrandi deux fois et sa toiture est visible depuis l'espace. La FIFA juge pourtant les transports (2,6/5) et les hôtels (2,2/5) insuffisants. La réponse annoncée : des permis hôteliers exceptionnels, pour tenir une date fixée de l'extérieur. Ce qui peut être livré à temps (stade, hôtels, façades) passe devant ce qui demande du temps : logement, transport, équipements de quartier.</a:t>
            </a:r>
          </a:p>
          <a:p>
            <a:pPr algn="l">
              <a:lnSpc>
                <a:spcPct val="140000"/>
              </a:lnSpc>
            </a:pPr>
            <a:r>
              <a:rPr sz="1050" b="0" i="0">
                <a:solidFill>
                  <a:srgbClr val="2B2B2B"/>
                </a:solidFill>
                <a:latin typeface="Barlow"/>
              </a:rPr>
              <a:t/>
            </a:r>
          </a:p>
          <a:p>
            <a:pPr algn="l">
              <a:lnSpc>
                <a:spcPct val="140000"/>
              </a:lnSpc>
            </a:pPr>
            <a:r>
              <a:rPr sz="1050" b="1" i="0">
                <a:solidFill>
                  <a:srgbClr val="2B2B2B"/>
                </a:solidFill>
                <a:latin typeface="Barlow"/>
              </a:rPr>
              <a:t>L'héritage du Mondial devra se mesurer dans les quartiers, pas dans les tribunes.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CAS 4 · LES OUVRIERS LOIN DE LEURS EMPLOIS</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Distances entre le quartier le plus peuplé et les zones d'emploi industrielles.</a:t>
            </a:r>
          </a:p>
        </p:txBody>
      </p:sp>
      <p:sp>
        <p:nvSpPr>
          <p:cNvPr id="5" name="TextBox 4"/>
          <p:cNvSpPr txBox="1"/>
          <p:nvPr/>
        </p:nvSpPr>
        <p:spPr>
          <a:xfrm>
            <a:off x="10284460" y="215900"/>
            <a:ext cx="165354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36</a:t>
            </a:r>
          </a:p>
        </p:txBody>
      </p:sp>
      <p:sp>
        <p:nvSpPr>
          <p:cNvPr id="6" name="TextBox 5"/>
          <p:cNvSpPr txBox="1"/>
          <p:nvPr/>
        </p:nvSpPr>
        <p:spPr>
          <a:xfrm>
            <a:off x="10284460" y="546100"/>
            <a:ext cx="165354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habitants comptés</a:t>
            </a:r>
          </a:p>
          <a:p>
            <a:pPr algn="r">
              <a:lnSpc>
                <a:spcPct val="110000"/>
              </a:lnSpc>
            </a:pPr>
            <a:r>
              <a:rPr sz="850" b="0" i="0">
                <a:solidFill>
                  <a:srgbClr val="77736C"/>
                </a:solidFill>
                <a:latin typeface="Barlow"/>
              </a:rPr>
              <a:t>(Cour des comptes, 2024)</a:t>
            </a:r>
          </a:p>
        </p:txBody>
      </p:sp>
      <p:sp>
        <p:nvSpPr>
          <p:cNvPr id="7" name="TextBox 6"/>
          <p:cNvSpPr txBox="1"/>
          <p:nvPr/>
        </p:nvSpPr>
        <p:spPr>
          <a:xfrm>
            <a:off x="8729980" y="215900"/>
            <a:ext cx="13385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150 000</a:t>
            </a:r>
          </a:p>
        </p:txBody>
      </p:sp>
      <p:sp>
        <p:nvSpPr>
          <p:cNvPr id="8" name="TextBox 7"/>
          <p:cNvSpPr txBox="1"/>
          <p:nvPr/>
        </p:nvSpPr>
        <p:spPr>
          <a:xfrm>
            <a:off x="8729980" y="546100"/>
            <a:ext cx="13385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habitants prévus</a:t>
            </a:r>
          </a:p>
          <a:p>
            <a:pPr algn="r">
              <a:lnSpc>
                <a:spcPct val="110000"/>
              </a:lnSpc>
            </a:pPr>
            <a:r>
              <a:rPr sz="850" b="0" i="0">
                <a:solidFill>
                  <a:srgbClr val="77736C"/>
                </a:solidFill>
                <a:latin typeface="Barlow"/>
              </a:rPr>
              <a:t>à Chrafate (2009)</a:t>
            </a:r>
          </a:p>
        </p:txBody>
      </p:sp>
      <p:sp>
        <p:nvSpPr>
          <p:cNvPr id="9" name="TextBox 8"/>
          <p:cNvSpPr txBox="1"/>
          <p:nvPr/>
        </p:nvSpPr>
        <p:spPr>
          <a:xfrm>
            <a:off x="6978650" y="215900"/>
            <a:ext cx="153543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9-32 km</a:t>
            </a:r>
          </a:p>
        </p:txBody>
      </p:sp>
      <p:sp>
        <p:nvSpPr>
          <p:cNvPr id="10" name="TextBox 9"/>
          <p:cNvSpPr txBox="1"/>
          <p:nvPr/>
        </p:nvSpPr>
        <p:spPr>
          <a:xfrm>
            <a:off x="6978650" y="546100"/>
            <a:ext cx="153543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entre Beni Makada et</a:t>
            </a:r>
          </a:p>
          <a:p>
            <a:pPr algn="r">
              <a:lnSpc>
                <a:spcPct val="110000"/>
              </a:lnSpc>
            </a:pPr>
            <a:r>
              <a:rPr sz="850" b="0" i="0">
                <a:solidFill>
                  <a:srgbClr val="77736C"/>
                </a:solidFill>
                <a:latin typeface="Barlow"/>
              </a:rPr>
              <a:t>les zones d'emploi</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14 / 18</a:t>
            </a:r>
          </a:p>
        </p:txBody>
      </p:sp>
      <p:pic>
        <p:nvPicPr>
          <p:cNvPr id="14" name="Picture 13" descr="m12_industrie.jpg"/>
          <p:cNvPicPr>
            <a:picLocks noChangeAspect="1"/>
          </p:cNvPicPr>
          <p:nvPr/>
        </p:nvPicPr>
        <p:blipFill>
          <a:blip r:embed="rId2"/>
          <a:stretch>
            <a:fillRect/>
          </a:stretch>
        </p:blipFill>
        <p:spPr>
          <a:xfrm>
            <a:off x="254000" y="952500"/>
            <a:ext cx="7937500" cy="4960938"/>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LÉGENDE</a:t>
            </a:r>
          </a:p>
        </p:txBody>
      </p:sp>
      <p:sp>
        <p:nvSpPr>
          <p:cNvPr id="16" name="Rectangle 15"/>
          <p:cNvSpPr/>
          <p:nvPr/>
        </p:nvSpPr>
        <p:spPr>
          <a:xfrm>
            <a:off x="8445500" y="1174750"/>
            <a:ext cx="165100" cy="101600"/>
          </a:xfrm>
          <a:prstGeom prst="rect">
            <a:avLst/>
          </a:prstGeom>
          <a:solidFill>
            <a:srgbClr val="1F3A5F"/>
          </a:solidFill>
          <a:ln>
            <a:noFill/>
          </a:ln>
        </p:spPr>
        <p:txBody>
          <a:bodyPr rtlCol="0" anchor="ctr"/>
          <a:lstStyle/>
          <a:p>
            <a:pPr algn="ctr"/>
          </a:p>
        </p:txBody>
      </p:sp>
      <p:sp>
        <p:nvSpPr>
          <p:cNvPr id="17" name="TextBox 16"/>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Zones industrielles (OSM)</a:t>
            </a:r>
          </a:p>
        </p:txBody>
      </p:sp>
      <p:sp>
        <p:nvSpPr>
          <p:cNvPr id="18" name="Rectangle 17"/>
          <p:cNvSpPr/>
          <p:nvPr/>
        </p:nvSpPr>
        <p:spPr>
          <a:xfrm>
            <a:off x="8445500" y="1352550"/>
            <a:ext cx="165100" cy="101600"/>
          </a:xfrm>
          <a:prstGeom prst="rect">
            <a:avLst/>
          </a:prstGeom>
          <a:solidFill>
            <a:srgbClr val="BFB3A3"/>
          </a:solidFill>
          <a:ln>
            <a:noFill/>
          </a:ln>
        </p:spPr>
        <p:txBody>
          <a:bodyPr rtlCol="0" anchor="ctr"/>
          <a:lstStyle/>
          <a:p>
            <a:pPr algn="ctr"/>
          </a:p>
        </p:txBody>
      </p:sp>
      <p:sp>
        <p:nvSpPr>
          <p:cNvPr id="19" name="TextBox 18"/>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a:t>
            </a:r>
          </a:p>
        </p:txBody>
      </p:sp>
      <p:cxnSp>
        <p:nvCxnSpPr>
          <p:cNvPr id="20" name="Connector 19"/>
          <p:cNvCxnSpPr/>
          <p:nvPr/>
        </p:nvCxnSpPr>
        <p:spPr>
          <a:xfrm>
            <a:off x="8445500" y="1581150"/>
            <a:ext cx="165100" cy="0"/>
          </a:xfrm>
          <a:prstGeom prst="line">
            <a:avLst/>
          </a:prstGeom>
          <a:ln w="13970">
            <a:solidFill>
              <a:srgbClr val="C8462B"/>
            </a:solidFill>
            <a:prstDash val="dash"/>
          </a:ln>
        </p:spPr>
      </p:cxnSp>
      <p:sp>
        <p:nvSpPr>
          <p:cNvPr id="21" name="TextBox 20"/>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Distance à vol d'oiseau depuis Beni Makada</a:t>
            </a:r>
          </a:p>
        </p:txBody>
      </p:sp>
      <p:cxnSp>
        <p:nvCxnSpPr>
          <p:cNvPr id="22" name="Connector 21"/>
          <p:cNvCxnSpPr/>
          <p:nvPr/>
        </p:nvCxnSpPr>
        <p:spPr>
          <a:xfrm>
            <a:off x="8445500" y="1758950"/>
            <a:ext cx="165100" cy="0"/>
          </a:xfrm>
          <a:prstGeom prst="line">
            <a:avLst/>
          </a:prstGeom>
          <a:ln w="22225">
            <a:solidFill>
              <a:srgbClr val="C8462B"/>
            </a:solidFill>
          </a:ln>
        </p:spPr>
      </p:cxnSp>
      <p:sp>
        <p:nvSpPr>
          <p:cNvPr id="23" name="TextBox 22"/>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Autoroute, voie express</a:t>
            </a:r>
          </a:p>
        </p:txBody>
      </p:sp>
      <p:cxnSp>
        <p:nvCxnSpPr>
          <p:cNvPr id="24" name="Connector 23"/>
          <p:cNvCxnSpPr/>
          <p:nvPr/>
        </p:nvCxnSpPr>
        <p:spPr>
          <a:xfrm>
            <a:off x="8445500" y="1936750"/>
            <a:ext cx="165100" cy="0"/>
          </a:xfrm>
          <a:prstGeom prst="line">
            <a:avLst/>
          </a:prstGeom>
          <a:ln w="13970">
            <a:solidFill>
              <a:srgbClr val="2B2B2B"/>
            </a:solidFill>
            <a:prstDash val="dash"/>
          </a:ln>
        </p:spPr>
      </p:cxnSp>
      <p:sp>
        <p:nvSpPr>
          <p:cNvPr id="25" name="TextBox 24"/>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Voie ferrée</a:t>
            </a:r>
          </a:p>
        </p:txBody>
      </p:sp>
      <p:sp>
        <p:nvSpPr>
          <p:cNvPr id="26" name="TextBox 25"/>
          <p:cNvSpPr txBox="1"/>
          <p:nvPr/>
        </p:nvSpPr>
        <p:spPr>
          <a:xfrm>
            <a:off x="8445500" y="22098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CHRAFATE : PRÉVU VS COMPTÉ</a:t>
            </a:r>
          </a:p>
        </p:txBody>
      </p:sp>
      <p:sp>
        <p:nvSpPr>
          <p:cNvPr id="27" name="Oval 26"/>
          <p:cNvSpPr/>
          <p:nvPr/>
        </p:nvSpPr>
        <p:spPr>
          <a:xfrm>
            <a:off x="8464550" y="2432050"/>
            <a:ext cx="114300" cy="114300"/>
          </a:xfrm>
          <a:prstGeom prst="ellipse">
            <a:avLst/>
          </a:prstGeom>
          <a:solidFill>
            <a:srgbClr val="C9D5E3"/>
          </a:solidFill>
          <a:ln w="5080">
            <a:solidFill>
              <a:srgbClr val="1F3A5F"/>
            </a:solidFill>
          </a:ln>
        </p:spPr>
        <p:txBody>
          <a:bodyPr rtlCol="0" anchor="ctr"/>
          <a:lstStyle/>
          <a:p>
            <a:pPr algn="ctr"/>
          </a:p>
        </p:txBody>
      </p:sp>
      <p:sp>
        <p:nvSpPr>
          <p:cNvPr id="28" name="Oval 27"/>
          <p:cNvSpPr/>
          <p:nvPr/>
        </p:nvSpPr>
        <p:spPr>
          <a:xfrm>
            <a:off x="8636000" y="2432050"/>
            <a:ext cx="114300" cy="114300"/>
          </a:xfrm>
          <a:prstGeom prst="ellipse">
            <a:avLst/>
          </a:prstGeom>
          <a:solidFill>
            <a:srgbClr val="C9D5E3"/>
          </a:solidFill>
          <a:ln w="5080">
            <a:solidFill>
              <a:srgbClr val="1F3A5F"/>
            </a:solidFill>
          </a:ln>
        </p:spPr>
        <p:txBody>
          <a:bodyPr rtlCol="0" anchor="ctr"/>
          <a:lstStyle/>
          <a:p>
            <a:pPr algn="ctr"/>
          </a:p>
        </p:txBody>
      </p:sp>
      <p:sp>
        <p:nvSpPr>
          <p:cNvPr id="29" name="Oval 28"/>
          <p:cNvSpPr/>
          <p:nvPr/>
        </p:nvSpPr>
        <p:spPr>
          <a:xfrm>
            <a:off x="8807450" y="2432050"/>
            <a:ext cx="114300" cy="114300"/>
          </a:xfrm>
          <a:prstGeom prst="ellipse">
            <a:avLst/>
          </a:prstGeom>
          <a:solidFill>
            <a:srgbClr val="C9D5E3"/>
          </a:solidFill>
          <a:ln w="5080">
            <a:solidFill>
              <a:srgbClr val="1F3A5F"/>
            </a:solidFill>
          </a:ln>
        </p:spPr>
        <p:txBody>
          <a:bodyPr rtlCol="0" anchor="ctr"/>
          <a:lstStyle/>
          <a:p>
            <a:pPr algn="ctr"/>
          </a:p>
        </p:txBody>
      </p:sp>
      <p:sp>
        <p:nvSpPr>
          <p:cNvPr id="30" name="Oval 29"/>
          <p:cNvSpPr/>
          <p:nvPr/>
        </p:nvSpPr>
        <p:spPr>
          <a:xfrm>
            <a:off x="8978900" y="2432050"/>
            <a:ext cx="114300" cy="114300"/>
          </a:xfrm>
          <a:prstGeom prst="ellipse">
            <a:avLst/>
          </a:prstGeom>
          <a:solidFill>
            <a:srgbClr val="C9D5E3"/>
          </a:solidFill>
          <a:ln w="5080">
            <a:solidFill>
              <a:srgbClr val="1F3A5F"/>
            </a:solidFill>
          </a:ln>
        </p:spPr>
        <p:txBody>
          <a:bodyPr rtlCol="0" anchor="ctr"/>
          <a:lstStyle/>
          <a:p>
            <a:pPr algn="ctr"/>
          </a:p>
        </p:txBody>
      </p:sp>
      <p:sp>
        <p:nvSpPr>
          <p:cNvPr id="31" name="Oval 30"/>
          <p:cNvSpPr/>
          <p:nvPr/>
        </p:nvSpPr>
        <p:spPr>
          <a:xfrm>
            <a:off x="9150350" y="2432050"/>
            <a:ext cx="114300" cy="114300"/>
          </a:xfrm>
          <a:prstGeom prst="ellipse">
            <a:avLst/>
          </a:prstGeom>
          <a:solidFill>
            <a:srgbClr val="C9D5E3"/>
          </a:solidFill>
          <a:ln w="5080">
            <a:solidFill>
              <a:srgbClr val="1F3A5F"/>
            </a:solidFill>
          </a:ln>
        </p:spPr>
        <p:txBody>
          <a:bodyPr rtlCol="0" anchor="ctr"/>
          <a:lstStyle/>
          <a:p>
            <a:pPr algn="ctr"/>
          </a:p>
        </p:txBody>
      </p:sp>
      <p:sp>
        <p:nvSpPr>
          <p:cNvPr id="32" name="Oval 31"/>
          <p:cNvSpPr/>
          <p:nvPr/>
        </p:nvSpPr>
        <p:spPr>
          <a:xfrm>
            <a:off x="9321800" y="2432050"/>
            <a:ext cx="114300" cy="114300"/>
          </a:xfrm>
          <a:prstGeom prst="ellipse">
            <a:avLst/>
          </a:prstGeom>
          <a:solidFill>
            <a:srgbClr val="C9D5E3"/>
          </a:solidFill>
          <a:ln w="5080">
            <a:solidFill>
              <a:srgbClr val="1F3A5F"/>
            </a:solidFill>
          </a:ln>
        </p:spPr>
        <p:txBody>
          <a:bodyPr rtlCol="0" anchor="ctr"/>
          <a:lstStyle/>
          <a:p>
            <a:pPr algn="ctr"/>
          </a:p>
        </p:txBody>
      </p:sp>
      <p:sp>
        <p:nvSpPr>
          <p:cNvPr id="33" name="Oval 32"/>
          <p:cNvSpPr/>
          <p:nvPr/>
        </p:nvSpPr>
        <p:spPr>
          <a:xfrm>
            <a:off x="9493250" y="2432050"/>
            <a:ext cx="114300" cy="114300"/>
          </a:xfrm>
          <a:prstGeom prst="ellipse">
            <a:avLst/>
          </a:prstGeom>
          <a:solidFill>
            <a:srgbClr val="C9D5E3"/>
          </a:solidFill>
          <a:ln w="5080">
            <a:solidFill>
              <a:srgbClr val="1F3A5F"/>
            </a:solidFill>
          </a:ln>
        </p:spPr>
        <p:txBody>
          <a:bodyPr rtlCol="0" anchor="ctr"/>
          <a:lstStyle/>
          <a:p>
            <a:pPr algn="ctr"/>
          </a:p>
        </p:txBody>
      </p:sp>
      <p:sp>
        <p:nvSpPr>
          <p:cNvPr id="34" name="Oval 33"/>
          <p:cNvSpPr/>
          <p:nvPr/>
        </p:nvSpPr>
        <p:spPr>
          <a:xfrm>
            <a:off x="9664700" y="2432050"/>
            <a:ext cx="114300" cy="114300"/>
          </a:xfrm>
          <a:prstGeom prst="ellipse">
            <a:avLst/>
          </a:prstGeom>
          <a:solidFill>
            <a:srgbClr val="C9D5E3"/>
          </a:solidFill>
          <a:ln w="5080">
            <a:solidFill>
              <a:srgbClr val="1F3A5F"/>
            </a:solidFill>
          </a:ln>
        </p:spPr>
        <p:txBody>
          <a:bodyPr rtlCol="0" anchor="ctr"/>
          <a:lstStyle/>
          <a:p>
            <a:pPr algn="ctr"/>
          </a:p>
        </p:txBody>
      </p:sp>
      <p:sp>
        <p:nvSpPr>
          <p:cNvPr id="35" name="Oval 34"/>
          <p:cNvSpPr/>
          <p:nvPr/>
        </p:nvSpPr>
        <p:spPr>
          <a:xfrm>
            <a:off x="9836150" y="2432050"/>
            <a:ext cx="114300" cy="114300"/>
          </a:xfrm>
          <a:prstGeom prst="ellipse">
            <a:avLst/>
          </a:prstGeom>
          <a:solidFill>
            <a:srgbClr val="C9D5E3"/>
          </a:solidFill>
          <a:ln w="5080">
            <a:solidFill>
              <a:srgbClr val="1F3A5F"/>
            </a:solidFill>
          </a:ln>
        </p:spPr>
        <p:txBody>
          <a:bodyPr rtlCol="0" anchor="ctr"/>
          <a:lstStyle/>
          <a:p>
            <a:pPr algn="ctr"/>
          </a:p>
        </p:txBody>
      </p:sp>
      <p:sp>
        <p:nvSpPr>
          <p:cNvPr id="36" name="Oval 35"/>
          <p:cNvSpPr/>
          <p:nvPr/>
        </p:nvSpPr>
        <p:spPr>
          <a:xfrm>
            <a:off x="10007600" y="2432050"/>
            <a:ext cx="114300" cy="114300"/>
          </a:xfrm>
          <a:prstGeom prst="ellipse">
            <a:avLst/>
          </a:prstGeom>
          <a:solidFill>
            <a:srgbClr val="C9D5E3"/>
          </a:solidFill>
          <a:ln w="5080">
            <a:solidFill>
              <a:srgbClr val="1F3A5F"/>
            </a:solidFill>
          </a:ln>
        </p:spPr>
        <p:txBody>
          <a:bodyPr rtlCol="0" anchor="ctr"/>
          <a:lstStyle/>
          <a:p>
            <a:pPr algn="ctr"/>
          </a:p>
        </p:txBody>
      </p:sp>
      <p:sp>
        <p:nvSpPr>
          <p:cNvPr id="37" name="Oval 36"/>
          <p:cNvSpPr/>
          <p:nvPr/>
        </p:nvSpPr>
        <p:spPr>
          <a:xfrm>
            <a:off x="10179050" y="2432050"/>
            <a:ext cx="114300" cy="114300"/>
          </a:xfrm>
          <a:prstGeom prst="ellipse">
            <a:avLst/>
          </a:prstGeom>
          <a:solidFill>
            <a:srgbClr val="C9D5E3"/>
          </a:solidFill>
          <a:ln w="5080">
            <a:solidFill>
              <a:srgbClr val="1F3A5F"/>
            </a:solidFill>
          </a:ln>
        </p:spPr>
        <p:txBody>
          <a:bodyPr rtlCol="0" anchor="ctr"/>
          <a:lstStyle/>
          <a:p>
            <a:pPr algn="ctr"/>
          </a:p>
        </p:txBody>
      </p:sp>
      <p:sp>
        <p:nvSpPr>
          <p:cNvPr id="38" name="Oval 37"/>
          <p:cNvSpPr/>
          <p:nvPr/>
        </p:nvSpPr>
        <p:spPr>
          <a:xfrm>
            <a:off x="10350500" y="2432050"/>
            <a:ext cx="114300" cy="114300"/>
          </a:xfrm>
          <a:prstGeom prst="ellipse">
            <a:avLst/>
          </a:prstGeom>
          <a:solidFill>
            <a:srgbClr val="C9D5E3"/>
          </a:solidFill>
          <a:ln w="5080">
            <a:solidFill>
              <a:srgbClr val="1F3A5F"/>
            </a:solidFill>
          </a:ln>
        </p:spPr>
        <p:txBody>
          <a:bodyPr rtlCol="0" anchor="ctr"/>
          <a:lstStyle/>
          <a:p>
            <a:pPr algn="ctr"/>
          </a:p>
        </p:txBody>
      </p:sp>
      <p:sp>
        <p:nvSpPr>
          <p:cNvPr id="39" name="Oval 38"/>
          <p:cNvSpPr/>
          <p:nvPr/>
        </p:nvSpPr>
        <p:spPr>
          <a:xfrm>
            <a:off x="10521950" y="2432050"/>
            <a:ext cx="114300" cy="114300"/>
          </a:xfrm>
          <a:prstGeom prst="ellipse">
            <a:avLst/>
          </a:prstGeom>
          <a:solidFill>
            <a:srgbClr val="C9D5E3"/>
          </a:solidFill>
          <a:ln w="5080">
            <a:solidFill>
              <a:srgbClr val="1F3A5F"/>
            </a:solidFill>
          </a:ln>
        </p:spPr>
        <p:txBody>
          <a:bodyPr rtlCol="0" anchor="ctr"/>
          <a:lstStyle/>
          <a:p>
            <a:pPr algn="ctr"/>
          </a:p>
        </p:txBody>
      </p:sp>
      <p:sp>
        <p:nvSpPr>
          <p:cNvPr id="40" name="Oval 39"/>
          <p:cNvSpPr/>
          <p:nvPr/>
        </p:nvSpPr>
        <p:spPr>
          <a:xfrm>
            <a:off x="10693400" y="2432050"/>
            <a:ext cx="114300" cy="114300"/>
          </a:xfrm>
          <a:prstGeom prst="ellipse">
            <a:avLst/>
          </a:prstGeom>
          <a:solidFill>
            <a:srgbClr val="C9D5E3"/>
          </a:solidFill>
          <a:ln w="5080">
            <a:solidFill>
              <a:srgbClr val="1F3A5F"/>
            </a:solidFill>
          </a:ln>
        </p:spPr>
        <p:txBody>
          <a:bodyPr rtlCol="0" anchor="ctr"/>
          <a:lstStyle/>
          <a:p>
            <a:pPr algn="ctr"/>
          </a:p>
        </p:txBody>
      </p:sp>
      <p:sp>
        <p:nvSpPr>
          <p:cNvPr id="41" name="Oval 40"/>
          <p:cNvSpPr/>
          <p:nvPr/>
        </p:nvSpPr>
        <p:spPr>
          <a:xfrm>
            <a:off x="10864850" y="2432050"/>
            <a:ext cx="114300" cy="114300"/>
          </a:xfrm>
          <a:prstGeom prst="ellipse">
            <a:avLst/>
          </a:prstGeom>
          <a:solidFill>
            <a:srgbClr val="C9D5E3"/>
          </a:solidFill>
          <a:ln w="5080">
            <a:solidFill>
              <a:srgbClr val="1F3A5F"/>
            </a:solidFill>
          </a:ln>
        </p:spPr>
        <p:txBody>
          <a:bodyPr rtlCol="0" anchor="ctr"/>
          <a:lstStyle/>
          <a:p>
            <a:pPr algn="ctr"/>
          </a:p>
        </p:txBody>
      </p:sp>
      <p:sp>
        <p:nvSpPr>
          <p:cNvPr id="42" name="Oval 41"/>
          <p:cNvSpPr/>
          <p:nvPr/>
        </p:nvSpPr>
        <p:spPr>
          <a:xfrm>
            <a:off x="11036300" y="2432050"/>
            <a:ext cx="114300" cy="114300"/>
          </a:xfrm>
          <a:prstGeom prst="ellipse">
            <a:avLst/>
          </a:prstGeom>
          <a:solidFill>
            <a:srgbClr val="C9D5E3"/>
          </a:solidFill>
          <a:ln w="5080">
            <a:solidFill>
              <a:srgbClr val="1F3A5F"/>
            </a:solidFill>
          </a:ln>
        </p:spPr>
        <p:txBody>
          <a:bodyPr rtlCol="0" anchor="ctr"/>
          <a:lstStyle/>
          <a:p>
            <a:pPr algn="ctr"/>
          </a:p>
        </p:txBody>
      </p:sp>
      <p:sp>
        <p:nvSpPr>
          <p:cNvPr id="43" name="Oval 42"/>
          <p:cNvSpPr/>
          <p:nvPr/>
        </p:nvSpPr>
        <p:spPr>
          <a:xfrm>
            <a:off x="11207750" y="2432050"/>
            <a:ext cx="114300" cy="114300"/>
          </a:xfrm>
          <a:prstGeom prst="ellipse">
            <a:avLst/>
          </a:prstGeom>
          <a:solidFill>
            <a:srgbClr val="C9D5E3"/>
          </a:solidFill>
          <a:ln w="5080">
            <a:solidFill>
              <a:srgbClr val="1F3A5F"/>
            </a:solidFill>
          </a:ln>
        </p:spPr>
        <p:txBody>
          <a:bodyPr rtlCol="0" anchor="ctr"/>
          <a:lstStyle/>
          <a:p>
            <a:pPr algn="ctr"/>
          </a:p>
        </p:txBody>
      </p:sp>
      <p:sp>
        <p:nvSpPr>
          <p:cNvPr id="44" name="Oval 43"/>
          <p:cNvSpPr/>
          <p:nvPr/>
        </p:nvSpPr>
        <p:spPr>
          <a:xfrm>
            <a:off x="11379200" y="2432050"/>
            <a:ext cx="114300" cy="114300"/>
          </a:xfrm>
          <a:prstGeom prst="ellipse">
            <a:avLst/>
          </a:prstGeom>
          <a:solidFill>
            <a:srgbClr val="C9D5E3"/>
          </a:solidFill>
          <a:ln w="5080">
            <a:solidFill>
              <a:srgbClr val="1F3A5F"/>
            </a:solidFill>
          </a:ln>
        </p:spPr>
        <p:txBody>
          <a:bodyPr rtlCol="0" anchor="ctr"/>
          <a:lstStyle/>
          <a:p>
            <a:pPr algn="ctr"/>
          </a:p>
        </p:txBody>
      </p:sp>
      <p:sp>
        <p:nvSpPr>
          <p:cNvPr id="45" name="Oval 44"/>
          <p:cNvSpPr/>
          <p:nvPr/>
        </p:nvSpPr>
        <p:spPr>
          <a:xfrm>
            <a:off x="11550650" y="2432050"/>
            <a:ext cx="114300" cy="114300"/>
          </a:xfrm>
          <a:prstGeom prst="ellipse">
            <a:avLst/>
          </a:prstGeom>
          <a:solidFill>
            <a:srgbClr val="C9D5E3"/>
          </a:solidFill>
          <a:ln w="5080">
            <a:solidFill>
              <a:srgbClr val="1F3A5F"/>
            </a:solidFill>
          </a:ln>
        </p:spPr>
        <p:txBody>
          <a:bodyPr rtlCol="0" anchor="ctr"/>
          <a:lstStyle/>
          <a:p>
            <a:pPr algn="ctr"/>
          </a:p>
        </p:txBody>
      </p:sp>
      <p:sp>
        <p:nvSpPr>
          <p:cNvPr id="46" name="Oval 45"/>
          <p:cNvSpPr/>
          <p:nvPr/>
        </p:nvSpPr>
        <p:spPr>
          <a:xfrm>
            <a:off x="11722100" y="2432050"/>
            <a:ext cx="114300" cy="114300"/>
          </a:xfrm>
          <a:prstGeom prst="ellipse">
            <a:avLst/>
          </a:prstGeom>
          <a:solidFill>
            <a:srgbClr val="C9D5E3"/>
          </a:solidFill>
          <a:ln w="5080">
            <a:solidFill>
              <a:srgbClr val="1F3A5F"/>
            </a:solidFill>
          </a:ln>
        </p:spPr>
        <p:txBody>
          <a:bodyPr rtlCol="0" anchor="ctr"/>
          <a:lstStyle/>
          <a:p>
            <a:pPr algn="ctr"/>
          </a:p>
        </p:txBody>
      </p:sp>
      <p:sp>
        <p:nvSpPr>
          <p:cNvPr id="47" name="Oval 46"/>
          <p:cNvSpPr/>
          <p:nvPr/>
        </p:nvSpPr>
        <p:spPr>
          <a:xfrm>
            <a:off x="8464550" y="2603500"/>
            <a:ext cx="114300" cy="114300"/>
          </a:xfrm>
          <a:prstGeom prst="ellipse">
            <a:avLst/>
          </a:prstGeom>
          <a:solidFill>
            <a:srgbClr val="C9D5E3"/>
          </a:solidFill>
          <a:ln w="5080">
            <a:solidFill>
              <a:srgbClr val="1F3A5F"/>
            </a:solidFill>
          </a:ln>
        </p:spPr>
        <p:txBody>
          <a:bodyPr rtlCol="0" anchor="ctr"/>
          <a:lstStyle/>
          <a:p>
            <a:pPr algn="ctr"/>
          </a:p>
        </p:txBody>
      </p:sp>
      <p:sp>
        <p:nvSpPr>
          <p:cNvPr id="48" name="Oval 47"/>
          <p:cNvSpPr/>
          <p:nvPr/>
        </p:nvSpPr>
        <p:spPr>
          <a:xfrm>
            <a:off x="8636000" y="2603500"/>
            <a:ext cx="114300" cy="114300"/>
          </a:xfrm>
          <a:prstGeom prst="ellipse">
            <a:avLst/>
          </a:prstGeom>
          <a:solidFill>
            <a:srgbClr val="C9D5E3"/>
          </a:solidFill>
          <a:ln w="5080">
            <a:solidFill>
              <a:srgbClr val="1F3A5F"/>
            </a:solidFill>
          </a:ln>
        </p:spPr>
        <p:txBody>
          <a:bodyPr rtlCol="0" anchor="ctr"/>
          <a:lstStyle/>
          <a:p>
            <a:pPr algn="ctr"/>
          </a:p>
        </p:txBody>
      </p:sp>
      <p:sp>
        <p:nvSpPr>
          <p:cNvPr id="49" name="Oval 48"/>
          <p:cNvSpPr/>
          <p:nvPr/>
        </p:nvSpPr>
        <p:spPr>
          <a:xfrm>
            <a:off x="8807450" y="2603500"/>
            <a:ext cx="114300" cy="114300"/>
          </a:xfrm>
          <a:prstGeom prst="ellipse">
            <a:avLst/>
          </a:prstGeom>
          <a:solidFill>
            <a:srgbClr val="C9D5E3"/>
          </a:solidFill>
          <a:ln w="5080">
            <a:solidFill>
              <a:srgbClr val="1F3A5F"/>
            </a:solidFill>
          </a:ln>
        </p:spPr>
        <p:txBody>
          <a:bodyPr rtlCol="0" anchor="ctr"/>
          <a:lstStyle/>
          <a:p>
            <a:pPr algn="ctr"/>
          </a:p>
        </p:txBody>
      </p:sp>
      <p:sp>
        <p:nvSpPr>
          <p:cNvPr id="50" name="Oval 49"/>
          <p:cNvSpPr/>
          <p:nvPr/>
        </p:nvSpPr>
        <p:spPr>
          <a:xfrm>
            <a:off x="8978900" y="2603500"/>
            <a:ext cx="114300" cy="114300"/>
          </a:xfrm>
          <a:prstGeom prst="ellipse">
            <a:avLst/>
          </a:prstGeom>
          <a:solidFill>
            <a:srgbClr val="C9D5E3"/>
          </a:solidFill>
          <a:ln w="5080">
            <a:solidFill>
              <a:srgbClr val="1F3A5F"/>
            </a:solidFill>
          </a:ln>
        </p:spPr>
        <p:txBody>
          <a:bodyPr rtlCol="0" anchor="ctr"/>
          <a:lstStyle/>
          <a:p>
            <a:pPr algn="ctr"/>
          </a:p>
        </p:txBody>
      </p:sp>
      <p:sp>
        <p:nvSpPr>
          <p:cNvPr id="51" name="Oval 50"/>
          <p:cNvSpPr/>
          <p:nvPr/>
        </p:nvSpPr>
        <p:spPr>
          <a:xfrm>
            <a:off x="9150350" y="2603500"/>
            <a:ext cx="114300" cy="114300"/>
          </a:xfrm>
          <a:prstGeom prst="ellipse">
            <a:avLst/>
          </a:prstGeom>
          <a:solidFill>
            <a:srgbClr val="C9D5E3"/>
          </a:solidFill>
          <a:ln w="5080">
            <a:solidFill>
              <a:srgbClr val="1F3A5F"/>
            </a:solidFill>
          </a:ln>
        </p:spPr>
        <p:txBody>
          <a:bodyPr rtlCol="0" anchor="ctr"/>
          <a:lstStyle/>
          <a:p>
            <a:pPr algn="ctr"/>
          </a:p>
        </p:txBody>
      </p:sp>
      <p:sp>
        <p:nvSpPr>
          <p:cNvPr id="52" name="Oval 51"/>
          <p:cNvSpPr/>
          <p:nvPr/>
        </p:nvSpPr>
        <p:spPr>
          <a:xfrm>
            <a:off x="9321800" y="2603500"/>
            <a:ext cx="114300" cy="114300"/>
          </a:xfrm>
          <a:prstGeom prst="ellipse">
            <a:avLst/>
          </a:prstGeom>
          <a:solidFill>
            <a:srgbClr val="C9D5E3"/>
          </a:solidFill>
          <a:ln w="5080">
            <a:solidFill>
              <a:srgbClr val="1F3A5F"/>
            </a:solidFill>
          </a:ln>
        </p:spPr>
        <p:txBody>
          <a:bodyPr rtlCol="0" anchor="ctr"/>
          <a:lstStyle/>
          <a:p>
            <a:pPr algn="ctr"/>
          </a:p>
        </p:txBody>
      </p:sp>
      <p:sp>
        <p:nvSpPr>
          <p:cNvPr id="53" name="Oval 52"/>
          <p:cNvSpPr/>
          <p:nvPr/>
        </p:nvSpPr>
        <p:spPr>
          <a:xfrm>
            <a:off x="9493250" y="2603500"/>
            <a:ext cx="114300" cy="114300"/>
          </a:xfrm>
          <a:prstGeom prst="ellipse">
            <a:avLst/>
          </a:prstGeom>
          <a:solidFill>
            <a:srgbClr val="C9D5E3"/>
          </a:solidFill>
          <a:ln w="5080">
            <a:solidFill>
              <a:srgbClr val="1F3A5F"/>
            </a:solidFill>
          </a:ln>
        </p:spPr>
        <p:txBody>
          <a:bodyPr rtlCol="0" anchor="ctr"/>
          <a:lstStyle/>
          <a:p>
            <a:pPr algn="ctr"/>
          </a:p>
        </p:txBody>
      </p:sp>
      <p:sp>
        <p:nvSpPr>
          <p:cNvPr id="54" name="Oval 53"/>
          <p:cNvSpPr/>
          <p:nvPr/>
        </p:nvSpPr>
        <p:spPr>
          <a:xfrm>
            <a:off x="9664700" y="2603500"/>
            <a:ext cx="114300" cy="114300"/>
          </a:xfrm>
          <a:prstGeom prst="ellipse">
            <a:avLst/>
          </a:prstGeom>
          <a:solidFill>
            <a:srgbClr val="C9D5E3"/>
          </a:solidFill>
          <a:ln w="5080">
            <a:solidFill>
              <a:srgbClr val="1F3A5F"/>
            </a:solidFill>
          </a:ln>
        </p:spPr>
        <p:txBody>
          <a:bodyPr rtlCol="0" anchor="ctr"/>
          <a:lstStyle/>
          <a:p>
            <a:pPr algn="ctr"/>
          </a:p>
        </p:txBody>
      </p:sp>
      <p:sp>
        <p:nvSpPr>
          <p:cNvPr id="55" name="Oval 54"/>
          <p:cNvSpPr/>
          <p:nvPr/>
        </p:nvSpPr>
        <p:spPr>
          <a:xfrm>
            <a:off x="9836150" y="2603500"/>
            <a:ext cx="114300" cy="114300"/>
          </a:xfrm>
          <a:prstGeom prst="ellipse">
            <a:avLst/>
          </a:prstGeom>
          <a:solidFill>
            <a:srgbClr val="C9D5E3"/>
          </a:solidFill>
          <a:ln w="5080">
            <a:solidFill>
              <a:srgbClr val="1F3A5F"/>
            </a:solidFill>
          </a:ln>
        </p:spPr>
        <p:txBody>
          <a:bodyPr rtlCol="0" anchor="ctr"/>
          <a:lstStyle/>
          <a:p>
            <a:pPr algn="ctr"/>
          </a:p>
        </p:txBody>
      </p:sp>
      <p:sp>
        <p:nvSpPr>
          <p:cNvPr id="56" name="Oval 55"/>
          <p:cNvSpPr/>
          <p:nvPr/>
        </p:nvSpPr>
        <p:spPr>
          <a:xfrm>
            <a:off x="10007600" y="2603500"/>
            <a:ext cx="114300" cy="114300"/>
          </a:xfrm>
          <a:prstGeom prst="ellipse">
            <a:avLst/>
          </a:prstGeom>
          <a:solidFill>
            <a:srgbClr val="C9D5E3"/>
          </a:solidFill>
          <a:ln w="5080">
            <a:solidFill>
              <a:srgbClr val="1F3A5F"/>
            </a:solidFill>
          </a:ln>
        </p:spPr>
        <p:txBody>
          <a:bodyPr rtlCol="0" anchor="ctr"/>
          <a:lstStyle/>
          <a:p>
            <a:pPr algn="ctr"/>
          </a:p>
        </p:txBody>
      </p:sp>
      <p:sp>
        <p:nvSpPr>
          <p:cNvPr id="57" name="Oval 56"/>
          <p:cNvSpPr/>
          <p:nvPr/>
        </p:nvSpPr>
        <p:spPr>
          <a:xfrm>
            <a:off x="10179050" y="2603500"/>
            <a:ext cx="114300" cy="114300"/>
          </a:xfrm>
          <a:prstGeom prst="ellipse">
            <a:avLst/>
          </a:prstGeom>
          <a:solidFill>
            <a:srgbClr val="C9D5E3"/>
          </a:solidFill>
          <a:ln w="5080">
            <a:solidFill>
              <a:srgbClr val="1F3A5F"/>
            </a:solidFill>
          </a:ln>
        </p:spPr>
        <p:txBody>
          <a:bodyPr rtlCol="0" anchor="ctr"/>
          <a:lstStyle/>
          <a:p>
            <a:pPr algn="ctr"/>
          </a:p>
        </p:txBody>
      </p:sp>
      <p:sp>
        <p:nvSpPr>
          <p:cNvPr id="58" name="Oval 57"/>
          <p:cNvSpPr/>
          <p:nvPr/>
        </p:nvSpPr>
        <p:spPr>
          <a:xfrm>
            <a:off x="10350500" y="2603500"/>
            <a:ext cx="114300" cy="114300"/>
          </a:xfrm>
          <a:prstGeom prst="ellipse">
            <a:avLst/>
          </a:prstGeom>
          <a:solidFill>
            <a:srgbClr val="C9D5E3"/>
          </a:solidFill>
          <a:ln w="5080">
            <a:solidFill>
              <a:srgbClr val="1F3A5F"/>
            </a:solidFill>
          </a:ln>
        </p:spPr>
        <p:txBody>
          <a:bodyPr rtlCol="0" anchor="ctr"/>
          <a:lstStyle/>
          <a:p>
            <a:pPr algn="ctr"/>
          </a:p>
        </p:txBody>
      </p:sp>
      <p:sp>
        <p:nvSpPr>
          <p:cNvPr id="59" name="Oval 58"/>
          <p:cNvSpPr/>
          <p:nvPr/>
        </p:nvSpPr>
        <p:spPr>
          <a:xfrm>
            <a:off x="10521950" y="2603500"/>
            <a:ext cx="114300" cy="114300"/>
          </a:xfrm>
          <a:prstGeom prst="ellipse">
            <a:avLst/>
          </a:prstGeom>
          <a:solidFill>
            <a:srgbClr val="C9D5E3"/>
          </a:solidFill>
          <a:ln w="5080">
            <a:solidFill>
              <a:srgbClr val="1F3A5F"/>
            </a:solidFill>
          </a:ln>
        </p:spPr>
        <p:txBody>
          <a:bodyPr rtlCol="0" anchor="ctr"/>
          <a:lstStyle/>
          <a:p>
            <a:pPr algn="ctr"/>
          </a:p>
        </p:txBody>
      </p:sp>
      <p:sp>
        <p:nvSpPr>
          <p:cNvPr id="60" name="Oval 59"/>
          <p:cNvSpPr/>
          <p:nvPr/>
        </p:nvSpPr>
        <p:spPr>
          <a:xfrm>
            <a:off x="10693400" y="2603500"/>
            <a:ext cx="114300" cy="114300"/>
          </a:xfrm>
          <a:prstGeom prst="ellipse">
            <a:avLst/>
          </a:prstGeom>
          <a:solidFill>
            <a:srgbClr val="C9D5E3"/>
          </a:solidFill>
          <a:ln w="5080">
            <a:solidFill>
              <a:srgbClr val="1F3A5F"/>
            </a:solidFill>
          </a:ln>
        </p:spPr>
        <p:txBody>
          <a:bodyPr rtlCol="0" anchor="ctr"/>
          <a:lstStyle/>
          <a:p>
            <a:pPr algn="ctr"/>
          </a:p>
        </p:txBody>
      </p:sp>
      <p:sp>
        <p:nvSpPr>
          <p:cNvPr id="61" name="Oval 60"/>
          <p:cNvSpPr/>
          <p:nvPr/>
        </p:nvSpPr>
        <p:spPr>
          <a:xfrm>
            <a:off x="10864850" y="2603500"/>
            <a:ext cx="114300" cy="114300"/>
          </a:xfrm>
          <a:prstGeom prst="ellipse">
            <a:avLst/>
          </a:prstGeom>
          <a:solidFill>
            <a:srgbClr val="C9D5E3"/>
          </a:solidFill>
          <a:ln w="5080">
            <a:solidFill>
              <a:srgbClr val="1F3A5F"/>
            </a:solidFill>
          </a:ln>
        </p:spPr>
        <p:txBody>
          <a:bodyPr rtlCol="0" anchor="ctr"/>
          <a:lstStyle/>
          <a:p>
            <a:pPr algn="ctr"/>
          </a:p>
        </p:txBody>
      </p:sp>
      <p:sp>
        <p:nvSpPr>
          <p:cNvPr id="62" name="Oval 61"/>
          <p:cNvSpPr/>
          <p:nvPr/>
        </p:nvSpPr>
        <p:spPr>
          <a:xfrm>
            <a:off x="11036300" y="2603500"/>
            <a:ext cx="114300" cy="114300"/>
          </a:xfrm>
          <a:prstGeom prst="ellipse">
            <a:avLst/>
          </a:prstGeom>
          <a:solidFill>
            <a:srgbClr val="C9D5E3"/>
          </a:solidFill>
          <a:ln w="5080">
            <a:solidFill>
              <a:srgbClr val="1F3A5F"/>
            </a:solidFill>
          </a:ln>
        </p:spPr>
        <p:txBody>
          <a:bodyPr rtlCol="0" anchor="ctr"/>
          <a:lstStyle/>
          <a:p>
            <a:pPr algn="ctr"/>
          </a:p>
        </p:txBody>
      </p:sp>
      <p:sp>
        <p:nvSpPr>
          <p:cNvPr id="63" name="Oval 62"/>
          <p:cNvSpPr/>
          <p:nvPr/>
        </p:nvSpPr>
        <p:spPr>
          <a:xfrm>
            <a:off x="11207750" y="2603500"/>
            <a:ext cx="114300" cy="114300"/>
          </a:xfrm>
          <a:prstGeom prst="ellipse">
            <a:avLst/>
          </a:prstGeom>
          <a:solidFill>
            <a:srgbClr val="C9D5E3"/>
          </a:solidFill>
          <a:ln w="5080">
            <a:solidFill>
              <a:srgbClr val="1F3A5F"/>
            </a:solidFill>
          </a:ln>
        </p:spPr>
        <p:txBody>
          <a:bodyPr rtlCol="0" anchor="ctr"/>
          <a:lstStyle/>
          <a:p>
            <a:pPr algn="ctr"/>
          </a:p>
        </p:txBody>
      </p:sp>
      <p:sp>
        <p:nvSpPr>
          <p:cNvPr id="64" name="Oval 63"/>
          <p:cNvSpPr/>
          <p:nvPr/>
        </p:nvSpPr>
        <p:spPr>
          <a:xfrm>
            <a:off x="11379200" y="2603500"/>
            <a:ext cx="114300" cy="114300"/>
          </a:xfrm>
          <a:prstGeom prst="ellipse">
            <a:avLst/>
          </a:prstGeom>
          <a:solidFill>
            <a:srgbClr val="C9D5E3"/>
          </a:solidFill>
          <a:ln w="5080">
            <a:solidFill>
              <a:srgbClr val="1F3A5F"/>
            </a:solidFill>
          </a:ln>
        </p:spPr>
        <p:txBody>
          <a:bodyPr rtlCol="0" anchor="ctr"/>
          <a:lstStyle/>
          <a:p>
            <a:pPr algn="ctr"/>
          </a:p>
        </p:txBody>
      </p:sp>
      <p:sp>
        <p:nvSpPr>
          <p:cNvPr id="65" name="Oval 64"/>
          <p:cNvSpPr/>
          <p:nvPr/>
        </p:nvSpPr>
        <p:spPr>
          <a:xfrm>
            <a:off x="11550650" y="2603500"/>
            <a:ext cx="114300" cy="114300"/>
          </a:xfrm>
          <a:prstGeom prst="ellipse">
            <a:avLst/>
          </a:prstGeom>
          <a:solidFill>
            <a:srgbClr val="C9D5E3"/>
          </a:solidFill>
          <a:ln w="5080">
            <a:solidFill>
              <a:srgbClr val="1F3A5F"/>
            </a:solidFill>
          </a:ln>
        </p:spPr>
        <p:txBody>
          <a:bodyPr rtlCol="0" anchor="ctr"/>
          <a:lstStyle/>
          <a:p>
            <a:pPr algn="ctr"/>
          </a:p>
        </p:txBody>
      </p:sp>
      <p:sp>
        <p:nvSpPr>
          <p:cNvPr id="66" name="Oval 65"/>
          <p:cNvSpPr/>
          <p:nvPr/>
        </p:nvSpPr>
        <p:spPr>
          <a:xfrm>
            <a:off x="11722100" y="2603500"/>
            <a:ext cx="114300" cy="114300"/>
          </a:xfrm>
          <a:prstGeom prst="ellipse">
            <a:avLst/>
          </a:prstGeom>
          <a:solidFill>
            <a:srgbClr val="C9D5E3"/>
          </a:solidFill>
          <a:ln w="5080">
            <a:solidFill>
              <a:srgbClr val="1F3A5F"/>
            </a:solidFill>
          </a:ln>
        </p:spPr>
        <p:txBody>
          <a:bodyPr rtlCol="0" anchor="ctr"/>
          <a:lstStyle/>
          <a:p>
            <a:pPr algn="ctr"/>
          </a:p>
        </p:txBody>
      </p:sp>
      <p:sp>
        <p:nvSpPr>
          <p:cNvPr id="67" name="Oval 66"/>
          <p:cNvSpPr/>
          <p:nvPr/>
        </p:nvSpPr>
        <p:spPr>
          <a:xfrm>
            <a:off x="8464550" y="2774950"/>
            <a:ext cx="114300" cy="114300"/>
          </a:xfrm>
          <a:prstGeom prst="ellipse">
            <a:avLst/>
          </a:prstGeom>
          <a:solidFill>
            <a:srgbClr val="C9D5E3"/>
          </a:solidFill>
          <a:ln w="5080">
            <a:solidFill>
              <a:srgbClr val="1F3A5F"/>
            </a:solidFill>
          </a:ln>
        </p:spPr>
        <p:txBody>
          <a:bodyPr rtlCol="0" anchor="ctr"/>
          <a:lstStyle/>
          <a:p>
            <a:pPr algn="ctr"/>
          </a:p>
        </p:txBody>
      </p:sp>
      <p:sp>
        <p:nvSpPr>
          <p:cNvPr id="68" name="Oval 67"/>
          <p:cNvSpPr/>
          <p:nvPr/>
        </p:nvSpPr>
        <p:spPr>
          <a:xfrm>
            <a:off x="8636000" y="2774950"/>
            <a:ext cx="114300" cy="114300"/>
          </a:xfrm>
          <a:prstGeom prst="ellipse">
            <a:avLst/>
          </a:prstGeom>
          <a:solidFill>
            <a:srgbClr val="C9D5E3"/>
          </a:solidFill>
          <a:ln w="5080">
            <a:solidFill>
              <a:srgbClr val="1F3A5F"/>
            </a:solidFill>
          </a:ln>
        </p:spPr>
        <p:txBody>
          <a:bodyPr rtlCol="0" anchor="ctr"/>
          <a:lstStyle/>
          <a:p>
            <a:pPr algn="ctr"/>
          </a:p>
        </p:txBody>
      </p:sp>
      <p:sp>
        <p:nvSpPr>
          <p:cNvPr id="69" name="Oval 68"/>
          <p:cNvSpPr/>
          <p:nvPr/>
        </p:nvSpPr>
        <p:spPr>
          <a:xfrm>
            <a:off x="8807450" y="2774950"/>
            <a:ext cx="114300" cy="114300"/>
          </a:xfrm>
          <a:prstGeom prst="ellipse">
            <a:avLst/>
          </a:prstGeom>
          <a:solidFill>
            <a:srgbClr val="C9D5E3"/>
          </a:solidFill>
          <a:ln w="5080">
            <a:solidFill>
              <a:srgbClr val="1F3A5F"/>
            </a:solidFill>
          </a:ln>
        </p:spPr>
        <p:txBody>
          <a:bodyPr rtlCol="0" anchor="ctr"/>
          <a:lstStyle/>
          <a:p>
            <a:pPr algn="ctr"/>
          </a:p>
        </p:txBody>
      </p:sp>
      <p:sp>
        <p:nvSpPr>
          <p:cNvPr id="70" name="Oval 69"/>
          <p:cNvSpPr/>
          <p:nvPr/>
        </p:nvSpPr>
        <p:spPr>
          <a:xfrm>
            <a:off x="8978900" y="2774950"/>
            <a:ext cx="114300" cy="114300"/>
          </a:xfrm>
          <a:prstGeom prst="ellipse">
            <a:avLst/>
          </a:prstGeom>
          <a:solidFill>
            <a:srgbClr val="C9D5E3"/>
          </a:solidFill>
          <a:ln w="5080">
            <a:solidFill>
              <a:srgbClr val="1F3A5F"/>
            </a:solidFill>
          </a:ln>
        </p:spPr>
        <p:txBody>
          <a:bodyPr rtlCol="0" anchor="ctr"/>
          <a:lstStyle/>
          <a:p>
            <a:pPr algn="ctr"/>
          </a:p>
        </p:txBody>
      </p:sp>
      <p:sp>
        <p:nvSpPr>
          <p:cNvPr id="71" name="Oval 70"/>
          <p:cNvSpPr/>
          <p:nvPr/>
        </p:nvSpPr>
        <p:spPr>
          <a:xfrm>
            <a:off x="9150350" y="2774950"/>
            <a:ext cx="114300" cy="114300"/>
          </a:xfrm>
          <a:prstGeom prst="ellipse">
            <a:avLst/>
          </a:prstGeom>
          <a:solidFill>
            <a:srgbClr val="C9D5E3"/>
          </a:solidFill>
          <a:ln w="5080">
            <a:solidFill>
              <a:srgbClr val="1F3A5F"/>
            </a:solidFill>
          </a:ln>
        </p:spPr>
        <p:txBody>
          <a:bodyPr rtlCol="0" anchor="ctr"/>
          <a:lstStyle/>
          <a:p>
            <a:pPr algn="ctr"/>
          </a:p>
        </p:txBody>
      </p:sp>
      <p:sp>
        <p:nvSpPr>
          <p:cNvPr id="72" name="Oval 71"/>
          <p:cNvSpPr/>
          <p:nvPr/>
        </p:nvSpPr>
        <p:spPr>
          <a:xfrm>
            <a:off x="9321800" y="2774950"/>
            <a:ext cx="114300" cy="114300"/>
          </a:xfrm>
          <a:prstGeom prst="ellipse">
            <a:avLst/>
          </a:prstGeom>
          <a:solidFill>
            <a:srgbClr val="C9D5E3"/>
          </a:solidFill>
          <a:ln w="5080">
            <a:solidFill>
              <a:srgbClr val="1F3A5F"/>
            </a:solidFill>
          </a:ln>
        </p:spPr>
        <p:txBody>
          <a:bodyPr rtlCol="0" anchor="ctr"/>
          <a:lstStyle/>
          <a:p>
            <a:pPr algn="ctr"/>
          </a:p>
        </p:txBody>
      </p:sp>
      <p:sp>
        <p:nvSpPr>
          <p:cNvPr id="73" name="Oval 72"/>
          <p:cNvSpPr/>
          <p:nvPr/>
        </p:nvSpPr>
        <p:spPr>
          <a:xfrm>
            <a:off x="9493250" y="2774950"/>
            <a:ext cx="114300" cy="114300"/>
          </a:xfrm>
          <a:prstGeom prst="ellipse">
            <a:avLst/>
          </a:prstGeom>
          <a:solidFill>
            <a:srgbClr val="C9D5E3"/>
          </a:solidFill>
          <a:ln w="5080">
            <a:solidFill>
              <a:srgbClr val="1F3A5F"/>
            </a:solidFill>
          </a:ln>
        </p:spPr>
        <p:txBody>
          <a:bodyPr rtlCol="0" anchor="ctr"/>
          <a:lstStyle/>
          <a:p>
            <a:pPr algn="ctr"/>
          </a:p>
        </p:txBody>
      </p:sp>
      <p:sp>
        <p:nvSpPr>
          <p:cNvPr id="74" name="Oval 73"/>
          <p:cNvSpPr/>
          <p:nvPr/>
        </p:nvSpPr>
        <p:spPr>
          <a:xfrm>
            <a:off x="9664700" y="2774950"/>
            <a:ext cx="114300" cy="114300"/>
          </a:xfrm>
          <a:prstGeom prst="ellipse">
            <a:avLst/>
          </a:prstGeom>
          <a:solidFill>
            <a:srgbClr val="C9D5E3"/>
          </a:solidFill>
          <a:ln w="5080">
            <a:solidFill>
              <a:srgbClr val="1F3A5F"/>
            </a:solidFill>
          </a:ln>
        </p:spPr>
        <p:txBody>
          <a:bodyPr rtlCol="0" anchor="ctr"/>
          <a:lstStyle/>
          <a:p>
            <a:pPr algn="ctr"/>
          </a:p>
        </p:txBody>
      </p:sp>
      <p:sp>
        <p:nvSpPr>
          <p:cNvPr id="75" name="Oval 74"/>
          <p:cNvSpPr/>
          <p:nvPr/>
        </p:nvSpPr>
        <p:spPr>
          <a:xfrm>
            <a:off x="9836150" y="2774950"/>
            <a:ext cx="114300" cy="114300"/>
          </a:xfrm>
          <a:prstGeom prst="ellipse">
            <a:avLst/>
          </a:prstGeom>
          <a:solidFill>
            <a:srgbClr val="C9D5E3"/>
          </a:solidFill>
          <a:ln w="5080">
            <a:solidFill>
              <a:srgbClr val="1F3A5F"/>
            </a:solidFill>
          </a:ln>
        </p:spPr>
        <p:txBody>
          <a:bodyPr rtlCol="0" anchor="ctr"/>
          <a:lstStyle/>
          <a:p>
            <a:pPr algn="ctr"/>
          </a:p>
        </p:txBody>
      </p:sp>
      <p:sp>
        <p:nvSpPr>
          <p:cNvPr id="76" name="Oval 75"/>
          <p:cNvSpPr/>
          <p:nvPr/>
        </p:nvSpPr>
        <p:spPr>
          <a:xfrm>
            <a:off x="10007600" y="2774950"/>
            <a:ext cx="114300" cy="114300"/>
          </a:xfrm>
          <a:prstGeom prst="ellipse">
            <a:avLst/>
          </a:prstGeom>
          <a:solidFill>
            <a:srgbClr val="C9D5E3"/>
          </a:solidFill>
          <a:ln w="5080">
            <a:solidFill>
              <a:srgbClr val="1F3A5F"/>
            </a:solidFill>
          </a:ln>
        </p:spPr>
        <p:txBody>
          <a:bodyPr rtlCol="0" anchor="ctr"/>
          <a:lstStyle/>
          <a:p>
            <a:pPr algn="ctr"/>
          </a:p>
        </p:txBody>
      </p:sp>
      <p:sp>
        <p:nvSpPr>
          <p:cNvPr id="77" name="Oval 76"/>
          <p:cNvSpPr/>
          <p:nvPr/>
        </p:nvSpPr>
        <p:spPr>
          <a:xfrm>
            <a:off x="10179050" y="2774950"/>
            <a:ext cx="114300" cy="114300"/>
          </a:xfrm>
          <a:prstGeom prst="ellipse">
            <a:avLst/>
          </a:prstGeom>
          <a:solidFill>
            <a:srgbClr val="C9D5E3"/>
          </a:solidFill>
          <a:ln w="5080">
            <a:solidFill>
              <a:srgbClr val="1F3A5F"/>
            </a:solidFill>
          </a:ln>
        </p:spPr>
        <p:txBody>
          <a:bodyPr rtlCol="0" anchor="ctr"/>
          <a:lstStyle/>
          <a:p>
            <a:pPr algn="ctr"/>
          </a:p>
        </p:txBody>
      </p:sp>
      <p:sp>
        <p:nvSpPr>
          <p:cNvPr id="78" name="Oval 77"/>
          <p:cNvSpPr/>
          <p:nvPr/>
        </p:nvSpPr>
        <p:spPr>
          <a:xfrm>
            <a:off x="10350500" y="2774950"/>
            <a:ext cx="114300" cy="114300"/>
          </a:xfrm>
          <a:prstGeom prst="ellipse">
            <a:avLst/>
          </a:prstGeom>
          <a:solidFill>
            <a:srgbClr val="C9D5E3"/>
          </a:solidFill>
          <a:ln w="5080">
            <a:solidFill>
              <a:srgbClr val="1F3A5F"/>
            </a:solidFill>
          </a:ln>
        </p:spPr>
        <p:txBody>
          <a:bodyPr rtlCol="0" anchor="ctr"/>
          <a:lstStyle/>
          <a:p>
            <a:pPr algn="ctr"/>
          </a:p>
        </p:txBody>
      </p:sp>
      <p:sp>
        <p:nvSpPr>
          <p:cNvPr id="79" name="Oval 78"/>
          <p:cNvSpPr/>
          <p:nvPr/>
        </p:nvSpPr>
        <p:spPr>
          <a:xfrm>
            <a:off x="10521950" y="2774950"/>
            <a:ext cx="114300" cy="114300"/>
          </a:xfrm>
          <a:prstGeom prst="ellipse">
            <a:avLst/>
          </a:prstGeom>
          <a:solidFill>
            <a:srgbClr val="C9D5E3"/>
          </a:solidFill>
          <a:ln w="5080">
            <a:solidFill>
              <a:srgbClr val="1F3A5F"/>
            </a:solidFill>
          </a:ln>
        </p:spPr>
        <p:txBody>
          <a:bodyPr rtlCol="0" anchor="ctr"/>
          <a:lstStyle/>
          <a:p>
            <a:pPr algn="ctr"/>
          </a:p>
        </p:txBody>
      </p:sp>
      <p:sp>
        <p:nvSpPr>
          <p:cNvPr id="80" name="Oval 79"/>
          <p:cNvSpPr/>
          <p:nvPr/>
        </p:nvSpPr>
        <p:spPr>
          <a:xfrm>
            <a:off x="10693400" y="2774950"/>
            <a:ext cx="114300" cy="114300"/>
          </a:xfrm>
          <a:prstGeom prst="ellipse">
            <a:avLst/>
          </a:prstGeom>
          <a:solidFill>
            <a:srgbClr val="C9D5E3"/>
          </a:solidFill>
          <a:ln w="5080">
            <a:solidFill>
              <a:srgbClr val="1F3A5F"/>
            </a:solidFill>
          </a:ln>
        </p:spPr>
        <p:txBody>
          <a:bodyPr rtlCol="0" anchor="ctr"/>
          <a:lstStyle/>
          <a:p>
            <a:pPr algn="ctr"/>
          </a:p>
        </p:txBody>
      </p:sp>
      <p:sp>
        <p:nvSpPr>
          <p:cNvPr id="81" name="Oval 80"/>
          <p:cNvSpPr/>
          <p:nvPr/>
        </p:nvSpPr>
        <p:spPr>
          <a:xfrm>
            <a:off x="10864850" y="2774950"/>
            <a:ext cx="114300" cy="114300"/>
          </a:xfrm>
          <a:prstGeom prst="ellipse">
            <a:avLst/>
          </a:prstGeom>
          <a:solidFill>
            <a:srgbClr val="C9D5E3"/>
          </a:solidFill>
          <a:ln w="5080">
            <a:solidFill>
              <a:srgbClr val="1F3A5F"/>
            </a:solidFill>
          </a:ln>
        </p:spPr>
        <p:txBody>
          <a:bodyPr rtlCol="0" anchor="ctr"/>
          <a:lstStyle/>
          <a:p>
            <a:pPr algn="ctr"/>
          </a:p>
        </p:txBody>
      </p:sp>
      <p:sp>
        <p:nvSpPr>
          <p:cNvPr id="82" name="Oval 81"/>
          <p:cNvSpPr/>
          <p:nvPr/>
        </p:nvSpPr>
        <p:spPr>
          <a:xfrm>
            <a:off x="11036300" y="2774950"/>
            <a:ext cx="114300" cy="114300"/>
          </a:xfrm>
          <a:prstGeom prst="ellipse">
            <a:avLst/>
          </a:prstGeom>
          <a:solidFill>
            <a:srgbClr val="C9D5E3"/>
          </a:solidFill>
          <a:ln w="5080">
            <a:solidFill>
              <a:srgbClr val="1F3A5F"/>
            </a:solidFill>
          </a:ln>
        </p:spPr>
        <p:txBody>
          <a:bodyPr rtlCol="0" anchor="ctr"/>
          <a:lstStyle/>
          <a:p>
            <a:pPr algn="ctr"/>
          </a:p>
        </p:txBody>
      </p:sp>
      <p:sp>
        <p:nvSpPr>
          <p:cNvPr id="83" name="Oval 82"/>
          <p:cNvSpPr/>
          <p:nvPr/>
        </p:nvSpPr>
        <p:spPr>
          <a:xfrm>
            <a:off x="11207750" y="2774950"/>
            <a:ext cx="114300" cy="114300"/>
          </a:xfrm>
          <a:prstGeom prst="ellipse">
            <a:avLst/>
          </a:prstGeom>
          <a:solidFill>
            <a:srgbClr val="C9D5E3"/>
          </a:solidFill>
          <a:ln w="5080">
            <a:solidFill>
              <a:srgbClr val="1F3A5F"/>
            </a:solidFill>
          </a:ln>
        </p:spPr>
        <p:txBody>
          <a:bodyPr rtlCol="0" anchor="ctr"/>
          <a:lstStyle/>
          <a:p>
            <a:pPr algn="ctr"/>
          </a:p>
        </p:txBody>
      </p:sp>
      <p:sp>
        <p:nvSpPr>
          <p:cNvPr id="84" name="Oval 83"/>
          <p:cNvSpPr/>
          <p:nvPr/>
        </p:nvSpPr>
        <p:spPr>
          <a:xfrm>
            <a:off x="11379200" y="2774950"/>
            <a:ext cx="114300" cy="114300"/>
          </a:xfrm>
          <a:prstGeom prst="ellipse">
            <a:avLst/>
          </a:prstGeom>
          <a:solidFill>
            <a:srgbClr val="C9D5E3"/>
          </a:solidFill>
          <a:ln w="5080">
            <a:solidFill>
              <a:srgbClr val="1F3A5F"/>
            </a:solidFill>
          </a:ln>
        </p:spPr>
        <p:txBody>
          <a:bodyPr rtlCol="0" anchor="ctr"/>
          <a:lstStyle/>
          <a:p>
            <a:pPr algn="ctr"/>
          </a:p>
        </p:txBody>
      </p:sp>
      <p:sp>
        <p:nvSpPr>
          <p:cNvPr id="85" name="Oval 84"/>
          <p:cNvSpPr/>
          <p:nvPr/>
        </p:nvSpPr>
        <p:spPr>
          <a:xfrm>
            <a:off x="11550650" y="2774950"/>
            <a:ext cx="114300" cy="114300"/>
          </a:xfrm>
          <a:prstGeom prst="ellipse">
            <a:avLst/>
          </a:prstGeom>
          <a:solidFill>
            <a:srgbClr val="C9D5E3"/>
          </a:solidFill>
          <a:ln w="5080">
            <a:solidFill>
              <a:srgbClr val="1F3A5F"/>
            </a:solidFill>
          </a:ln>
        </p:spPr>
        <p:txBody>
          <a:bodyPr rtlCol="0" anchor="ctr"/>
          <a:lstStyle/>
          <a:p>
            <a:pPr algn="ctr"/>
          </a:p>
        </p:txBody>
      </p:sp>
      <p:sp>
        <p:nvSpPr>
          <p:cNvPr id="86" name="Oval 85"/>
          <p:cNvSpPr/>
          <p:nvPr/>
        </p:nvSpPr>
        <p:spPr>
          <a:xfrm>
            <a:off x="11722100" y="2774950"/>
            <a:ext cx="114300" cy="114300"/>
          </a:xfrm>
          <a:prstGeom prst="ellipse">
            <a:avLst/>
          </a:prstGeom>
          <a:solidFill>
            <a:srgbClr val="C9D5E3"/>
          </a:solidFill>
          <a:ln w="5080">
            <a:solidFill>
              <a:srgbClr val="1F3A5F"/>
            </a:solidFill>
          </a:ln>
        </p:spPr>
        <p:txBody>
          <a:bodyPr rtlCol="0" anchor="ctr"/>
          <a:lstStyle/>
          <a:p>
            <a:pPr algn="ctr"/>
          </a:p>
        </p:txBody>
      </p:sp>
      <p:sp>
        <p:nvSpPr>
          <p:cNvPr id="87" name="Oval 86"/>
          <p:cNvSpPr/>
          <p:nvPr/>
        </p:nvSpPr>
        <p:spPr>
          <a:xfrm>
            <a:off x="8464550" y="2946400"/>
            <a:ext cx="114300" cy="114300"/>
          </a:xfrm>
          <a:prstGeom prst="ellipse">
            <a:avLst/>
          </a:prstGeom>
          <a:solidFill>
            <a:srgbClr val="C9D5E3"/>
          </a:solidFill>
          <a:ln w="5080">
            <a:solidFill>
              <a:srgbClr val="1F3A5F"/>
            </a:solidFill>
          </a:ln>
        </p:spPr>
        <p:txBody>
          <a:bodyPr rtlCol="0" anchor="ctr"/>
          <a:lstStyle/>
          <a:p>
            <a:pPr algn="ctr"/>
          </a:p>
        </p:txBody>
      </p:sp>
      <p:sp>
        <p:nvSpPr>
          <p:cNvPr id="88" name="Oval 87"/>
          <p:cNvSpPr/>
          <p:nvPr/>
        </p:nvSpPr>
        <p:spPr>
          <a:xfrm>
            <a:off x="8636000" y="2946400"/>
            <a:ext cx="114300" cy="114300"/>
          </a:xfrm>
          <a:prstGeom prst="ellipse">
            <a:avLst/>
          </a:prstGeom>
          <a:solidFill>
            <a:srgbClr val="C9D5E3"/>
          </a:solidFill>
          <a:ln w="5080">
            <a:solidFill>
              <a:srgbClr val="1F3A5F"/>
            </a:solidFill>
          </a:ln>
        </p:spPr>
        <p:txBody>
          <a:bodyPr rtlCol="0" anchor="ctr"/>
          <a:lstStyle/>
          <a:p>
            <a:pPr algn="ctr"/>
          </a:p>
        </p:txBody>
      </p:sp>
      <p:sp>
        <p:nvSpPr>
          <p:cNvPr id="89" name="Oval 88"/>
          <p:cNvSpPr/>
          <p:nvPr/>
        </p:nvSpPr>
        <p:spPr>
          <a:xfrm>
            <a:off x="8807450" y="2946400"/>
            <a:ext cx="114300" cy="114300"/>
          </a:xfrm>
          <a:prstGeom prst="ellipse">
            <a:avLst/>
          </a:prstGeom>
          <a:solidFill>
            <a:srgbClr val="C9D5E3"/>
          </a:solidFill>
          <a:ln w="5080">
            <a:solidFill>
              <a:srgbClr val="1F3A5F"/>
            </a:solidFill>
          </a:ln>
        </p:spPr>
        <p:txBody>
          <a:bodyPr rtlCol="0" anchor="ctr"/>
          <a:lstStyle/>
          <a:p>
            <a:pPr algn="ctr"/>
          </a:p>
        </p:txBody>
      </p:sp>
      <p:sp>
        <p:nvSpPr>
          <p:cNvPr id="90" name="Oval 89"/>
          <p:cNvSpPr/>
          <p:nvPr/>
        </p:nvSpPr>
        <p:spPr>
          <a:xfrm>
            <a:off x="8978900" y="2946400"/>
            <a:ext cx="114300" cy="114300"/>
          </a:xfrm>
          <a:prstGeom prst="ellipse">
            <a:avLst/>
          </a:prstGeom>
          <a:solidFill>
            <a:srgbClr val="C9D5E3"/>
          </a:solidFill>
          <a:ln w="5080">
            <a:solidFill>
              <a:srgbClr val="1F3A5F"/>
            </a:solidFill>
          </a:ln>
        </p:spPr>
        <p:txBody>
          <a:bodyPr rtlCol="0" anchor="ctr"/>
          <a:lstStyle/>
          <a:p>
            <a:pPr algn="ctr"/>
          </a:p>
        </p:txBody>
      </p:sp>
      <p:sp>
        <p:nvSpPr>
          <p:cNvPr id="91" name="Oval 90"/>
          <p:cNvSpPr/>
          <p:nvPr/>
        </p:nvSpPr>
        <p:spPr>
          <a:xfrm>
            <a:off x="9150350" y="2946400"/>
            <a:ext cx="114300" cy="114300"/>
          </a:xfrm>
          <a:prstGeom prst="ellipse">
            <a:avLst/>
          </a:prstGeom>
          <a:solidFill>
            <a:srgbClr val="C9D5E3"/>
          </a:solidFill>
          <a:ln w="5080">
            <a:solidFill>
              <a:srgbClr val="1F3A5F"/>
            </a:solidFill>
          </a:ln>
        </p:spPr>
        <p:txBody>
          <a:bodyPr rtlCol="0" anchor="ctr"/>
          <a:lstStyle/>
          <a:p>
            <a:pPr algn="ctr"/>
          </a:p>
        </p:txBody>
      </p:sp>
      <p:sp>
        <p:nvSpPr>
          <p:cNvPr id="92" name="Oval 91"/>
          <p:cNvSpPr/>
          <p:nvPr/>
        </p:nvSpPr>
        <p:spPr>
          <a:xfrm>
            <a:off x="9321800" y="2946400"/>
            <a:ext cx="114300" cy="114300"/>
          </a:xfrm>
          <a:prstGeom prst="ellipse">
            <a:avLst/>
          </a:prstGeom>
          <a:solidFill>
            <a:srgbClr val="C9D5E3"/>
          </a:solidFill>
          <a:ln w="5080">
            <a:solidFill>
              <a:srgbClr val="1F3A5F"/>
            </a:solidFill>
          </a:ln>
        </p:spPr>
        <p:txBody>
          <a:bodyPr rtlCol="0" anchor="ctr"/>
          <a:lstStyle/>
          <a:p>
            <a:pPr algn="ctr"/>
          </a:p>
        </p:txBody>
      </p:sp>
      <p:sp>
        <p:nvSpPr>
          <p:cNvPr id="93" name="Oval 92"/>
          <p:cNvSpPr/>
          <p:nvPr/>
        </p:nvSpPr>
        <p:spPr>
          <a:xfrm>
            <a:off x="9493250" y="2946400"/>
            <a:ext cx="114300" cy="114300"/>
          </a:xfrm>
          <a:prstGeom prst="ellipse">
            <a:avLst/>
          </a:prstGeom>
          <a:solidFill>
            <a:srgbClr val="C9D5E3"/>
          </a:solidFill>
          <a:ln w="5080">
            <a:solidFill>
              <a:srgbClr val="1F3A5F"/>
            </a:solidFill>
          </a:ln>
        </p:spPr>
        <p:txBody>
          <a:bodyPr rtlCol="0" anchor="ctr"/>
          <a:lstStyle/>
          <a:p>
            <a:pPr algn="ctr"/>
          </a:p>
        </p:txBody>
      </p:sp>
      <p:sp>
        <p:nvSpPr>
          <p:cNvPr id="94" name="Oval 93"/>
          <p:cNvSpPr/>
          <p:nvPr/>
        </p:nvSpPr>
        <p:spPr>
          <a:xfrm>
            <a:off x="9664700" y="2946400"/>
            <a:ext cx="114300" cy="114300"/>
          </a:xfrm>
          <a:prstGeom prst="ellipse">
            <a:avLst/>
          </a:prstGeom>
          <a:solidFill>
            <a:srgbClr val="C9D5E3"/>
          </a:solidFill>
          <a:ln w="5080">
            <a:solidFill>
              <a:srgbClr val="1F3A5F"/>
            </a:solidFill>
          </a:ln>
        </p:spPr>
        <p:txBody>
          <a:bodyPr rtlCol="0" anchor="ctr"/>
          <a:lstStyle/>
          <a:p>
            <a:pPr algn="ctr"/>
          </a:p>
        </p:txBody>
      </p:sp>
      <p:sp>
        <p:nvSpPr>
          <p:cNvPr id="95" name="Oval 94"/>
          <p:cNvSpPr/>
          <p:nvPr/>
        </p:nvSpPr>
        <p:spPr>
          <a:xfrm>
            <a:off x="9836150" y="2946400"/>
            <a:ext cx="114300" cy="114300"/>
          </a:xfrm>
          <a:prstGeom prst="ellipse">
            <a:avLst/>
          </a:prstGeom>
          <a:solidFill>
            <a:srgbClr val="C9D5E3"/>
          </a:solidFill>
          <a:ln w="5080">
            <a:solidFill>
              <a:srgbClr val="1F3A5F"/>
            </a:solidFill>
          </a:ln>
        </p:spPr>
        <p:txBody>
          <a:bodyPr rtlCol="0" anchor="ctr"/>
          <a:lstStyle/>
          <a:p>
            <a:pPr algn="ctr"/>
          </a:p>
        </p:txBody>
      </p:sp>
      <p:sp>
        <p:nvSpPr>
          <p:cNvPr id="96" name="Oval 95"/>
          <p:cNvSpPr/>
          <p:nvPr/>
        </p:nvSpPr>
        <p:spPr>
          <a:xfrm>
            <a:off x="10007600" y="2946400"/>
            <a:ext cx="114300" cy="114300"/>
          </a:xfrm>
          <a:prstGeom prst="ellipse">
            <a:avLst/>
          </a:prstGeom>
          <a:solidFill>
            <a:srgbClr val="C9D5E3"/>
          </a:solidFill>
          <a:ln w="5080">
            <a:solidFill>
              <a:srgbClr val="1F3A5F"/>
            </a:solidFill>
          </a:ln>
        </p:spPr>
        <p:txBody>
          <a:bodyPr rtlCol="0" anchor="ctr"/>
          <a:lstStyle/>
          <a:p>
            <a:pPr algn="ctr"/>
          </a:p>
        </p:txBody>
      </p:sp>
      <p:sp>
        <p:nvSpPr>
          <p:cNvPr id="97" name="Oval 96"/>
          <p:cNvSpPr/>
          <p:nvPr/>
        </p:nvSpPr>
        <p:spPr>
          <a:xfrm>
            <a:off x="10179050" y="2946400"/>
            <a:ext cx="114300" cy="114300"/>
          </a:xfrm>
          <a:prstGeom prst="ellipse">
            <a:avLst/>
          </a:prstGeom>
          <a:solidFill>
            <a:srgbClr val="C9D5E3"/>
          </a:solidFill>
          <a:ln w="5080">
            <a:solidFill>
              <a:srgbClr val="1F3A5F"/>
            </a:solidFill>
          </a:ln>
        </p:spPr>
        <p:txBody>
          <a:bodyPr rtlCol="0" anchor="ctr"/>
          <a:lstStyle/>
          <a:p>
            <a:pPr algn="ctr"/>
          </a:p>
        </p:txBody>
      </p:sp>
      <p:sp>
        <p:nvSpPr>
          <p:cNvPr id="98" name="Oval 97"/>
          <p:cNvSpPr/>
          <p:nvPr/>
        </p:nvSpPr>
        <p:spPr>
          <a:xfrm>
            <a:off x="10350500" y="2946400"/>
            <a:ext cx="114300" cy="114300"/>
          </a:xfrm>
          <a:prstGeom prst="ellipse">
            <a:avLst/>
          </a:prstGeom>
          <a:solidFill>
            <a:srgbClr val="C9D5E3"/>
          </a:solidFill>
          <a:ln w="5080">
            <a:solidFill>
              <a:srgbClr val="1F3A5F"/>
            </a:solidFill>
          </a:ln>
        </p:spPr>
        <p:txBody>
          <a:bodyPr rtlCol="0" anchor="ctr"/>
          <a:lstStyle/>
          <a:p>
            <a:pPr algn="ctr"/>
          </a:p>
        </p:txBody>
      </p:sp>
      <p:sp>
        <p:nvSpPr>
          <p:cNvPr id="99" name="Oval 98"/>
          <p:cNvSpPr/>
          <p:nvPr/>
        </p:nvSpPr>
        <p:spPr>
          <a:xfrm>
            <a:off x="10521950" y="2946400"/>
            <a:ext cx="114300" cy="114300"/>
          </a:xfrm>
          <a:prstGeom prst="ellipse">
            <a:avLst/>
          </a:prstGeom>
          <a:solidFill>
            <a:srgbClr val="C9D5E3"/>
          </a:solidFill>
          <a:ln w="5080">
            <a:solidFill>
              <a:srgbClr val="1F3A5F"/>
            </a:solidFill>
          </a:ln>
        </p:spPr>
        <p:txBody>
          <a:bodyPr rtlCol="0" anchor="ctr"/>
          <a:lstStyle/>
          <a:p>
            <a:pPr algn="ctr"/>
          </a:p>
        </p:txBody>
      </p:sp>
      <p:sp>
        <p:nvSpPr>
          <p:cNvPr id="100" name="Oval 99"/>
          <p:cNvSpPr/>
          <p:nvPr/>
        </p:nvSpPr>
        <p:spPr>
          <a:xfrm>
            <a:off x="10693400" y="2946400"/>
            <a:ext cx="114300" cy="114300"/>
          </a:xfrm>
          <a:prstGeom prst="ellipse">
            <a:avLst/>
          </a:prstGeom>
          <a:solidFill>
            <a:srgbClr val="C9D5E3"/>
          </a:solidFill>
          <a:ln w="5080">
            <a:solidFill>
              <a:srgbClr val="1F3A5F"/>
            </a:solidFill>
          </a:ln>
        </p:spPr>
        <p:txBody>
          <a:bodyPr rtlCol="0" anchor="ctr"/>
          <a:lstStyle/>
          <a:p>
            <a:pPr algn="ctr"/>
          </a:p>
        </p:txBody>
      </p:sp>
      <p:sp>
        <p:nvSpPr>
          <p:cNvPr id="101" name="Oval 100"/>
          <p:cNvSpPr/>
          <p:nvPr/>
        </p:nvSpPr>
        <p:spPr>
          <a:xfrm>
            <a:off x="10864850" y="2946400"/>
            <a:ext cx="114300" cy="114300"/>
          </a:xfrm>
          <a:prstGeom prst="ellipse">
            <a:avLst/>
          </a:prstGeom>
          <a:solidFill>
            <a:srgbClr val="C9D5E3"/>
          </a:solidFill>
          <a:ln w="5080">
            <a:solidFill>
              <a:srgbClr val="1F3A5F"/>
            </a:solidFill>
          </a:ln>
        </p:spPr>
        <p:txBody>
          <a:bodyPr rtlCol="0" anchor="ctr"/>
          <a:lstStyle/>
          <a:p>
            <a:pPr algn="ctr"/>
          </a:p>
        </p:txBody>
      </p:sp>
      <p:sp>
        <p:nvSpPr>
          <p:cNvPr id="102" name="Oval 101"/>
          <p:cNvSpPr/>
          <p:nvPr/>
        </p:nvSpPr>
        <p:spPr>
          <a:xfrm>
            <a:off x="11036300" y="2946400"/>
            <a:ext cx="114300" cy="114300"/>
          </a:xfrm>
          <a:prstGeom prst="ellipse">
            <a:avLst/>
          </a:prstGeom>
          <a:solidFill>
            <a:srgbClr val="C9D5E3"/>
          </a:solidFill>
          <a:ln w="5080">
            <a:solidFill>
              <a:srgbClr val="1F3A5F"/>
            </a:solidFill>
          </a:ln>
        </p:spPr>
        <p:txBody>
          <a:bodyPr rtlCol="0" anchor="ctr"/>
          <a:lstStyle/>
          <a:p>
            <a:pPr algn="ctr"/>
          </a:p>
        </p:txBody>
      </p:sp>
      <p:sp>
        <p:nvSpPr>
          <p:cNvPr id="103" name="Oval 102"/>
          <p:cNvSpPr/>
          <p:nvPr/>
        </p:nvSpPr>
        <p:spPr>
          <a:xfrm>
            <a:off x="11207750" y="2946400"/>
            <a:ext cx="114300" cy="114300"/>
          </a:xfrm>
          <a:prstGeom prst="ellipse">
            <a:avLst/>
          </a:prstGeom>
          <a:solidFill>
            <a:srgbClr val="C9D5E3"/>
          </a:solidFill>
          <a:ln w="5080">
            <a:solidFill>
              <a:srgbClr val="1F3A5F"/>
            </a:solidFill>
          </a:ln>
        </p:spPr>
        <p:txBody>
          <a:bodyPr rtlCol="0" anchor="ctr"/>
          <a:lstStyle/>
          <a:p>
            <a:pPr algn="ctr"/>
          </a:p>
        </p:txBody>
      </p:sp>
      <p:sp>
        <p:nvSpPr>
          <p:cNvPr id="104" name="Oval 103"/>
          <p:cNvSpPr/>
          <p:nvPr/>
        </p:nvSpPr>
        <p:spPr>
          <a:xfrm>
            <a:off x="11379200" y="2946400"/>
            <a:ext cx="114300" cy="114300"/>
          </a:xfrm>
          <a:prstGeom prst="ellipse">
            <a:avLst/>
          </a:prstGeom>
          <a:solidFill>
            <a:srgbClr val="C9D5E3"/>
          </a:solidFill>
          <a:ln w="5080">
            <a:solidFill>
              <a:srgbClr val="1F3A5F"/>
            </a:solidFill>
          </a:ln>
        </p:spPr>
        <p:txBody>
          <a:bodyPr rtlCol="0" anchor="ctr"/>
          <a:lstStyle/>
          <a:p>
            <a:pPr algn="ctr"/>
          </a:p>
        </p:txBody>
      </p:sp>
      <p:sp>
        <p:nvSpPr>
          <p:cNvPr id="105" name="Oval 104"/>
          <p:cNvSpPr/>
          <p:nvPr/>
        </p:nvSpPr>
        <p:spPr>
          <a:xfrm>
            <a:off x="11550650" y="2946400"/>
            <a:ext cx="114300" cy="114300"/>
          </a:xfrm>
          <a:prstGeom prst="ellipse">
            <a:avLst/>
          </a:prstGeom>
          <a:solidFill>
            <a:srgbClr val="C9D5E3"/>
          </a:solidFill>
          <a:ln w="5080">
            <a:solidFill>
              <a:srgbClr val="1F3A5F"/>
            </a:solidFill>
          </a:ln>
        </p:spPr>
        <p:txBody>
          <a:bodyPr rtlCol="0" anchor="ctr"/>
          <a:lstStyle/>
          <a:p>
            <a:pPr algn="ctr"/>
          </a:p>
        </p:txBody>
      </p:sp>
      <p:sp>
        <p:nvSpPr>
          <p:cNvPr id="106" name="Oval 105"/>
          <p:cNvSpPr/>
          <p:nvPr/>
        </p:nvSpPr>
        <p:spPr>
          <a:xfrm>
            <a:off x="11722100" y="2946400"/>
            <a:ext cx="114300" cy="114300"/>
          </a:xfrm>
          <a:prstGeom prst="ellipse">
            <a:avLst/>
          </a:prstGeom>
          <a:solidFill>
            <a:srgbClr val="C9D5E3"/>
          </a:solidFill>
          <a:ln w="5080">
            <a:solidFill>
              <a:srgbClr val="1F3A5F"/>
            </a:solidFill>
          </a:ln>
        </p:spPr>
        <p:txBody>
          <a:bodyPr rtlCol="0" anchor="ctr"/>
          <a:lstStyle/>
          <a:p>
            <a:pPr algn="ctr"/>
          </a:p>
        </p:txBody>
      </p:sp>
      <p:sp>
        <p:nvSpPr>
          <p:cNvPr id="107" name="Oval 106"/>
          <p:cNvSpPr/>
          <p:nvPr/>
        </p:nvSpPr>
        <p:spPr>
          <a:xfrm>
            <a:off x="8464550" y="3117850"/>
            <a:ext cx="114300" cy="114300"/>
          </a:xfrm>
          <a:prstGeom prst="ellipse">
            <a:avLst/>
          </a:prstGeom>
          <a:solidFill>
            <a:srgbClr val="C9D5E3"/>
          </a:solidFill>
          <a:ln w="5080">
            <a:solidFill>
              <a:srgbClr val="1F3A5F"/>
            </a:solidFill>
          </a:ln>
        </p:spPr>
        <p:txBody>
          <a:bodyPr rtlCol="0" anchor="ctr"/>
          <a:lstStyle/>
          <a:p>
            <a:pPr algn="ctr"/>
          </a:p>
        </p:txBody>
      </p:sp>
      <p:sp>
        <p:nvSpPr>
          <p:cNvPr id="108" name="Oval 107"/>
          <p:cNvSpPr/>
          <p:nvPr/>
        </p:nvSpPr>
        <p:spPr>
          <a:xfrm>
            <a:off x="8636000" y="3117850"/>
            <a:ext cx="114300" cy="114300"/>
          </a:xfrm>
          <a:prstGeom prst="ellipse">
            <a:avLst/>
          </a:prstGeom>
          <a:solidFill>
            <a:srgbClr val="C9D5E3"/>
          </a:solidFill>
          <a:ln w="5080">
            <a:solidFill>
              <a:srgbClr val="1F3A5F"/>
            </a:solidFill>
          </a:ln>
        </p:spPr>
        <p:txBody>
          <a:bodyPr rtlCol="0" anchor="ctr"/>
          <a:lstStyle/>
          <a:p>
            <a:pPr algn="ctr"/>
          </a:p>
        </p:txBody>
      </p:sp>
      <p:sp>
        <p:nvSpPr>
          <p:cNvPr id="109" name="Oval 108"/>
          <p:cNvSpPr/>
          <p:nvPr/>
        </p:nvSpPr>
        <p:spPr>
          <a:xfrm>
            <a:off x="8807450" y="3117850"/>
            <a:ext cx="114300" cy="114300"/>
          </a:xfrm>
          <a:prstGeom prst="ellipse">
            <a:avLst/>
          </a:prstGeom>
          <a:solidFill>
            <a:srgbClr val="C9D5E3"/>
          </a:solidFill>
          <a:ln w="5080">
            <a:solidFill>
              <a:srgbClr val="1F3A5F"/>
            </a:solidFill>
          </a:ln>
        </p:spPr>
        <p:txBody>
          <a:bodyPr rtlCol="0" anchor="ctr"/>
          <a:lstStyle/>
          <a:p>
            <a:pPr algn="ctr"/>
          </a:p>
        </p:txBody>
      </p:sp>
      <p:sp>
        <p:nvSpPr>
          <p:cNvPr id="110" name="Oval 109"/>
          <p:cNvSpPr/>
          <p:nvPr/>
        </p:nvSpPr>
        <p:spPr>
          <a:xfrm>
            <a:off x="8978900" y="3117850"/>
            <a:ext cx="114300" cy="114300"/>
          </a:xfrm>
          <a:prstGeom prst="ellipse">
            <a:avLst/>
          </a:prstGeom>
          <a:solidFill>
            <a:srgbClr val="C9D5E3"/>
          </a:solidFill>
          <a:ln w="5080">
            <a:solidFill>
              <a:srgbClr val="1F3A5F"/>
            </a:solidFill>
          </a:ln>
        </p:spPr>
        <p:txBody>
          <a:bodyPr rtlCol="0" anchor="ctr"/>
          <a:lstStyle/>
          <a:p>
            <a:pPr algn="ctr"/>
          </a:p>
        </p:txBody>
      </p:sp>
      <p:sp>
        <p:nvSpPr>
          <p:cNvPr id="111" name="Oval 110"/>
          <p:cNvSpPr/>
          <p:nvPr/>
        </p:nvSpPr>
        <p:spPr>
          <a:xfrm>
            <a:off x="9150350" y="3117850"/>
            <a:ext cx="114300" cy="114300"/>
          </a:xfrm>
          <a:prstGeom prst="ellipse">
            <a:avLst/>
          </a:prstGeom>
          <a:solidFill>
            <a:srgbClr val="C9D5E3"/>
          </a:solidFill>
          <a:ln w="5080">
            <a:solidFill>
              <a:srgbClr val="1F3A5F"/>
            </a:solidFill>
          </a:ln>
        </p:spPr>
        <p:txBody>
          <a:bodyPr rtlCol="0" anchor="ctr"/>
          <a:lstStyle/>
          <a:p>
            <a:pPr algn="ctr"/>
          </a:p>
        </p:txBody>
      </p:sp>
      <p:sp>
        <p:nvSpPr>
          <p:cNvPr id="112" name="Oval 111"/>
          <p:cNvSpPr/>
          <p:nvPr/>
        </p:nvSpPr>
        <p:spPr>
          <a:xfrm>
            <a:off x="9321800" y="3117850"/>
            <a:ext cx="114300" cy="114300"/>
          </a:xfrm>
          <a:prstGeom prst="ellipse">
            <a:avLst/>
          </a:prstGeom>
          <a:solidFill>
            <a:srgbClr val="C9D5E3"/>
          </a:solidFill>
          <a:ln w="5080">
            <a:solidFill>
              <a:srgbClr val="1F3A5F"/>
            </a:solidFill>
          </a:ln>
        </p:spPr>
        <p:txBody>
          <a:bodyPr rtlCol="0" anchor="ctr"/>
          <a:lstStyle/>
          <a:p>
            <a:pPr algn="ctr"/>
          </a:p>
        </p:txBody>
      </p:sp>
      <p:sp>
        <p:nvSpPr>
          <p:cNvPr id="113" name="Oval 112"/>
          <p:cNvSpPr/>
          <p:nvPr/>
        </p:nvSpPr>
        <p:spPr>
          <a:xfrm>
            <a:off x="9493250" y="3117850"/>
            <a:ext cx="114300" cy="114300"/>
          </a:xfrm>
          <a:prstGeom prst="ellipse">
            <a:avLst/>
          </a:prstGeom>
          <a:solidFill>
            <a:srgbClr val="C9D5E3"/>
          </a:solidFill>
          <a:ln w="5080">
            <a:solidFill>
              <a:srgbClr val="1F3A5F"/>
            </a:solidFill>
          </a:ln>
        </p:spPr>
        <p:txBody>
          <a:bodyPr rtlCol="0" anchor="ctr"/>
          <a:lstStyle/>
          <a:p>
            <a:pPr algn="ctr"/>
          </a:p>
        </p:txBody>
      </p:sp>
      <p:sp>
        <p:nvSpPr>
          <p:cNvPr id="114" name="Oval 113"/>
          <p:cNvSpPr/>
          <p:nvPr/>
        </p:nvSpPr>
        <p:spPr>
          <a:xfrm>
            <a:off x="9664700" y="3117850"/>
            <a:ext cx="114300" cy="114300"/>
          </a:xfrm>
          <a:prstGeom prst="ellipse">
            <a:avLst/>
          </a:prstGeom>
          <a:solidFill>
            <a:srgbClr val="C9D5E3"/>
          </a:solidFill>
          <a:ln w="5080">
            <a:solidFill>
              <a:srgbClr val="1F3A5F"/>
            </a:solidFill>
          </a:ln>
        </p:spPr>
        <p:txBody>
          <a:bodyPr rtlCol="0" anchor="ctr"/>
          <a:lstStyle/>
          <a:p>
            <a:pPr algn="ctr"/>
          </a:p>
        </p:txBody>
      </p:sp>
      <p:sp>
        <p:nvSpPr>
          <p:cNvPr id="115" name="Oval 114"/>
          <p:cNvSpPr/>
          <p:nvPr/>
        </p:nvSpPr>
        <p:spPr>
          <a:xfrm>
            <a:off x="9836150" y="3117850"/>
            <a:ext cx="114300" cy="114300"/>
          </a:xfrm>
          <a:prstGeom prst="ellipse">
            <a:avLst/>
          </a:prstGeom>
          <a:solidFill>
            <a:srgbClr val="C9D5E3"/>
          </a:solidFill>
          <a:ln w="5080">
            <a:solidFill>
              <a:srgbClr val="1F3A5F"/>
            </a:solidFill>
          </a:ln>
        </p:spPr>
        <p:txBody>
          <a:bodyPr rtlCol="0" anchor="ctr"/>
          <a:lstStyle/>
          <a:p>
            <a:pPr algn="ctr"/>
          </a:p>
        </p:txBody>
      </p:sp>
      <p:sp>
        <p:nvSpPr>
          <p:cNvPr id="116" name="Oval 115"/>
          <p:cNvSpPr/>
          <p:nvPr/>
        </p:nvSpPr>
        <p:spPr>
          <a:xfrm>
            <a:off x="10007600" y="3117850"/>
            <a:ext cx="114300" cy="114300"/>
          </a:xfrm>
          <a:prstGeom prst="ellipse">
            <a:avLst/>
          </a:prstGeom>
          <a:solidFill>
            <a:srgbClr val="C9D5E3"/>
          </a:solidFill>
          <a:ln w="5080">
            <a:solidFill>
              <a:srgbClr val="1F3A5F"/>
            </a:solidFill>
          </a:ln>
        </p:spPr>
        <p:txBody>
          <a:bodyPr rtlCol="0" anchor="ctr"/>
          <a:lstStyle/>
          <a:p>
            <a:pPr algn="ctr"/>
          </a:p>
        </p:txBody>
      </p:sp>
      <p:sp>
        <p:nvSpPr>
          <p:cNvPr id="117" name="Oval 116"/>
          <p:cNvSpPr/>
          <p:nvPr/>
        </p:nvSpPr>
        <p:spPr>
          <a:xfrm>
            <a:off x="10179050" y="3117850"/>
            <a:ext cx="114300" cy="114300"/>
          </a:xfrm>
          <a:prstGeom prst="ellipse">
            <a:avLst/>
          </a:prstGeom>
          <a:solidFill>
            <a:srgbClr val="C9D5E3"/>
          </a:solidFill>
          <a:ln w="5080">
            <a:solidFill>
              <a:srgbClr val="1F3A5F"/>
            </a:solidFill>
          </a:ln>
        </p:spPr>
        <p:txBody>
          <a:bodyPr rtlCol="0" anchor="ctr"/>
          <a:lstStyle/>
          <a:p>
            <a:pPr algn="ctr"/>
          </a:p>
        </p:txBody>
      </p:sp>
      <p:sp>
        <p:nvSpPr>
          <p:cNvPr id="118" name="Oval 117"/>
          <p:cNvSpPr/>
          <p:nvPr/>
        </p:nvSpPr>
        <p:spPr>
          <a:xfrm>
            <a:off x="10350500" y="3117850"/>
            <a:ext cx="114300" cy="114300"/>
          </a:xfrm>
          <a:prstGeom prst="ellipse">
            <a:avLst/>
          </a:prstGeom>
          <a:solidFill>
            <a:srgbClr val="C9D5E3"/>
          </a:solidFill>
          <a:ln w="5080">
            <a:solidFill>
              <a:srgbClr val="1F3A5F"/>
            </a:solidFill>
          </a:ln>
        </p:spPr>
        <p:txBody>
          <a:bodyPr rtlCol="0" anchor="ctr"/>
          <a:lstStyle/>
          <a:p>
            <a:pPr algn="ctr"/>
          </a:p>
        </p:txBody>
      </p:sp>
      <p:sp>
        <p:nvSpPr>
          <p:cNvPr id="119" name="Oval 118"/>
          <p:cNvSpPr/>
          <p:nvPr/>
        </p:nvSpPr>
        <p:spPr>
          <a:xfrm>
            <a:off x="10521950" y="3117850"/>
            <a:ext cx="114300" cy="114300"/>
          </a:xfrm>
          <a:prstGeom prst="ellipse">
            <a:avLst/>
          </a:prstGeom>
          <a:solidFill>
            <a:srgbClr val="C9D5E3"/>
          </a:solidFill>
          <a:ln w="5080">
            <a:solidFill>
              <a:srgbClr val="1F3A5F"/>
            </a:solidFill>
          </a:ln>
        </p:spPr>
        <p:txBody>
          <a:bodyPr rtlCol="0" anchor="ctr"/>
          <a:lstStyle/>
          <a:p>
            <a:pPr algn="ctr"/>
          </a:p>
        </p:txBody>
      </p:sp>
      <p:sp>
        <p:nvSpPr>
          <p:cNvPr id="120" name="Oval 119"/>
          <p:cNvSpPr/>
          <p:nvPr/>
        </p:nvSpPr>
        <p:spPr>
          <a:xfrm>
            <a:off x="10693400" y="3117850"/>
            <a:ext cx="114300" cy="114300"/>
          </a:xfrm>
          <a:prstGeom prst="ellipse">
            <a:avLst/>
          </a:prstGeom>
          <a:solidFill>
            <a:srgbClr val="C9D5E3"/>
          </a:solidFill>
          <a:ln w="5080">
            <a:solidFill>
              <a:srgbClr val="1F3A5F"/>
            </a:solidFill>
          </a:ln>
        </p:spPr>
        <p:txBody>
          <a:bodyPr rtlCol="0" anchor="ctr"/>
          <a:lstStyle/>
          <a:p>
            <a:pPr algn="ctr"/>
          </a:p>
        </p:txBody>
      </p:sp>
      <p:sp>
        <p:nvSpPr>
          <p:cNvPr id="121" name="Oval 120"/>
          <p:cNvSpPr/>
          <p:nvPr/>
        </p:nvSpPr>
        <p:spPr>
          <a:xfrm>
            <a:off x="10864850" y="3117850"/>
            <a:ext cx="114300" cy="114300"/>
          </a:xfrm>
          <a:prstGeom prst="ellipse">
            <a:avLst/>
          </a:prstGeom>
          <a:solidFill>
            <a:srgbClr val="C9D5E3"/>
          </a:solidFill>
          <a:ln w="5080">
            <a:solidFill>
              <a:srgbClr val="1F3A5F"/>
            </a:solidFill>
          </a:ln>
        </p:spPr>
        <p:txBody>
          <a:bodyPr rtlCol="0" anchor="ctr"/>
          <a:lstStyle/>
          <a:p>
            <a:pPr algn="ctr"/>
          </a:p>
        </p:txBody>
      </p:sp>
      <p:sp>
        <p:nvSpPr>
          <p:cNvPr id="122" name="Oval 121"/>
          <p:cNvSpPr/>
          <p:nvPr/>
        </p:nvSpPr>
        <p:spPr>
          <a:xfrm>
            <a:off x="11036300" y="3117850"/>
            <a:ext cx="114300" cy="114300"/>
          </a:xfrm>
          <a:prstGeom prst="ellipse">
            <a:avLst/>
          </a:prstGeom>
          <a:solidFill>
            <a:srgbClr val="C9D5E3"/>
          </a:solidFill>
          <a:ln w="5080">
            <a:solidFill>
              <a:srgbClr val="1F3A5F"/>
            </a:solidFill>
          </a:ln>
        </p:spPr>
        <p:txBody>
          <a:bodyPr rtlCol="0" anchor="ctr"/>
          <a:lstStyle/>
          <a:p>
            <a:pPr algn="ctr"/>
          </a:p>
        </p:txBody>
      </p:sp>
      <p:sp>
        <p:nvSpPr>
          <p:cNvPr id="123" name="Oval 122"/>
          <p:cNvSpPr/>
          <p:nvPr/>
        </p:nvSpPr>
        <p:spPr>
          <a:xfrm>
            <a:off x="11207750" y="3117850"/>
            <a:ext cx="114300" cy="114300"/>
          </a:xfrm>
          <a:prstGeom prst="ellipse">
            <a:avLst/>
          </a:prstGeom>
          <a:solidFill>
            <a:srgbClr val="C9D5E3"/>
          </a:solidFill>
          <a:ln w="5080">
            <a:solidFill>
              <a:srgbClr val="1F3A5F"/>
            </a:solidFill>
          </a:ln>
        </p:spPr>
        <p:txBody>
          <a:bodyPr rtlCol="0" anchor="ctr"/>
          <a:lstStyle/>
          <a:p>
            <a:pPr algn="ctr"/>
          </a:p>
        </p:txBody>
      </p:sp>
      <p:sp>
        <p:nvSpPr>
          <p:cNvPr id="124" name="Oval 123"/>
          <p:cNvSpPr/>
          <p:nvPr/>
        </p:nvSpPr>
        <p:spPr>
          <a:xfrm>
            <a:off x="11379200" y="3117850"/>
            <a:ext cx="114300" cy="114300"/>
          </a:xfrm>
          <a:prstGeom prst="ellipse">
            <a:avLst/>
          </a:prstGeom>
          <a:solidFill>
            <a:srgbClr val="C9D5E3"/>
          </a:solidFill>
          <a:ln w="5080">
            <a:solidFill>
              <a:srgbClr val="1F3A5F"/>
            </a:solidFill>
          </a:ln>
        </p:spPr>
        <p:txBody>
          <a:bodyPr rtlCol="0" anchor="ctr"/>
          <a:lstStyle/>
          <a:p>
            <a:pPr algn="ctr"/>
          </a:p>
        </p:txBody>
      </p:sp>
      <p:sp>
        <p:nvSpPr>
          <p:cNvPr id="125" name="Oval 124"/>
          <p:cNvSpPr/>
          <p:nvPr/>
        </p:nvSpPr>
        <p:spPr>
          <a:xfrm>
            <a:off x="11550650" y="3117850"/>
            <a:ext cx="114300" cy="114300"/>
          </a:xfrm>
          <a:prstGeom prst="ellipse">
            <a:avLst/>
          </a:prstGeom>
          <a:solidFill>
            <a:srgbClr val="C9D5E3"/>
          </a:solidFill>
          <a:ln w="5080">
            <a:solidFill>
              <a:srgbClr val="1F3A5F"/>
            </a:solidFill>
          </a:ln>
        </p:spPr>
        <p:txBody>
          <a:bodyPr rtlCol="0" anchor="ctr"/>
          <a:lstStyle/>
          <a:p>
            <a:pPr algn="ctr"/>
          </a:p>
        </p:txBody>
      </p:sp>
      <p:sp>
        <p:nvSpPr>
          <p:cNvPr id="126" name="Oval 125"/>
          <p:cNvSpPr/>
          <p:nvPr/>
        </p:nvSpPr>
        <p:spPr>
          <a:xfrm>
            <a:off x="11722100" y="3117850"/>
            <a:ext cx="114300" cy="114300"/>
          </a:xfrm>
          <a:prstGeom prst="ellipse">
            <a:avLst/>
          </a:prstGeom>
          <a:solidFill>
            <a:srgbClr val="C9D5E3"/>
          </a:solidFill>
          <a:ln w="5080">
            <a:solidFill>
              <a:srgbClr val="1F3A5F"/>
            </a:solidFill>
          </a:ln>
        </p:spPr>
        <p:txBody>
          <a:bodyPr rtlCol="0" anchor="ctr"/>
          <a:lstStyle/>
          <a:p>
            <a:pPr algn="ctr"/>
          </a:p>
        </p:txBody>
      </p:sp>
      <p:sp>
        <p:nvSpPr>
          <p:cNvPr id="127" name="TextBox 126"/>
          <p:cNvSpPr txBox="1"/>
          <p:nvPr/>
        </p:nvSpPr>
        <p:spPr>
          <a:xfrm>
            <a:off x="8445500" y="3378200"/>
            <a:ext cx="3492500" cy="190500"/>
          </a:xfrm>
          <a:prstGeom prst="rect">
            <a:avLst/>
          </a:prstGeom>
          <a:noFill/>
        </p:spPr>
        <p:txBody>
          <a:bodyPr wrap="square" lIns="0" rIns="0" tIns="0" bIns="0" anchor="t">
            <a:spAutoFit/>
          </a:bodyPr>
          <a:lstStyle/>
          <a:p>
            <a:pPr algn="l">
              <a:lnSpc>
                <a:spcPct val="120000"/>
              </a:lnSpc>
            </a:pPr>
            <a:r>
              <a:rPr sz="900" b="0" i="1">
                <a:solidFill>
                  <a:srgbClr val="77736C"/>
                </a:solidFill>
                <a:latin typeface="Barlow"/>
              </a:rPr>
              <a:t>chaque cercle = 1 500 habitants prévus ; les 36 habitants comptés tiennent dans moins d'un cercle.</a:t>
            </a:r>
          </a:p>
        </p:txBody>
      </p:sp>
      <p:sp>
        <p:nvSpPr>
          <p:cNvPr id="128" name="TextBox 127"/>
          <p:cNvSpPr txBox="1"/>
          <p:nvPr/>
        </p:nvSpPr>
        <p:spPr>
          <a:xfrm>
            <a:off x="8445500" y="3695700"/>
            <a:ext cx="3492500" cy="1905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La ville nouvelle de Chrafate, lancée en 2009 près des usines pour loger 150 000 personnes, ne comptait que 36 habitants selon la Cour des comptes. Les ouvriers vivent donc dans les quartiers denses de Tanger et font chaque jour 9 à 32 km. Les projets pour le visiteur ont été livrés en moins de dix ans ; celui pour les travailleurs attend depuis 2009.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MOBILITÉ : LE BÂTI HORS DE PORTÉE DU BUS</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Surfaces bâties à moins ou à plus de 300 m d'un arrêt de bus recensé.</a:t>
            </a:r>
          </a:p>
        </p:txBody>
      </p:sp>
      <p:sp>
        <p:nvSpPr>
          <p:cNvPr id="5" name="TextBox 4"/>
          <p:cNvSpPr txBox="1"/>
          <p:nvPr/>
        </p:nvSpPr>
        <p:spPr>
          <a:xfrm>
            <a:off x="10993120" y="215900"/>
            <a:ext cx="9448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0</a:t>
            </a:r>
          </a:p>
        </p:txBody>
      </p:sp>
      <p:sp>
        <p:nvSpPr>
          <p:cNvPr id="6" name="TextBox 5"/>
          <p:cNvSpPr txBox="1"/>
          <p:nvPr/>
        </p:nvSpPr>
        <p:spPr>
          <a:xfrm>
            <a:off x="10993120" y="546100"/>
            <a:ext cx="9448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ligne de tram</a:t>
            </a:r>
          </a:p>
          <a:p>
            <a:pPr algn="r">
              <a:lnSpc>
                <a:spcPct val="110000"/>
              </a:lnSpc>
            </a:pPr>
            <a:r>
              <a:rPr sz="850" b="0" i="0">
                <a:solidFill>
                  <a:srgbClr val="77736C"/>
                </a:solidFill>
                <a:latin typeface="Barlow"/>
              </a:rPr>
              <a:t>ou de BHNS</a:t>
            </a:r>
          </a:p>
        </p:txBody>
      </p:sp>
      <p:sp>
        <p:nvSpPr>
          <p:cNvPr id="7" name="TextBox 6"/>
          <p:cNvSpPr txBox="1"/>
          <p:nvPr/>
        </p:nvSpPr>
        <p:spPr>
          <a:xfrm>
            <a:off x="9438640" y="215900"/>
            <a:ext cx="13385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31 %</a:t>
            </a:r>
          </a:p>
        </p:txBody>
      </p:sp>
      <p:sp>
        <p:nvSpPr>
          <p:cNvPr id="8" name="TextBox 7"/>
          <p:cNvSpPr txBox="1"/>
          <p:nvPr/>
        </p:nvSpPr>
        <p:spPr>
          <a:xfrm>
            <a:off x="9438640" y="546100"/>
            <a:ext cx="13385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du bâti à plus de</a:t>
            </a:r>
          </a:p>
          <a:p>
            <a:pPr algn="r">
              <a:lnSpc>
                <a:spcPct val="110000"/>
              </a:lnSpc>
            </a:pPr>
            <a:r>
              <a:rPr sz="850" b="0" i="0">
                <a:solidFill>
                  <a:srgbClr val="77736C"/>
                </a:solidFill>
                <a:latin typeface="Barlow"/>
              </a:rPr>
              <a:t>300 m d'un arrêt</a:t>
            </a:r>
          </a:p>
        </p:txBody>
      </p:sp>
      <p:sp>
        <p:nvSpPr>
          <p:cNvPr id="9" name="TextBox 8"/>
          <p:cNvSpPr txBox="1"/>
          <p:nvPr/>
        </p:nvSpPr>
        <p:spPr>
          <a:xfrm>
            <a:off x="8356600" y="215900"/>
            <a:ext cx="86614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1 674</a:t>
            </a:r>
          </a:p>
        </p:txBody>
      </p:sp>
      <p:sp>
        <p:nvSpPr>
          <p:cNvPr id="10" name="TextBox 9"/>
          <p:cNvSpPr txBox="1"/>
          <p:nvPr/>
        </p:nvSpPr>
        <p:spPr>
          <a:xfrm>
            <a:off x="8356600" y="546100"/>
            <a:ext cx="86614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arrêts de bus</a:t>
            </a:r>
          </a:p>
          <a:p>
            <a:pPr algn="r">
              <a:lnSpc>
                <a:spcPct val="110000"/>
              </a:lnSpc>
            </a:pPr>
            <a:r>
              <a:rPr sz="850" b="0" i="0">
                <a:solidFill>
                  <a:srgbClr val="77736C"/>
                </a:solidFill>
                <a:latin typeface="Barlow"/>
              </a:rPr>
              <a:t>recensés</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15 / 18</a:t>
            </a:r>
          </a:p>
        </p:txBody>
      </p:sp>
      <p:pic>
        <p:nvPicPr>
          <p:cNvPr id="14" name="Picture 13" descr="m06_mobilite.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LÉGENDE</a:t>
            </a:r>
          </a:p>
        </p:txBody>
      </p:sp>
      <p:sp>
        <p:nvSpPr>
          <p:cNvPr id="16" name="Rectangle 15"/>
          <p:cNvSpPr/>
          <p:nvPr/>
        </p:nvSpPr>
        <p:spPr>
          <a:xfrm>
            <a:off x="8445500" y="1174750"/>
            <a:ext cx="165100" cy="101600"/>
          </a:xfrm>
          <a:prstGeom prst="rect">
            <a:avLst/>
          </a:prstGeom>
          <a:solidFill>
            <a:srgbClr val="A9B6C6"/>
          </a:solidFill>
          <a:ln>
            <a:noFill/>
          </a:ln>
        </p:spPr>
        <p:txBody>
          <a:bodyPr rtlCol="0" anchor="ctr"/>
          <a:lstStyle/>
          <a:p>
            <a:pPr algn="ctr"/>
          </a:p>
        </p:txBody>
      </p:sp>
      <p:sp>
        <p:nvSpPr>
          <p:cNvPr id="17" name="TextBox 16"/>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 desservi (moins de 300 m d'un arrêt)</a:t>
            </a:r>
          </a:p>
        </p:txBody>
      </p:sp>
      <p:sp>
        <p:nvSpPr>
          <p:cNvPr id="18" name="Rectangle 17"/>
          <p:cNvSpPr/>
          <p:nvPr/>
        </p:nvSpPr>
        <p:spPr>
          <a:xfrm>
            <a:off x="8445500" y="1352550"/>
            <a:ext cx="165100" cy="101600"/>
          </a:xfrm>
          <a:prstGeom prst="rect">
            <a:avLst/>
          </a:prstGeom>
          <a:solidFill>
            <a:srgbClr val="C8462B"/>
          </a:solidFill>
          <a:ln>
            <a:noFill/>
          </a:ln>
        </p:spPr>
        <p:txBody>
          <a:bodyPr rtlCol="0" anchor="ctr"/>
          <a:lstStyle/>
          <a:p>
            <a:pPr algn="ctr"/>
          </a:p>
        </p:txBody>
      </p:sp>
      <p:sp>
        <p:nvSpPr>
          <p:cNvPr id="19" name="TextBox 18"/>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 non desservi (plus de 300 m)</a:t>
            </a:r>
          </a:p>
        </p:txBody>
      </p:sp>
      <p:sp>
        <p:nvSpPr>
          <p:cNvPr id="20" name="Oval 19"/>
          <p:cNvSpPr/>
          <p:nvPr/>
        </p:nvSpPr>
        <p:spPr>
          <a:xfrm>
            <a:off x="8483600" y="1536700"/>
            <a:ext cx="88900" cy="88900"/>
          </a:xfrm>
          <a:prstGeom prst="ellipse">
            <a:avLst/>
          </a:prstGeom>
          <a:solidFill>
            <a:srgbClr val="1F3A5F"/>
          </a:solidFill>
          <a:ln w="6350">
            <a:solidFill>
              <a:srgbClr val="FFFFFF"/>
            </a:solidFill>
          </a:ln>
        </p:spPr>
        <p:txBody>
          <a:bodyPr rtlCol="0" anchor="ctr"/>
          <a:lstStyle/>
          <a:p>
            <a:pPr algn="ctr"/>
          </a:p>
        </p:txBody>
      </p:sp>
      <p:sp>
        <p:nvSpPr>
          <p:cNvPr id="21" name="TextBox 20"/>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Arrêt de bus</a:t>
            </a:r>
          </a:p>
        </p:txBody>
      </p:sp>
      <p:cxnSp>
        <p:nvCxnSpPr>
          <p:cNvPr id="22" name="Connector 21"/>
          <p:cNvCxnSpPr/>
          <p:nvPr/>
        </p:nvCxnSpPr>
        <p:spPr>
          <a:xfrm>
            <a:off x="8445500" y="1758950"/>
            <a:ext cx="165100" cy="0"/>
          </a:xfrm>
          <a:prstGeom prst="line">
            <a:avLst/>
          </a:prstGeom>
          <a:ln w="22225">
            <a:solidFill>
              <a:srgbClr val="C8462B"/>
            </a:solidFill>
          </a:ln>
        </p:spPr>
      </p:cxnSp>
      <p:sp>
        <p:nvSpPr>
          <p:cNvPr id="23" name="TextBox 22"/>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Autoroute, voie express</a:t>
            </a:r>
          </a:p>
        </p:txBody>
      </p:sp>
      <p:cxnSp>
        <p:nvCxnSpPr>
          <p:cNvPr id="24" name="Connector 23"/>
          <p:cNvCxnSpPr/>
          <p:nvPr/>
        </p:nvCxnSpPr>
        <p:spPr>
          <a:xfrm>
            <a:off x="8445500" y="1936750"/>
            <a:ext cx="165100" cy="0"/>
          </a:xfrm>
          <a:prstGeom prst="line">
            <a:avLst/>
          </a:prstGeom>
          <a:ln w="13970">
            <a:solidFill>
              <a:srgbClr val="2B2B2B"/>
            </a:solidFill>
            <a:prstDash val="dash"/>
          </a:ln>
        </p:spPr>
      </p:cxnSp>
      <p:sp>
        <p:nvSpPr>
          <p:cNvPr id="25" name="TextBox 24"/>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Voie ferrée et LGV</a:t>
            </a:r>
          </a:p>
        </p:txBody>
      </p:sp>
      <p:sp>
        <p:nvSpPr>
          <p:cNvPr id="26" name="Oval 25"/>
          <p:cNvSpPr/>
          <p:nvPr/>
        </p:nvSpPr>
        <p:spPr>
          <a:xfrm>
            <a:off x="8483600" y="2070100"/>
            <a:ext cx="88900" cy="88900"/>
          </a:xfrm>
          <a:prstGeom prst="ellipse">
            <a:avLst/>
          </a:prstGeom>
          <a:solidFill>
            <a:srgbClr val="C8462B"/>
          </a:solidFill>
          <a:ln w="6350">
            <a:solidFill>
              <a:srgbClr val="FFFFFF"/>
            </a:solidFill>
          </a:ln>
        </p:spPr>
        <p:txBody>
          <a:bodyPr rtlCol="0" anchor="ctr"/>
          <a:lstStyle/>
          <a:p>
            <a:pPr algn="ctr"/>
          </a:p>
        </p:txBody>
      </p:sp>
      <p:sp>
        <p:nvSpPr>
          <p:cNvPr id="27" name="TextBox 26"/>
          <p:cNvSpPr txBox="1"/>
          <p:nvPr/>
        </p:nvSpPr>
        <p:spPr>
          <a:xfrm>
            <a:off x="8699500" y="20510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Gare TGV Tanger Ville</a:t>
            </a:r>
          </a:p>
        </p:txBody>
      </p:sp>
      <p:sp>
        <p:nvSpPr>
          <p:cNvPr id="28" name="TextBox 27"/>
          <p:cNvSpPr txBox="1"/>
          <p:nvPr/>
        </p:nvSpPr>
        <p:spPr>
          <a:xfrm>
            <a:off x="8445500" y="24130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PART DU BÂTI DESSERVI</a:t>
            </a:r>
          </a:p>
        </p:txBody>
      </p:sp>
      <p:sp>
        <p:nvSpPr>
          <p:cNvPr id="29" name="TextBox 28"/>
          <p:cNvSpPr txBox="1"/>
          <p:nvPr/>
        </p:nvSpPr>
        <p:spPr>
          <a:xfrm>
            <a:off x="8445500" y="2603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Tanger-Médina</a:t>
            </a:r>
          </a:p>
        </p:txBody>
      </p:sp>
      <p:sp>
        <p:nvSpPr>
          <p:cNvPr id="30" name="Rectangle 29"/>
          <p:cNvSpPr/>
          <p:nvPr/>
        </p:nvSpPr>
        <p:spPr>
          <a:xfrm>
            <a:off x="9232900" y="2628900"/>
            <a:ext cx="1454220" cy="88900"/>
          </a:xfrm>
          <a:prstGeom prst="rect">
            <a:avLst/>
          </a:prstGeom>
          <a:solidFill>
            <a:srgbClr val="B9B1A5"/>
          </a:solidFill>
          <a:ln>
            <a:noFill/>
          </a:ln>
        </p:spPr>
        <p:txBody>
          <a:bodyPr rtlCol="0" anchor="ctr"/>
          <a:lstStyle/>
          <a:p>
            <a:pPr algn="ctr"/>
          </a:p>
        </p:txBody>
      </p:sp>
      <p:sp>
        <p:nvSpPr>
          <p:cNvPr id="31" name="TextBox 30"/>
          <p:cNvSpPr txBox="1"/>
          <p:nvPr/>
        </p:nvSpPr>
        <p:spPr>
          <a:xfrm>
            <a:off x="10725220" y="2603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64%</a:t>
            </a:r>
          </a:p>
        </p:txBody>
      </p:sp>
      <p:sp>
        <p:nvSpPr>
          <p:cNvPr id="32" name="TextBox 31"/>
          <p:cNvSpPr txBox="1"/>
          <p:nvPr/>
        </p:nvSpPr>
        <p:spPr>
          <a:xfrm>
            <a:off x="8445500" y="27940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Charf-Souani</a:t>
            </a:r>
          </a:p>
        </p:txBody>
      </p:sp>
      <p:sp>
        <p:nvSpPr>
          <p:cNvPr id="33" name="Rectangle 32"/>
          <p:cNvSpPr/>
          <p:nvPr/>
        </p:nvSpPr>
        <p:spPr>
          <a:xfrm>
            <a:off x="9232900" y="2819400"/>
            <a:ext cx="2000838" cy="88900"/>
          </a:xfrm>
          <a:prstGeom prst="rect">
            <a:avLst/>
          </a:prstGeom>
          <a:solidFill>
            <a:srgbClr val="B9B1A5"/>
          </a:solidFill>
          <a:ln>
            <a:noFill/>
          </a:ln>
        </p:spPr>
        <p:txBody>
          <a:bodyPr rtlCol="0" anchor="ctr"/>
          <a:lstStyle/>
          <a:p>
            <a:pPr algn="ctr"/>
          </a:p>
        </p:txBody>
      </p:sp>
      <p:sp>
        <p:nvSpPr>
          <p:cNvPr id="34" name="TextBox 33"/>
          <p:cNvSpPr txBox="1"/>
          <p:nvPr/>
        </p:nvSpPr>
        <p:spPr>
          <a:xfrm>
            <a:off x="11271838" y="27940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88%</a:t>
            </a:r>
          </a:p>
        </p:txBody>
      </p:sp>
      <p:sp>
        <p:nvSpPr>
          <p:cNvPr id="35" name="TextBox 34"/>
          <p:cNvSpPr txBox="1"/>
          <p:nvPr/>
        </p:nvSpPr>
        <p:spPr>
          <a:xfrm>
            <a:off x="8445500" y="2984500"/>
            <a:ext cx="762000" cy="139700"/>
          </a:xfrm>
          <a:prstGeom prst="rect">
            <a:avLst/>
          </a:prstGeom>
          <a:noFill/>
        </p:spPr>
        <p:txBody>
          <a:bodyPr wrap="square" lIns="0" rIns="0" tIns="0" bIns="0" anchor="t">
            <a:spAutoFit/>
          </a:bodyPr>
          <a:lstStyle/>
          <a:p>
            <a:pPr algn="l">
              <a:lnSpc>
                <a:spcPct val="120000"/>
              </a:lnSpc>
            </a:pPr>
            <a:r>
              <a:rPr sz="900" b="0" i="0">
                <a:solidFill>
                  <a:srgbClr val="2B2B2B"/>
                </a:solidFill>
                <a:latin typeface="Barlow"/>
              </a:rPr>
              <a:t>Charf-Mghogha</a:t>
            </a:r>
          </a:p>
        </p:txBody>
      </p:sp>
      <p:sp>
        <p:nvSpPr>
          <p:cNvPr id="36" name="Rectangle 35"/>
          <p:cNvSpPr/>
          <p:nvPr/>
        </p:nvSpPr>
        <p:spPr>
          <a:xfrm>
            <a:off x="9232900" y="3009900"/>
            <a:ext cx="1517910" cy="88900"/>
          </a:xfrm>
          <a:prstGeom prst="rect">
            <a:avLst/>
          </a:prstGeom>
          <a:solidFill>
            <a:srgbClr val="B9B1A5"/>
          </a:solidFill>
          <a:ln>
            <a:noFill/>
          </a:ln>
        </p:spPr>
        <p:txBody>
          <a:bodyPr rtlCol="0" anchor="ctr"/>
          <a:lstStyle/>
          <a:p>
            <a:pPr algn="ctr"/>
          </a:p>
        </p:txBody>
      </p:sp>
      <p:sp>
        <p:nvSpPr>
          <p:cNvPr id="37" name="TextBox 36"/>
          <p:cNvSpPr txBox="1"/>
          <p:nvPr/>
        </p:nvSpPr>
        <p:spPr>
          <a:xfrm>
            <a:off x="10788910" y="2984500"/>
            <a:ext cx="508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66%</a:t>
            </a:r>
          </a:p>
        </p:txBody>
      </p:sp>
      <p:sp>
        <p:nvSpPr>
          <p:cNvPr id="38" name="TextBox 37"/>
          <p:cNvSpPr txBox="1"/>
          <p:nvPr/>
        </p:nvSpPr>
        <p:spPr>
          <a:xfrm>
            <a:off x="8445500" y="3175000"/>
            <a:ext cx="762000" cy="139700"/>
          </a:xfrm>
          <a:prstGeom prst="rect">
            <a:avLst/>
          </a:prstGeom>
          <a:noFill/>
        </p:spPr>
        <p:txBody>
          <a:bodyPr wrap="square" lIns="0" rIns="0" tIns="0" bIns="0" anchor="t">
            <a:spAutoFit/>
          </a:bodyPr>
          <a:lstStyle/>
          <a:p>
            <a:pPr algn="l">
              <a:lnSpc>
                <a:spcPct val="120000"/>
              </a:lnSpc>
            </a:pPr>
            <a:r>
              <a:rPr sz="900" b="1" i="0">
                <a:solidFill>
                  <a:srgbClr val="2B2B2B"/>
                </a:solidFill>
                <a:latin typeface="Barlow"/>
              </a:rPr>
              <a:t>Beni Makada</a:t>
            </a:r>
          </a:p>
        </p:txBody>
      </p:sp>
      <p:sp>
        <p:nvSpPr>
          <p:cNvPr id="39" name="Rectangle 38"/>
          <p:cNvSpPr/>
          <p:nvPr/>
        </p:nvSpPr>
        <p:spPr>
          <a:xfrm>
            <a:off x="9232900" y="3200400"/>
            <a:ext cx="1615146" cy="88900"/>
          </a:xfrm>
          <a:prstGeom prst="rect">
            <a:avLst/>
          </a:prstGeom>
          <a:solidFill>
            <a:srgbClr val="C8462B"/>
          </a:solidFill>
          <a:ln>
            <a:noFill/>
          </a:ln>
        </p:spPr>
        <p:txBody>
          <a:bodyPr rtlCol="0" anchor="ctr"/>
          <a:lstStyle/>
          <a:p>
            <a:pPr algn="ctr"/>
          </a:p>
        </p:txBody>
      </p:sp>
      <p:sp>
        <p:nvSpPr>
          <p:cNvPr id="40" name="TextBox 39"/>
          <p:cNvSpPr txBox="1"/>
          <p:nvPr/>
        </p:nvSpPr>
        <p:spPr>
          <a:xfrm>
            <a:off x="10886146" y="3175000"/>
            <a:ext cx="508000" cy="139700"/>
          </a:xfrm>
          <a:prstGeom prst="rect">
            <a:avLst/>
          </a:prstGeom>
          <a:noFill/>
        </p:spPr>
        <p:txBody>
          <a:bodyPr wrap="square" lIns="0" rIns="0" tIns="0" bIns="0" anchor="t">
            <a:spAutoFit/>
          </a:bodyPr>
          <a:lstStyle/>
          <a:p>
            <a:pPr algn="l">
              <a:lnSpc>
                <a:spcPct val="120000"/>
              </a:lnSpc>
            </a:pPr>
            <a:r>
              <a:rPr sz="900" b="1" i="0">
                <a:solidFill>
                  <a:srgbClr val="C8462B"/>
                </a:solidFill>
                <a:latin typeface="Barlow"/>
              </a:rPr>
              <a:t>71%</a:t>
            </a:r>
          </a:p>
        </p:txBody>
      </p:sp>
      <p:sp>
        <p:nvSpPr>
          <p:cNvPr id="41" name="TextBox 40"/>
          <p:cNvSpPr txBox="1"/>
          <p:nvPr/>
        </p:nvSpPr>
        <p:spPr>
          <a:xfrm>
            <a:off x="8445500" y="3492500"/>
            <a:ext cx="3492500" cy="2540000"/>
          </a:xfrm>
          <a:prstGeom prst="rect">
            <a:avLst/>
          </a:prstGeom>
          <a:noFill/>
        </p:spPr>
        <p:txBody>
          <a:bodyPr wrap="square" lIns="0" rIns="0" tIns="0" bIns="0" anchor="t">
            <a:spAutoFit/>
          </a:bodyPr>
          <a:lstStyle/>
          <a:p>
            <a:pPr algn="l">
              <a:lnSpc>
                <a:spcPct val="140000"/>
              </a:lnSpc>
            </a:pPr>
            <a:r>
              <a:rPr sz="1050" b="1" i="0">
                <a:solidFill>
                  <a:srgbClr val="C8462B"/>
                </a:solidFill>
                <a:latin typeface="Barlow"/>
              </a:rPr>
              <a:t>Lecture. </a:t>
            </a:r>
            <a:r>
              <a:rPr sz="1050" b="0" i="0">
                <a:solidFill>
                  <a:srgbClr val="2B2B2B"/>
                </a:solidFill>
                <a:latin typeface="Barlow"/>
              </a:rPr>
              <a:t>Près d'un tiers des surfaces bâties de la commune est à plus de 300 m d'un arrêt, surtout dans les extensions récentes du sud et de Gzenaya. Tanger est reliée à Casablanca en 2 h 10 par le TGV, mais ses quartiers ne sont reliés entre eux que par le bus, le grand taxi et la voiture.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SYNTHÈSE SPATIALE ET ENJEUX</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Trois figures superposées : la vitrine littorale, la périphérie dense, la lisière forestière sous pression.</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5</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enjeux</a:t>
            </a:r>
          </a:p>
        </p:txBody>
      </p:sp>
      <p:sp>
        <p:nvSpPr>
          <p:cNvPr id="7" name="TextBox 6"/>
          <p:cNvSpPr txBox="1"/>
          <p:nvPr/>
        </p:nvSpPr>
        <p:spPr>
          <a:xfrm>
            <a:off x="9621520" y="215900"/>
            <a:ext cx="13385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567 000</a:t>
            </a:r>
          </a:p>
        </p:txBody>
      </p:sp>
      <p:sp>
        <p:nvSpPr>
          <p:cNvPr id="8" name="TextBox 7"/>
          <p:cNvSpPr txBox="1"/>
          <p:nvPr/>
        </p:nvSpPr>
        <p:spPr>
          <a:xfrm>
            <a:off x="9621520" y="546100"/>
            <a:ext cx="13385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habitants dans la</a:t>
            </a:r>
          </a:p>
          <a:p>
            <a:pPr algn="r">
              <a:lnSpc>
                <a:spcPct val="110000"/>
              </a:lnSpc>
            </a:pPr>
            <a:r>
              <a:rPr sz="850" b="0" i="0">
                <a:solidFill>
                  <a:srgbClr val="77736C"/>
                </a:solidFill>
                <a:latin typeface="Barlow"/>
              </a:rPr>
              <a:t>périphérie dense</a:t>
            </a:r>
          </a:p>
        </p:txBody>
      </p:sp>
      <p:sp>
        <p:nvSpPr>
          <p:cNvPr id="9" name="TextBox 8"/>
          <p:cNvSpPr txBox="1"/>
          <p:nvPr/>
        </p:nvSpPr>
        <p:spPr>
          <a:xfrm>
            <a:off x="7909560" y="215900"/>
            <a:ext cx="149606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 km</a:t>
            </a:r>
          </a:p>
        </p:txBody>
      </p:sp>
      <p:sp>
        <p:nvSpPr>
          <p:cNvPr id="10" name="TextBox 9"/>
          <p:cNvSpPr txBox="1"/>
          <p:nvPr/>
        </p:nvSpPr>
        <p:spPr>
          <a:xfrm>
            <a:off x="7909560" y="546100"/>
            <a:ext cx="149606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 bande littorale</a:t>
            </a:r>
          </a:p>
          <a:p>
            <a:pPr algn="r">
              <a:lnSpc>
                <a:spcPct val="110000"/>
              </a:lnSpc>
            </a:pPr>
            <a:r>
              <a:rPr sz="850" b="0" i="0">
                <a:solidFill>
                  <a:srgbClr val="77736C"/>
                </a:solidFill>
                <a:latin typeface="Barlow"/>
              </a:rPr>
              <a:t>concentrant l'image</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16 / 18</a:t>
            </a:r>
          </a:p>
        </p:txBody>
      </p:sp>
      <p:pic>
        <p:nvPicPr>
          <p:cNvPr id="14" name="Picture 13" descr="m10_synthese.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LÉGENDE</a:t>
            </a:r>
          </a:p>
        </p:txBody>
      </p:sp>
      <p:sp>
        <p:nvSpPr>
          <p:cNvPr id="16" name="Rectangle 15"/>
          <p:cNvSpPr/>
          <p:nvPr/>
        </p:nvSpPr>
        <p:spPr>
          <a:xfrm>
            <a:off x="8445500" y="1174750"/>
            <a:ext cx="165100" cy="101600"/>
          </a:xfrm>
          <a:prstGeom prst="rect">
            <a:avLst/>
          </a:prstGeom>
          <a:solidFill>
            <a:srgbClr val="E9B6A8"/>
          </a:solidFill>
          <a:ln>
            <a:noFill/>
          </a:ln>
        </p:spPr>
        <p:txBody>
          <a:bodyPr rtlCol="0" anchor="ctr"/>
          <a:lstStyle/>
          <a:p>
            <a:pPr algn="ctr"/>
          </a:p>
        </p:txBody>
      </p:sp>
      <p:sp>
        <p:nvSpPr>
          <p:cNvPr id="17" name="TextBox 16"/>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Vitrine littorale : bande de 1 km</a:t>
            </a:r>
          </a:p>
        </p:txBody>
      </p:sp>
      <p:sp>
        <p:nvSpPr>
          <p:cNvPr id="18" name="Rectangle 17"/>
          <p:cNvSpPr/>
          <p:nvPr/>
        </p:nvSpPr>
        <p:spPr>
          <a:xfrm>
            <a:off x="8445500" y="1352550"/>
            <a:ext cx="165100" cy="101600"/>
          </a:xfrm>
          <a:prstGeom prst="rect">
            <a:avLst/>
          </a:prstGeom>
          <a:noFill/>
          <a:ln w="12700">
            <a:solidFill>
              <a:srgbClr val="1F3A5F"/>
            </a:solidFill>
          </a:ln>
        </p:spPr>
        <p:txBody>
          <a:bodyPr rtlCol="0" anchor="ctr"/>
          <a:lstStyle/>
          <a:p>
            <a:pPr algn="ctr"/>
          </a:p>
        </p:txBody>
      </p:sp>
      <p:sp>
        <p:nvSpPr>
          <p:cNvPr id="19" name="TextBox 18"/>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Périphérie dense sous-équipée (Beni Makada)</a:t>
            </a:r>
          </a:p>
        </p:txBody>
      </p:sp>
      <p:sp>
        <p:nvSpPr>
          <p:cNvPr id="20" name="Rectangle 19"/>
          <p:cNvSpPr/>
          <p:nvPr/>
        </p:nvSpPr>
        <p:spPr>
          <a:xfrm>
            <a:off x="8445500" y="1530350"/>
            <a:ext cx="165100" cy="101600"/>
          </a:xfrm>
          <a:prstGeom prst="rect">
            <a:avLst/>
          </a:prstGeom>
          <a:solidFill>
            <a:srgbClr val="2F5E2A"/>
          </a:solidFill>
          <a:ln>
            <a:noFill/>
          </a:ln>
        </p:spPr>
        <p:txBody>
          <a:bodyPr rtlCol="0" anchor="ctr"/>
          <a:lstStyle/>
          <a:p>
            <a:pPr algn="ctr"/>
          </a:p>
        </p:txBody>
      </p:sp>
      <p:sp>
        <p:nvSpPr>
          <p:cNvPr id="21" name="TextBox 20"/>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Lisière forestière au contact du bâti</a:t>
            </a:r>
          </a:p>
        </p:txBody>
      </p:sp>
      <p:sp>
        <p:nvSpPr>
          <p:cNvPr id="22" name="Rectangle 21"/>
          <p:cNvSpPr/>
          <p:nvPr/>
        </p:nvSpPr>
        <p:spPr>
          <a:xfrm>
            <a:off x="8445500" y="1708150"/>
            <a:ext cx="165100" cy="101600"/>
          </a:xfrm>
          <a:prstGeom prst="rect">
            <a:avLst/>
          </a:prstGeom>
          <a:solidFill>
            <a:srgbClr val="C6B9A8"/>
          </a:solidFill>
          <a:ln>
            <a:noFill/>
          </a:ln>
        </p:spPr>
        <p:txBody>
          <a:bodyPr rtlCol="0" anchor="ctr"/>
          <a:lstStyle/>
          <a:p>
            <a:pPr algn="ctr"/>
          </a:p>
        </p:txBody>
      </p:sp>
      <p:sp>
        <p:nvSpPr>
          <p:cNvPr id="23" name="TextBox 22"/>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Bâti</a:t>
            </a:r>
          </a:p>
        </p:txBody>
      </p:sp>
      <p:sp>
        <p:nvSpPr>
          <p:cNvPr id="24" name="Rectangle 23"/>
          <p:cNvSpPr/>
          <p:nvPr/>
        </p:nvSpPr>
        <p:spPr>
          <a:xfrm>
            <a:off x="8445500" y="1885950"/>
            <a:ext cx="165100" cy="101600"/>
          </a:xfrm>
          <a:prstGeom prst="rect">
            <a:avLst/>
          </a:prstGeom>
          <a:solidFill>
            <a:srgbClr val="B4C6A2"/>
          </a:solidFill>
          <a:ln>
            <a:noFill/>
          </a:ln>
        </p:spPr>
        <p:txBody>
          <a:bodyPr rtlCol="0" anchor="ctr"/>
          <a:lstStyle/>
          <a:p>
            <a:pPr algn="ctr"/>
          </a:p>
        </p:txBody>
      </p:sp>
      <p:sp>
        <p:nvSpPr>
          <p:cNvPr id="25" name="TextBox 24"/>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Couvert arboré</a:t>
            </a:r>
          </a:p>
        </p:txBody>
      </p:sp>
      <p:sp>
        <p:nvSpPr>
          <p:cNvPr id="26" name="TextBox 25"/>
          <p:cNvSpPr txBox="1"/>
          <p:nvPr/>
        </p:nvSpPr>
        <p:spPr>
          <a:xfrm>
            <a:off x="8445500" y="22098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ENJEUX</a:t>
            </a:r>
          </a:p>
        </p:txBody>
      </p:sp>
      <p:sp>
        <p:nvSpPr>
          <p:cNvPr id="27" name="Oval 26"/>
          <p:cNvSpPr/>
          <p:nvPr/>
        </p:nvSpPr>
        <p:spPr>
          <a:xfrm>
            <a:off x="8445500" y="2419350"/>
            <a:ext cx="165100" cy="165100"/>
          </a:xfrm>
          <a:prstGeom prst="ellipse">
            <a:avLst/>
          </a:prstGeom>
          <a:solidFill>
            <a:srgbClr val="2B2B2B"/>
          </a:solidFill>
          <a:ln w="9525">
            <a:solidFill>
              <a:srgbClr val="FFFFFF"/>
            </a:solidFill>
          </a:ln>
        </p:spPr>
        <p:txBody>
          <a:bodyPr rtlCol="0" anchor="ctr"/>
          <a:lstStyle/>
          <a:p>
            <a:pPr algn="ctr"/>
          </a:p>
        </p:txBody>
      </p:sp>
      <p:sp>
        <p:nvSpPr>
          <p:cNvPr id="28" name="TextBox 27"/>
          <p:cNvSpPr txBox="1"/>
          <p:nvPr/>
        </p:nvSpPr>
        <p:spPr>
          <a:xfrm>
            <a:off x="8445500" y="24193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1</a:t>
            </a:r>
          </a:p>
        </p:txBody>
      </p:sp>
      <p:sp>
        <p:nvSpPr>
          <p:cNvPr id="29" name="TextBox 28"/>
          <p:cNvSpPr txBox="1"/>
          <p:nvPr/>
        </p:nvSpPr>
        <p:spPr>
          <a:xfrm>
            <a:off x="8686800" y="2425700"/>
            <a:ext cx="33020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Front de mer et port</a:t>
            </a:r>
          </a:p>
        </p:txBody>
      </p:sp>
      <p:sp>
        <p:nvSpPr>
          <p:cNvPr id="30" name="TextBox 29"/>
          <p:cNvSpPr txBox="1"/>
          <p:nvPr/>
        </p:nvSpPr>
        <p:spPr>
          <a:xfrm>
            <a:off x="8686800" y="2578100"/>
            <a:ext cx="33020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la vitrine concentre l'investissement et l'hébergement</a:t>
            </a:r>
          </a:p>
        </p:txBody>
      </p:sp>
      <p:sp>
        <p:nvSpPr>
          <p:cNvPr id="31" name="Oval 30"/>
          <p:cNvSpPr/>
          <p:nvPr/>
        </p:nvSpPr>
        <p:spPr>
          <a:xfrm>
            <a:off x="8445500" y="2787650"/>
            <a:ext cx="165100" cy="165100"/>
          </a:xfrm>
          <a:prstGeom prst="ellipse">
            <a:avLst/>
          </a:prstGeom>
          <a:solidFill>
            <a:srgbClr val="2B2B2B"/>
          </a:solidFill>
          <a:ln w="9525">
            <a:solidFill>
              <a:srgbClr val="FFFFFF"/>
            </a:solidFill>
          </a:ln>
        </p:spPr>
        <p:txBody>
          <a:bodyPr rtlCol="0" anchor="ctr"/>
          <a:lstStyle/>
          <a:p>
            <a:pPr algn="ctr"/>
          </a:p>
        </p:txBody>
      </p:sp>
      <p:sp>
        <p:nvSpPr>
          <p:cNvPr id="32" name="TextBox 31"/>
          <p:cNvSpPr txBox="1"/>
          <p:nvPr/>
        </p:nvSpPr>
        <p:spPr>
          <a:xfrm>
            <a:off x="8445500" y="27876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2</a:t>
            </a:r>
          </a:p>
        </p:txBody>
      </p:sp>
      <p:sp>
        <p:nvSpPr>
          <p:cNvPr id="33" name="TextBox 32"/>
          <p:cNvSpPr txBox="1"/>
          <p:nvPr/>
        </p:nvSpPr>
        <p:spPr>
          <a:xfrm>
            <a:off x="8686800" y="2794000"/>
            <a:ext cx="33020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Beni Makada</a:t>
            </a:r>
          </a:p>
        </p:txBody>
      </p:sp>
      <p:sp>
        <p:nvSpPr>
          <p:cNvPr id="34" name="TextBox 33"/>
          <p:cNvSpPr txBox="1"/>
          <p:nvPr/>
        </p:nvSpPr>
        <p:spPr>
          <a:xfrm>
            <a:off x="8686800" y="2946400"/>
            <a:ext cx="33020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44 % des habitants, le moins d'équipements et d'arbres</a:t>
            </a:r>
          </a:p>
        </p:txBody>
      </p:sp>
      <p:sp>
        <p:nvSpPr>
          <p:cNvPr id="35" name="Oval 34"/>
          <p:cNvSpPr/>
          <p:nvPr/>
        </p:nvSpPr>
        <p:spPr>
          <a:xfrm>
            <a:off x="8445500" y="3155950"/>
            <a:ext cx="165100" cy="165100"/>
          </a:xfrm>
          <a:prstGeom prst="ellipse">
            <a:avLst/>
          </a:prstGeom>
          <a:solidFill>
            <a:srgbClr val="2B2B2B"/>
          </a:solidFill>
          <a:ln w="9525">
            <a:solidFill>
              <a:srgbClr val="FFFFFF"/>
            </a:solidFill>
          </a:ln>
        </p:spPr>
        <p:txBody>
          <a:bodyPr rtlCol="0" anchor="ctr"/>
          <a:lstStyle/>
          <a:p>
            <a:pPr algn="ctr"/>
          </a:p>
        </p:txBody>
      </p:sp>
      <p:sp>
        <p:nvSpPr>
          <p:cNvPr id="36" name="TextBox 35"/>
          <p:cNvSpPr txBox="1"/>
          <p:nvPr/>
        </p:nvSpPr>
        <p:spPr>
          <a:xfrm>
            <a:off x="8445500" y="31559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3</a:t>
            </a:r>
          </a:p>
        </p:txBody>
      </p:sp>
      <p:sp>
        <p:nvSpPr>
          <p:cNvPr id="37" name="TextBox 36"/>
          <p:cNvSpPr txBox="1"/>
          <p:nvPr/>
        </p:nvSpPr>
        <p:spPr>
          <a:xfrm>
            <a:off x="8686800" y="3162300"/>
            <a:ext cx="33020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Rmilat, Perdicaris, cap Spartel</a:t>
            </a:r>
          </a:p>
        </p:txBody>
      </p:sp>
      <p:sp>
        <p:nvSpPr>
          <p:cNvPr id="38" name="TextBox 37"/>
          <p:cNvSpPr txBox="1"/>
          <p:nvPr/>
        </p:nvSpPr>
        <p:spPr>
          <a:xfrm>
            <a:off x="8686800" y="3314700"/>
            <a:ext cx="33020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la forêt devient la prochaine réserve foncière</a:t>
            </a:r>
          </a:p>
        </p:txBody>
      </p:sp>
      <p:sp>
        <p:nvSpPr>
          <p:cNvPr id="39" name="Oval 38"/>
          <p:cNvSpPr/>
          <p:nvPr/>
        </p:nvSpPr>
        <p:spPr>
          <a:xfrm>
            <a:off x="8445500" y="3524250"/>
            <a:ext cx="165100" cy="165100"/>
          </a:xfrm>
          <a:prstGeom prst="ellipse">
            <a:avLst/>
          </a:prstGeom>
          <a:solidFill>
            <a:srgbClr val="2B2B2B"/>
          </a:solidFill>
          <a:ln w="9525">
            <a:solidFill>
              <a:srgbClr val="FFFFFF"/>
            </a:solidFill>
          </a:ln>
        </p:spPr>
        <p:txBody>
          <a:bodyPr rtlCol="0" anchor="ctr"/>
          <a:lstStyle/>
          <a:p>
            <a:pPr algn="ctr"/>
          </a:p>
        </p:txBody>
      </p:sp>
      <p:sp>
        <p:nvSpPr>
          <p:cNvPr id="40" name="TextBox 39"/>
          <p:cNvSpPr txBox="1"/>
          <p:nvPr/>
        </p:nvSpPr>
        <p:spPr>
          <a:xfrm>
            <a:off x="8445500" y="35242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4</a:t>
            </a:r>
          </a:p>
        </p:txBody>
      </p:sp>
      <p:sp>
        <p:nvSpPr>
          <p:cNvPr id="41" name="TextBox 40"/>
          <p:cNvSpPr txBox="1"/>
          <p:nvPr/>
        </p:nvSpPr>
        <p:spPr>
          <a:xfrm>
            <a:off x="8686800" y="3530600"/>
            <a:ext cx="33020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Grand stade</a:t>
            </a:r>
          </a:p>
        </p:txBody>
      </p:sp>
      <p:sp>
        <p:nvSpPr>
          <p:cNvPr id="42" name="TextBox 41"/>
          <p:cNvSpPr txBox="1"/>
          <p:nvPr/>
        </p:nvSpPr>
        <p:spPr>
          <a:xfrm>
            <a:off x="8686800" y="3683000"/>
            <a:ext cx="33020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un investissement d'événement, loin des transports</a:t>
            </a:r>
          </a:p>
        </p:txBody>
      </p:sp>
      <p:sp>
        <p:nvSpPr>
          <p:cNvPr id="43" name="Oval 42"/>
          <p:cNvSpPr/>
          <p:nvPr/>
        </p:nvSpPr>
        <p:spPr>
          <a:xfrm>
            <a:off x="8445500" y="3892550"/>
            <a:ext cx="165100" cy="165100"/>
          </a:xfrm>
          <a:prstGeom prst="ellipse">
            <a:avLst/>
          </a:prstGeom>
          <a:solidFill>
            <a:srgbClr val="2B2B2B"/>
          </a:solidFill>
          <a:ln w="9525">
            <a:solidFill>
              <a:srgbClr val="FFFFFF"/>
            </a:solidFill>
          </a:ln>
        </p:spPr>
        <p:txBody>
          <a:bodyPr rtlCol="0" anchor="ctr"/>
          <a:lstStyle/>
          <a:p>
            <a:pPr algn="ctr"/>
          </a:p>
        </p:txBody>
      </p:sp>
      <p:sp>
        <p:nvSpPr>
          <p:cNvPr id="44" name="TextBox 43"/>
          <p:cNvSpPr txBox="1"/>
          <p:nvPr/>
        </p:nvSpPr>
        <p:spPr>
          <a:xfrm>
            <a:off x="8445500" y="38925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5</a:t>
            </a:r>
          </a:p>
        </p:txBody>
      </p:sp>
      <p:sp>
        <p:nvSpPr>
          <p:cNvPr id="45" name="TextBox 44"/>
          <p:cNvSpPr txBox="1"/>
          <p:nvPr/>
        </p:nvSpPr>
        <p:spPr>
          <a:xfrm>
            <a:off x="8686800" y="3898900"/>
            <a:ext cx="3302000" cy="152400"/>
          </a:xfrm>
          <a:prstGeom prst="rect">
            <a:avLst/>
          </a:prstGeom>
          <a:noFill/>
        </p:spPr>
        <p:txBody>
          <a:bodyPr wrap="square" lIns="0" rIns="0" tIns="0" bIns="0" anchor="t">
            <a:spAutoFit/>
          </a:bodyPr>
          <a:lstStyle/>
          <a:p>
            <a:pPr algn="l">
              <a:lnSpc>
                <a:spcPct val="120000"/>
              </a:lnSpc>
            </a:pPr>
            <a:r>
              <a:rPr sz="1100" b="1" i="0">
                <a:solidFill>
                  <a:srgbClr val="2B2B2B"/>
                </a:solidFill>
                <a:latin typeface="Barlow"/>
              </a:rPr>
              <a:t>Gzenaya, zone franche</a:t>
            </a:r>
          </a:p>
        </p:txBody>
      </p:sp>
      <p:sp>
        <p:nvSpPr>
          <p:cNvPr id="46" name="TextBox 45"/>
          <p:cNvSpPr txBox="1"/>
          <p:nvPr/>
        </p:nvSpPr>
        <p:spPr>
          <a:xfrm>
            <a:off x="8686800" y="4051300"/>
            <a:ext cx="3302000" cy="152400"/>
          </a:xfrm>
          <a:prstGeom prst="rect">
            <a:avLst/>
          </a:prstGeom>
          <a:noFill/>
        </p:spPr>
        <p:txBody>
          <a:bodyPr wrap="square" lIns="0" rIns="0" tIns="0" bIns="0" anchor="t">
            <a:spAutoFit/>
          </a:bodyPr>
          <a:lstStyle/>
          <a:p>
            <a:pPr algn="l">
              <a:lnSpc>
                <a:spcPct val="120000"/>
              </a:lnSpc>
            </a:pPr>
            <a:r>
              <a:rPr sz="950" b="0" i="0">
                <a:solidFill>
                  <a:srgbClr val="77736C"/>
                </a:solidFill>
                <a:latin typeface="Barlow"/>
              </a:rPr>
              <a:t>l'emploi sans la ville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PROPOSITIONS : RETOURNER LA VITRINE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7736C"/>
                </a:solidFill>
                <a:latin typeface="Barlow"/>
              </a:rPr>
              <a:t>Cinq interventions localisées, et une règle : juger chaque projet à ce qu'il apporte au quartier le plus éloigné.</a:t>
            </a:r>
          </a:p>
        </p:txBody>
      </p:sp>
      <p:sp>
        <p:nvSpPr>
          <p:cNvPr id="5" name="TextBox 4"/>
          <p:cNvSpPr txBox="1"/>
          <p:nvPr/>
        </p:nvSpPr>
        <p:spPr>
          <a:xfrm>
            <a:off x="10835640" y="215900"/>
            <a:ext cx="110236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328</a:t>
            </a:r>
          </a:p>
        </p:txBody>
      </p:sp>
      <p:sp>
        <p:nvSpPr>
          <p:cNvPr id="6" name="TextBox 5"/>
          <p:cNvSpPr txBox="1"/>
          <p:nvPr/>
        </p:nvSpPr>
        <p:spPr>
          <a:xfrm>
            <a:off x="10835640" y="546100"/>
            <a:ext cx="110236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logements à sauver</a:t>
            </a:r>
          </a:p>
          <a:p>
            <a:pPr algn="r">
              <a:lnSpc>
                <a:spcPct val="110000"/>
              </a:lnSpc>
            </a:pPr>
            <a:r>
              <a:rPr sz="850" b="0" i="0">
                <a:solidFill>
                  <a:srgbClr val="77736C"/>
                </a:solidFill>
                <a:latin typeface="Barlow"/>
              </a:rPr>
              <a:t>en médina</a:t>
            </a:r>
          </a:p>
        </p:txBody>
      </p:sp>
      <p:sp>
        <p:nvSpPr>
          <p:cNvPr id="7" name="TextBox 6"/>
          <p:cNvSpPr txBox="1"/>
          <p:nvPr/>
        </p:nvSpPr>
        <p:spPr>
          <a:xfrm>
            <a:off x="9202420" y="215900"/>
            <a:ext cx="141732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6</a:t>
            </a:r>
          </a:p>
        </p:txBody>
      </p:sp>
      <p:sp>
        <p:nvSpPr>
          <p:cNvPr id="8" name="TextBox 7"/>
          <p:cNvSpPr txBox="1"/>
          <p:nvPr/>
        </p:nvSpPr>
        <p:spPr>
          <a:xfrm>
            <a:off x="9202420" y="546100"/>
            <a:ext cx="141732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équipements de</a:t>
            </a:r>
          </a:p>
          <a:p>
            <a:pPr algn="r">
              <a:lnSpc>
                <a:spcPct val="110000"/>
              </a:lnSpc>
            </a:pPr>
            <a:r>
              <a:rPr sz="850" b="0" i="0">
                <a:solidFill>
                  <a:srgbClr val="77736C"/>
                </a:solidFill>
                <a:latin typeface="Barlow"/>
              </a:rPr>
              <a:t>quartier prioritaires</a:t>
            </a:r>
          </a:p>
        </p:txBody>
      </p:sp>
      <p:sp>
        <p:nvSpPr>
          <p:cNvPr id="9" name="TextBox 8"/>
          <p:cNvSpPr txBox="1"/>
          <p:nvPr/>
        </p:nvSpPr>
        <p:spPr>
          <a:xfrm>
            <a:off x="7647940" y="215900"/>
            <a:ext cx="1338580" cy="279400"/>
          </a:xfrm>
          <a:prstGeom prst="rect">
            <a:avLst/>
          </a:prstGeom>
          <a:noFill/>
        </p:spPr>
        <p:txBody>
          <a:bodyPr wrap="square" lIns="0" rIns="0" tIns="0" bIns="0" anchor="t">
            <a:spAutoFit/>
          </a:bodyPr>
          <a:lstStyle/>
          <a:p>
            <a:pPr algn="r">
              <a:lnSpc>
                <a:spcPct val="120000"/>
              </a:lnSpc>
            </a:pPr>
            <a:r>
              <a:rPr sz="2400" b="1" i="0">
                <a:solidFill>
                  <a:srgbClr val="2B2B2B"/>
                </a:solidFill>
                <a:latin typeface="Barlow Condensed"/>
              </a:rPr>
              <a:t>17 km</a:t>
            </a:r>
          </a:p>
        </p:txBody>
      </p:sp>
      <p:sp>
        <p:nvSpPr>
          <p:cNvPr id="10" name="TextBox 9"/>
          <p:cNvSpPr txBox="1"/>
          <p:nvPr/>
        </p:nvSpPr>
        <p:spPr>
          <a:xfrm>
            <a:off x="7647940" y="546100"/>
            <a:ext cx="1338580" cy="254000"/>
          </a:xfrm>
          <a:prstGeom prst="rect">
            <a:avLst/>
          </a:prstGeom>
          <a:noFill/>
        </p:spPr>
        <p:txBody>
          <a:bodyPr wrap="square" lIns="0" rIns="0" tIns="0" bIns="0" anchor="t">
            <a:spAutoFit/>
          </a:bodyPr>
          <a:lstStyle/>
          <a:p>
            <a:pPr algn="r">
              <a:lnSpc>
                <a:spcPct val="110000"/>
              </a:lnSpc>
            </a:pPr>
            <a:r>
              <a:rPr sz="850" b="0" i="0">
                <a:solidFill>
                  <a:srgbClr val="77736C"/>
                </a:solidFill>
                <a:latin typeface="Barlow"/>
              </a:rPr>
              <a:t>de ligne structurante</a:t>
            </a:r>
          </a:p>
          <a:p>
            <a:pPr algn="r">
              <a:lnSpc>
                <a:spcPct val="110000"/>
              </a:lnSpc>
            </a:pPr>
            <a:r>
              <a:rPr sz="850" b="0" i="0">
                <a:solidFill>
                  <a:srgbClr val="77736C"/>
                </a:solidFill>
                <a:latin typeface="Barlow"/>
              </a:rPr>
              <a:t>Gzenaya-gare</a:t>
            </a:r>
          </a:p>
        </p:txBody>
      </p:sp>
      <p:cxnSp>
        <p:nvCxnSpPr>
          <p:cNvPr id="11" name="Connector 10"/>
          <p:cNvCxnSpPr/>
          <p:nvPr/>
        </p:nvCxnSpPr>
        <p:spPr>
          <a:xfrm>
            <a:off x="254000" y="6578600"/>
            <a:ext cx="11684000" cy="0"/>
          </a:xfrm>
          <a:prstGeom prst="line">
            <a:avLst/>
          </a:prstGeom>
          <a:ln w="6350">
            <a:solidFill>
              <a:srgbClr val="C9C4BA"/>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17 / 18</a:t>
            </a:r>
          </a:p>
        </p:txBody>
      </p:sp>
      <p:pic>
        <p:nvPicPr>
          <p:cNvPr id="14" name="Picture 13" descr="m11_propositions.jpg"/>
          <p:cNvPicPr>
            <a:picLocks noChangeAspect="1"/>
          </p:cNvPicPr>
          <p:nvPr/>
        </p:nvPicPr>
        <p:blipFill>
          <a:blip r:embed="rId2"/>
          <a:stretch>
            <a:fillRect/>
          </a:stretch>
        </p:blipFill>
        <p:spPr>
          <a:xfrm>
            <a:off x="254000" y="952500"/>
            <a:ext cx="7937500" cy="5622396"/>
          </a:xfrm>
          <a:prstGeom prst="rect">
            <a:avLst/>
          </a:prstGeom>
        </p:spPr>
      </p:pic>
      <p:sp>
        <p:nvSpPr>
          <p:cNvPr id="15" name="Oval 14"/>
          <p:cNvSpPr/>
          <p:nvPr/>
        </p:nvSpPr>
        <p:spPr>
          <a:xfrm>
            <a:off x="8445500" y="1016000"/>
            <a:ext cx="177800" cy="177800"/>
          </a:xfrm>
          <a:prstGeom prst="ellipse">
            <a:avLst/>
          </a:prstGeom>
          <a:solidFill>
            <a:srgbClr val="2B2B2B"/>
          </a:solidFill>
          <a:ln w="9525">
            <a:solidFill>
              <a:srgbClr val="FFFFFF"/>
            </a:solidFill>
          </a:ln>
        </p:spPr>
        <p:txBody>
          <a:bodyPr rtlCol="0" anchor="ctr"/>
          <a:lstStyle/>
          <a:p>
            <a:pPr algn="ctr"/>
          </a:p>
        </p:txBody>
      </p:sp>
      <p:sp>
        <p:nvSpPr>
          <p:cNvPr id="16" name="TextBox 15"/>
          <p:cNvSpPr txBox="1"/>
          <p:nvPr/>
        </p:nvSpPr>
        <p:spPr>
          <a:xfrm>
            <a:off x="8445500" y="10160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1</a:t>
            </a:r>
          </a:p>
        </p:txBody>
      </p:sp>
      <p:sp>
        <p:nvSpPr>
          <p:cNvPr id="17" name="Rectangle 16"/>
          <p:cNvSpPr/>
          <p:nvPr/>
        </p:nvSpPr>
        <p:spPr>
          <a:xfrm>
            <a:off x="8699500" y="1041400"/>
            <a:ext cx="38100" cy="139700"/>
          </a:xfrm>
          <a:prstGeom prst="rect">
            <a:avLst/>
          </a:prstGeom>
          <a:solidFill>
            <a:srgbClr val="C8462B"/>
          </a:solidFill>
          <a:ln>
            <a:noFill/>
          </a:ln>
        </p:spPr>
        <p:txBody>
          <a:bodyPr rtlCol="0" anchor="ctr"/>
          <a:lstStyle/>
          <a:p>
            <a:pPr algn="ctr"/>
          </a:p>
        </p:txBody>
      </p:sp>
      <p:sp>
        <p:nvSpPr>
          <p:cNvPr id="18" name="TextBox 17"/>
          <p:cNvSpPr txBox="1"/>
          <p:nvPr/>
        </p:nvSpPr>
        <p:spPr>
          <a:xfrm>
            <a:off x="8801100" y="1028700"/>
            <a:ext cx="3175000" cy="177800"/>
          </a:xfrm>
          <a:prstGeom prst="rect">
            <a:avLst/>
          </a:prstGeom>
          <a:noFill/>
        </p:spPr>
        <p:txBody>
          <a:bodyPr wrap="square" lIns="0" rIns="0" tIns="0" bIns="0" anchor="t">
            <a:spAutoFit/>
          </a:bodyPr>
          <a:lstStyle/>
          <a:p>
            <a:pPr algn="l">
              <a:lnSpc>
                <a:spcPct val="120000"/>
              </a:lnSpc>
            </a:pPr>
            <a:r>
              <a:rPr sz="1300" b="1" i="0" spc="200">
                <a:solidFill>
                  <a:srgbClr val="2B2B2B"/>
                </a:solidFill>
                <a:latin typeface="Barlow Condensed"/>
              </a:rPr>
              <a:t>RECONNECTER</a:t>
            </a:r>
          </a:p>
        </p:txBody>
      </p:sp>
      <p:sp>
        <p:nvSpPr>
          <p:cNvPr id="19" name="TextBox 18"/>
          <p:cNvSpPr txBox="1"/>
          <p:nvPr/>
        </p:nvSpPr>
        <p:spPr>
          <a:xfrm>
            <a:off x="8699500" y="1257300"/>
            <a:ext cx="3238500" cy="635000"/>
          </a:xfrm>
          <a:prstGeom prst="rect">
            <a:avLst/>
          </a:prstGeom>
          <a:noFill/>
        </p:spPr>
        <p:txBody>
          <a:bodyPr wrap="square" lIns="0" rIns="0" tIns="0" bIns="0" anchor="t">
            <a:spAutoFit/>
          </a:bodyPr>
          <a:lstStyle/>
          <a:p>
            <a:pPr algn="l">
              <a:lnSpc>
                <a:spcPct val="135000"/>
              </a:lnSpc>
            </a:pPr>
            <a:r>
              <a:rPr sz="1050" b="0" i="0">
                <a:solidFill>
                  <a:srgbClr val="2B2B2B"/>
                </a:solidFill>
                <a:latin typeface="Barlow"/>
              </a:rPr>
              <a:t>Liaison piétonne continue médina, port, corniche ; apaisement de la route littorale.</a:t>
            </a:r>
          </a:p>
        </p:txBody>
      </p:sp>
      <p:sp>
        <p:nvSpPr>
          <p:cNvPr id="20" name="Oval 19"/>
          <p:cNvSpPr/>
          <p:nvPr/>
        </p:nvSpPr>
        <p:spPr>
          <a:xfrm>
            <a:off x="8445500" y="1968500"/>
            <a:ext cx="177800" cy="177800"/>
          </a:xfrm>
          <a:prstGeom prst="ellipse">
            <a:avLst/>
          </a:prstGeom>
          <a:solidFill>
            <a:srgbClr val="2B2B2B"/>
          </a:solidFill>
          <a:ln w="9525">
            <a:solidFill>
              <a:srgbClr val="FFFFFF"/>
            </a:solidFill>
          </a:ln>
        </p:spPr>
        <p:txBody>
          <a:bodyPr rtlCol="0" anchor="ctr"/>
          <a:lstStyle/>
          <a:p>
            <a:pPr algn="ctr"/>
          </a:p>
        </p:txBody>
      </p:sp>
      <p:sp>
        <p:nvSpPr>
          <p:cNvPr id="21" name="TextBox 20"/>
          <p:cNvSpPr txBox="1"/>
          <p:nvPr/>
        </p:nvSpPr>
        <p:spPr>
          <a:xfrm>
            <a:off x="8445500" y="19685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2</a:t>
            </a:r>
          </a:p>
        </p:txBody>
      </p:sp>
      <p:sp>
        <p:nvSpPr>
          <p:cNvPr id="22" name="Rectangle 21"/>
          <p:cNvSpPr/>
          <p:nvPr/>
        </p:nvSpPr>
        <p:spPr>
          <a:xfrm>
            <a:off x="8699500" y="1993900"/>
            <a:ext cx="38100" cy="139700"/>
          </a:xfrm>
          <a:prstGeom prst="rect">
            <a:avLst/>
          </a:prstGeom>
          <a:solidFill>
            <a:srgbClr val="C8462B"/>
          </a:solidFill>
          <a:ln>
            <a:noFill/>
          </a:ln>
        </p:spPr>
        <p:txBody>
          <a:bodyPr rtlCol="0" anchor="ctr"/>
          <a:lstStyle/>
          <a:p>
            <a:pPr algn="ctr"/>
          </a:p>
        </p:txBody>
      </p:sp>
      <p:sp>
        <p:nvSpPr>
          <p:cNvPr id="23" name="TextBox 22"/>
          <p:cNvSpPr txBox="1"/>
          <p:nvPr/>
        </p:nvSpPr>
        <p:spPr>
          <a:xfrm>
            <a:off x="8801100" y="1981200"/>
            <a:ext cx="3175000" cy="177800"/>
          </a:xfrm>
          <a:prstGeom prst="rect">
            <a:avLst/>
          </a:prstGeom>
          <a:noFill/>
        </p:spPr>
        <p:txBody>
          <a:bodyPr wrap="square" lIns="0" rIns="0" tIns="0" bIns="0" anchor="t">
            <a:spAutoFit/>
          </a:bodyPr>
          <a:lstStyle/>
          <a:p>
            <a:pPr algn="l">
              <a:lnSpc>
                <a:spcPct val="120000"/>
              </a:lnSpc>
            </a:pPr>
            <a:r>
              <a:rPr sz="1300" b="1" i="0" spc="200">
                <a:solidFill>
                  <a:srgbClr val="2B2B2B"/>
                </a:solidFill>
                <a:latin typeface="Barlow Condensed"/>
              </a:rPr>
              <a:t>HABITER LA MÉDINA</a:t>
            </a:r>
          </a:p>
        </p:txBody>
      </p:sp>
      <p:sp>
        <p:nvSpPr>
          <p:cNvPr id="24" name="TextBox 23"/>
          <p:cNvSpPr txBox="1"/>
          <p:nvPr/>
        </p:nvSpPr>
        <p:spPr>
          <a:xfrm>
            <a:off x="8699500" y="2209800"/>
            <a:ext cx="3238500" cy="635000"/>
          </a:xfrm>
          <a:prstGeom prst="rect">
            <a:avLst/>
          </a:prstGeom>
          <a:noFill/>
        </p:spPr>
        <p:txBody>
          <a:bodyPr wrap="square" lIns="0" rIns="0" tIns="0" bIns="0" anchor="t">
            <a:spAutoFit/>
          </a:bodyPr>
          <a:lstStyle/>
          <a:p>
            <a:pPr algn="l">
              <a:lnSpc>
                <a:spcPct val="135000"/>
              </a:lnSpc>
            </a:pPr>
            <a:r>
              <a:rPr sz="1050" b="0" i="0">
                <a:solidFill>
                  <a:srgbClr val="2B2B2B"/>
                </a:solidFill>
                <a:latin typeface="Barlow"/>
              </a:rPr>
              <a:t>Logement d'abord : les 328 bâtiments en péril avant les façades ; encadrer la location de courte durée.</a:t>
            </a:r>
          </a:p>
        </p:txBody>
      </p:sp>
      <p:sp>
        <p:nvSpPr>
          <p:cNvPr id="25" name="Oval 24"/>
          <p:cNvSpPr/>
          <p:nvPr/>
        </p:nvSpPr>
        <p:spPr>
          <a:xfrm>
            <a:off x="8445500" y="2921000"/>
            <a:ext cx="177800" cy="177800"/>
          </a:xfrm>
          <a:prstGeom prst="ellipse">
            <a:avLst/>
          </a:prstGeom>
          <a:solidFill>
            <a:srgbClr val="2B2B2B"/>
          </a:solidFill>
          <a:ln w="9525">
            <a:solidFill>
              <a:srgbClr val="FFFFFF"/>
            </a:solidFill>
          </a:ln>
        </p:spPr>
        <p:txBody>
          <a:bodyPr rtlCol="0" anchor="ctr"/>
          <a:lstStyle/>
          <a:p>
            <a:pPr algn="ctr"/>
          </a:p>
        </p:txBody>
      </p:sp>
      <p:sp>
        <p:nvSpPr>
          <p:cNvPr id="26" name="TextBox 25"/>
          <p:cNvSpPr txBox="1"/>
          <p:nvPr/>
        </p:nvSpPr>
        <p:spPr>
          <a:xfrm>
            <a:off x="8445500" y="29210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3</a:t>
            </a:r>
          </a:p>
        </p:txBody>
      </p:sp>
      <p:sp>
        <p:nvSpPr>
          <p:cNvPr id="27" name="Rectangle 26"/>
          <p:cNvSpPr/>
          <p:nvPr/>
        </p:nvSpPr>
        <p:spPr>
          <a:xfrm>
            <a:off x="8699500" y="2946400"/>
            <a:ext cx="38100" cy="139700"/>
          </a:xfrm>
          <a:prstGeom prst="rect">
            <a:avLst/>
          </a:prstGeom>
          <a:solidFill>
            <a:srgbClr val="2B2B2B"/>
          </a:solidFill>
          <a:ln>
            <a:noFill/>
          </a:ln>
        </p:spPr>
        <p:txBody>
          <a:bodyPr rtlCol="0" anchor="ctr"/>
          <a:lstStyle/>
          <a:p>
            <a:pPr algn="ctr"/>
          </a:p>
        </p:txBody>
      </p:sp>
      <p:sp>
        <p:nvSpPr>
          <p:cNvPr id="28" name="TextBox 27"/>
          <p:cNvSpPr txBox="1"/>
          <p:nvPr/>
        </p:nvSpPr>
        <p:spPr>
          <a:xfrm>
            <a:off x="8801100" y="2933700"/>
            <a:ext cx="3175000" cy="177800"/>
          </a:xfrm>
          <a:prstGeom prst="rect">
            <a:avLst/>
          </a:prstGeom>
          <a:noFill/>
        </p:spPr>
        <p:txBody>
          <a:bodyPr wrap="square" lIns="0" rIns="0" tIns="0" bIns="0" anchor="t">
            <a:spAutoFit/>
          </a:bodyPr>
          <a:lstStyle/>
          <a:p>
            <a:pPr algn="l">
              <a:lnSpc>
                <a:spcPct val="120000"/>
              </a:lnSpc>
            </a:pPr>
            <a:r>
              <a:rPr sz="1300" b="1" i="0" spc="200">
                <a:solidFill>
                  <a:srgbClr val="2B2B2B"/>
                </a:solidFill>
                <a:latin typeface="Barlow Condensed"/>
              </a:rPr>
              <a:t>RELIER LES QUARTIERS</a:t>
            </a:r>
          </a:p>
        </p:txBody>
      </p:sp>
      <p:sp>
        <p:nvSpPr>
          <p:cNvPr id="29" name="TextBox 28"/>
          <p:cNvSpPr txBox="1"/>
          <p:nvPr/>
        </p:nvSpPr>
        <p:spPr>
          <a:xfrm>
            <a:off x="8699500" y="3162300"/>
            <a:ext cx="3238500" cy="635000"/>
          </a:xfrm>
          <a:prstGeom prst="rect">
            <a:avLst/>
          </a:prstGeom>
          <a:noFill/>
        </p:spPr>
        <p:txBody>
          <a:bodyPr wrap="square" lIns="0" rIns="0" tIns="0" bIns="0" anchor="t">
            <a:spAutoFit/>
          </a:bodyPr>
          <a:lstStyle/>
          <a:p>
            <a:pPr algn="l">
              <a:lnSpc>
                <a:spcPct val="135000"/>
              </a:lnSpc>
            </a:pPr>
            <a:r>
              <a:rPr sz="1050" b="0" i="0">
                <a:solidFill>
                  <a:srgbClr val="2B2B2B"/>
                </a:solidFill>
                <a:latin typeface="Barlow"/>
              </a:rPr>
              <a:t>Une ligne de tram ou de BHNS de 17 km, tracée sur la voirie existante : Gzenaya, Mesnana, Beni Makada, centre, gare.</a:t>
            </a:r>
          </a:p>
        </p:txBody>
      </p:sp>
      <p:sp>
        <p:nvSpPr>
          <p:cNvPr id="30" name="Oval 29"/>
          <p:cNvSpPr/>
          <p:nvPr/>
        </p:nvSpPr>
        <p:spPr>
          <a:xfrm>
            <a:off x="8445500" y="3873500"/>
            <a:ext cx="177800" cy="177800"/>
          </a:xfrm>
          <a:prstGeom prst="ellipse">
            <a:avLst/>
          </a:prstGeom>
          <a:solidFill>
            <a:srgbClr val="2B2B2B"/>
          </a:solidFill>
          <a:ln w="9525">
            <a:solidFill>
              <a:srgbClr val="FFFFFF"/>
            </a:solidFill>
          </a:ln>
        </p:spPr>
        <p:txBody>
          <a:bodyPr rtlCol="0" anchor="ctr"/>
          <a:lstStyle/>
          <a:p>
            <a:pPr algn="ctr"/>
          </a:p>
        </p:txBody>
      </p:sp>
      <p:sp>
        <p:nvSpPr>
          <p:cNvPr id="31" name="TextBox 30"/>
          <p:cNvSpPr txBox="1"/>
          <p:nvPr/>
        </p:nvSpPr>
        <p:spPr>
          <a:xfrm>
            <a:off x="8445500" y="38735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4</a:t>
            </a:r>
          </a:p>
        </p:txBody>
      </p:sp>
      <p:sp>
        <p:nvSpPr>
          <p:cNvPr id="32" name="Rectangle 31"/>
          <p:cNvSpPr/>
          <p:nvPr/>
        </p:nvSpPr>
        <p:spPr>
          <a:xfrm>
            <a:off x="8699500" y="3898900"/>
            <a:ext cx="38100" cy="139700"/>
          </a:xfrm>
          <a:prstGeom prst="rect">
            <a:avLst/>
          </a:prstGeom>
          <a:solidFill>
            <a:srgbClr val="5E7F4F"/>
          </a:solidFill>
          <a:ln>
            <a:noFill/>
          </a:ln>
        </p:spPr>
        <p:txBody>
          <a:bodyPr rtlCol="0" anchor="ctr"/>
          <a:lstStyle/>
          <a:p>
            <a:pPr algn="ctr"/>
          </a:p>
        </p:txBody>
      </p:sp>
      <p:sp>
        <p:nvSpPr>
          <p:cNvPr id="33" name="TextBox 32"/>
          <p:cNvSpPr txBox="1"/>
          <p:nvPr/>
        </p:nvSpPr>
        <p:spPr>
          <a:xfrm>
            <a:off x="8801100" y="3886200"/>
            <a:ext cx="3175000" cy="177800"/>
          </a:xfrm>
          <a:prstGeom prst="rect">
            <a:avLst/>
          </a:prstGeom>
          <a:noFill/>
        </p:spPr>
        <p:txBody>
          <a:bodyPr wrap="square" lIns="0" rIns="0" tIns="0" bIns="0" anchor="t">
            <a:spAutoFit/>
          </a:bodyPr>
          <a:lstStyle/>
          <a:p>
            <a:pPr algn="l">
              <a:lnSpc>
                <a:spcPct val="120000"/>
              </a:lnSpc>
            </a:pPr>
            <a:r>
              <a:rPr sz="1300" b="1" i="0" spc="200">
                <a:solidFill>
                  <a:srgbClr val="2B2B2B"/>
                </a:solidFill>
                <a:latin typeface="Barlow Condensed"/>
              </a:rPr>
              <a:t>PROTÉGER LA LISIÈRE</a:t>
            </a:r>
          </a:p>
        </p:txBody>
      </p:sp>
      <p:sp>
        <p:nvSpPr>
          <p:cNvPr id="34" name="TextBox 33"/>
          <p:cNvSpPr txBox="1"/>
          <p:nvPr/>
        </p:nvSpPr>
        <p:spPr>
          <a:xfrm>
            <a:off x="8699500" y="4114800"/>
            <a:ext cx="3238500" cy="635000"/>
          </a:xfrm>
          <a:prstGeom prst="rect">
            <a:avLst/>
          </a:prstGeom>
          <a:noFill/>
        </p:spPr>
        <p:txBody>
          <a:bodyPr wrap="square" lIns="0" rIns="0" tIns="0" bIns="0" anchor="t">
            <a:spAutoFit/>
          </a:bodyPr>
          <a:lstStyle/>
          <a:p>
            <a:pPr algn="l">
              <a:lnSpc>
                <a:spcPct val="135000"/>
              </a:lnSpc>
            </a:pPr>
            <a:r>
              <a:rPr sz="1050" b="0" i="0">
                <a:solidFill>
                  <a:srgbClr val="2B2B2B"/>
                </a:solidFill>
                <a:latin typeface="Barlow"/>
              </a:rPr>
              <a:t>Limite verte ferme autour de Rmilat, Perdicaris et cap Spartel ; rivage public garanti.</a:t>
            </a:r>
          </a:p>
        </p:txBody>
      </p:sp>
      <p:sp>
        <p:nvSpPr>
          <p:cNvPr id="35" name="Oval 34"/>
          <p:cNvSpPr/>
          <p:nvPr/>
        </p:nvSpPr>
        <p:spPr>
          <a:xfrm>
            <a:off x="8445500" y="4826000"/>
            <a:ext cx="177800" cy="177800"/>
          </a:xfrm>
          <a:prstGeom prst="ellipse">
            <a:avLst/>
          </a:prstGeom>
          <a:solidFill>
            <a:srgbClr val="2B2B2B"/>
          </a:solidFill>
          <a:ln w="9525">
            <a:solidFill>
              <a:srgbClr val="FFFFFF"/>
            </a:solidFill>
          </a:ln>
        </p:spPr>
        <p:txBody>
          <a:bodyPr rtlCol="0" anchor="ctr"/>
          <a:lstStyle/>
          <a:p>
            <a:pPr algn="ctr"/>
          </a:p>
        </p:txBody>
      </p:sp>
      <p:sp>
        <p:nvSpPr>
          <p:cNvPr id="36" name="TextBox 35"/>
          <p:cNvSpPr txBox="1"/>
          <p:nvPr/>
        </p:nvSpPr>
        <p:spPr>
          <a:xfrm>
            <a:off x="8445500" y="48260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5</a:t>
            </a:r>
          </a:p>
        </p:txBody>
      </p:sp>
      <p:sp>
        <p:nvSpPr>
          <p:cNvPr id="37" name="Rectangle 36"/>
          <p:cNvSpPr/>
          <p:nvPr/>
        </p:nvSpPr>
        <p:spPr>
          <a:xfrm>
            <a:off x="8699500" y="4851400"/>
            <a:ext cx="38100" cy="139700"/>
          </a:xfrm>
          <a:prstGeom prst="rect">
            <a:avLst/>
          </a:prstGeom>
          <a:solidFill>
            <a:srgbClr val="D9A441"/>
          </a:solidFill>
          <a:ln>
            <a:noFill/>
          </a:ln>
        </p:spPr>
        <p:txBody>
          <a:bodyPr rtlCol="0" anchor="ctr"/>
          <a:lstStyle/>
          <a:p>
            <a:pPr algn="ctr"/>
          </a:p>
        </p:txBody>
      </p:sp>
      <p:sp>
        <p:nvSpPr>
          <p:cNvPr id="38" name="TextBox 37"/>
          <p:cNvSpPr txBox="1"/>
          <p:nvPr/>
        </p:nvSpPr>
        <p:spPr>
          <a:xfrm>
            <a:off x="8801100" y="4838700"/>
            <a:ext cx="3175000" cy="177800"/>
          </a:xfrm>
          <a:prstGeom prst="rect">
            <a:avLst/>
          </a:prstGeom>
          <a:noFill/>
        </p:spPr>
        <p:txBody>
          <a:bodyPr wrap="square" lIns="0" rIns="0" tIns="0" bIns="0" anchor="t">
            <a:spAutoFit/>
          </a:bodyPr>
          <a:lstStyle/>
          <a:p>
            <a:pPr algn="l">
              <a:lnSpc>
                <a:spcPct val="120000"/>
              </a:lnSpc>
            </a:pPr>
            <a:r>
              <a:rPr sz="1300" b="1" i="0" spc="200">
                <a:solidFill>
                  <a:srgbClr val="2B2B2B"/>
                </a:solidFill>
                <a:latin typeface="Barlow Condensed"/>
              </a:rPr>
              <a:t>ÉQUIPER LA PÉRIPHÉRIE</a:t>
            </a:r>
          </a:p>
        </p:txBody>
      </p:sp>
      <p:sp>
        <p:nvSpPr>
          <p:cNvPr id="39" name="TextBox 38"/>
          <p:cNvSpPr txBox="1"/>
          <p:nvPr/>
        </p:nvSpPr>
        <p:spPr>
          <a:xfrm>
            <a:off x="8699500" y="5067300"/>
            <a:ext cx="3238500" cy="635000"/>
          </a:xfrm>
          <a:prstGeom prst="rect">
            <a:avLst/>
          </a:prstGeom>
          <a:noFill/>
        </p:spPr>
        <p:txBody>
          <a:bodyPr wrap="square" lIns="0" rIns="0" tIns="0" bIns="0" anchor="t">
            <a:spAutoFit/>
          </a:bodyPr>
          <a:lstStyle/>
          <a:p>
            <a:pPr algn="l">
              <a:lnSpc>
                <a:spcPct val="135000"/>
              </a:lnSpc>
            </a:pPr>
            <a:r>
              <a:rPr sz="1050" b="0" i="0">
                <a:solidFill>
                  <a:srgbClr val="2B2B2B"/>
                </a:solidFill>
                <a:latin typeface="Barlow"/>
              </a:rPr>
              <a:t>Héritage Mondial : chaque dirham de l'événement couplé à une école, un centre de santé ou un parc à Beni Makada et Mghogha.</a:t>
            </a:r>
          </a:p>
        </p:txBody>
      </p:sp>
      <p:cxnSp>
        <p:nvCxnSpPr>
          <p:cNvPr id="40" name="Connector 39"/>
          <p:cNvCxnSpPr/>
          <p:nvPr/>
        </p:nvCxnSpPr>
        <p:spPr>
          <a:xfrm>
            <a:off x="8445500" y="5911850"/>
            <a:ext cx="165100" cy="0"/>
          </a:xfrm>
          <a:prstGeom prst="line">
            <a:avLst/>
          </a:prstGeom>
          <a:ln w="22225">
            <a:solidFill>
              <a:srgbClr val="2B2B2B"/>
            </a:solidFill>
          </a:ln>
        </p:spPr>
      </p:cxnSp>
      <p:sp>
        <p:nvSpPr>
          <p:cNvPr id="41" name="TextBox 40"/>
          <p:cNvSpPr txBox="1"/>
          <p:nvPr/>
        </p:nvSpPr>
        <p:spPr>
          <a:xfrm>
            <a:off x="8699500" y="58483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Ligne structurante proposée, tracée sur la voirie réelle</a:t>
            </a:r>
          </a:p>
        </p:txBody>
      </p:sp>
      <p:sp>
        <p:nvSpPr>
          <p:cNvPr id="42" name="Rectangle 41"/>
          <p:cNvSpPr/>
          <p:nvPr/>
        </p:nvSpPr>
        <p:spPr>
          <a:xfrm>
            <a:off x="8489950" y="6051550"/>
            <a:ext cx="76200" cy="76200"/>
          </a:xfrm>
          <a:prstGeom prst="rect">
            <a:avLst/>
          </a:prstGeom>
          <a:solidFill>
            <a:srgbClr val="D9A441"/>
          </a:solidFill>
          <a:ln>
            <a:noFill/>
          </a:ln>
        </p:spPr>
        <p:txBody>
          <a:bodyPr rtlCol="0" anchor="ctr"/>
          <a:lstStyle/>
          <a:p>
            <a:pPr algn="ctr"/>
          </a:p>
        </p:txBody>
      </p:sp>
      <p:sp>
        <p:nvSpPr>
          <p:cNvPr id="43" name="TextBox 42"/>
          <p:cNvSpPr txBox="1"/>
          <p:nvPr/>
        </p:nvSpPr>
        <p:spPr>
          <a:xfrm>
            <a:off x="8699500" y="6026150"/>
            <a:ext cx="3048000" cy="152400"/>
          </a:xfrm>
          <a:prstGeom prst="rect">
            <a:avLst/>
          </a:prstGeom>
          <a:noFill/>
        </p:spPr>
        <p:txBody>
          <a:bodyPr wrap="square" lIns="0" rIns="0" tIns="0" bIns="0" anchor="t">
            <a:spAutoFit/>
          </a:bodyPr>
          <a:lstStyle/>
          <a:p>
            <a:pPr algn="l">
              <a:lnSpc>
                <a:spcPct val="120000"/>
              </a:lnSpc>
            </a:pPr>
            <a:r>
              <a:rPr sz="950" b="0" i="0">
                <a:solidFill>
                  <a:srgbClr val="2B2B2B"/>
                </a:solidFill>
                <a:latin typeface="Barlow"/>
              </a:rPr>
              <a:t>Équipement de quartier prioritaire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9E7E2"/>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B2B2B"/>
                </a:solidFill>
                <a:latin typeface="Barlow Condensed"/>
              </a:rPr>
              <a:t>CONCLUSION</a:t>
            </a:r>
          </a:p>
        </p:txBody>
      </p:sp>
      <p:cxnSp>
        <p:nvCxnSpPr>
          <p:cNvPr id="4" name="Connector 3"/>
          <p:cNvCxnSpPr/>
          <p:nvPr/>
        </p:nvCxnSpPr>
        <p:spPr>
          <a:xfrm>
            <a:off x="254000" y="6578600"/>
            <a:ext cx="11684000" cy="0"/>
          </a:xfrm>
          <a:prstGeom prst="line">
            <a:avLst/>
          </a:prstGeom>
          <a:ln w="6350">
            <a:solidFill>
              <a:srgbClr val="C9C4BA"/>
            </a:solidFill>
          </a:ln>
        </p:spPr>
      </p:cxnSp>
      <p:sp>
        <p:nvSpPr>
          <p:cNvPr id="5" name="TextBox 4"/>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7736C"/>
                </a:solidFill>
                <a:latin typeface="Barlow Condensed"/>
              </a:rPr>
              <a:t>TANGER, VILLE-VITRINE  ·  ÉTUDE DE CAS</a:t>
            </a:r>
          </a:p>
        </p:txBody>
      </p:sp>
      <p:sp>
        <p:nvSpPr>
          <p:cNvPr id="6" name="TextBox 5"/>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7736C"/>
                </a:solidFill>
                <a:latin typeface="Barlow Condensed"/>
              </a:rPr>
              <a:t>[NOM]  ·  [COURS]  ·  [DATE]        18 / 18</a:t>
            </a:r>
          </a:p>
        </p:txBody>
      </p:sp>
      <p:sp>
        <p:nvSpPr>
          <p:cNvPr id="7" name="TextBox 6"/>
          <p:cNvSpPr txBox="1"/>
          <p:nvPr/>
        </p:nvSpPr>
        <p:spPr>
          <a:xfrm>
            <a:off x="254000" y="825500"/>
            <a:ext cx="11684000" cy="889000"/>
          </a:xfrm>
          <a:prstGeom prst="rect">
            <a:avLst/>
          </a:prstGeom>
          <a:noFill/>
        </p:spPr>
        <p:txBody>
          <a:bodyPr wrap="square" lIns="0" rIns="0" tIns="0" bIns="0" anchor="t">
            <a:spAutoFit/>
          </a:bodyPr>
          <a:lstStyle/>
          <a:p>
            <a:pPr algn="l">
              <a:lnSpc>
                <a:spcPct val="115000"/>
              </a:lnSpc>
            </a:pPr>
            <a:r>
              <a:rPr sz="2600" b="1" i="0">
                <a:solidFill>
                  <a:srgbClr val="2B2B2B"/>
                </a:solidFill>
                <a:latin typeface="Barlow Condensed"/>
              </a:rPr>
              <a:t>Tanger a été refaite pour être vue. </a:t>
            </a:r>
            <a:r>
              <a:rPr sz="2600" b="1" i="0">
                <a:solidFill>
                  <a:srgbClr val="C8462B"/>
                </a:solidFill>
                <a:latin typeface="Barlow Condensed"/>
              </a:rPr>
              <a:t>Les données le montrent : la vitrine se mesure en mètres depuis la mer, la ville vécue en kilomètres.</a:t>
            </a:r>
          </a:p>
        </p:txBody>
      </p:sp>
      <p:sp>
        <p:nvSpPr>
          <p:cNvPr id="8" name="Rectangle 7"/>
          <p:cNvSpPr/>
          <p:nvPr/>
        </p:nvSpPr>
        <p:spPr>
          <a:xfrm>
            <a:off x="254000" y="1905000"/>
            <a:ext cx="2235200" cy="1206500"/>
          </a:xfrm>
          <a:prstGeom prst="rect">
            <a:avLst/>
          </a:prstGeom>
          <a:solidFill>
            <a:srgbClr val="FFFFFF"/>
          </a:solidFill>
          <a:ln w="6350">
            <a:solidFill>
              <a:srgbClr val="C9C4BA"/>
            </a:solidFill>
          </a:ln>
        </p:spPr>
        <p:txBody>
          <a:bodyPr rtlCol="0" anchor="ctr"/>
          <a:lstStyle/>
          <a:p>
            <a:pPr algn="ctr"/>
          </a:p>
        </p:txBody>
      </p:sp>
      <p:sp>
        <p:nvSpPr>
          <p:cNvPr id="9" name="Rectangle 8"/>
          <p:cNvSpPr/>
          <p:nvPr/>
        </p:nvSpPr>
        <p:spPr>
          <a:xfrm>
            <a:off x="254000" y="1905000"/>
            <a:ext cx="2235200" cy="38100"/>
          </a:xfrm>
          <a:prstGeom prst="rect">
            <a:avLst/>
          </a:prstGeom>
          <a:solidFill>
            <a:srgbClr val="C8462B"/>
          </a:solidFill>
          <a:ln>
            <a:noFill/>
          </a:ln>
        </p:spPr>
        <p:txBody>
          <a:bodyPr rtlCol="0" anchor="ctr"/>
          <a:lstStyle/>
          <a:p>
            <a:pPr algn="ctr"/>
          </a:p>
        </p:txBody>
      </p:sp>
      <p:sp>
        <p:nvSpPr>
          <p:cNvPr id="10" name="TextBox 9"/>
          <p:cNvSpPr txBox="1"/>
          <p:nvPr/>
        </p:nvSpPr>
        <p:spPr>
          <a:xfrm>
            <a:off x="393700" y="2070100"/>
            <a:ext cx="2032000" cy="317500"/>
          </a:xfrm>
          <a:prstGeom prst="rect">
            <a:avLst/>
          </a:prstGeom>
          <a:noFill/>
        </p:spPr>
        <p:txBody>
          <a:bodyPr wrap="square" lIns="0" rIns="0" tIns="0" bIns="0" anchor="t">
            <a:spAutoFit/>
          </a:bodyPr>
          <a:lstStyle/>
          <a:p>
            <a:pPr algn="l">
              <a:lnSpc>
                <a:spcPct val="120000"/>
              </a:lnSpc>
            </a:pPr>
            <a:r>
              <a:rPr sz="2600" b="1" i="0">
                <a:solidFill>
                  <a:srgbClr val="C8462B"/>
                </a:solidFill>
                <a:latin typeface="Barlow Condensed"/>
              </a:rPr>
              <a:t>77 % / 14 %</a:t>
            </a:r>
          </a:p>
        </p:txBody>
      </p:sp>
      <p:sp>
        <p:nvSpPr>
          <p:cNvPr id="11" name="TextBox 10"/>
          <p:cNvSpPr txBox="1"/>
          <p:nvPr/>
        </p:nvSpPr>
        <p:spPr>
          <a:xfrm>
            <a:off x="393700" y="2438400"/>
            <a:ext cx="1968500" cy="635000"/>
          </a:xfrm>
          <a:prstGeom prst="rect">
            <a:avLst/>
          </a:prstGeom>
          <a:noFill/>
        </p:spPr>
        <p:txBody>
          <a:bodyPr wrap="square" lIns="0" rIns="0" tIns="0" bIns="0" anchor="t">
            <a:spAutoFit/>
          </a:bodyPr>
          <a:lstStyle/>
          <a:p>
            <a:pPr algn="l">
              <a:lnSpc>
                <a:spcPct val="130000"/>
              </a:lnSpc>
            </a:pPr>
            <a:r>
              <a:rPr sz="1000" b="0" i="0">
                <a:solidFill>
                  <a:srgbClr val="2B2B2B"/>
                </a:solidFill>
                <a:latin typeface="Barlow"/>
              </a:rPr>
              <a:t>des hébergements contre part du bâti à moins de 1 km de la mer</a:t>
            </a:r>
          </a:p>
        </p:txBody>
      </p:sp>
      <p:sp>
        <p:nvSpPr>
          <p:cNvPr id="12" name="Rectangle 11"/>
          <p:cNvSpPr/>
          <p:nvPr/>
        </p:nvSpPr>
        <p:spPr>
          <a:xfrm>
            <a:off x="2616200" y="1905000"/>
            <a:ext cx="2235200" cy="1206500"/>
          </a:xfrm>
          <a:prstGeom prst="rect">
            <a:avLst/>
          </a:prstGeom>
          <a:solidFill>
            <a:srgbClr val="FFFFFF"/>
          </a:solidFill>
          <a:ln w="6350">
            <a:solidFill>
              <a:srgbClr val="C9C4BA"/>
            </a:solidFill>
          </a:ln>
        </p:spPr>
        <p:txBody>
          <a:bodyPr rtlCol="0" anchor="ctr"/>
          <a:lstStyle/>
          <a:p>
            <a:pPr algn="ctr"/>
          </a:p>
        </p:txBody>
      </p:sp>
      <p:sp>
        <p:nvSpPr>
          <p:cNvPr id="13" name="Rectangle 12"/>
          <p:cNvSpPr/>
          <p:nvPr/>
        </p:nvSpPr>
        <p:spPr>
          <a:xfrm>
            <a:off x="2616200" y="1905000"/>
            <a:ext cx="2235200" cy="38100"/>
          </a:xfrm>
          <a:prstGeom prst="rect">
            <a:avLst/>
          </a:prstGeom>
          <a:solidFill>
            <a:srgbClr val="1F3A5F"/>
          </a:solidFill>
          <a:ln>
            <a:noFill/>
          </a:ln>
        </p:spPr>
        <p:txBody>
          <a:bodyPr rtlCol="0" anchor="ctr"/>
          <a:lstStyle/>
          <a:p>
            <a:pPr algn="ctr"/>
          </a:p>
        </p:txBody>
      </p:sp>
      <p:sp>
        <p:nvSpPr>
          <p:cNvPr id="14" name="TextBox 13"/>
          <p:cNvSpPr txBox="1"/>
          <p:nvPr/>
        </p:nvSpPr>
        <p:spPr>
          <a:xfrm>
            <a:off x="2755900" y="2070100"/>
            <a:ext cx="2032000" cy="317500"/>
          </a:xfrm>
          <a:prstGeom prst="rect">
            <a:avLst/>
          </a:prstGeom>
          <a:noFill/>
        </p:spPr>
        <p:txBody>
          <a:bodyPr wrap="square" lIns="0" rIns="0" tIns="0" bIns="0" anchor="t">
            <a:spAutoFit/>
          </a:bodyPr>
          <a:lstStyle/>
          <a:p>
            <a:pPr algn="l">
              <a:lnSpc>
                <a:spcPct val="120000"/>
              </a:lnSpc>
            </a:pPr>
            <a:r>
              <a:rPr sz="2600" b="1" i="0">
                <a:solidFill>
                  <a:srgbClr val="1F3A5F"/>
                </a:solidFill>
                <a:latin typeface="Barlow Condensed"/>
              </a:rPr>
              <a:t>44 %</a:t>
            </a:r>
          </a:p>
        </p:txBody>
      </p:sp>
      <p:sp>
        <p:nvSpPr>
          <p:cNvPr id="15" name="TextBox 14"/>
          <p:cNvSpPr txBox="1"/>
          <p:nvPr/>
        </p:nvSpPr>
        <p:spPr>
          <a:xfrm>
            <a:off x="2755900" y="2438400"/>
            <a:ext cx="1968500" cy="635000"/>
          </a:xfrm>
          <a:prstGeom prst="rect">
            <a:avLst/>
          </a:prstGeom>
          <a:noFill/>
        </p:spPr>
        <p:txBody>
          <a:bodyPr wrap="square" lIns="0" rIns="0" tIns="0" bIns="0" anchor="t">
            <a:spAutoFit/>
          </a:bodyPr>
          <a:lstStyle/>
          <a:p>
            <a:pPr algn="l">
              <a:lnSpc>
                <a:spcPct val="130000"/>
              </a:lnSpc>
            </a:pPr>
            <a:r>
              <a:rPr sz="1000" b="0" i="0">
                <a:solidFill>
                  <a:srgbClr val="2B2B2B"/>
                </a:solidFill>
                <a:latin typeface="Barlow"/>
              </a:rPr>
              <a:t>des habitants à Beni Makada, dernier pour presque tous les équipements</a:t>
            </a:r>
          </a:p>
        </p:txBody>
      </p:sp>
      <p:sp>
        <p:nvSpPr>
          <p:cNvPr id="16" name="Rectangle 15"/>
          <p:cNvSpPr/>
          <p:nvPr/>
        </p:nvSpPr>
        <p:spPr>
          <a:xfrm>
            <a:off x="4978400" y="1905000"/>
            <a:ext cx="2235200" cy="1206500"/>
          </a:xfrm>
          <a:prstGeom prst="rect">
            <a:avLst/>
          </a:prstGeom>
          <a:solidFill>
            <a:srgbClr val="FFFFFF"/>
          </a:solidFill>
          <a:ln w="6350">
            <a:solidFill>
              <a:srgbClr val="C9C4BA"/>
            </a:solidFill>
          </a:ln>
        </p:spPr>
        <p:txBody>
          <a:bodyPr rtlCol="0" anchor="ctr"/>
          <a:lstStyle/>
          <a:p>
            <a:pPr algn="ctr"/>
          </a:p>
        </p:txBody>
      </p:sp>
      <p:sp>
        <p:nvSpPr>
          <p:cNvPr id="17" name="Rectangle 16"/>
          <p:cNvSpPr/>
          <p:nvPr/>
        </p:nvSpPr>
        <p:spPr>
          <a:xfrm>
            <a:off x="4978400" y="1905000"/>
            <a:ext cx="2235200" cy="38100"/>
          </a:xfrm>
          <a:prstGeom prst="rect">
            <a:avLst/>
          </a:prstGeom>
          <a:solidFill>
            <a:srgbClr val="1F3A5F"/>
          </a:solidFill>
          <a:ln>
            <a:noFill/>
          </a:ln>
        </p:spPr>
        <p:txBody>
          <a:bodyPr rtlCol="0" anchor="ctr"/>
          <a:lstStyle/>
          <a:p>
            <a:pPr algn="ctr"/>
          </a:p>
        </p:txBody>
      </p:sp>
      <p:sp>
        <p:nvSpPr>
          <p:cNvPr id="18" name="TextBox 17"/>
          <p:cNvSpPr txBox="1"/>
          <p:nvPr/>
        </p:nvSpPr>
        <p:spPr>
          <a:xfrm>
            <a:off x="5118100" y="2070100"/>
            <a:ext cx="2032000" cy="317500"/>
          </a:xfrm>
          <a:prstGeom prst="rect">
            <a:avLst/>
          </a:prstGeom>
          <a:noFill/>
        </p:spPr>
        <p:txBody>
          <a:bodyPr wrap="square" lIns="0" rIns="0" tIns="0" bIns="0" anchor="t">
            <a:spAutoFit/>
          </a:bodyPr>
          <a:lstStyle/>
          <a:p>
            <a:pPr algn="l">
              <a:lnSpc>
                <a:spcPct val="120000"/>
              </a:lnSpc>
            </a:pPr>
            <a:r>
              <a:rPr sz="2600" b="1" i="0">
                <a:solidFill>
                  <a:srgbClr val="1F3A5F"/>
                </a:solidFill>
                <a:latin typeface="Barlow Condensed"/>
              </a:rPr>
              <a:t>0,17 m²</a:t>
            </a:r>
          </a:p>
        </p:txBody>
      </p:sp>
      <p:sp>
        <p:nvSpPr>
          <p:cNvPr id="19" name="TextBox 18"/>
          <p:cNvSpPr txBox="1"/>
          <p:nvPr/>
        </p:nvSpPr>
        <p:spPr>
          <a:xfrm>
            <a:off x="5118100" y="2438400"/>
            <a:ext cx="1968500" cy="635000"/>
          </a:xfrm>
          <a:prstGeom prst="rect">
            <a:avLst/>
          </a:prstGeom>
          <a:noFill/>
        </p:spPr>
        <p:txBody>
          <a:bodyPr wrap="square" lIns="0" rIns="0" tIns="0" bIns="0" anchor="t">
            <a:spAutoFit/>
          </a:bodyPr>
          <a:lstStyle/>
          <a:p>
            <a:pPr algn="l">
              <a:lnSpc>
                <a:spcPct val="130000"/>
              </a:lnSpc>
            </a:pPr>
            <a:r>
              <a:rPr sz="1000" b="0" i="0">
                <a:solidFill>
                  <a:srgbClr val="2B2B2B"/>
                </a:solidFill>
                <a:latin typeface="Barlow"/>
              </a:rPr>
              <a:t>de parc par habitant à Beni Makada</a:t>
            </a:r>
          </a:p>
        </p:txBody>
      </p:sp>
      <p:sp>
        <p:nvSpPr>
          <p:cNvPr id="20" name="Rectangle 19"/>
          <p:cNvSpPr/>
          <p:nvPr/>
        </p:nvSpPr>
        <p:spPr>
          <a:xfrm>
            <a:off x="7340600" y="1905000"/>
            <a:ext cx="2235200" cy="1206500"/>
          </a:xfrm>
          <a:prstGeom prst="rect">
            <a:avLst/>
          </a:prstGeom>
          <a:solidFill>
            <a:srgbClr val="FFFFFF"/>
          </a:solidFill>
          <a:ln w="6350">
            <a:solidFill>
              <a:srgbClr val="C9C4BA"/>
            </a:solidFill>
          </a:ln>
        </p:spPr>
        <p:txBody>
          <a:bodyPr rtlCol="0" anchor="ctr"/>
          <a:lstStyle/>
          <a:p>
            <a:pPr algn="ctr"/>
          </a:p>
        </p:txBody>
      </p:sp>
      <p:sp>
        <p:nvSpPr>
          <p:cNvPr id="21" name="Rectangle 20"/>
          <p:cNvSpPr/>
          <p:nvPr/>
        </p:nvSpPr>
        <p:spPr>
          <a:xfrm>
            <a:off x="7340600" y="1905000"/>
            <a:ext cx="2235200" cy="38100"/>
          </a:xfrm>
          <a:prstGeom prst="rect">
            <a:avLst/>
          </a:prstGeom>
          <a:solidFill>
            <a:srgbClr val="1F3A5F"/>
          </a:solidFill>
          <a:ln>
            <a:noFill/>
          </a:ln>
        </p:spPr>
        <p:txBody>
          <a:bodyPr rtlCol="0" anchor="ctr"/>
          <a:lstStyle/>
          <a:p>
            <a:pPr algn="ctr"/>
          </a:p>
        </p:txBody>
      </p:sp>
      <p:sp>
        <p:nvSpPr>
          <p:cNvPr id="22" name="TextBox 21"/>
          <p:cNvSpPr txBox="1"/>
          <p:nvPr/>
        </p:nvSpPr>
        <p:spPr>
          <a:xfrm>
            <a:off x="7480300" y="2070100"/>
            <a:ext cx="2032000" cy="317500"/>
          </a:xfrm>
          <a:prstGeom prst="rect">
            <a:avLst/>
          </a:prstGeom>
          <a:noFill/>
        </p:spPr>
        <p:txBody>
          <a:bodyPr wrap="square" lIns="0" rIns="0" tIns="0" bIns="0" anchor="t">
            <a:spAutoFit/>
          </a:bodyPr>
          <a:lstStyle/>
          <a:p>
            <a:pPr algn="l">
              <a:lnSpc>
                <a:spcPct val="120000"/>
              </a:lnSpc>
            </a:pPr>
            <a:r>
              <a:rPr sz="2600" b="1" i="0">
                <a:solidFill>
                  <a:srgbClr val="1F3A5F"/>
                </a:solidFill>
                <a:latin typeface="Barlow Condensed"/>
              </a:rPr>
              <a:t>36 / 150 000</a:t>
            </a:r>
          </a:p>
        </p:txBody>
      </p:sp>
      <p:sp>
        <p:nvSpPr>
          <p:cNvPr id="23" name="TextBox 22"/>
          <p:cNvSpPr txBox="1"/>
          <p:nvPr/>
        </p:nvSpPr>
        <p:spPr>
          <a:xfrm>
            <a:off x="7480300" y="2438400"/>
            <a:ext cx="1968500" cy="635000"/>
          </a:xfrm>
          <a:prstGeom prst="rect">
            <a:avLst/>
          </a:prstGeom>
          <a:noFill/>
        </p:spPr>
        <p:txBody>
          <a:bodyPr wrap="square" lIns="0" rIns="0" tIns="0" bIns="0" anchor="t">
            <a:spAutoFit/>
          </a:bodyPr>
          <a:lstStyle/>
          <a:p>
            <a:pPr algn="l">
              <a:lnSpc>
                <a:spcPct val="130000"/>
              </a:lnSpc>
            </a:pPr>
            <a:r>
              <a:rPr sz="1000" b="0" i="0">
                <a:solidFill>
                  <a:srgbClr val="2B2B2B"/>
                </a:solidFill>
                <a:latin typeface="Barlow"/>
              </a:rPr>
              <a:t>habitants comptés vs prévus à Chrafate</a:t>
            </a:r>
          </a:p>
        </p:txBody>
      </p:sp>
      <p:sp>
        <p:nvSpPr>
          <p:cNvPr id="24" name="Rectangle 23"/>
          <p:cNvSpPr/>
          <p:nvPr/>
        </p:nvSpPr>
        <p:spPr>
          <a:xfrm>
            <a:off x="9702800" y="1905000"/>
            <a:ext cx="2235200" cy="1206500"/>
          </a:xfrm>
          <a:prstGeom prst="rect">
            <a:avLst/>
          </a:prstGeom>
          <a:solidFill>
            <a:srgbClr val="FFFFFF"/>
          </a:solidFill>
          <a:ln w="6350">
            <a:solidFill>
              <a:srgbClr val="C9C4BA"/>
            </a:solidFill>
          </a:ln>
        </p:spPr>
        <p:txBody>
          <a:bodyPr rtlCol="0" anchor="ctr"/>
          <a:lstStyle/>
          <a:p>
            <a:pPr algn="ctr"/>
          </a:p>
        </p:txBody>
      </p:sp>
      <p:sp>
        <p:nvSpPr>
          <p:cNvPr id="25" name="Rectangle 24"/>
          <p:cNvSpPr/>
          <p:nvPr/>
        </p:nvSpPr>
        <p:spPr>
          <a:xfrm>
            <a:off x="9702800" y="1905000"/>
            <a:ext cx="2235200" cy="38100"/>
          </a:xfrm>
          <a:prstGeom prst="rect">
            <a:avLst/>
          </a:prstGeom>
          <a:solidFill>
            <a:srgbClr val="C8462B"/>
          </a:solidFill>
          <a:ln>
            <a:noFill/>
          </a:ln>
        </p:spPr>
        <p:txBody>
          <a:bodyPr rtlCol="0" anchor="ctr"/>
          <a:lstStyle/>
          <a:p>
            <a:pPr algn="ctr"/>
          </a:p>
        </p:txBody>
      </p:sp>
      <p:sp>
        <p:nvSpPr>
          <p:cNvPr id="26" name="TextBox 25"/>
          <p:cNvSpPr txBox="1"/>
          <p:nvPr/>
        </p:nvSpPr>
        <p:spPr>
          <a:xfrm>
            <a:off x="9842500" y="2070100"/>
            <a:ext cx="2032000" cy="317500"/>
          </a:xfrm>
          <a:prstGeom prst="rect">
            <a:avLst/>
          </a:prstGeom>
          <a:noFill/>
        </p:spPr>
        <p:txBody>
          <a:bodyPr wrap="square" lIns="0" rIns="0" tIns="0" bIns="0" anchor="t">
            <a:spAutoFit/>
          </a:bodyPr>
          <a:lstStyle/>
          <a:p>
            <a:pPr algn="l">
              <a:lnSpc>
                <a:spcPct val="120000"/>
              </a:lnSpc>
            </a:pPr>
            <a:r>
              <a:rPr sz="2600" b="1" i="0">
                <a:solidFill>
                  <a:srgbClr val="C8462B"/>
                </a:solidFill>
                <a:latin typeface="Barlow Condensed"/>
              </a:rPr>
              <a:t>850 vs 98 M</a:t>
            </a:r>
          </a:p>
        </p:txBody>
      </p:sp>
      <p:sp>
        <p:nvSpPr>
          <p:cNvPr id="27" name="TextBox 26"/>
          <p:cNvSpPr txBox="1"/>
          <p:nvPr/>
        </p:nvSpPr>
        <p:spPr>
          <a:xfrm>
            <a:off x="9842500" y="2438400"/>
            <a:ext cx="1968500" cy="635000"/>
          </a:xfrm>
          <a:prstGeom prst="rect">
            <a:avLst/>
          </a:prstGeom>
          <a:noFill/>
        </p:spPr>
        <p:txBody>
          <a:bodyPr wrap="square" lIns="0" rIns="0" tIns="0" bIns="0" anchor="t">
            <a:spAutoFit/>
          </a:bodyPr>
          <a:lstStyle/>
          <a:p>
            <a:pPr algn="l">
              <a:lnSpc>
                <a:spcPct val="130000"/>
              </a:lnSpc>
            </a:pPr>
            <a:r>
              <a:rPr sz="1000" b="0" i="0">
                <a:solidFill>
                  <a:srgbClr val="2B2B2B"/>
                </a:solidFill>
                <a:latin typeface="Barlow"/>
              </a:rPr>
              <a:t>MAD : décor de la médina vs bâtiments en ruine</a:t>
            </a:r>
          </a:p>
        </p:txBody>
      </p:sp>
      <p:sp>
        <p:nvSpPr>
          <p:cNvPr id="28" name="TextBox 27"/>
          <p:cNvSpPr txBox="1"/>
          <p:nvPr/>
        </p:nvSpPr>
        <p:spPr>
          <a:xfrm>
            <a:off x="254000" y="3302000"/>
            <a:ext cx="11684000" cy="317500"/>
          </a:xfrm>
          <a:prstGeom prst="rect">
            <a:avLst/>
          </a:prstGeom>
          <a:noFill/>
        </p:spPr>
        <p:txBody>
          <a:bodyPr wrap="square" lIns="0" rIns="0" tIns="0" bIns="0" anchor="t">
            <a:spAutoFit/>
          </a:bodyPr>
          <a:lstStyle/>
          <a:p>
            <a:pPr algn="ctr">
              <a:lnSpc>
                <a:spcPct val="120000"/>
              </a:lnSpc>
            </a:pPr>
            <a:r>
              <a:rPr sz="1700" b="0" i="1">
                <a:solidFill>
                  <a:srgbClr val="2B2B2B"/>
                </a:solidFill>
                <a:latin typeface="Barlow Condensed"/>
              </a:rPr>
              <a:t>« Une ville se juge moins à son front de mer qu'à la vie quotidienne de son quartier le plus éloigné. »</a:t>
            </a:r>
          </a:p>
        </p:txBody>
      </p:sp>
      <p:cxnSp>
        <p:nvCxnSpPr>
          <p:cNvPr id="29" name="Connector 28"/>
          <p:cNvCxnSpPr/>
          <p:nvPr/>
        </p:nvCxnSpPr>
        <p:spPr>
          <a:xfrm>
            <a:off x="254000" y="3746500"/>
            <a:ext cx="11684000" cy="0"/>
          </a:xfrm>
          <a:prstGeom prst="line">
            <a:avLst/>
          </a:prstGeom>
          <a:ln w="6350">
            <a:solidFill>
              <a:srgbClr val="C9C4BA"/>
            </a:solidFill>
          </a:ln>
        </p:spPr>
      </p:cxnSp>
      <p:sp>
        <p:nvSpPr>
          <p:cNvPr id="30" name="TextBox 29"/>
          <p:cNvSpPr txBox="1"/>
          <p:nvPr/>
        </p:nvSpPr>
        <p:spPr>
          <a:xfrm>
            <a:off x="254000" y="3848100"/>
            <a:ext cx="5715000" cy="127000"/>
          </a:xfrm>
          <a:prstGeom prst="rect">
            <a:avLst/>
          </a:prstGeom>
          <a:noFill/>
        </p:spPr>
        <p:txBody>
          <a:bodyPr wrap="square" lIns="0" rIns="0" tIns="0" bIns="0" anchor="t">
            <a:spAutoFit/>
          </a:bodyPr>
          <a:lstStyle/>
          <a:p>
            <a:pPr algn="l">
              <a:lnSpc>
                <a:spcPct val="120000"/>
              </a:lnSpc>
            </a:pPr>
            <a:r>
              <a:rPr sz="900" b="1" i="0" spc="250">
                <a:solidFill>
                  <a:srgbClr val="2B2B2B"/>
                </a:solidFill>
                <a:latin typeface="Barlow Condensed"/>
              </a:rPr>
              <a:t>SOURCES</a:t>
            </a:r>
          </a:p>
        </p:txBody>
      </p:sp>
      <p:sp>
        <p:nvSpPr>
          <p:cNvPr id="31" name="TextBox 30"/>
          <p:cNvSpPr txBox="1"/>
          <p:nvPr/>
        </p:nvSpPr>
        <p:spPr>
          <a:xfrm>
            <a:off x="254000" y="4038600"/>
            <a:ext cx="11684000" cy="2413000"/>
          </a:xfrm>
          <a:prstGeom prst="rect">
            <a:avLst/>
          </a:prstGeom>
          <a:noFill/>
        </p:spPr>
        <p:txBody>
          <a:bodyPr wrap="square" lIns="0" rIns="0" tIns="0" bIns="0" anchor="t">
            <a:spAutoFit/>
          </a:bodyPr>
          <a:lstStyle/>
          <a:p>
            <a:pPr algn="l">
              <a:lnSpc>
                <a:spcPct val="145000"/>
              </a:lnSpc>
            </a:pPr>
            <a:r>
              <a:rPr sz="950" b="0" i="0">
                <a:solidFill>
                  <a:srgbClr val="77736C"/>
                </a:solidFill>
                <a:latin typeface="Barlow"/>
              </a:rPr>
              <a:t>Données spatiales : OpenStreetMap contributors via Overture Maps Foundation, release 2026-09-23 (voirie, bâti, lieux, infrastructures, limites administratives) · ESA WorldCover 2021 v200 (10 m) · Copernicus DEM GLO-30 · Sentinel-2 L2A, scènes du 16/07/2017 et du 19/07/2025 (Copernicus, via AWS Open Data).</a:t>
            </a:r>
          </a:p>
          <a:p>
            <a:pPr algn="l">
              <a:lnSpc>
                <a:spcPct val="145000"/>
              </a:lnSpc>
            </a:pPr>
            <a:r>
              <a:rPr sz="950" b="0" i="0">
                <a:solidFill>
                  <a:srgbClr val="77736C"/>
                </a:solidFill>
                <a:latin typeface="Barlow"/>
              </a:rPr>
              <a:t>Population : HCP, Recensement général de la population et de l'habitat 2014 et 2024, données par arrondissement (via citypopulation.de).</a:t>
            </a:r>
          </a:p>
          <a:p>
            <a:pPr algn="l">
              <a:lnSpc>
                <a:spcPct val="145000"/>
              </a:lnSpc>
            </a:pPr>
            <a:r>
              <a:rPr sz="950" b="0" i="0">
                <a:solidFill>
                  <a:srgbClr val="77736C"/>
                </a:solidFill>
                <a:latin typeface="Barlow"/>
              </a:rPr>
              <a:t>Tourisme : Observatoire national du tourisme via Hespress FR (nov. 2025) ; port de Tanger Ville via Finances News Hebdo (2025) et Le360.</a:t>
            </a:r>
          </a:p>
          <a:p>
            <a:pPr algn="l">
              <a:lnSpc>
                <a:spcPct val="145000"/>
              </a:lnSpc>
            </a:pPr>
            <a:r>
              <a:rPr sz="950" b="0" i="0">
                <a:solidFill>
                  <a:srgbClr val="77736C"/>
                </a:solidFill>
                <a:latin typeface="Barlow"/>
              </a:rPr>
              <a:t>Projets : Ministère de l'Économie et des Finances (2018), Médias24 (2013-2014, 2018, 2020) ; Le360, Finances News (juin 2018) ; TelQuel (2024) ; Le Desk (2025) citant la Cour des comptes (2024) ; Medias24 (2024) et Bladi (2024) pour le stade et la FIFA.</a:t>
            </a:r>
          </a:p>
          <a:p>
            <a:pPr algn="l">
              <a:lnSpc>
                <a:spcPct val="145000"/>
              </a:lnSpc>
            </a:pPr>
            <a:r>
              <a:rPr sz="950" b="0" i="0">
                <a:solidFill>
                  <a:srgbClr val="77736C"/>
                </a:solidFill>
                <a:latin typeface="Barlow"/>
              </a:rPr>
              <a:t>Méthode : reprojection UTM 30N ; densités par estimation par noyau ; distances euclidiennes au trait de côte ; desserte = 300 m autour des arrêts ; profils extraits du MNT. Tous les calculs et cartes sont de l'auteur.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