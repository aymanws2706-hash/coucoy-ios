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Rectangle 2"/>
          <p:cNvSpPr/>
          <p:nvPr/>
        </p:nvSpPr>
        <p:spPr>
          <a:xfrm>
            <a:off x="0" y="0"/>
            <a:ext cx="4826000" cy="6858000"/>
          </a:xfrm>
          <a:prstGeom prst="rect">
            <a:avLst/>
          </a:prstGeom>
          <a:solidFill>
            <a:srgbClr val="1C1C1C"/>
          </a:solidFill>
          <a:ln>
            <a:noFill/>
          </a:ln>
          <a:effectLst/>
        </p:spPr>
        <p:txBody>
          <a:bodyPr rtlCol="0" anchor="ctr"/>
          <a:lstStyle/>
          <a:p>
            <a:pPr algn="ctr"/>
          </a:p>
        </p:txBody>
      </p:sp>
      <p:sp>
        <p:nvSpPr>
          <p:cNvPr id="4" name="TextBox 3"/>
          <p:cNvSpPr txBox="1"/>
          <p:nvPr/>
        </p:nvSpPr>
        <p:spPr>
          <a:xfrm>
            <a:off x="571500" y="762000"/>
            <a:ext cx="3810000" cy="190500"/>
          </a:xfrm>
          <a:prstGeom prst="rect">
            <a:avLst/>
          </a:prstGeom>
          <a:noFill/>
        </p:spPr>
        <p:txBody>
          <a:bodyPr wrap="square" lIns="0" rIns="0" tIns="0" bIns="0" anchor="t">
            <a:spAutoFit/>
          </a:bodyPr>
          <a:lstStyle/>
          <a:p>
            <a:pPr algn="l">
              <a:lnSpc>
                <a:spcPct val="115000"/>
              </a:lnSpc>
            </a:pPr>
            <a:r>
              <a:rPr sz="1200" b="1" i="0">
                <a:solidFill>
                  <a:srgbClr val="C8462B"/>
                </a:solidFill>
                <a:latin typeface="Inter"/>
              </a:rPr>
              <a:t>ÉTUDE DE CAS  ·  CRITIQUE URBAINE</a:t>
            </a:r>
          </a:p>
        </p:txBody>
      </p:sp>
      <p:sp>
        <p:nvSpPr>
          <p:cNvPr id="5" name="TextBox 4"/>
          <p:cNvSpPr txBox="1"/>
          <p:nvPr/>
        </p:nvSpPr>
        <p:spPr>
          <a:xfrm>
            <a:off x="571500" y="1111250"/>
            <a:ext cx="4064000" cy="1651000"/>
          </a:xfrm>
          <a:prstGeom prst="rect">
            <a:avLst/>
          </a:prstGeom>
          <a:noFill/>
        </p:spPr>
        <p:txBody>
          <a:bodyPr wrap="square" lIns="0" rIns="0" tIns="0" bIns="0" anchor="t">
            <a:spAutoFit/>
          </a:bodyPr>
          <a:lstStyle/>
          <a:p>
            <a:pPr algn="l">
              <a:lnSpc>
                <a:spcPct val="100000"/>
              </a:lnSpc>
            </a:pPr>
            <a:r>
              <a:rPr sz="4600" b="1" i="0">
                <a:solidFill>
                  <a:srgbClr val="FFFFFF"/>
                </a:solidFill>
                <a:latin typeface="Inter"/>
              </a:rPr>
              <a:t>Tanger,</a:t>
            </a:r>
          </a:p>
          <a:p>
            <a:pPr algn="l">
              <a:lnSpc>
                <a:spcPct val="100000"/>
              </a:lnSpc>
            </a:pPr>
            <a:r>
              <a:rPr sz="4600" b="1" i="0">
                <a:solidFill>
                  <a:srgbClr val="FFFFFF"/>
                </a:solidFill>
                <a:latin typeface="Inter"/>
              </a:rPr>
              <a:t>ville-vitrine</a:t>
            </a:r>
          </a:p>
        </p:txBody>
      </p:sp>
      <p:sp>
        <p:nvSpPr>
          <p:cNvPr id="6" name="TextBox 5"/>
          <p:cNvSpPr txBox="1"/>
          <p:nvPr/>
        </p:nvSpPr>
        <p:spPr>
          <a:xfrm>
            <a:off x="571500" y="2730500"/>
            <a:ext cx="3810000" cy="1016000"/>
          </a:xfrm>
          <a:prstGeom prst="rect">
            <a:avLst/>
          </a:prstGeom>
          <a:noFill/>
        </p:spPr>
        <p:txBody>
          <a:bodyPr wrap="square" lIns="0" rIns="0" tIns="0" bIns="0" anchor="t">
            <a:spAutoFit/>
          </a:bodyPr>
          <a:lstStyle/>
          <a:p>
            <a:pPr algn="l">
              <a:lnSpc>
                <a:spcPct val="125000"/>
              </a:lnSpc>
            </a:pPr>
            <a:r>
              <a:rPr sz="1600" b="0" i="0">
                <a:solidFill>
                  <a:srgbClr val="D8D2C8"/>
                </a:solidFill>
                <a:latin typeface="Inter"/>
              </a:rPr>
              <a:t>Quand l'urbanisme se met au service du tourisme : lecture critique de la transformation de Tanger, 2007-2030</a:t>
            </a:r>
          </a:p>
        </p:txBody>
      </p:sp>
      <p:cxnSp>
        <p:nvCxnSpPr>
          <p:cNvPr id="7" name="Connector 6"/>
          <p:cNvCxnSpPr/>
          <p:nvPr/>
        </p:nvCxnSpPr>
        <p:spPr>
          <a:xfrm>
            <a:off x="571500" y="4064000"/>
            <a:ext cx="635000" cy="0"/>
          </a:xfrm>
          <a:prstGeom prst="line">
            <a:avLst/>
          </a:prstGeom>
          <a:ln w="25400">
            <a:solidFill>
              <a:srgbClr val="C8462B"/>
            </a:solidFill>
          </a:ln>
        </p:spPr>
      </p:cxnSp>
      <p:sp>
        <p:nvSpPr>
          <p:cNvPr id="8" name="TextBox 7"/>
          <p:cNvSpPr txBox="1"/>
          <p:nvPr/>
        </p:nvSpPr>
        <p:spPr>
          <a:xfrm>
            <a:off x="571500" y="4254500"/>
            <a:ext cx="3556000" cy="1016000"/>
          </a:xfrm>
          <a:prstGeom prst="rect">
            <a:avLst/>
          </a:prstGeom>
          <a:noFill/>
        </p:spPr>
        <p:txBody>
          <a:bodyPr wrap="square" lIns="0" rIns="0" tIns="0" bIns="0" anchor="t">
            <a:spAutoFit/>
          </a:bodyPr>
          <a:lstStyle/>
          <a:p>
            <a:pPr algn="l">
              <a:lnSpc>
                <a:spcPct val="140000"/>
              </a:lnSpc>
            </a:pPr>
            <a:r>
              <a:rPr sz="1300" b="0" i="0">
                <a:solidFill>
                  <a:srgbClr val="D8D2C8"/>
                </a:solidFill>
                <a:latin typeface="Inter"/>
              </a:rPr>
              <a:t>[Nom de l'étudiant·e]</a:t>
            </a:r>
          </a:p>
          <a:p>
            <a:pPr algn="l">
              <a:lnSpc>
                <a:spcPct val="140000"/>
              </a:lnSpc>
            </a:pPr>
            <a:r>
              <a:rPr sz="1300" b="0" i="0">
                <a:solidFill>
                  <a:srgbClr val="D8D2C8"/>
                </a:solidFill>
                <a:latin typeface="Inter"/>
              </a:rPr>
              <a:t>[Cours]  ·  [Professeur·e]</a:t>
            </a:r>
          </a:p>
          <a:p>
            <a:pPr algn="l">
              <a:lnSpc>
                <a:spcPct val="140000"/>
              </a:lnSpc>
            </a:pPr>
            <a:r>
              <a:rPr sz="1300" b="0" i="0">
                <a:solidFill>
                  <a:srgbClr val="D8D2C8"/>
                </a:solidFill>
                <a:latin typeface="Inter"/>
              </a:rPr>
              <a:t>[Date]</a:t>
            </a:r>
          </a:p>
        </p:txBody>
      </p:sp>
      <p:sp>
        <p:nvSpPr>
          <p:cNvPr id="9" name="TextBox 8"/>
          <p:cNvSpPr txBox="1"/>
          <p:nvPr/>
        </p:nvSpPr>
        <p:spPr>
          <a:xfrm>
            <a:off x="571500" y="6032500"/>
            <a:ext cx="3810000" cy="381000"/>
          </a:xfrm>
          <a:prstGeom prst="rect">
            <a:avLst/>
          </a:prstGeom>
          <a:noFill/>
        </p:spPr>
        <p:txBody>
          <a:bodyPr wrap="square" lIns="0" rIns="0" tIns="0" bIns="0" anchor="t">
            <a:spAutoFit/>
          </a:bodyPr>
          <a:lstStyle/>
          <a:p>
            <a:pPr algn="l">
              <a:lnSpc>
                <a:spcPct val="115000"/>
              </a:lnSpc>
            </a:pPr>
            <a:r>
              <a:rPr sz="1000" b="0" i="1">
                <a:solidFill>
                  <a:srgbClr val="A9A39A"/>
                </a:solidFill>
                <a:latin typeface="Inter"/>
              </a:rPr>
              <a:t>Carte : la ville montrée (en rouge) et la ville habitée (en bleu).</a:t>
            </a:r>
          </a:p>
        </p:txBody>
      </p:sp>
      <p:sp>
        <p:nvSpPr>
          <p:cNvPr id="10" name="Rectangle 9"/>
          <p:cNvSpPr/>
          <p:nvPr/>
        </p:nvSpPr>
        <p:spPr>
          <a:xfrm>
            <a:off x="5207000" y="762000"/>
            <a:ext cx="6477000" cy="4064000"/>
          </a:xfrm>
          <a:prstGeom prst="rect">
            <a:avLst/>
          </a:prstGeom>
          <a:solidFill>
            <a:srgbClr val="D3E3EA"/>
          </a:solidFill>
          <a:ln>
            <a:noFill/>
          </a:ln>
          <a:effectLst/>
        </p:spPr>
        <p:txBody>
          <a:bodyPr rtlCol="0" anchor="ctr"/>
          <a:lstStyle/>
          <a:p>
            <a:pPr algn="ctr"/>
          </a:p>
        </p:txBody>
      </p:sp>
      <p:sp>
        <p:nvSpPr>
          <p:cNvPr id="11" name="Freeform 10"/>
          <p:cNvSpPr/>
          <p:nvPr/>
        </p:nvSpPr>
        <p:spPr>
          <a:xfrm>
            <a:off x="5207000" y="1032933"/>
            <a:ext cx="6477000" cy="3793067"/>
          </a:xfrm>
          <a:custGeom>
            <a:avLst/>
            <a:gdLst/>
            <a:ahLst/>
            <a:cxnLst/>
            <a:rect l="l" t="t" r="r" b="b"/>
            <a:pathLst>
              <a:path w="6477000" h="3793067">
                <a:moveTo>
                  <a:pt x="0" y="81280"/>
                </a:moveTo>
                <a:lnTo>
                  <a:pt x="42280" y="69772"/>
                </a:lnTo>
                <a:lnTo>
                  <a:pt x="100753" y="51678"/>
                </a:lnTo>
                <a:lnTo>
                  <a:pt x="170021" y="31327"/>
                </a:lnTo>
                <a:lnTo>
                  <a:pt x="244687" y="13045"/>
                </a:lnTo>
                <a:lnTo>
                  <a:pt x="319352" y="1161"/>
                </a:lnTo>
                <a:lnTo>
                  <a:pt x="388620" y="0"/>
                </a:lnTo>
                <a:lnTo>
                  <a:pt x="452640" y="12606"/>
                </a:lnTo>
                <a:lnTo>
                  <a:pt x="515761" y="36125"/>
                </a:lnTo>
                <a:lnTo>
                  <a:pt x="578882" y="66040"/>
                </a:lnTo>
                <a:lnTo>
                  <a:pt x="642902" y="97837"/>
                </a:lnTo>
                <a:lnTo>
                  <a:pt x="708722" y="127000"/>
                </a:lnTo>
                <a:lnTo>
                  <a:pt x="777240" y="149014"/>
                </a:lnTo>
                <a:lnTo>
                  <a:pt x="849057" y="163062"/>
                </a:lnTo>
                <a:lnTo>
                  <a:pt x="923572" y="172595"/>
                </a:lnTo>
                <a:lnTo>
                  <a:pt x="999887" y="179494"/>
                </a:lnTo>
                <a:lnTo>
                  <a:pt x="1077101" y="185640"/>
                </a:lnTo>
                <a:lnTo>
                  <a:pt x="1154315" y="192915"/>
                </a:lnTo>
                <a:lnTo>
                  <a:pt x="1230630" y="203200"/>
                </a:lnTo>
                <a:lnTo>
                  <a:pt x="1306195" y="216810"/>
                </a:lnTo>
                <a:lnTo>
                  <a:pt x="1381760" y="232301"/>
                </a:lnTo>
                <a:lnTo>
                  <a:pt x="1457325" y="248920"/>
                </a:lnTo>
                <a:lnTo>
                  <a:pt x="1532890" y="265916"/>
                </a:lnTo>
                <a:lnTo>
                  <a:pt x="1608455" y="282536"/>
                </a:lnTo>
                <a:lnTo>
                  <a:pt x="1684020" y="298027"/>
                </a:lnTo>
                <a:lnTo>
                  <a:pt x="1759585" y="312044"/>
                </a:lnTo>
                <a:lnTo>
                  <a:pt x="1835150" y="325120"/>
                </a:lnTo>
                <a:lnTo>
                  <a:pt x="1910715" y="337820"/>
                </a:lnTo>
                <a:lnTo>
                  <a:pt x="1986280" y="350708"/>
                </a:lnTo>
                <a:lnTo>
                  <a:pt x="2061845" y="364349"/>
                </a:lnTo>
                <a:lnTo>
                  <a:pt x="2137410" y="379307"/>
                </a:lnTo>
                <a:lnTo>
                  <a:pt x="2214474" y="395801"/>
                </a:lnTo>
                <a:lnTo>
                  <a:pt x="2293338" y="413425"/>
                </a:lnTo>
                <a:lnTo>
                  <a:pt x="2372201" y="431800"/>
                </a:lnTo>
                <a:lnTo>
                  <a:pt x="2449266" y="450552"/>
                </a:lnTo>
                <a:lnTo>
                  <a:pt x="2522732" y="469305"/>
                </a:lnTo>
                <a:lnTo>
                  <a:pt x="2590800" y="487680"/>
                </a:lnTo>
                <a:lnTo>
                  <a:pt x="2653396" y="505272"/>
                </a:lnTo>
                <a:lnTo>
                  <a:pt x="2711944" y="522300"/>
                </a:lnTo>
                <a:lnTo>
                  <a:pt x="2766893" y="539327"/>
                </a:lnTo>
                <a:lnTo>
                  <a:pt x="2818694" y="556919"/>
                </a:lnTo>
                <a:lnTo>
                  <a:pt x="2867797" y="575640"/>
                </a:lnTo>
                <a:lnTo>
                  <a:pt x="2914650" y="596054"/>
                </a:lnTo>
                <a:lnTo>
                  <a:pt x="2959179" y="618302"/>
                </a:lnTo>
                <a:lnTo>
                  <a:pt x="3001010" y="641962"/>
                </a:lnTo>
                <a:lnTo>
                  <a:pt x="3040142" y="666750"/>
                </a:lnTo>
                <a:lnTo>
                  <a:pt x="3076575" y="692386"/>
                </a:lnTo>
                <a:lnTo>
                  <a:pt x="3110309" y="718585"/>
                </a:lnTo>
                <a:lnTo>
                  <a:pt x="3141345" y="745067"/>
                </a:lnTo>
                <a:lnTo>
                  <a:pt x="3170057" y="774073"/>
                </a:lnTo>
                <a:lnTo>
                  <a:pt x="3196519" y="806278"/>
                </a:lnTo>
                <a:lnTo>
                  <a:pt x="3220283" y="839047"/>
                </a:lnTo>
                <a:lnTo>
                  <a:pt x="3240899" y="869747"/>
                </a:lnTo>
                <a:lnTo>
                  <a:pt x="3257916" y="895742"/>
                </a:lnTo>
                <a:lnTo>
                  <a:pt x="3270885" y="914400"/>
                </a:lnTo>
                <a:lnTo>
                  <a:pt x="3287003" y="947797"/>
                </a:lnTo>
                <a:lnTo>
                  <a:pt x="3308068" y="994175"/>
                </a:lnTo>
                <a:lnTo>
                  <a:pt x="3333631" y="1049020"/>
                </a:lnTo>
                <a:lnTo>
                  <a:pt x="3363242" y="1107817"/>
                </a:lnTo>
                <a:lnTo>
                  <a:pt x="3396452" y="1166048"/>
                </a:lnTo>
                <a:lnTo>
                  <a:pt x="3432810" y="1219200"/>
                </a:lnTo>
                <a:lnTo>
                  <a:pt x="3472392" y="1269044"/>
                </a:lnTo>
                <a:lnTo>
                  <a:pt x="3515572" y="1319546"/>
                </a:lnTo>
                <a:lnTo>
                  <a:pt x="3562350" y="1369484"/>
                </a:lnTo>
                <a:lnTo>
                  <a:pt x="3612727" y="1417634"/>
                </a:lnTo>
                <a:lnTo>
                  <a:pt x="3666702" y="1462774"/>
                </a:lnTo>
                <a:lnTo>
                  <a:pt x="3724275" y="1503680"/>
                </a:lnTo>
                <a:lnTo>
                  <a:pt x="3786571" y="1540871"/>
                </a:lnTo>
                <a:lnTo>
                  <a:pt x="3853815" y="1575427"/>
                </a:lnTo>
                <a:lnTo>
                  <a:pt x="3924657" y="1606974"/>
                </a:lnTo>
                <a:lnTo>
                  <a:pt x="3997748" y="1635133"/>
                </a:lnTo>
                <a:lnTo>
                  <a:pt x="4071739" y="1659530"/>
                </a:lnTo>
                <a:lnTo>
                  <a:pt x="4145280" y="1679787"/>
                </a:lnTo>
                <a:lnTo>
                  <a:pt x="4219346" y="1696125"/>
                </a:lnTo>
                <a:lnTo>
                  <a:pt x="4295211" y="1708887"/>
                </a:lnTo>
                <a:lnTo>
                  <a:pt x="4371975" y="1717887"/>
                </a:lnTo>
                <a:lnTo>
                  <a:pt x="4448739" y="1722936"/>
                </a:lnTo>
                <a:lnTo>
                  <a:pt x="4524604" y="1723845"/>
                </a:lnTo>
                <a:lnTo>
                  <a:pt x="4598670" y="1720427"/>
                </a:lnTo>
                <a:lnTo>
                  <a:pt x="4671461" y="1712086"/>
                </a:lnTo>
                <a:lnTo>
                  <a:pt x="4743803" y="1698853"/>
                </a:lnTo>
                <a:lnTo>
                  <a:pt x="4815245" y="1681480"/>
                </a:lnTo>
                <a:lnTo>
                  <a:pt x="4885337" y="1660721"/>
                </a:lnTo>
                <a:lnTo>
                  <a:pt x="4953631" y="1637328"/>
                </a:lnTo>
                <a:lnTo>
                  <a:pt x="5019675" y="1612054"/>
                </a:lnTo>
                <a:lnTo>
                  <a:pt x="5083920" y="1584694"/>
                </a:lnTo>
                <a:lnTo>
                  <a:pt x="5146816" y="1554606"/>
                </a:lnTo>
                <a:lnTo>
                  <a:pt x="5207913" y="1521884"/>
                </a:lnTo>
                <a:lnTo>
                  <a:pt x="5266761" y="1486622"/>
                </a:lnTo>
                <a:lnTo>
                  <a:pt x="5322910" y="1448914"/>
                </a:lnTo>
                <a:lnTo>
                  <a:pt x="5375910" y="1408854"/>
                </a:lnTo>
                <a:lnTo>
                  <a:pt x="5425837" y="1365564"/>
                </a:lnTo>
                <a:lnTo>
                  <a:pt x="5473065" y="1318793"/>
                </a:lnTo>
                <a:lnTo>
                  <a:pt x="5517594" y="1269577"/>
                </a:lnTo>
                <a:lnTo>
                  <a:pt x="5559425" y="1218949"/>
                </a:lnTo>
                <a:lnTo>
                  <a:pt x="5598557" y="1167946"/>
                </a:lnTo>
                <a:lnTo>
                  <a:pt x="5634990" y="1117600"/>
                </a:lnTo>
                <a:lnTo>
                  <a:pt x="5667225" y="1066016"/>
                </a:lnTo>
                <a:lnTo>
                  <a:pt x="5694962" y="1011987"/>
                </a:lnTo>
                <a:lnTo>
                  <a:pt x="5720001" y="957580"/>
                </a:lnTo>
                <a:lnTo>
                  <a:pt x="5744139" y="904867"/>
                </a:lnTo>
                <a:lnTo>
                  <a:pt x="5769178" y="855918"/>
                </a:lnTo>
                <a:lnTo>
                  <a:pt x="5796915" y="812800"/>
                </a:lnTo>
                <a:lnTo>
                  <a:pt x="5826676" y="775327"/>
                </a:lnTo>
                <a:lnTo>
                  <a:pt x="5856887" y="741806"/>
                </a:lnTo>
                <a:lnTo>
                  <a:pt x="5887998" y="712047"/>
                </a:lnTo>
                <a:lnTo>
                  <a:pt x="5920458" y="685863"/>
                </a:lnTo>
                <a:lnTo>
                  <a:pt x="5954717" y="663066"/>
                </a:lnTo>
                <a:lnTo>
                  <a:pt x="5991225" y="643467"/>
                </a:lnTo>
                <a:lnTo>
                  <a:pt x="6031032" y="627647"/>
                </a:lnTo>
                <a:lnTo>
                  <a:pt x="6073987" y="615872"/>
                </a:lnTo>
                <a:lnTo>
                  <a:pt x="6118741" y="607484"/>
                </a:lnTo>
                <a:lnTo>
                  <a:pt x="6163945" y="601824"/>
                </a:lnTo>
                <a:lnTo>
                  <a:pt x="6208249" y="598233"/>
                </a:lnTo>
                <a:lnTo>
                  <a:pt x="6250305" y="596054"/>
                </a:lnTo>
                <a:lnTo>
                  <a:pt x="6292585" y="596571"/>
                </a:lnTo>
                <a:lnTo>
                  <a:pt x="6336665" y="600569"/>
                </a:lnTo>
                <a:lnTo>
                  <a:pt x="6379845" y="606637"/>
                </a:lnTo>
                <a:lnTo>
                  <a:pt x="6419427" y="613363"/>
                </a:lnTo>
                <a:lnTo>
                  <a:pt x="6452711" y="619337"/>
                </a:lnTo>
                <a:lnTo>
                  <a:pt x="6477000" y="623147"/>
                </a:lnTo>
                <a:lnTo>
                  <a:pt x="6477000" y="3793067"/>
                </a:lnTo>
                <a:lnTo>
                  <a:pt x="0" y="3793067"/>
                </a:lnTo>
                <a:close/>
              </a:path>
            </a:pathLst>
          </a:custGeom>
          <a:solidFill>
            <a:srgbClr val="EFE9DE"/>
          </a:solidFill>
          <a:ln>
            <a:noFill/>
          </a:ln>
          <a:effectLst/>
        </p:spPr>
        <p:txBody>
          <a:bodyPr rtlCol="0" anchor="ctr"/>
          <a:lstStyle/>
          <a:p>
            <a:pPr algn="ctr"/>
          </a:p>
        </p:txBody>
      </p:sp>
      <p:sp>
        <p:nvSpPr>
          <p:cNvPr id="12" name="Freeform 11"/>
          <p:cNvSpPr/>
          <p:nvPr/>
        </p:nvSpPr>
        <p:spPr>
          <a:xfrm>
            <a:off x="5207000" y="1032933"/>
            <a:ext cx="6477000" cy="1723845"/>
          </a:xfrm>
          <a:custGeom>
            <a:avLst/>
            <a:gdLst/>
            <a:ahLst/>
            <a:cxnLst/>
            <a:rect l="l" t="t" r="r" b="b"/>
            <a:pathLst>
              <a:path w="6477000" h="1723845">
                <a:moveTo>
                  <a:pt x="0" y="81280"/>
                </a:moveTo>
                <a:lnTo>
                  <a:pt x="42280" y="69772"/>
                </a:lnTo>
                <a:lnTo>
                  <a:pt x="100753" y="51678"/>
                </a:lnTo>
                <a:lnTo>
                  <a:pt x="170021" y="31327"/>
                </a:lnTo>
                <a:lnTo>
                  <a:pt x="244687" y="13045"/>
                </a:lnTo>
                <a:lnTo>
                  <a:pt x="319352" y="1161"/>
                </a:lnTo>
                <a:lnTo>
                  <a:pt x="388620" y="0"/>
                </a:lnTo>
                <a:lnTo>
                  <a:pt x="452640" y="12606"/>
                </a:lnTo>
                <a:lnTo>
                  <a:pt x="515761" y="36125"/>
                </a:lnTo>
                <a:lnTo>
                  <a:pt x="578882" y="66040"/>
                </a:lnTo>
                <a:lnTo>
                  <a:pt x="642902" y="97837"/>
                </a:lnTo>
                <a:lnTo>
                  <a:pt x="708722" y="127000"/>
                </a:lnTo>
                <a:lnTo>
                  <a:pt x="777240" y="149014"/>
                </a:lnTo>
                <a:lnTo>
                  <a:pt x="849057" y="163062"/>
                </a:lnTo>
                <a:lnTo>
                  <a:pt x="923572" y="172595"/>
                </a:lnTo>
                <a:lnTo>
                  <a:pt x="999887" y="179494"/>
                </a:lnTo>
                <a:lnTo>
                  <a:pt x="1077101" y="185640"/>
                </a:lnTo>
                <a:lnTo>
                  <a:pt x="1154315" y="192915"/>
                </a:lnTo>
                <a:lnTo>
                  <a:pt x="1230630" y="203200"/>
                </a:lnTo>
                <a:lnTo>
                  <a:pt x="1306195" y="216810"/>
                </a:lnTo>
                <a:lnTo>
                  <a:pt x="1381760" y="232301"/>
                </a:lnTo>
                <a:lnTo>
                  <a:pt x="1457325" y="248920"/>
                </a:lnTo>
                <a:lnTo>
                  <a:pt x="1532890" y="265916"/>
                </a:lnTo>
                <a:lnTo>
                  <a:pt x="1608455" y="282536"/>
                </a:lnTo>
                <a:lnTo>
                  <a:pt x="1684020" y="298027"/>
                </a:lnTo>
                <a:lnTo>
                  <a:pt x="1759585" y="312044"/>
                </a:lnTo>
                <a:lnTo>
                  <a:pt x="1835150" y="325120"/>
                </a:lnTo>
                <a:lnTo>
                  <a:pt x="1910715" y="337820"/>
                </a:lnTo>
                <a:lnTo>
                  <a:pt x="1986280" y="350708"/>
                </a:lnTo>
                <a:lnTo>
                  <a:pt x="2061845" y="364349"/>
                </a:lnTo>
                <a:lnTo>
                  <a:pt x="2137410" y="379307"/>
                </a:lnTo>
                <a:lnTo>
                  <a:pt x="2214474" y="395801"/>
                </a:lnTo>
                <a:lnTo>
                  <a:pt x="2293338" y="413425"/>
                </a:lnTo>
                <a:lnTo>
                  <a:pt x="2372201" y="431800"/>
                </a:lnTo>
                <a:lnTo>
                  <a:pt x="2449266" y="450552"/>
                </a:lnTo>
                <a:lnTo>
                  <a:pt x="2522732" y="469305"/>
                </a:lnTo>
                <a:lnTo>
                  <a:pt x="2590800" y="487680"/>
                </a:lnTo>
                <a:lnTo>
                  <a:pt x="2653396" y="505272"/>
                </a:lnTo>
                <a:lnTo>
                  <a:pt x="2711944" y="522300"/>
                </a:lnTo>
                <a:lnTo>
                  <a:pt x="2766893" y="539327"/>
                </a:lnTo>
                <a:lnTo>
                  <a:pt x="2818694" y="556919"/>
                </a:lnTo>
                <a:lnTo>
                  <a:pt x="2867797" y="575640"/>
                </a:lnTo>
                <a:lnTo>
                  <a:pt x="2914650" y="596054"/>
                </a:lnTo>
                <a:lnTo>
                  <a:pt x="2959179" y="618302"/>
                </a:lnTo>
                <a:lnTo>
                  <a:pt x="3001010" y="641962"/>
                </a:lnTo>
                <a:lnTo>
                  <a:pt x="3040142" y="666750"/>
                </a:lnTo>
                <a:lnTo>
                  <a:pt x="3076575" y="692386"/>
                </a:lnTo>
                <a:lnTo>
                  <a:pt x="3110309" y="718585"/>
                </a:lnTo>
                <a:lnTo>
                  <a:pt x="3141345" y="745067"/>
                </a:lnTo>
                <a:lnTo>
                  <a:pt x="3170057" y="774073"/>
                </a:lnTo>
                <a:lnTo>
                  <a:pt x="3196519" y="806278"/>
                </a:lnTo>
                <a:lnTo>
                  <a:pt x="3220283" y="839047"/>
                </a:lnTo>
                <a:lnTo>
                  <a:pt x="3240899" y="869747"/>
                </a:lnTo>
                <a:lnTo>
                  <a:pt x="3257916" y="895742"/>
                </a:lnTo>
                <a:lnTo>
                  <a:pt x="3270885" y="914400"/>
                </a:lnTo>
                <a:lnTo>
                  <a:pt x="3287003" y="947797"/>
                </a:lnTo>
                <a:lnTo>
                  <a:pt x="3308068" y="994175"/>
                </a:lnTo>
                <a:lnTo>
                  <a:pt x="3333631" y="1049020"/>
                </a:lnTo>
                <a:lnTo>
                  <a:pt x="3363242" y="1107817"/>
                </a:lnTo>
                <a:lnTo>
                  <a:pt x="3396452" y="1166048"/>
                </a:lnTo>
                <a:lnTo>
                  <a:pt x="3432810" y="1219200"/>
                </a:lnTo>
                <a:lnTo>
                  <a:pt x="3472392" y="1269044"/>
                </a:lnTo>
                <a:lnTo>
                  <a:pt x="3515572" y="1319546"/>
                </a:lnTo>
                <a:lnTo>
                  <a:pt x="3562350" y="1369484"/>
                </a:lnTo>
                <a:lnTo>
                  <a:pt x="3612727" y="1417634"/>
                </a:lnTo>
                <a:lnTo>
                  <a:pt x="3666702" y="1462774"/>
                </a:lnTo>
                <a:lnTo>
                  <a:pt x="3724275" y="1503680"/>
                </a:lnTo>
                <a:lnTo>
                  <a:pt x="3786571" y="1540871"/>
                </a:lnTo>
                <a:lnTo>
                  <a:pt x="3853815" y="1575427"/>
                </a:lnTo>
                <a:lnTo>
                  <a:pt x="3924657" y="1606974"/>
                </a:lnTo>
                <a:lnTo>
                  <a:pt x="3997748" y="1635133"/>
                </a:lnTo>
                <a:lnTo>
                  <a:pt x="4071739" y="1659530"/>
                </a:lnTo>
                <a:lnTo>
                  <a:pt x="4145280" y="1679787"/>
                </a:lnTo>
                <a:lnTo>
                  <a:pt x="4219346" y="1696125"/>
                </a:lnTo>
                <a:lnTo>
                  <a:pt x="4295211" y="1708887"/>
                </a:lnTo>
                <a:lnTo>
                  <a:pt x="4371975" y="1717887"/>
                </a:lnTo>
                <a:lnTo>
                  <a:pt x="4448739" y="1722936"/>
                </a:lnTo>
                <a:lnTo>
                  <a:pt x="4524604" y="1723845"/>
                </a:lnTo>
                <a:lnTo>
                  <a:pt x="4598670" y="1720427"/>
                </a:lnTo>
                <a:lnTo>
                  <a:pt x="4671461" y="1712086"/>
                </a:lnTo>
                <a:lnTo>
                  <a:pt x="4743803" y="1698853"/>
                </a:lnTo>
                <a:lnTo>
                  <a:pt x="4815245" y="1681480"/>
                </a:lnTo>
                <a:lnTo>
                  <a:pt x="4885337" y="1660721"/>
                </a:lnTo>
                <a:lnTo>
                  <a:pt x="4953631" y="1637328"/>
                </a:lnTo>
                <a:lnTo>
                  <a:pt x="5019675" y="1612054"/>
                </a:lnTo>
                <a:lnTo>
                  <a:pt x="5083920" y="1584694"/>
                </a:lnTo>
                <a:lnTo>
                  <a:pt x="5146816" y="1554606"/>
                </a:lnTo>
                <a:lnTo>
                  <a:pt x="5207913" y="1521884"/>
                </a:lnTo>
                <a:lnTo>
                  <a:pt x="5266761" y="1486622"/>
                </a:lnTo>
                <a:lnTo>
                  <a:pt x="5322910" y="1448914"/>
                </a:lnTo>
                <a:lnTo>
                  <a:pt x="5375910" y="1408854"/>
                </a:lnTo>
                <a:lnTo>
                  <a:pt x="5425837" y="1365564"/>
                </a:lnTo>
                <a:lnTo>
                  <a:pt x="5473065" y="1318793"/>
                </a:lnTo>
                <a:lnTo>
                  <a:pt x="5517594" y="1269577"/>
                </a:lnTo>
                <a:lnTo>
                  <a:pt x="5559425" y="1218949"/>
                </a:lnTo>
                <a:lnTo>
                  <a:pt x="5598557" y="1167946"/>
                </a:lnTo>
                <a:lnTo>
                  <a:pt x="5634990" y="1117600"/>
                </a:lnTo>
                <a:lnTo>
                  <a:pt x="5667225" y="1066016"/>
                </a:lnTo>
                <a:lnTo>
                  <a:pt x="5694962" y="1011987"/>
                </a:lnTo>
                <a:lnTo>
                  <a:pt x="5720001" y="957580"/>
                </a:lnTo>
                <a:lnTo>
                  <a:pt x="5744139" y="904867"/>
                </a:lnTo>
                <a:lnTo>
                  <a:pt x="5769178" y="855918"/>
                </a:lnTo>
                <a:lnTo>
                  <a:pt x="5796915" y="812800"/>
                </a:lnTo>
                <a:lnTo>
                  <a:pt x="5826676" y="775327"/>
                </a:lnTo>
                <a:lnTo>
                  <a:pt x="5856887" y="741806"/>
                </a:lnTo>
                <a:lnTo>
                  <a:pt x="5887998" y="712047"/>
                </a:lnTo>
                <a:lnTo>
                  <a:pt x="5920458" y="685863"/>
                </a:lnTo>
                <a:lnTo>
                  <a:pt x="5954717" y="663066"/>
                </a:lnTo>
                <a:lnTo>
                  <a:pt x="5991225" y="643467"/>
                </a:lnTo>
                <a:lnTo>
                  <a:pt x="6031032" y="627647"/>
                </a:lnTo>
                <a:lnTo>
                  <a:pt x="6073987" y="615872"/>
                </a:lnTo>
                <a:lnTo>
                  <a:pt x="6118741" y="607484"/>
                </a:lnTo>
                <a:lnTo>
                  <a:pt x="6163945" y="601824"/>
                </a:lnTo>
                <a:lnTo>
                  <a:pt x="6208249" y="598233"/>
                </a:lnTo>
                <a:lnTo>
                  <a:pt x="6250305" y="596054"/>
                </a:lnTo>
                <a:lnTo>
                  <a:pt x="6292585" y="596571"/>
                </a:lnTo>
                <a:lnTo>
                  <a:pt x="6336665" y="600569"/>
                </a:lnTo>
                <a:lnTo>
                  <a:pt x="6379845" y="606637"/>
                </a:lnTo>
                <a:lnTo>
                  <a:pt x="6419427" y="613363"/>
                </a:lnTo>
                <a:lnTo>
                  <a:pt x="6452711" y="619337"/>
                </a:lnTo>
                <a:lnTo>
                  <a:pt x="6477000" y="623147"/>
                </a:lnTo>
              </a:path>
            </a:pathLst>
          </a:custGeom>
          <a:noFill/>
          <a:ln w="15875">
            <a:solidFill>
              <a:srgbClr val="8C9AA0"/>
            </a:solidFill>
          </a:ln>
          <a:effectLst/>
        </p:spPr>
        <p:txBody>
          <a:bodyPr rtlCol="0" anchor="ctr"/>
          <a:lstStyle/>
          <a:p>
            <a:pPr algn="ctr"/>
          </a:p>
        </p:txBody>
      </p:sp>
      <p:sp>
        <p:nvSpPr>
          <p:cNvPr id="13" name="TextBox 12"/>
          <p:cNvSpPr txBox="1"/>
          <p:nvPr/>
        </p:nvSpPr>
        <p:spPr>
          <a:xfrm>
            <a:off x="6826250" y="816187"/>
            <a:ext cx="2540000" cy="152400"/>
          </a:xfrm>
          <a:prstGeom prst="rect">
            <a:avLst/>
          </a:prstGeom>
          <a:noFill/>
        </p:spPr>
        <p:txBody>
          <a:bodyPr wrap="square" lIns="0" rIns="0" tIns="0" bIns="0" anchor="t">
            <a:spAutoFit/>
          </a:bodyPr>
          <a:lstStyle/>
          <a:p>
            <a:pPr algn="l">
              <a:lnSpc>
                <a:spcPct val="115000"/>
              </a:lnSpc>
            </a:pPr>
            <a:r>
              <a:rPr sz="1000" b="1" i="1">
                <a:solidFill>
                  <a:srgbClr val="5C7884"/>
                </a:solidFill>
                <a:latin typeface="Inter"/>
              </a:rPr>
              <a:t>DÉTROIT DE GIBRALTAR</a:t>
            </a:r>
          </a:p>
        </p:txBody>
      </p:sp>
      <p:sp>
        <p:nvSpPr>
          <p:cNvPr id="14" name="TextBox 13"/>
          <p:cNvSpPr txBox="1"/>
          <p:nvPr/>
        </p:nvSpPr>
        <p:spPr>
          <a:xfrm>
            <a:off x="9352280" y="1778000"/>
            <a:ext cx="1651000" cy="152400"/>
          </a:xfrm>
          <a:prstGeom prst="rect">
            <a:avLst/>
          </a:prstGeom>
          <a:noFill/>
        </p:spPr>
        <p:txBody>
          <a:bodyPr wrap="square" lIns="0" rIns="0" tIns="0" bIns="0" anchor="t">
            <a:spAutoFit/>
          </a:bodyPr>
          <a:lstStyle/>
          <a:p>
            <a:pPr algn="l">
              <a:lnSpc>
                <a:spcPct val="115000"/>
              </a:lnSpc>
            </a:pPr>
            <a:r>
              <a:rPr sz="1000" b="0" i="1">
                <a:solidFill>
                  <a:srgbClr val="5C7884"/>
                </a:solidFill>
                <a:latin typeface="Inter"/>
              </a:rPr>
              <a:t>Baie de Tanger</a:t>
            </a:r>
          </a:p>
        </p:txBody>
      </p:sp>
      <p:sp>
        <p:nvSpPr>
          <p:cNvPr id="15" name="Rectangle 14"/>
          <p:cNvSpPr/>
          <p:nvPr/>
        </p:nvSpPr>
        <p:spPr>
          <a:xfrm>
            <a:off x="5207000" y="762000"/>
            <a:ext cx="6477000" cy="4064000"/>
          </a:xfrm>
          <a:prstGeom prst="rect">
            <a:avLst/>
          </a:prstGeom>
          <a:noFill/>
          <a:ln w="9525">
            <a:solidFill>
              <a:srgbClr val="CFC8BC"/>
            </a:solidFill>
          </a:ln>
          <a:effectLst/>
        </p:spPr>
        <p:txBody>
          <a:bodyPr rtlCol="0" anchor="ctr"/>
          <a:lstStyle/>
          <a:p>
            <a:pPr algn="ctr"/>
          </a:p>
        </p:txBody>
      </p:sp>
      <p:sp>
        <p:nvSpPr>
          <p:cNvPr id="16" name="Freeform 15"/>
          <p:cNvSpPr/>
          <p:nvPr/>
        </p:nvSpPr>
        <p:spPr>
          <a:xfrm>
            <a:off x="8293785" y="2643891"/>
            <a:ext cx="1101090" cy="742466"/>
          </a:xfrm>
          <a:custGeom>
            <a:avLst/>
            <a:gdLst/>
            <a:ahLst/>
            <a:cxnLst/>
            <a:rect l="l" t="t" r="r" b="b"/>
            <a:pathLst>
              <a:path w="1101090" h="742466">
                <a:moveTo>
                  <a:pt x="1101090" y="353309"/>
                </a:moveTo>
                <a:lnTo>
                  <a:pt x="1100216" y="401036"/>
                </a:lnTo>
                <a:lnTo>
                  <a:pt x="1092022" y="451079"/>
                </a:lnTo>
                <a:lnTo>
                  <a:pt x="1075929" y="500729"/>
                </a:lnTo>
                <a:lnTo>
                  <a:pt x="1051360" y="547276"/>
                </a:lnTo>
                <a:lnTo>
                  <a:pt x="1017736" y="588011"/>
                </a:lnTo>
                <a:lnTo>
                  <a:pt x="972489" y="623430"/>
                </a:lnTo>
                <a:lnTo>
                  <a:pt x="916003" y="655339"/>
                </a:lnTo>
                <a:lnTo>
                  <a:pt x="852132" y="682995"/>
                </a:lnTo>
                <a:lnTo>
                  <a:pt x="784730" y="705654"/>
                </a:lnTo>
                <a:lnTo>
                  <a:pt x="717648" y="722572"/>
                </a:lnTo>
                <a:lnTo>
                  <a:pt x="648453" y="734216"/>
                </a:lnTo>
                <a:lnTo>
                  <a:pt x="574577" y="741079"/>
                </a:lnTo>
                <a:lnTo>
                  <a:pt x="499671" y="742466"/>
                </a:lnTo>
                <a:lnTo>
                  <a:pt x="427384" y="737678"/>
                </a:lnTo>
                <a:lnTo>
                  <a:pt x="361367" y="726019"/>
                </a:lnTo>
                <a:lnTo>
                  <a:pt x="300607" y="705873"/>
                </a:lnTo>
                <a:lnTo>
                  <a:pt x="242668" y="677705"/>
                </a:lnTo>
                <a:lnTo>
                  <a:pt x="189074" y="643938"/>
                </a:lnTo>
                <a:lnTo>
                  <a:pt x="141346" y="606994"/>
                </a:lnTo>
                <a:lnTo>
                  <a:pt x="101007" y="569293"/>
                </a:lnTo>
                <a:lnTo>
                  <a:pt x="66960" y="529685"/>
                </a:lnTo>
                <a:lnTo>
                  <a:pt x="38190" y="486554"/>
                </a:lnTo>
                <a:lnTo>
                  <a:pt x="16342" y="441629"/>
                </a:lnTo>
                <a:lnTo>
                  <a:pt x="3064" y="396638"/>
                </a:lnTo>
                <a:lnTo>
                  <a:pt x="0" y="353309"/>
                </a:lnTo>
                <a:lnTo>
                  <a:pt x="8823" y="310772"/>
                </a:lnTo>
                <a:lnTo>
                  <a:pt x="28434" y="267874"/>
                </a:lnTo>
                <a:lnTo>
                  <a:pt x="56327" y="225921"/>
                </a:lnTo>
                <a:lnTo>
                  <a:pt x="89996" y="186219"/>
                </a:lnTo>
                <a:lnTo>
                  <a:pt x="126936" y="150072"/>
                </a:lnTo>
                <a:lnTo>
                  <a:pt x="167941" y="116322"/>
                </a:lnTo>
                <a:lnTo>
                  <a:pt x="214684" y="84100"/>
                </a:lnTo>
                <a:lnTo>
                  <a:pt x="265969" y="55142"/>
                </a:lnTo>
                <a:lnTo>
                  <a:pt x="320603" y="31187"/>
                </a:lnTo>
                <a:lnTo>
                  <a:pt x="377392" y="13972"/>
                </a:lnTo>
                <a:lnTo>
                  <a:pt x="438062" y="3962"/>
                </a:lnTo>
                <a:lnTo>
                  <a:pt x="503407" y="0"/>
                </a:lnTo>
                <a:lnTo>
                  <a:pt x="570841" y="1386"/>
                </a:lnTo>
                <a:lnTo>
                  <a:pt x="637775" y="7425"/>
                </a:lnTo>
                <a:lnTo>
                  <a:pt x="701623" y="17418"/>
                </a:lnTo>
                <a:lnTo>
                  <a:pt x="764733" y="31406"/>
                </a:lnTo>
                <a:lnTo>
                  <a:pt x="828831" y="49852"/>
                </a:lnTo>
                <a:lnTo>
                  <a:pt x="890393" y="72699"/>
                </a:lnTo>
                <a:lnTo>
                  <a:pt x="945893" y="99886"/>
                </a:lnTo>
                <a:lnTo>
                  <a:pt x="991808" y="131354"/>
                </a:lnTo>
                <a:lnTo>
                  <a:pt x="1028324" y="168628"/>
                </a:lnTo>
                <a:lnTo>
                  <a:pt x="1057792" y="211747"/>
                </a:lnTo>
                <a:lnTo>
                  <a:pt x="1079930" y="258424"/>
                </a:lnTo>
                <a:lnTo>
                  <a:pt x="1094457" y="306374"/>
                </a:lnTo>
                <a:close/>
              </a:path>
            </a:pathLst>
          </a:custGeom>
          <a:solidFill>
            <a:srgbClr val="D4CCBE"/>
          </a:solidFill>
          <a:ln>
            <a:noFill/>
          </a:ln>
          <a:effectLst/>
        </p:spPr>
        <p:txBody>
          <a:bodyPr rtlCol="0" anchor="ctr"/>
          <a:lstStyle/>
          <a:p>
            <a:pPr algn="ctr"/>
          </a:p>
        </p:txBody>
      </p:sp>
      <p:sp>
        <p:nvSpPr>
          <p:cNvPr id="17" name="Freeform 16"/>
          <p:cNvSpPr/>
          <p:nvPr/>
        </p:nvSpPr>
        <p:spPr>
          <a:xfrm>
            <a:off x="7306765" y="2872930"/>
            <a:ext cx="1233132" cy="959444"/>
          </a:xfrm>
          <a:custGeom>
            <a:avLst/>
            <a:gdLst/>
            <a:ahLst/>
            <a:cxnLst/>
            <a:rect l="l" t="t" r="r" b="b"/>
            <a:pathLst>
              <a:path w="1233132" h="959444">
                <a:moveTo>
                  <a:pt x="1230630" y="462937"/>
                </a:moveTo>
                <a:lnTo>
                  <a:pt x="1233067" y="527103"/>
                </a:lnTo>
                <a:lnTo>
                  <a:pt x="1233132" y="594727"/>
                </a:lnTo>
                <a:lnTo>
                  <a:pt x="1226502" y="661355"/>
                </a:lnTo>
                <a:lnTo>
                  <a:pt x="1208855" y="722535"/>
                </a:lnTo>
                <a:lnTo>
                  <a:pt x="1175869" y="773812"/>
                </a:lnTo>
                <a:lnTo>
                  <a:pt x="1123001" y="814024"/>
                </a:lnTo>
                <a:lnTo>
                  <a:pt x="1053133" y="846137"/>
                </a:lnTo>
                <a:lnTo>
                  <a:pt x="973079" y="871900"/>
                </a:lnTo>
                <a:lnTo>
                  <a:pt x="889651" y="893059"/>
                </a:lnTo>
                <a:lnTo>
                  <a:pt x="809662" y="911360"/>
                </a:lnTo>
                <a:lnTo>
                  <a:pt x="730490" y="929414"/>
                </a:lnTo>
                <a:lnTo>
                  <a:pt x="647593" y="946056"/>
                </a:lnTo>
                <a:lnTo>
                  <a:pt x="564904" y="957372"/>
                </a:lnTo>
                <a:lnTo>
                  <a:pt x="486358" y="959444"/>
                </a:lnTo>
                <a:lnTo>
                  <a:pt x="415887" y="948359"/>
                </a:lnTo>
                <a:lnTo>
                  <a:pt x="354089" y="920407"/>
                </a:lnTo>
                <a:lnTo>
                  <a:pt x="298341" y="878201"/>
                </a:lnTo>
                <a:lnTo>
                  <a:pt x="247748" y="827301"/>
                </a:lnTo>
                <a:lnTo>
                  <a:pt x="201414" y="773266"/>
                </a:lnTo>
                <a:lnTo>
                  <a:pt x="158442" y="721657"/>
                </a:lnTo>
                <a:lnTo>
                  <a:pt x="114998" y="671767"/>
                </a:lnTo>
                <a:lnTo>
                  <a:pt x="71679" y="619888"/>
                </a:lnTo>
                <a:lnTo>
                  <a:pt x="34237" y="567082"/>
                </a:lnTo>
                <a:lnTo>
                  <a:pt x="8426" y="514411"/>
                </a:lnTo>
                <a:lnTo>
                  <a:pt x="0" y="462937"/>
                </a:lnTo>
                <a:lnTo>
                  <a:pt x="13274" y="412221"/>
                </a:lnTo>
                <a:lnTo>
                  <a:pt x="44415" y="361557"/>
                </a:lnTo>
                <a:lnTo>
                  <a:pt x="86946" y="311600"/>
                </a:lnTo>
                <a:lnTo>
                  <a:pt x="134389" y="263007"/>
                </a:lnTo>
                <a:lnTo>
                  <a:pt x="180268" y="216435"/>
                </a:lnTo>
                <a:lnTo>
                  <a:pt x="223801" y="168614"/>
                </a:lnTo>
                <a:lnTo>
                  <a:pt x="269306" y="119105"/>
                </a:lnTo>
                <a:lnTo>
                  <a:pt x="317955" y="72815"/>
                </a:lnTo>
                <a:lnTo>
                  <a:pt x="370921" y="34646"/>
                </a:lnTo>
                <a:lnTo>
                  <a:pt x="429376" y="9505"/>
                </a:lnTo>
                <a:lnTo>
                  <a:pt x="495346" y="0"/>
                </a:lnTo>
                <a:lnTo>
                  <a:pt x="568050" y="2864"/>
                </a:lnTo>
                <a:lnTo>
                  <a:pt x="644448" y="14179"/>
                </a:lnTo>
                <a:lnTo>
                  <a:pt x="721502" y="30031"/>
                </a:lnTo>
                <a:lnTo>
                  <a:pt x="796173" y="46503"/>
                </a:lnTo>
                <a:lnTo>
                  <a:pt x="872818" y="61995"/>
                </a:lnTo>
                <a:lnTo>
                  <a:pt x="953465" y="79116"/>
                </a:lnTo>
                <a:lnTo>
                  <a:pt x="1031575" y="100269"/>
                </a:lnTo>
                <a:lnTo>
                  <a:pt x="1100614" y="127856"/>
                </a:lnTo>
                <a:lnTo>
                  <a:pt x="1154043" y="164280"/>
                </a:lnTo>
                <a:lnTo>
                  <a:pt x="1189464" y="212240"/>
                </a:lnTo>
                <a:lnTo>
                  <a:pt x="1211234" y="270133"/>
                </a:lnTo>
                <a:lnTo>
                  <a:pt x="1222953" y="333912"/>
                </a:lnTo>
                <a:lnTo>
                  <a:pt x="1228219" y="399529"/>
                </a:lnTo>
                <a:close/>
              </a:path>
            </a:pathLst>
          </a:custGeom>
          <a:solidFill>
            <a:srgbClr val="C9D5E3"/>
          </a:solidFill>
          <a:ln>
            <a:noFill/>
          </a:ln>
          <a:effectLst/>
        </p:spPr>
        <p:txBody>
          <a:bodyPr rtlCol="0" anchor="ctr"/>
          <a:lstStyle/>
          <a:p>
            <a:pPr algn="ctr"/>
          </a:p>
        </p:txBody>
      </p:sp>
      <p:sp>
        <p:nvSpPr>
          <p:cNvPr id="18" name="Freeform 17"/>
          <p:cNvSpPr/>
          <p:nvPr/>
        </p:nvSpPr>
        <p:spPr>
          <a:xfrm>
            <a:off x="6579124" y="2559822"/>
            <a:ext cx="1036320" cy="754666"/>
          </a:xfrm>
          <a:custGeom>
            <a:avLst/>
            <a:gdLst/>
            <a:ahLst/>
            <a:cxnLst/>
            <a:rect l="l" t="t" r="r" b="b"/>
            <a:pathLst>
              <a:path w="1036320" h="754666">
                <a:moveTo>
                  <a:pt x="1036320" y="369645"/>
                </a:moveTo>
                <a:lnTo>
                  <a:pt x="1029604" y="415477"/>
                </a:lnTo>
                <a:lnTo>
                  <a:pt x="1009631" y="462776"/>
                </a:lnTo>
                <a:lnTo>
                  <a:pt x="979876" y="509678"/>
                </a:lnTo>
                <a:lnTo>
                  <a:pt x="943813" y="554317"/>
                </a:lnTo>
                <a:lnTo>
                  <a:pt x="904916" y="594827"/>
                </a:lnTo>
                <a:lnTo>
                  <a:pt x="862193" y="633038"/>
                </a:lnTo>
                <a:lnTo>
                  <a:pt x="813328" y="670191"/>
                </a:lnTo>
                <a:lnTo>
                  <a:pt x="759809" y="703546"/>
                </a:lnTo>
                <a:lnTo>
                  <a:pt x="703126" y="730362"/>
                </a:lnTo>
                <a:lnTo>
                  <a:pt x="644766" y="747897"/>
                </a:lnTo>
                <a:lnTo>
                  <a:pt x="582627" y="754666"/>
                </a:lnTo>
                <a:lnTo>
                  <a:pt x="515716" y="752494"/>
                </a:lnTo>
                <a:lnTo>
                  <a:pt x="447188" y="743613"/>
                </a:lnTo>
                <a:lnTo>
                  <a:pt x="380199" y="730253"/>
                </a:lnTo>
                <a:lnTo>
                  <a:pt x="317904" y="714644"/>
                </a:lnTo>
                <a:lnTo>
                  <a:pt x="258038" y="696760"/>
                </a:lnTo>
                <a:lnTo>
                  <a:pt x="198498" y="675112"/>
                </a:lnTo>
                <a:lnTo>
                  <a:pt x="142680" y="649742"/>
                </a:lnTo>
                <a:lnTo>
                  <a:pt x="93982" y="620690"/>
                </a:lnTo>
                <a:lnTo>
                  <a:pt x="55801" y="587998"/>
                </a:lnTo>
                <a:lnTo>
                  <a:pt x="29481" y="550107"/>
                </a:lnTo>
                <a:lnTo>
                  <a:pt x="12756" y="506991"/>
                </a:lnTo>
                <a:lnTo>
                  <a:pt x="3611" y="460985"/>
                </a:lnTo>
                <a:lnTo>
                  <a:pt x="31" y="414424"/>
                </a:lnTo>
                <a:lnTo>
                  <a:pt x="0" y="369645"/>
                </a:lnTo>
                <a:lnTo>
                  <a:pt x="2410" y="325213"/>
                </a:lnTo>
                <a:lnTo>
                  <a:pt x="8607" y="279571"/>
                </a:lnTo>
                <a:lnTo>
                  <a:pt x="20250" y="234870"/>
                </a:lnTo>
                <a:lnTo>
                  <a:pt x="39000" y="193259"/>
                </a:lnTo>
                <a:lnTo>
                  <a:pt x="66515" y="156888"/>
                </a:lnTo>
                <a:lnTo>
                  <a:pt x="104972" y="125930"/>
                </a:lnTo>
                <a:lnTo>
                  <a:pt x="153263" y="98952"/>
                </a:lnTo>
                <a:lnTo>
                  <a:pt x="208126" y="75693"/>
                </a:lnTo>
                <a:lnTo>
                  <a:pt x="266301" y="55895"/>
                </a:lnTo>
                <a:lnTo>
                  <a:pt x="324526" y="39297"/>
                </a:lnTo>
                <a:lnTo>
                  <a:pt x="384611" y="24412"/>
                </a:lnTo>
                <a:lnTo>
                  <a:pt x="448732" y="11415"/>
                </a:lnTo>
                <a:lnTo>
                  <a:pt x="514172" y="2534"/>
                </a:lnTo>
                <a:lnTo>
                  <a:pt x="578215" y="0"/>
                </a:lnTo>
                <a:lnTo>
                  <a:pt x="638144" y="6044"/>
                </a:lnTo>
                <a:lnTo>
                  <a:pt x="694863" y="22293"/>
                </a:lnTo>
                <a:lnTo>
                  <a:pt x="750181" y="47259"/>
                </a:lnTo>
                <a:lnTo>
                  <a:pt x="802745" y="78503"/>
                </a:lnTo>
                <a:lnTo>
                  <a:pt x="851203" y="113583"/>
                </a:lnTo>
                <a:lnTo>
                  <a:pt x="894202" y="150058"/>
                </a:lnTo>
                <a:lnTo>
                  <a:pt x="934294" y="189050"/>
                </a:lnTo>
                <a:lnTo>
                  <a:pt x="972382" y="232183"/>
                </a:lnTo>
                <a:lnTo>
                  <a:pt x="1004635" y="277780"/>
                </a:lnTo>
                <a:lnTo>
                  <a:pt x="1027224" y="324160"/>
                </a:lnTo>
                <a:close/>
              </a:path>
            </a:pathLst>
          </a:custGeom>
          <a:solidFill>
            <a:srgbClr val="C9D5E3"/>
          </a:solidFill>
          <a:ln>
            <a:noFill/>
          </a:ln>
          <a:effectLst/>
        </p:spPr>
        <p:txBody>
          <a:bodyPr rtlCol="0" anchor="ctr"/>
          <a:lstStyle/>
          <a:p>
            <a:pPr algn="ctr"/>
          </a:p>
        </p:txBody>
      </p:sp>
      <p:sp>
        <p:nvSpPr>
          <p:cNvPr id="19" name="Freeform 18"/>
          <p:cNvSpPr/>
          <p:nvPr/>
        </p:nvSpPr>
        <p:spPr>
          <a:xfrm>
            <a:off x="8601205" y="3428875"/>
            <a:ext cx="1101866" cy="765251"/>
          </a:xfrm>
          <a:custGeom>
            <a:avLst/>
            <a:gdLst/>
            <a:ahLst/>
            <a:cxnLst/>
            <a:rect l="l" t="t" r="r" b="b"/>
            <a:pathLst>
              <a:path w="1101866" h="765251">
                <a:moveTo>
                  <a:pt x="1101866" y="381125"/>
                </a:moveTo>
                <a:lnTo>
                  <a:pt x="1091887" y="425941"/>
                </a:lnTo>
                <a:lnTo>
                  <a:pt x="1065136" y="471777"/>
                </a:lnTo>
                <a:lnTo>
                  <a:pt x="1027062" y="517169"/>
                </a:lnTo>
                <a:lnTo>
                  <a:pt x="983112" y="560649"/>
                </a:lnTo>
                <a:lnTo>
                  <a:pt x="938734" y="600753"/>
                </a:lnTo>
                <a:lnTo>
                  <a:pt x="893536" y="639825"/>
                </a:lnTo>
                <a:lnTo>
                  <a:pt x="843887" y="678845"/>
                </a:lnTo>
                <a:lnTo>
                  <a:pt x="790373" y="714292"/>
                </a:lnTo>
                <a:lnTo>
                  <a:pt x="733584" y="742644"/>
                </a:lnTo>
                <a:lnTo>
                  <a:pt x="674107" y="760382"/>
                </a:lnTo>
                <a:lnTo>
                  <a:pt x="609831" y="765251"/>
                </a:lnTo>
                <a:lnTo>
                  <a:pt x="540366" y="759598"/>
                </a:lnTo>
                <a:lnTo>
                  <a:pt x="468875" y="746805"/>
                </a:lnTo>
                <a:lnTo>
                  <a:pt x="398524" y="730254"/>
                </a:lnTo>
                <a:lnTo>
                  <a:pt x="332478" y="713329"/>
                </a:lnTo>
                <a:lnTo>
                  <a:pt x="267744" y="696682"/>
                </a:lnTo>
                <a:lnTo>
                  <a:pt x="202213" y="678059"/>
                </a:lnTo>
                <a:lnTo>
                  <a:pt x="140372" y="656480"/>
                </a:lnTo>
                <a:lnTo>
                  <a:pt x="86709" y="630964"/>
                </a:lnTo>
                <a:lnTo>
                  <a:pt x="45711" y="600529"/>
                </a:lnTo>
                <a:lnTo>
                  <a:pt x="19773" y="563454"/>
                </a:lnTo>
                <a:lnTo>
                  <a:pt x="5905" y="520391"/>
                </a:lnTo>
                <a:lnTo>
                  <a:pt x="511" y="473925"/>
                </a:lnTo>
                <a:lnTo>
                  <a:pt x="0" y="426642"/>
                </a:lnTo>
                <a:lnTo>
                  <a:pt x="776" y="381125"/>
                </a:lnTo>
                <a:lnTo>
                  <a:pt x="493" y="335676"/>
                </a:lnTo>
                <a:lnTo>
                  <a:pt x="1548" y="288572"/>
                </a:lnTo>
                <a:lnTo>
                  <a:pt x="7459" y="242361"/>
                </a:lnTo>
                <a:lnTo>
                  <a:pt x="21748" y="199592"/>
                </a:lnTo>
                <a:lnTo>
                  <a:pt x="47933" y="162813"/>
                </a:lnTo>
                <a:lnTo>
                  <a:pt x="88989" y="132717"/>
                </a:lnTo>
                <a:lnTo>
                  <a:pt x="142567" y="107606"/>
                </a:lnTo>
                <a:lnTo>
                  <a:pt x="204210" y="86439"/>
                </a:lnTo>
                <a:lnTo>
                  <a:pt x="269458" y="68177"/>
                </a:lnTo>
                <a:lnTo>
                  <a:pt x="333851" y="51782"/>
                </a:lnTo>
                <a:lnTo>
                  <a:pt x="399439" y="34998"/>
                </a:lnTo>
                <a:lnTo>
                  <a:pt x="469195" y="18518"/>
                </a:lnTo>
                <a:lnTo>
                  <a:pt x="540046" y="5725"/>
                </a:lnTo>
                <a:lnTo>
                  <a:pt x="608916" y="0"/>
                </a:lnTo>
                <a:lnTo>
                  <a:pt x="672733" y="4728"/>
                </a:lnTo>
                <a:lnTo>
                  <a:pt x="731870" y="22215"/>
                </a:lnTo>
                <a:lnTo>
                  <a:pt x="788376" y="50207"/>
                </a:lnTo>
                <a:lnTo>
                  <a:pt x="841692" y="85241"/>
                </a:lnTo>
                <a:lnTo>
                  <a:pt x="891256" y="123856"/>
                </a:lnTo>
                <a:lnTo>
                  <a:pt x="936511" y="162590"/>
                </a:lnTo>
                <a:lnTo>
                  <a:pt x="981137" y="202396"/>
                </a:lnTo>
                <a:lnTo>
                  <a:pt x="1025507" y="245583"/>
                </a:lnTo>
                <a:lnTo>
                  <a:pt x="1064100" y="290720"/>
                </a:lnTo>
                <a:lnTo>
                  <a:pt x="1091393" y="336377"/>
                </a:lnTo>
                <a:close/>
              </a:path>
            </a:pathLst>
          </a:custGeom>
          <a:solidFill>
            <a:srgbClr val="C9D5E3"/>
          </a:solidFill>
          <a:ln>
            <a:noFill/>
          </a:ln>
          <a:effectLst/>
        </p:spPr>
        <p:txBody>
          <a:bodyPr rtlCol="0" anchor="ctr"/>
          <a:lstStyle/>
          <a:p>
            <a:pPr algn="ctr"/>
          </a:p>
        </p:txBody>
      </p:sp>
      <p:sp>
        <p:nvSpPr>
          <p:cNvPr id="20" name="Freeform 19"/>
          <p:cNvSpPr/>
          <p:nvPr/>
        </p:nvSpPr>
        <p:spPr>
          <a:xfrm>
            <a:off x="6156280" y="3770417"/>
            <a:ext cx="1230630" cy="746631"/>
          </a:xfrm>
          <a:custGeom>
            <a:avLst/>
            <a:gdLst/>
            <a:ahLst/>
            <a:cxnLst/>
            <a:rect l="l" t="t" r="r" b="b"/>
            <a:pathLst>
              <a:path w="1230630" h="746631">
                <a:moveTo>
                  <a:pt x="1230630" y="378250"/>
                </a:moveTo>
                <a:lnTo>
                  <a:pt x="1228129" y="427943"/>
                </a:lnTo>
                <a:lnTo>
                  <a:pt x="1220598" y="479557"/>
                </a:lnTo>
                <a:lnTo>
                  <a:pt x="1205598" y="530000"/>
                </a:lnTo>
                <a:lnTo>
                  <a:pt x="1180694" y="576182"/>
                </a:lnTo>
                <a:lnTo>
                  <a:pt x="1143447" y="615011"/>
                </a:lnTo>
                <a:lnTo>
                  <a:pt x="1089895" y="645771"/>
                </a:lnTo>
                <a:lnTo>
                  <a:pt x="1021662" y="670522"/>
                </a:lnTo>
                <a:lnTo>
                  <a:pt x="944693" y="690340"/>
                </a:lnTo>
                <a:lnTo>
                  <a:pt x="864932" y="706300"/>
                </a:lnTo>
                <a:lnTo>
                  <a:pt x="788326" y="719476"/>
                </a:lnTo>
                <a:lnTo>
                  <a:pt x="712659" y="731308"/>
                </a:lnTo>
                <a:lnTo>
                  <a:pt x="633967" y="741080"/>
                </a:lnTo>
                <a:lnTo>
                  <a:pt x="555573" y="746631"/>
                </a:lnTo>
                <a:lnTo>
                  <a:pt x="480801" y="745804"/>
                </a:lnTo>
                <a:lnTo>
                  <a:pt x="412971" y="736437"/>
                </a:lnTo>
                <a:lnTo>
                  <a:pt x="352355" y="716287"/>
                </a:lnTo>
                <a:lnTo>
                  <a:pt x="296738" y="686791"/>
                </a:lnTo>
                <a:lnTo>
                  <a:pt x="245714" y="651320"/>
                </a:lnTo>
                <a:lnTo>
                  <a:pt x="198878" y="613240"/>
                </a:lnTo>
                <a:lnTo>
                  <a:pt x="155824" y="575919"/>
                </a:lnTo>
                <a:lnTo>
                  <a:pt x="113316" y="538819"/>
                </a:lnTo>
                <a:lnTo>
                  <a:pt x="71623" y="499694"/>
                </a:lnTo>
                <a:lnTo>
                  <a:pt x="35602" y="459353"/>
                </a:lnTo>
                <a:lnTo>
                  <a:pt x="10109" y="418602"/>
                </a:lnTo>
                <a:lnTo>
                  <a:pt x="0" y="378250"/>
                </a:lnTo>
                <a:lnTo>
                  <a:pt x="8337" y="337679"/>
                </a:lnTo>
                <a:lnTo>
                  <a:pt x="31882" y="296352"/>
                </a:lnTo>
                <a:lnTo>
                  <a:pt x="66043" y="255193"/>
                </a:lnTo>
                <a:lnTo>
                  <a:pt x="106228" y="215125"/>
                </a:lnTo>
                <a:lnTo>
                  <a:pt x="147847" y="177072"/>
                </a:lnTo>
                <a:lnTo>
                  <a:pt x="190695" y="138663"/>
                </a:lnTo>
                <a:lnTo>
                  <a:pt x="237834" y="99283"/>
                </a:lnTo>
                <a:lnTo>
                  <a:pt x="289569" y="62487"/>
                </a:lnTo>
                <a:lnTo>
                  <a:pt x="346203" y="31833"/>
                </a:lnTo>
                <a:lnTo>
                  <a:pt x="408041" y="10875"/>
                </a:lnTo>
                <a:lnTo>
                  <a:pt x="477515" y="1055"/>
                </a:lnTo>
                <a:lnTo>
                  <a:pt x="554424" y="0"/>
                </a:lnTo>
                <a:lnTo>
                  <a:pt x="635117" y="5551"/>
                </a:lnTo>
                <a:lnTo>
                  <a:pt x="715944" y="15550"/>
                </a:lnTo>
                <a:lnTo>
                  <a:pt x="793257" y="27837"/>
                </a:lnTo>
                <a:lnTo>
                  <a:pt x="871085" y="41820"/>
                </a:lnTo>
                <a:lnTo>
                  <a:pt x="951862" y="58939"/>
                </a:lnTo>
                <a:lnTo>
                  <a:pt x="1029541" y="80080"/>
                </a:lnTo>
                <a:lnTo>
                  <a:pt x="1098077" y="106132"/>
                </a:lnTo>
                <a:lnTo>
                  <a:pt x="1151425" y="137979"/>
                </a:lnTo>
                <a:lnTo>
                  <a:pt x="1187782" y="177761"/>
                </a:lnTo>
                <a:lnTo>
                  <a:pt x="1211179" y="224887"/>
                </a:lnTo>
                <a:lnTo>
                  <a:pt x="1224318" y="276148"/>
                </a:lnTo>
                <a:lnTo>
                  <a:pt x="1229901" y="328338"/>
                </a:lnTo>
                <a:close/>
              </a:path>
            </a:pathLst>
          </a:custGeom>
          <a:solidFill>
            <a:srgbClr val="C9D5E3"/>
          </a:solidFill>
          <a:ln>
            <a:noFill/>
          </a:ln>
          <a:effectLst/>
        </p:spPr>
        <p:txBody>
          <a:bodyPr rtlCol="0" anchor="ctr"/>
          <a:lstStyle/>
          <a:p>
            <a:pPr algn="ctr"/>
          </a:p>
        </p:txBody>
      </p:sp>
      <p:sp>
        <p:nvSpPr>
          <p:cNvPr id="21" name="Freeform 20"/>
          <p:cNvSpPr/>
          <p:nvPr/>
        </p:nvSpPr>
        <p:spPr>
          <a:xfrm>
            <a:off x="5638481" y="1394049"/>
            <a:ext cx="1424940" cy="745974"/>
          </a:xfrm>
          <a:custGeom>
            <a:avLst/>
            <a:gdLst/>
            <a:ahLst/>
            <a:cxnLst/>
            <a:rect l="l" t="t" r="r" b="b"/>
            <a:pathLst>
              <a:path w="1424940" h="745974">
                <a:moveTo>
                  <a:pt x="1424940" y="383951"/>
                </a:moveTo>
                <a:lnTo>
                  <a:pt x="1420274" y="432973"/>
                </a:lnTo>
                <a:lnTo>
                  <a:pt x="1408953" y="483609"/>
                </a:lnTo>
                <a:lnTo>
                  <a:pt x="1388837" y="532970"/>
                </a:lnTo>
                <a:lnTo>
                  <a:pt x="1357787" y="578169"/>
                </a:lnTo>
                <a:lnTo>
                  <a:pt x="1313661" y="616318"/>
                </a:lnTo>
                <a:lnTo>
                  <a:pt x="1252204" y="646798"/>
                </a:lnTo>
                <a:lnTo>
                  <a:pt x="1174841" y="671532"/>
                </a:lnTo>
                <a:lnTo>
                  <a:pt x="1087959" y="691452"/>
                </a:lnTo>
                <a:lnTo>
                  <a:pt x="997942" y="707489"/>
                </a:lnTo>
                <a:lnTo>
                  <a:pt x="911175" y="720575"/>
                </a:lnTo>
                <a:lnTo>
                  <a:pt x="825248" y="731978"/>
                </a:lnTo>
                <a:lnTo>
                  <a:pt x="735904" y="741080"/>
                </a:lnTo>
                <a:lnTo>
                  <a:pt x="646759" y="745974"/>
                </a:lnTo>
                <a:lnTo>
                  <a:pt x="561429" y="744754"/>
                </a:lnTo>
                <a:lnTo>
                  <a:pt x="483529" y="735514"/>
                </a:lnTo>
                <a:lnTo>
                  <a:pt x="413136" y="716259"/>
                </a:lnTo>
                <a:lnTo>
                  <a:pt x="347839" y="688259"/>
                </a:lnTo>
                <a:lnTo>
                  <a:pt x="287524" y="654507"/>
                </a:lnTo>
                <a:lnTo>
                  <a:pt x="232078" y="617998"/>
                </a:lnTo>
                <a:lnTo>
                  <a:pt x="181386" y="581726"/>
                </a:lnTo>
                <a:lnTo>
                  <a:pt x="131904" y="545111"/>
                </a:lnTo>
                <a:lnTo>
                  <a:pt x="83709" y="506157"/>
                </a:lnTo>
                <a:lnTo>
                  <a:pt x="42116" y="465734"/>
                </a:lnTo>
                <a:lnTo>
                  <a:pt x="12442" y="424709"/>
                </a:lnTo>
                <a:lnTo>
                  <a:pt x="0" y="383951"/>
                </a:lnTo>
                <a:lnTo>
                  <a:pt x="7883" y="342709"/>
                </a:lnTo>
                <a:lnTo>
                  <a:pt x="32545" y="300404"/>
                </a:lnTo>
                <a:lnTo>
                  <a:pt x="69352" y="258162"/>
                </a:lnTo>
                <a:lnTo>
                  <a:pt x="113669" y="217111"/>
                </a:lnTo>
                <a:lnTo>
                  <a:pt x="160861" y="178379"/>
                </a:lnTo>
                <a:lnTo>
                  <a:pt x="211025" y="139690"/>
                </a:lnTo>
                <a:lnTo>
                  <a:pt x="267252" y="100292"/>
                </a:lnTo>
                <a:lnTo>
                  <a:pt x="329395" y="63599"/>
                </a:lnTo>
                <a:lnTo>
                  <a:pt x="397307" y="33022"/>
                </a:lnTo>
                <a:lnTo>
                  <a:pt x="470844" y="11974"/>
                </a:lnTo>
                <a:lnTo>
                  <a:pt x="552976" y="1725"/>
                </a:lnTo>
                <a:lnTo>
                  <a:pt x="643801" y="0"/>
                </a:lnTo>
                <a:lnTo>
                  <a:pt x="738862" y="4894"/>
                </a:lnTo>
                <a:lnTo>
                  <a:pt x="833701" y="14501"/>
                </a:lnTo>
                <a:lnTo>
                  <a:pt x="923860" y="26914"/>
                </a:lnTo>
                <a:lnTo>
                  <a:pt x="1013771" y="41792"/>
                </a:lnTo>
                <a:lnTo>
                  <a:pt x="1106404" y="60406"/>
                </a:lnTo>
                <a:lnTo>
                  <a:pt x="1195114" y="83268"/>
                </a:lnTo>
                <a:lnTo>
                  <a:pt x="1273257" y="110890"/>
                </a:lnTo>
                <a:lnTo>
                  <a:pt x="1334186" y="143787"/>
                </a:lnTo>
                <a:lnTo>
                  <a:pt x="1376022" y="184053"/>
                </a:lnTo>
                <a:lnTo>
                  <a:pt x="1403195" y="231350"/>
                </a:lnTo>
                <a:lnTo>
                  <a:pt x="1418525" y="282529"/>
                </a:lnTo>
                <a:lnTo>
                  <a:pt x="1424833" y="334444"/>
                </a:lnTo>
                <a:close/>
              </a:path>
            </a:pathLst>
          </a:custGeom>
          <a:solidFill>
            <a:srgbClr val="D5E3CC"/>
          </a:solidFill>
          <a:ln w="12700">
            <a:solidFill>
              <a:srgbClr val="8FAE82"/>
            </a:solidFill>
          </a:ln>
          <a:effectLst/>
        </p:spPr>
        <p:txBody>
          <a:bodyPr rtlCol="0" anchor="ctr"/>
          <a:lstStyle/>
          <a:p>
            <a:pPr algn="ctr"/>
          </a:p>
        </p:txBody>
      </p:sp>
      <p:sp>
        <p:nvSpPr>
          <p:cNvPr id="22" name="Freeform 21"/>
          <p:cNvSpPr/>
          <p:nvPr/>
        </p:nvSpPr>
        <p:spPr>
          <a:xfrm>
            <a:off x="10479939" y="2040051"/>
            <a:ext cx="650950" cy="472555"/>
          </a:xfrm>
          <a:custGeom>
            <a:avLst/>
            <a:gdLst/>
            <a:ahLst/>
            <a:cxnLst/>
            <a:rect l="l" t="t" r="r" b="b"/>
            <a:pathLst>
              <a:path w="650950" h="472555">
                <a:moveTo>
                  <a:pt x="650950" y="245949"/>
                </a:moveTo>
                <a:lnTo>
                  <a:pt x="643347" y="272816"/>
                </a:lnTo>
                <a:lnTo>
                  <a:pt x="625640" y="299846"/>
                </a:lnTo>
                <a:lnTo>
                  <a:pt x="601394" y="326372"/>
                </a:lnTo>
                <a:lnTo>
                  <a:pt x="574177" y="351729"/>
                </a:lnTo>
                <a:lnTo>
                  <a:pt x="547552" y="375252"/>
                </a:lnTo>
                <a:lnTo>
                  <a:pt x="521507" y="398346"/>
                </a:lnTo>
                <a:lnTo>
                  <a:pt x="493664" y="421455"/>
                </a:lnTo>
                <a:lnTo>
                  <a:pt x="464045" y="442470"/>
                </a:lnTo>
                <a:lnTo>
                  <a:pt x="432669" y="459284"/>
                </a:lnTo>
                <a:lnTo>
                  <a:pt x="399557" y="469788"/>
                </a:lnTo>
                <a:lnTo>
                  <a:pt x="363673" y="472555"/>
                </a:lnTo>
                <a:lnTo>
                  <a:pt x="325003" y="468989"/>
                </a:lnTo>
                <a:lnTo>
                  <a:pt x="285102" y="461232"/>
                </a:lnTo>
                <a:lnTo>
                  <a:pt x="245525" y="451429"/>
                </a:lnTo>
                <a:lnTo>
                  <a:pt x="207829" y="441721"/>
                </a:lnTo>
                <a:lnTo>
                  <a:pt x="170162" y="432744"/>
                </a:lnTo>
                <a:lnTo>
                  <a:pt x="131489" y="423068"/>
                </a:lnTo>
                <a:lnTo>
                  <a:pt x="94583" y="411742"/>
                </a:lnTo>
                <a:lnTo>
                  <a:pt x="62221" y="397814"/>
                </a:lnTo>
                <a:lnTo>
                  <a:pt x="37179" y="380331"/>
                </a:lnTo>
                <a:lnTo>
                  <a:pt x="20775" y="358239"/>
                </a:lnTo>
                <a:lnTo>
                  <a:pt x="11160" y="332172"/>
                </a:lnTo>
                <a:lnTo>
                  <a:pt x="6354" y="303713"/>
                </a:lnTo>
                <a:lnTo>
                  <a:pt x="4378" y="274444"/>
                </a:lnTo>
                <a:lnTo>
                  <a:pt x="3250" y="245949"/>
                </a:lnTo>
                <a:lnTo>
                  <a:pt x="1351" y="217017"/>
                </a:lnTo>
                <a:lnTo>
                  <a:pt x="0" y="186592"/>
                </a:lnTo>
                <a:lnTo>
                  <a:pt x="1628" y="156491"/>
                </a:lnTo>
                <a:lnTo>
                  <a:pt x="8668" y="128530"/>
                </a:lnTo>
                <a:lnTo>
                  <a:pt x="23552" y="104526"/>
                </a:lnTo>
                <a:lnTo>
                  <a:pt x="48244" y="84861"/>
                </a:lnTo>
                <a:lnTo>
                  <a:pt x="81124" y="68325"/>
                </a:lnTo>
                <a:lnTo>
                  <a:pt x="119243" y="54343"/>
                </a:lnTo>
                <a:lnTo>
                  <a:pt x="159653" y="42341"/>
                </a:lnTo>
                <a:lnTo>
                  <a:pt x="199407" y="31744"/>
                </a:lnTo>
                <a:lnTo>
                  <a:pt x="239914" y="21125"/>
                </a:lnTo>
                <a:lnTo>
                  <a:pt x="283138" y="10866"/>
                </a:lnTo>
                <a:lnTo>
                  <a:pt x="326967" y="3110"/>
                </a:lnTo>
                <a:lnTo>
                  <a:pt x="369285" y="0"/>
                </a:lnTo>
                <a:lnTo>
                  <a:pt x="407979" y="3677"/>
                </a:lnTo>
                <a:lnTo>
                  <a:pt x="443178" y="15801"/>
                </a:lnTo>
                <a:lnTo>
                  <a:pt x="476291" y="34941"/>
                </a:lnTo>
                <a:lnTo>
                  <a:pt x="507124" y="58613"/>
                </a:lnTo>
                <a:lnTo>
                  <a:pt x="535484" y="84329"/>
                </a:lnTo>
                <a:lnTo>
                  <a:pt x="561179" y="109605"/>
                </a:lnTo>
                <a:lnTo>
                  <a:pt x="586283" y="135040"/>
                </a:lnTo>
                <a:lnTo>
                  <a:pt x="610927" y="162291"/>
                </a:lnTo>
                <a:lnTo>
                  <a:pt x="631995" y="190459"/>
                </a:lnTo>
                <a:lnTo>
                  <a:pt x="646374" y="218644"/>
                </a:lnTo>
                <a:close/>
              </a:path>
            </a:pathLst>
          </a:custGeom>
          <a:solidFill>
            <a:srgbClr val="D4CCBE"/>
          </a:solidFill>
          <a:ln>
            <a:noFill/>
          </a:ln>
          <a:effectLst/>
        </p:spPr>
        <p:txBody>
          <a:bodyPr rtlCol="0" anchor="ctr"/>
          <a:lstStyle/>
          <a:p>
            <a:pPr algn="ctr"/>
          </a:p>
        </p:txBody>
      </p:sp>
      <p:sp>
        <p:nvSpPr>
          <p:cNvPr id="23" name="Freeform 22"/>
          <p:cNvSpPr/>
          <p:nvPr/>
        </p:nvSpPr>
        <p:spPr>
          <a:xfrm>
            <a:off x="5525937" y="1005931"/>
            <a:ext cx="5717064" cy="2008201"/>
          </a:xfrm>
          <a:custGeom>
            <a:avLst/>
            <a:gdLst/>
            <a:ahLst/>
            <a:cxnLst/>
            <a:rect l="l" t="t" r="r" b="b"/>
            <a:pathLst>
              <a:path w="5717064" h="2008201">
                <a:moveTo>
                  <a:pt x="0" y="1073"/>
                </a:moveTo>
                <a:lnTo>
                  <a:pt x="71803" y="0"/>
                </a:lnTo>
                <a:lnTo>
                  <a:pt x="140496" y="13463"/>
                </a:lnTo>
                <a:lnTo>
                  <a:pt x="206544" y="38013"/>
                </a:lnTo>
                <a:lnTo>
                  <a:pt x="270852" y="68467"/>
                </a:lnTo>
                <a:lnTo>
                  <a:pt x="334577" y="100123"/>
                </a:lnTo>
                <a:lnTo>
                  <a:pt x="398653" y="128546"/>
                </a:lnTo>
                <a:lnTo>
                  <a:pt x="464485" y="149705"/>
                </a:lnTo>
                <a:lnTo>
                  <a:pt x="534066" y="163287"/>
                </a:lnTo>
                <a:lnTo>
                  <a:pt x="607320" y="172649"/>
                </a:lnTo>
                <a:lnTo>
                  <a:pt x="683048" y="179491"/>
                </a:lnTo>
                <a:lnTo>
                  <a:pt x="760310" y="185642"/>
                </a:lnTo>
                <a:lnTo>
                  <a:pt x="838195" y="192984"/>
                </a:lnTo>
                <a:lnTo>
                  <a:pt x="915547" y="203410"/>
                </a:lnTo>
                <a:lnTo>
                  <a:pt x="991949" y="217166"/>
                </a:lnTo>
                <a:lnTo>
                  <a:pt x="1067981" y="232752"/>
                </a:lnTo>
                <a:lnTo>
                  <a:pt x="1143778" y="249422"/>
                </a:lnTo>
                <a:lnTo>
                  <a:pt x="1219343" y="266418"/>
                </a:lnTo>
                <a:lnTo>
                  <a:pt x="1294676" y="282987"/>
                </a:lnTo>
                <a:lnTo>
                  <a:pt x="1369838" y="298396"/>
                </a:lnTo>
                <a:lnTo>
                  <a:pt x="1445026" y="312342"/>
                </a:lnTo>
                <a:lnTo>
                  <a:pt x="1520383" y="325382"/>
                </a:lnTo>
                <a:lnTo>
                  <a:pt x="1595919" y="338077"/>
                </a:lnTo>
                <a:lnTo>
                  <a:pt x="1671632" y="350991"/>
                </a:lnTo>
                <a:lnTo>
                  <a:pt x="1747521" y="364691"/>
                </a:lnTo>
                <a:lnTo>
                  <a:pt x="1823482" y="379727"/>
                </a:lnTo>
                <a:lnTo>
                  <a:pt x="1900843" y="396284"/>
                </a:lnTo>
                <a:lnTo>
                  <a:pt x="1979925" y="413956"/>
                </a:lnTo>
                <a:lnTo>
                  <a:pt x="2059016" y="432385"/>
                </a:lnTo>
                <a:lnTo>
                  <a:pt x="2136333" y="451199"/>
                </a:lnTo>
                <a:lnTo>
                  <a:pt x="2210098" y="470027"/>
                </a:lnTo>
                <a:lnTo>
                  <a:pt x="2278458" y="488481"/>
                </a:lnTo>
                <a:lnTo>
                  <a:pt x="2341288" y="506139"/>
                </a:lnTo>
                <a:lnTo>
                  <a:pt x="2400152" y="523259"/>
                </a:lnTo>
                <a:lnTo>
                  <a:pt x="2455630" y="540451"/>
                </a:lnTo>
                <a:lnTo>
                  <a:pt x="2508188" y="558302"/>
                </a:lnTo>
                <a:lnTo>
                  <a:pt x="2558273" y="577400"/>
                </a:lnTo>
                <a:lnTo>
                  <a:pt x="2606274" y="598316"/>
                </a:lnTo>
                <a:lnTo>
                  <a:pt x="2651982" y="621152"/>
                </a:lnTo>
                <a:lnTo>
                  <a:pt x="2694940" y="645448"/>
                </a:lnTo>
                <a:lnTo>
                  <a:pt x="2735141" y="670913"/>
                </a:lnTo>
                <a:lnTo>
                  <a:pt x="2772586" y="697259"/>
                </a:lnTo>
                <a:lnTo>
                  <a:pt x="2807278" y="724201"/>
                </a:lnTo>
                <a:lnTo>
                  <a:pt x="2839612" y="751811"/>
                </a:lnTo>
                <a:lnTo>
                  <a:pt x="2869972" y="782491"/>
                </a:lnTo>
                <a:lnTo>
                  <a:pt x="2897730" y="816247"/>
                </a:lnTo>
                <a:lnTo>
                  <a:pt x="2922260" y="850057"/>
                </a:lnTo>
                <a:lnTo>
                  <a:pt x="2943245" y="881299"/>
                </a:lnTo>
                <a:lnTo>
                  <a:pt x="2960181" y="907174"/>
                </a:lnTo>
                <a:lnTo>
                  <a:pt x="2974317" y="927733"/>
                </a:lnTo>
                <a:lnTo>
                  <a:pt x="2991354" y="962928"/>
                </a:lnTo>
                <a:lnTo>
                  <a:pt x="3012472" y="1009419"/>
                </a:lnTo>
                <a:lnTo>
                  <a:pt x="3037795" y="1063757"/>
                </a:lnTo>
                <a:lnTo>
                  <a:pt x="3066897" y="1121556"/>
                </a:lnTo>
                <a:lnTo>
                  <a:pt x="3099206" y="1178235"/>
                </a:lnTo>
                <a:lnTo>
                  <a:pt x="3134390" y="1229659"/>
                </a:lnTo>
                <a:lnTo>
                  <a:pt x="3173073" y="1278351"/>
                </a:lnTo>
                <a:lnTo>
                  <a:pt x="3215544" y="1328027"/>
                </a:lnTo>
                <a:lnTo>
                  <a:pt x="3261408" y="1376994"/>
                </a:lnTo>
                <a:lnTo>
                  <a:pt x="3310625" y="1424042"/>
                </a:lnTo>
                <a:lnTo>
                  <a:pt x="3363144" y="1467972"/>
                </a:lnTo>
                <a:lnTo>
                  <a:pt x="3419038" y="1507687"/>
                </a:lnTo>
                <a:lnTo>
                  <a:pt x="3479760" y="1543930"/>
                </a:lnTo>
                <a:lnTo>
                  <a:pt x="3545662" y="1577795"/>
                </a:lnTo>
                <a:lnTo>
                  <a:pt x="3615273" y="1608791"/>
                </a:lnTo>
                <a:lnTo>
                  <a:pt x="3687188" y="1636497"/>
                </a:lnTo>
                <a:lnTo>
                  <a:pt x="3760005" y="1660507"/>
                </a:lnTo>
                <a:lnTo>
                  <a:pt x="3832319" y="1680426"/>
                </a:lnTo>
                <a:lnTo>
                  <a:pt x="3905136" y="1696488"/>
                </a:lnTo>
                <a:lnTo>
                  <a:pt x="3979774" y="1709044"/>
                </a:lnTo>
                <a:lnTo>
                  <a:pt x="4055296" y="1717899"/>
                </a:lnTo>
                <a:lnTo>
                  <a:pt x="4130769" y="1722863"/>
                </a:lnTo>
                <a:lnTo>
                  <a:pt x="4205253" y="1723757"/>
                </a:lnTo>
                <a:lnTo>
                  <a:pt x="4277755" y="1720415"/>
                </a:lnTo>
                <a:lnTo>
                  <a:pt x="4348878" y="1712264"/>
                </a:lnTo>
                <a:lnTo>
                  <a:pt x="4419698" y="1699306"/>
                </a:lnTo>
                <a:lnTo>
                  <a:pt x="4489844" y="1682246"/>
                </a:lnTo>
                <a:lnTo>
                  <a:pt x="4558840" y="1661809"/>
                </a:lnTo>
                <a:lnTo>
                  <a:pt x="4626213" y="1638730"/>
                </a:lnTo>
                <a:lnTo>
                  <a:pt x="4691402" y="1613783"/>
                </a:lnTo>
                <a:lnTo>
                  <a:pt x="4754707" y="1586825"/>
                </a:lnTo>
                <a:lnTo>
                  <a:pt x="4816585" y="1557225"/>
                </a:lnTo>
                <a:lnTo>
                  <a:pt x="4876630" y="1525066"/>
                </a:lnTo>
                <a:lnTo>
                  <a:pt x="4934384" y="1490461"/>
                </a:lnTo>
                <a:lnTo>
                  <a:pt x="4989385" y="1453525"/>
                </a:lnTo>
                <a:lnTo>
                  <a:pt x="5041111" y="1414434"/>
                </a:lnTo>
                <a:lnTo>
                  <a:pt x="5089714" y="1372291"/>
                </a:lnTo>
                <a:lnTo>
                  <a:pt x="5135805" y="1326641"/>
                </a:lnTo>
                <a:lnTo>
                  <a:pt x="5179443" y="1278404"/>
                </a:lnTo>
                <a:lnTo>
                  <a:pt x="5220582" y="1228610"/>
                </a:lnTo>
                <a:lnTo>
                  <a:pt x="5259188" y="1178288"/>
                </a:lnTo>
                <a:lnTo>
                  <a:pt x="5294873" y="1128998"/>
                </a:lnTo>
                <a:lnTo>
                  <a:pt x="5326012" y="1079185"/>
                </a:lnTo>
                <a:lnTo>
                  <a:pt x="5352936" y="1026699"/>
                </a:lnTo>
                <a:lnTo>
                  <a:pt x="5377708" y="972856"/>
                </a:lnTo>
                <a:lnTo>
                  <a:pt x="5402084" y="919640"/>
                </a:lnTo>
                <a:lnTo>
                  <a:pt x="5428020" y="868990"/>
                </a:lnTo>
                <a:lnTo>
                  <a:pt x="5457213" y="823600"/>
                </a:lnTo>
                <a:lnTo>
                  <a:pt x="5488322" y="784392"/>
                </a:lnTo>
                <a:lnTo>
                  <a:pt x="5519096" y="750225"/>
                </a:lnTo>
                <a:lnTo>
                  <a:pt x="5717064" y="945340"/>
                </a:lnTo>
                <a:lnTo>
                  <a:pt x="5692199" y="972735"/>
                </a:lnTo>
                <a:lnTo>
                  <a:pt x="5675247" y="993720"/>
                </a:lnTo>
                <a:lnTo>
                  <a:pt x="5661343" y="1015255"/>
                </a:lnTo>
                <a:lnTo>
                  <a:pt x="5644827" y="1048052"/>
                </a:lnTo>
                <a:lnTo>
                  <a:pt x="5622944" y="1095979"/>
                </a:lnTo>
                <a:lnTo>
                  <a:pt x="5595375" y="1155737"/>
                </a:lnTo>
                <a:lnTo>
                  <a:pt x="5559914" y="1224436"/>
                </a:lnTo>
                <a:lnTo>
                  <a:pt x="5517260" y="1292840"/>
                </a:lnTo>
                <a:lnTo>
                  <a:pt x="5473719" y="1353211"/>
                </a:lnTo>
                <a:lnTo>
                  <a:pt x="5429591" y="1410696"/>
                </a:lnTo>
                <a:lnTo>
                  <a:pt x="5381190" y="1469238"/>
                </a:lnTo>
                <a:lnTo>
                  <a:pt x="5328194" y="1527766"/>
                </a:lnTo>
                <a:lnTo>
                  <a:pt x="5270163" y="1585175"/>
                </a:lnTo>
                <a:lnTo>
                  <a:pt x="5207665" y="1639361"/>
                </a:lnTo>
                <a:lnTo>
                  <a:pt x="5142555" y="1688625"/>
                </a:lnTo>
                <a:lnTo>
                  <a:pt x="5075502" y="1733670"/>
                </a:lnTo>
                <a:lnTo>
                  <a:pt x="5006257" y="1775172"/>
                </a:lnTo>
                <a:lnTo>
                  <a:pt x="4935177" y="1813249"/>
                </a:lnTo>
                <a:lnTo>
                  <a:pt x="4862605" y="1847971"/>
                </a:lnTo>
                <a:lnTo>
                  <a:pt x="4789430" y="1879150"/>
                </a:lnTo>
                <a:lnTo>
                  <a:pt x="4715261" y="1907536"/>
                </a:lnTo>
                <a:lnTo>
                  <a:pt x="4638223" y="1933907"/>
                </a:lnTo>
                <a:lnTo>
                  <a:pt x="4557711" y="1957730"/>
                </a:lnTo>
                <a:lnTo>
                  <a:pt x="4473957" y="1978070"/>
                </a:lnTo>
                <a:lnTo>
                  <a:pt x="4387163" y="1993913"/>
                </a:lnTo>
                <a:lnTo>
                  <a:pt x="4298524" y="2004064"/>
                </a:lnTo>
                <a:lnTo>
                  <a:pt x="4209605" y="2008201"/>
                </a:lnTo>
                <a:lnTo>
                  <a:pt x="4120621" y="2007145"/>
                </a:lnTo>
                <a:lnTo>
                  <a:pt x="4031584" y="2001296"/>
                </a:lnTo>
                <a:lnTo>
                  <a:pt x="3943023" y="1990916"/>
                </a:lnTo>
                <a:lnTo>
                  <a:pt x="3855495" y="1976191"/>
                </a:lnTo>
                <a:lnTo>
                  <a:pt x="3769566" y="1957234"/>
                </a:lnTo>
                <a:lnTo>
                  <a:pt x="3684374" y="1933771"/>
                </a:lnTo>
                <a:lnTo>
                  <a:pt x="3599230" y="1905696"/>
                </a:lnTo>
                <a:lnTo>
                  <a:pt x="3514969" y="1873227"/>
                </a:lnTo>
                <a:lnTo>
                  <a:pt x="3432434" y="1836461"/>
                </a:lnTo>
                <a:lnTo>
                  <a:pt x="3352438" y="1795328"/>
                </a:lnTo>
                <a:lnTo>
                  <a:pt x="3275190" y="1749141"/>
                </a:lnTo>
                <a:lnTo>
                  <a:pt x="3201661" y="1696908"/>
                </a:lnTo>
                <a:lnTo>
                  <a:pt x="3133857" y="1640277"/>
                </a:lnTo>
                <a:lnTo>
                  <a:pt x="3072463" y="1581658"/>
                </a:lnTo>
                <a:lnTo>
                  <a:pt x="3016998" y="1522498"/>
                </a:lnTo>
                <a:lnTo>
                  <a:pt x="2967076" y="1464152"/>
                </a:lnTo>
                <a:lnTo>
                  <a:pt x="2918959" y="1403366"/>
                </a:lnTo>
                <a:lnTo>
                  <a:pt x="2871449" y="1333801"/>
                </a:lnTo>
                <a:lnTo>
                  <a:pt x="2829683" y="1260811"/>
                </a:lnTo>
                <a:lnTo>
                  <a:pt x="2795235" y="1192546"/>
                </a:lnTo>
                <a:lnTo>
                  <a:pt x="2767392" y="1132881"/>
                </a:lnTo>
                <a:lnTo>
                  <a:pt x="2746822" y="1087571"/>
                </a:lnTo>
                <a:lnTo>
                  <a:pt x="2739442" y="1071258"/>
                </a:lnTo>
                <a:lnTo>
                  <a:pt x="2737558" y="1070663"/>
                </a:lnTo>
                <a:lnTo>
                  <a:pt x="2719772" y="1043517"/>
                </a:lnTo>
                <a:lnTo>
                  <a:pt x="2702670" y="1017973"/>
                </a:lnTo>
                <a:lnTo>
                  <a:pt x="2686177" y="995091"/>
                </a:lnTo>
                <a:lnTo>
                  <a:pt x="2672020" y="977623"/>
                </a:lnTo>
                <a:lnTo>
                  <a:pt x="2658974" y="964519"/>
                </a:lnTo>
                <a:lnTo>
                  <a:pt x="2640266" y="948756"/>
                </a:lnTo>
                <a:lnTo>
                  <a:pt x="2615630" y="929612"/>
                </a:lnTo>
                <a:lnTo>
                  <a:pt x="2588810" y="910729"/>
                </a:lnTo>
                <a:lnTo>
                  <a:pt x="2559833" y="892362"/>
                </a:lnTo>
                <a:lnTo>
                  <a:pt x="2528711" y="874748"/>
                </a:lnTo>
                <a:lnTo>
                  <a:pt x="2495379" y="858085"/>
                </a:lnTo>
                <a:lnTo>
                  <a:pt x="2459431" y="842437"/>
                </a:lnTo>
                <a:lnTo>
                  <a:pt x="2419668" y="827299"/>
                </a:lnTo>
                <a:lnTo>
                  <a:pt x="2375055" y="812166"/>
                </a:lnTo>
                <a:lnTo>
                  <a:pt x="2325127" y="796706"/>
                </a:lnTo>
                <a:lnTo>
                  <a:pt x="2269580" y="780557"/>
                </a:lnTo>
                <a:lnTo>
                  <a:pt x="2209211" y="763590"/>
                </a:lnTo>
                <a:lnTo>
                  <a:pt x="2143910" y="745958"/>
                </a:lnTo>
                <a:lnTo>
                  <a:pt x="2073286" y="727933"/>
                </a:lnTo>
                <a:lnTo>
                  <a:pt x="1998622" y="709766"/>
                </a:lnTo>
                <a:lnTo>
                  <a:pt x="1921919" y="691894"/>
                </a:lnTo>
                <a:lnTo>
                  <a:pt x="1845132" y="674735"/>
                </a:lnTo>
                <a:lnTo>
                  <a:pt x="1770888" y="658839"/>
                </a:lnTo>
                <a:lnTo>
                  <a:pt x="1699083" y="644625"/>
                </a:lnTo>
                <a:lnTo>
                  <a:pt x="1626599" y="631546"/>
                </a:lnTo>
                <a:lnTo>
                  <a:pt x="1552441" y="618900"/>
                </a:lnTo>
                <a:lnTo>
                  <a:pt x="1476594" y="606153"/>
                </a:lnTo>
                <a:lnTo>
                  <a:pt x="1399062" y="592732"/>
                </a:lnTo>
                <a:lnTo>
                  <a:pt x="1319910" y="578043"/>
                </a:lnTo>
                <a:lnTo>
                  <a:pt x="1240513" y="561771"/>
                </a:lnTo>
                <a:lnTo>
                  <a:pt x="1162748" y="544673"/>
                </a:lnTo>
                <a:lnTo>
                  <a:pt x="1087183" y="527677"/>
                </a:lnTo>
                <a:lnTo>
                  <a:pt x="1013818" y="511536"/>
                </a:lnTo>
                <a:lnTo>
                  <a:pt x="942689" y="496943"/>
                </a:lnTo>
                <a:lnTo>
                  <a:pt x="875077" y="484725"/>
                </a:lnTo>
                <a:lnTo>
                  <a:pt x="808618" y="475778"/>
                </a:lnTo>
                <a:lnTo>
                  <a:pt x="737780" y="469144"/>
                </a:lnTo>
                <a:lnTo>
                  <a:pt x="661018" y="463037"/>
                </a:lnTo>
                <a:lnTo>
                  <a:pt x="579133" y="455598"/>
                </a:lnTo>
                <a:lnTo>
                  <a:pt x="492635" y="444448"/>
                </a:lnTo>
                <a:lnTo>
                  <a:pt x="399571" y="425967"/>
                </a:lnTo>
                <a:lnTo>
                  <a:pt x="305540" y="395842"/>
                </a:lnTo>
                <a:lnTo>
                  <a:pt x="223158" y="359647"/>
                </a:lnTo>
                <a:lnTo>
                  <a:pt x="156323" y="326506"/>
                </a:lnTo>
                <a:lnTo>
                  <a:pt x="104482" y="301711"/>
                </a:lnTo>
                <a:lnTo>
                  <a:pt x="69171" y="287990"/>
                </a:lnTo>
                <a:lnTo>
                  <a:pt x="49540" y="283526"/>
                </a:lnTo>
                <a:lnTo>
                  <a:pt x="4357" y="285516"/>
                </a:lnTo>
                <a:close/>
              </a:path>
            </a:pathLst>
          </a:custGeom>
          <a:solidFill>
            <a:srgbClr val="C8462B"/>
          </a:solidFill>
          <a:ln>
            <a:noFill/>
          </a:ln>
          <a:effectLst/>
        </p:spPr>
        <p:txBody>
          <a:bodyPr rtlCol="0" anchor="ctr"/>
          <a:lstStyle/>
          <a:p>
            <a:pPr algn="ctr"/>
          </a:p>
        </p:txBody>
      </p:sp>
      <p:sp>
        <p:nvSpPr>
          <p:cNvPr id="24" name="TextBox 23"/>
          <p:cNvSpPr txBox="1"/>
          <p:nvPr/>
        </p:nvSpPr>
        <p:spPr>
          <a:xfrm>
            <a:off x="7228840" y="3259667"/>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Beni Makada</a:t>
            </a:r>
          </a:p>
        </p:txBody>
      </p:sp>
      <p:sp>
        <p:nvSpPr>
          <p:cNvPr id="25" name="TextBox 24"/>
          <p:cNvSpPr txBox="1"/>
          <p:nvPr/>
        </p:nvSpPr>
        <p:spPr>
          <a:xfrm>
            <a:off x="6354445" y="2853267"/>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Mesnana</a:t>
            </a:r>
          </a:p>
        </p:txBody>
      </p:sp>
      <p:sp>
        <p:nvSpPr>
          <p:cNvPr id="26" name="TextBox 25"/>
          <p:cNvSpPr txBox="1"/>
          <p:nvPr/>
        </p:nvSpPr>
        <p:spPr>
          <a:xfrm>
            <a:off x="8394700" y="37338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Bir Chifa</a:t>
            </a:r>
          </a:p>
        </p:txBody>
      </p:sp>
      <p:sp>
        <p:nvSpPr>
          <p:cNvPr id="27" name="TextBox 26"/>
          <p:cNvSpPr txBox="1"/>
          <p:nvPr/>
        </p:nvSpPr>
        <p:spPr>
          <a:xfrm>
            <a:off x="6062980" y="4072467"/>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Gzenaya</a:t>
            </a:r>
          </a:p>
        </p:txBody>
      </p:sp>
      <p:sp>
        <p:nvSpPr>
          <p:cNvPr id="28" name="TextBox 27"/>
          <p:cNvSpPr txBox="1"/>
          <p:nvPr/>
        </p:nvSpPr>
        <p:spPr>
          <a:xfrm>
            <a:off x="7416800" y="2074333"/>
            <a:ext cx="762000" cy="254000"/>
          </a:xfrm>
          <a:prstGeom prst="rect">
            <a:avLst/>
          </a:prstGeom>
          <a:noFill/>
        </p:spPr>
        <p:txBody>
          <a:bodyPr wrap="square" lIns="0" rIns="0" tIns="0" bIns="0" anchor="t">
            <a:spAutoFit/>
          </a:bodyPr>
          <a:lstStyle/>
          <a:p>
            <a:pPr algn="ctr">
              <a:lnSpc>
                <a:spcPct val="115000"/>
              </a:lnSpc>
            </a:pPr>
            <a:r>
              <a:rPr sz="1100" b="1" i="0">
                <a:solidFill>
                  <a:srgbClr val="C8462B"/>
                </a:solidFill>
                <a:latin typeface="Inter"/>
              </a:rPr>
              <a:t>Médina</a:t>
            </a:r>
          </a:p>
        </p:txBody>
      </p:sp>
      <p:sp>
        <p:nvSpPr>
          <p:cNvPr id="29" name="TextBox 28"/>
          <p:cNvSpPr txBox="1"/>
          <p:nvPr/>
        </p:nvSpPr>
        <p:spPr>
          <a:xfrm>
            <a:off x="8977630" y="3022600"/>
            <a:ext cx="1397000" cy="254000"/>
          </a:xfrm>
          <a:prstGeom prst="rect">
            <a:avLst/>
          </a:prstGeom>
          <a:noFill/>
        </p:spPr>
        <p:txBody>
          <a:bodyPr wrap="square" lIns="0" rIns="0" tIns="0" bIns="0" anchor="t">
            <a:spAutoFit/>
          </a:bodyPr>
          <a:lstStyle/>
          <a:p>
            <a:pPr algn="ctr">
              <a:lnSpc>
                <a:spcPct val="115000"/>
              </a:lnSpc>
            </a:pPr>
            <a:r>
              <a:rPr sz="1100" b="1" i="0">
                <a:solidFill>
                  <a:srgbClr val="C8462B"/>
                </a:solidFill>
                <a:latin typeface="Inter"/>
              </a:rPr>
              <a:t>Corniche</a:t>
            </a:r>
          </a:p>
        </p:txBody>
      </p:sp>
      <p:sp>
        <p:nvSpPr>
          <p:cNvPr id="30" name="TextBox 29"/>
          <p:cNvSpPr txBox="1"/>
          <p:nvPr/>
        </p:nvSpPr>
        <p:spPr>
          <a:xfrm>
            <a:off x="10979150" y="2345267"/>
            <a:ext cx="762000" cy="254000"/>
          </a:xfrm>
          <a:prstGeom prst="rect">
            <a:avLst/>
          </a:prstGeom>
          <a:noFill/>
        </p:spPr>
        <p:txBody>
          <a:bodyPr wrap="square" lIns="0" rIns="0" tIns="0" bIns="0" anchor="t">
            <a:spAutoFit/>
          </a:bodyPr>
          <a:lstStyle/>
          <a:p>
            <a:pPr algn="ctr">
              <a:lnSpc>
                <a:spcPct val="115000"/>
              </a:lnSpc>
            </a:pPr>
            <a:r>
              <a:rPr sz="1100" b="1" i="0">
                <a:solidFill>
                  <a:srgbClr val="C8462B"/>
                </a:solidFill>
                <a:latin typeface="Inter"/>
              </a:rPr>
              <a:t>Malabata</a:t>
            </a:r>
          </a:p>
        </p:txBody>
      </p:sp>
      <p:sp>
        <p:nvSpPr>
          <p:cNvPr id="31" name="TextBox 30"/>
          <p:cNvSpPr txBox="1"/>
          <p:nvPr/>
        </p:nvSpPr>
        <p:spPr>
          <a:xfrm>
            <a:off x="5220970" y="1532467"/>
            <a:ext cx="1397000" cy="254000"/>
          </a:xfrm>
          <a:prstGeom prst="rect">
            <a:avLst/>
          </a:prstGeom>
          <a:noFill/>
        </p:spPr>
        <p:txBody>
          <a:bodyPr wrap="square" lIns="0" rIns="0" tIns="0" bIns="0" anchor="t">
            <a:spAutoFit/>
          </a:bodyPr>
          <a:lstStyle/>
          <a:p>
            <a:pPr algn="ctr">
              <a:lnSpc>
                <a:spcPct val="115000"/>
              </a:lnSpc>
            </a:pPr>
            <a:r>
              <a:rPr sz="1100" b="1" i="0">
                <a:solidFill>
                  <a:srgbClr val="C8462B"/>
                </a:solidFill>
                <a:latin typeface="Inter"/>
              </a:rPr>
              <a:t>Cap Spartel</a:t>
            </a:r>
          </a:p>
        </p:txBody>
      </p:sp>
      <p:sp>
        <p:nvSpPr>
          <p:cNvPr id="32" name="Freeform 31"/>
          <p:cNvSpPr/>
          <p:nvPr/>
        </p:nvSpPr>
        <p:spPr>
          <a:xfrm>
            <a:off x="11353800" y="4318000"/>
            <a:ext cx="152400" cy="215900"/>
          </a:xfrm>
          <a:custGeom>
            <a:avLst/>
            <a:gdLst/>
            <a:ahLst/>
            <a:cxnLst/>
            <a:rect l="l" t="t" r="r" b="b"/>
            <a:pathLst>
              <a:path w="152400" h="215900">
                <a:moveTo>
                  <a:pt x="76200" y="0"/>
                </a:moveTo>
                <a:lnTo>
                  <a:pt x="152400" y="215900"/>
                </a:lnTo>
                <a:lnTo>
                  <a:pt x="76200" y="165100"/>
                </a:lnTo>
                <a:lnTo>
                  <a:pt x="0" y="215900"/>
                </a:lnTo>
                <a:close/>
              </a:path>
            </a:pathLst>
          </a:custGeom>
          <a:solidFill>
            <a:srgbClr val="1C1C1C"/>
          </a:solidFill>
          <a:ln>
            <a:noFill/>
          </a:ln>
          <a:effectLst/>
        </p:spPr>
        <p:txBody>
          <a:bodyPr rtlCol="0" anchor="ctr"/>
          <a:lstStyle/>
          <a:p>
            <a:pPr algn="ctr"/>
          </a:p>
        </p:txBody>
      </p:sp>
      <p:sp>
        <p:nvSpPr>
          <p:cNvPr id="33" name="TextBox 32"/>
          <p:cNvSpPr txBox="1"/>
          <p:nvPr/>
        </p:nvSpPr>
        <p:spPr>
          <a:xfrm>
            <a:off x="11303000" y="4559300"/>
            <a:ext cx="254000" cy="127000"/>
          </a:xfrm>
          <a:prstGeom prst="rect">
            <a:avLst/>
          </a:prstGeom>
          <a:noFill/>
        </p:spPr>
        <p:txBody>
          <a:bodyPr wrap="square" lIns="0" rIns="0" tIns="0" bIns="0" anchor="t">
            <a:spAutoFit/>
          </a:bodyPr>
          <a:lstStyle/>
          <a:p>
            <a:pPr algn="ctr">
              <a:lnSpc>
                <a:spcPct val="115000"/>
              </a:lnSpc>
            </a:pPr>
            <a:r>
              <a:rPr sz="1100" b="1" i="0">
                <a:solidFill>
                  <a:srgbClr val="1C1C1C"/>
                </a:solidFill>
                <a:latin typeface="Inter"/>
              </a:rPr>
              <a:t>N</a:t>
            </a:r>
          </a:p>
        </p:txBody>
      </p:sp>
      <p:sp>
        <p:nvSpPr>
          <p:cNvPr id="34" name="Rectangle 33"/>
          <p:cNvSpPr/>
          <p:nvPr/>
        </p:nvSpPr>
        <p:spPr>
          <a:xfrm>
            <a:off x="5207000" y="5016500"/>
            <a:ext cx="1905000" cy="1206500"/>
          </a:xfrm>
          <a:prstGeom prst="rect">
            <a:avLst/>
          </a:prstGeom>
          <a:solidFill>
            <a:srgbClr val="D3E3EA"/>
          </a:solidFill>
          <a:ln w="9525">
            <a:solidFill>
              <a:srgbClr val="CFC8BC"/>
            </a:solidFill>
          </a:ln>
          <a:effectLst/>
        </p:spPr>
        <p:txBody>
          <a:bodyPr rtlCol="0" anchor="ctr"/>
          <a:lstStyle/>
          <a:p>
            <a:pPr algn="ctr"/>
          </a:p>
        </p:txBody>
      </p:sp>
      <p:sp>
        <p:nvSpPr>
          <p:cNvPr id="35" name="Freeform 34"/>
          <p:cNvSpPr/>
          <p:nvPr/>
        </p:nvSpPr>
        <p:spPr>
          <a:xfrm>
            <a:off x="5207000" y="5016500"/>
            <a:ext cx="1905000" cy="349250"/>
          </a:xfrm>
          <a:custGeom>
            <a:avLst/>
            <a:gdLst/>
            <a:ahLst/>
            <a:cxnLst/>
            <a:rect l="l" t="t" r="r" b="b"/>
            <a:pathLst>
              <a:path w="1905000" h="349250">
                <a:moveTo>
                  <a:pt x="0" y="0"/>
                </a:moveTo>
                <a:lnTo>
                  <a:pt x="1905000" y="0"/>
                </a:lnTo>
                <a:lnTo>
                  <a:pt x="1905000" y="254000"/>
                </a:lnTo>
                <a:lnTo>
                  <a:pt x="1397000" y="349250"/>
                </a:lnTo>
                <a:lnTo>
                  <a:pt x="889000" y="254000"/>
                </a:lnTo>
                <a:lnTo>
                  <a:pt x="508000" y="190500"/>
                </a:lnTo>
                <a:lnTo>
                  <a:pt x="0" y="158750"/>
                </a:lnTo>
                <a:close/>
              </a:path>
            </a:pathLst>
          </a:custGeom>
          <a:solidFill>
            <a:srgbClr val="EFE9DE"/>
          </a:solidFill>
          <a:ln w="9525">
            <a:solidFill>
              <a:srgbClr val="8C9AA0"/>
            </a:solidFill>
          </a:ln>
          <a:effectLst/>
        </p:spPr>
        <p:txBody>
          <a:bodyPr rtlCol="0" anchor="ctr"/>
          <a:lstStyle/>
          <a:p>
            <a:pPr algn="ctr"/>
          </a:p>
        </p:txBody>
      </p:sp>
      <p:sp>
        <p:nvSpPr>
          <p:cNvPr id="36" name="Freeform 35"/>
          <p:cNvSpPr/>
          <p:nvPr/>
        </p:nvSpPr>
        <p:spPr>
          <a:xfrm>
            <a:off x="5207000" y="5473700"/>
            <a:ext cx="1905000" cy="749300"/>
          </a:xfrm>
          <a:custGeom>
            <a:avLst/>
            <a:gdLst/>
            <a:ahLst/>
            <a:cxnLst/>
            <a:rect l="l" t="t" r="r" b="b"/>
            <a:pathLst>
              <a:path w="1905000" h="749300">
                <a:moveTo>
                  <a:pt x="0" y="114300"/>
                </a:moveTo>
                <a:lnTo>
                  <a:pt x="508000" y="38100"/>
                </a:lnTo>
                <a:lnTo>
                  <a:pt x="889000" y="63500"/>
                </a:lnTo>
                <a:lnTo>
                  <a:pt x="1206500" y="0"/>
                </a:lnTo>
                <a:lnTo>
                  <a:pt x="1905000" y="50800"/>
                </a:lnTo>
                <a:lnTo>
                  <a:pt x="1905000" y="749300"/>
                </a:lnTo>
                <a:lnTo>
                  <a:pt x="0" y="749300"/>
                </a:lnTo>
                <a:close/>
              </a:path>
            </a:pathLst>
          </a:custGeom>
          <a:solidFill>
            <a:srgbClr val="EFE9DE"/>
          </a:solidFill>
          <a:ln w="9525">
            <a:solidFill>
              <a:srgbClr val="8C9AA0"/>
            </a:solidFill>
          </a:ln>
          <a:effectLst/>
        </p:spPr>
        <p:txBody>
          <a:bodyPr rtlCol="0" anchor="ctr"/>
          <a:lstStyle/>
          <a:p>
            <a:pPr algn="ctr"/>
          </a:p>
        </p:txBody>
      </p:sp>
      <p:sp>
        <p:nvSpPr>
          <p:cNvPr id="37" name="Oval 36"/>
          <p:cNvSpPr/>
          <p:nvPr/>
        </p:nvSpPr>
        <p:spPr>
          <a:xfrm>
            <a:off x="5848350" y="5480050"/>
            <a:ext cx="114300" cy="114300"/>
          </a:xfrm>
          <a:prstGeom prst="ellipse">
            <a:avLst/>
          </a:prstGeom>
          <a:solidFill>
            <a:srgbClr val="C8462B"/>
          </a:solidFill>
          <a:ln w="12700">
            <a:solidFill>
              <a:srgbClr val="FFFFFF"/>
            </a:solidFill>
          </a:ln>
          <a:effectLst/>
        </p:spPr>
        <p:txBody>
          <a:bodyPr rtlCol="0" anchor="ctr"/>
          <a:lstStyle/>
          <a:p>
            <a:pPr algn="ctr"/>
          </a:p>
        </p:txBody>
      </p:sp>
      <p:sp>
        <p:nvSpPr>
          <p:cNvPr id="38" name="TextBox 37"/>
          <p:cNvSpPr txBox="1"/>
          <p:nvPr/>
        </p:nvSpPr>
        <p:spPr>
          <a:xfrm>
            <a:off x="6350000" y="5080000"/>
            <a:ext cx="762000" cy="127000"/>
          </a:xfrm>
          <a:prstGeom prst="rect">
            <a:avLst/>
          </a:prstGeom>
          <a:noFill/>
        </p:spPr>
        <p:txBody>
          <a:bodyPr wrap="square" lIns="0" rIns="0" tIns="0" bIns="0" anchor="t">
            <a:spAutoFit/>
          </a:bodyPr>
          <a:lstStyle/>
          <a:p>
            <a:pPr algn="l">
              <a:lnSpc>
                <a:spcPct val="115000"/>
              </a:lnSpc>
            </a:pPr>
            <a:r>
              <a:rPr sz="800" b="1" i="0">
                <a:solidFill>
                  <a:srgbClr val="6E6A64"/>
                </a:solidFill>
                <a:latin typeface="Inter"/>
              </a:rPr>
              <a:t>ESPAGNE</a:t>
            </a:r>
          </a:p>
        </p:txBody>
      </p:sp>
      <p:sp>
        <p:nvSpPr>
          <p:cNvPr id="39" name="TextBox 38"/>
          <p:cNvSpPr txBox="1"/>
          <p:nvPr/>
        </p:nvSpPr>
        <p:spPr>
          <a:xfrm>
            <a:off x="6286500" y="5905500"/>
            <a:ext cx="762000" cy="127000"/>
          </a:xfrm>
          <a:prstGeom prst="rect">
            <a:avLst/>
          </a:prstGeom>
          <a:noFill/>
        </p:spPr>
        <p:txBody>
          <a:bodyPr wrap="square" lIns="0" rIns="0" tIns="0" bIns="0" anchor="t">
            <a:spAutoFit/>
          </a:bodyPr>
          <a:lstStyle/>
          <a:p>
            <a:pPr algn="l">
              <a:lnSpc>
                <a:spcPct val="115000"/>
              </a:lnSpc>
            </a:pPr>
            <a:r>
              <a:rPr sz="800" b="1" i="0">
                <a:solidFill>
                  <a:srgbClr val="6E6A64"/>
                </a:solidFill>
                <a:latin typeface="Inter"/>
              </a:rPr>
              <a:t>MAROC</a:t>
            </a:r>
          </a:p>
        </p:txBody>
      </p:sp>
      <p:sp>
        <p:nvSpPr>
          <p:cNvPr id="40" name="TextBox 39"/>
          <p:cNvSpPr txBox="1"/>
          <p:nvPr/>
        </p:nvSpPr>
        <p:spPr>
          <a:xfrm>
            <a:off x="5537200" y="5651500"/>
            <a:ext cx="762000" cy="127000"/>
          </a:xfrm>
          <a:prstGeom prst="rect">
            <a:avLst/>
          </a:prstGeom>
          <a:noFill/>
        </p:spPr>
        <p:txBody>
          <a:bodyPr wrap="square" lIns="0" rIns="0" tIns="0" bIns="0" anchor="t">
            <a:spAutoFit/>
          </a:bodyPr>
          <a:lstStyle/>
          <a:p>
            <a:pPr algn="l">
              <a:lnSpc>
                <a:spcPct val="115000"/>
              </a:lnSpc>
            </a:pPr>
            <a:r>
              <a:rPr sz="900" b="1" i="0">
                <a:solidFill>
                  <a:srgbClr val="1C1C1C"/>
                </a:solidFill>
                <a:latin typeface="Inter"/>
              </a:rPr>
              <a:t>Tanger</a:t>
            </a:r>
          </a:p>
        </p:txBody>
      </p:sp>
      <p:sp>
        <p:nvSpPr>
          <p:cNvPr id="41" name="TextBox 40"/>
          <p:cNvSpPr txBox="1"/>
          <p:nvPr/>
        </p:nvSpPr>
        <p:spPr>
          <a:xfrm>
            <a:off x="7366000" y="5016500"/>
            <a:ext cx="4318000" cy="381000"/>
          </a:xfrm>
          <a:prstGeom prst="rect">
            <a:avLst/>
          </a:prstGeom>
          <a:noFill/>
        </p:spPr>
        <p:txBody>
          <a:bodyPr wrap="square" lIns="0" rIns="0" tIns="0" bIns="0" anchor="t">
            <a:spAutoFit/>
          </a:bodyPr>
          <a:lstStyle/>
          <a:p>
            <a:pPr algn="l">
              <a:lnSpc>
                <a:spcPct val="115000"/>
              </a:lnSpc>
            </a:pPr>
            <a:r>
              <a:rPr sz="2400" b="1" i="0">
                <a:solidFill>
                  <a:srgbClr val="C8462B"/>
                </a:solidFill>
                <a:latin typeface="Inter"/>
              </a:rPr>
              <a:t>14 km</a:t>
            </a:r>
          </a:p>
        </p:txBody>
      </p:sp>
      <p:sp>
        <p:nvSpPr>
          <p:cNvPr id="42" name="TextBox 41"/>
          <p:cNvSpPr txBox="1"/>
          <p:nvPr/>
        </p:nvSpPr>
        <p:spPr>
          <a:xfrm>
            <a:off x="7366000" y="5410200"/>
            <a:ext cx="4318000" cy="825500"/>
          </a:xfrm>
          <a:prstGeom prst="rect">
            <a:avLst/>
          </a:prstGeom>
          <a:noFill/>
        </p:spPr>
        <p:txBody>
          <a:bodyPr wrap="square" lIns="0" rIns="0" tIns="0" bIns="0" anchor="t">
            <a:spAutoFit/>
          </a:bodyPr>
          <a:lstStyle/>
          <a:p>
            <a:pPr algn="l">
              <a:lnSpc>
                <a:spcPct val="130000"/>
              </a:lnSpc>
            </a:pPr>
            <a:r>
              <a:rPr sz="1200" b="0" i="0">
                <a:solidFill>
                  <a:srgbClr val="1C1C1C"/>
                </a:solidFill>
                <a:latin typeface="Inter"/>
              </a:rPr>
              <a:t>C'est la largeur du détroit à son point le plus étroit. Cette position entre Europe et Afrique est le moteur de tous les projets étudiés ici : port, marina, croisières, TGV et Mondial 2030.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PROBLÉMATIQUE ET MÉTHODE</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Pour qui construit-on Tanger ?</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Hypothèse : depuis 2007, la ville est d'abord aménagée pour être vue (visiteurs, investisseurs, événements), avant d'être habitée.</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02 / 17</a:t>
            </a:r>
          </a:p>
        </p:txBody>
      </p:sp>
      <p:sp>
        <p:nvSpPr>
          <p:cNvPr id="11" name="TextBox 10"/>
          <p:cNvSpPr txBox="1"/>
          <p:nvPr/>
        </p:nvSpPr>
        <p:spPr>
          <a:xfrm>
            <a:off x="508000" y="1619250"/>
            <a:ext cx="11176000" cy="508000"/>
          </a:xfrm>
          <a:prstGeom prst="rect">
            <a:avLst/>
          </a:prstGeom>
          <a:noFill/>
        </p:spPr>
        <p:txBody>
          <a:bodyPr wrap="square" lIns="0" rIns="0" tIns="0" bIns="0" anchor="t">
            <a:spAutoFit/>
          </a:bodyPr>
          <a:lstStyle/>
          <a:p>
            <a:pPr algn="l">
              <a:lnSpc>
                <a:spcPct val="115000"/>
              </a:lnSpc>
            </a:pPr>
            <a:r>
              <a:rPr sz="2600" b="1" i="0">
                <a:solidFill>
                  <a:srgbClr val="1C1C1C"/>
                </a:solidFill>
                <a:latin typeface="Inter"/>
              </a:rPr>
              <a:t>« Pour ceux qui la visitent, ou pour ceux qui y vivent ? »</a:t>
            </a:r>
          </a:p>
        </p:txBody>
      </p:sp>
      <p:sp>
        <p:nvSpPr>
          <p:cNvPr id="12" name="Rectangle 11"/>
          <p:cNvSpPr/>
          <p:nvPr/>
        </p:nvSpPr>
        <p:spPr>
          <a:xfrm>
            <a:off x="508000" y="2540000"/>
            <a:ext cx="3556000" cy="2984500"/>
          </a:xfrm>
          <a:prstGeom prst="rect">
            <a:avLst/>
          </a:prstGeom>
          <a:solidFill>
            <a:srgbClr val="FFFFFF"/>
          </a:solidFill>
          <a:ln w="9525">
            <a:solidFill>
              <a:srgbClr val="CFC8BC"/>
            </a:solidFill>
          </a:ln>
          <a:effectLst/>
        </p:spPr>
        <p:txBody>
          <a:bodyPr rtlCol="0" anchor="ctr"/>
          <a:lstStyle/>
          <a:p>
            <a:pPr algn="ctr"/>
          </a:p>
        </p:txBody>
      </p:sp>
      <p:sp>
        <p:nvSpPr>
          <p:cNvPr id="13" name="Rectangle 12"/>
          <p:cNvSpPr/>
          <p:nvPr/>
        </p:nvSpPr>
        <p:spPr>
          <a:xfrm>
            <a:off x="508000" y="2540000"/>
            <a:ext cx="3556000" cy="76200"/>
          </a:xfrm>
          <a:prstGeom prst="rect">
            <a:avLst/>
          </a:prstGeom>
          <a:solidFill>
            <a:srgbClr val="C8462B"/>
          </a:solidFill>
          <a:ln>
            <a:noFill/>
          </a:ln>
          <a:effectLst/>
        </p:spPr>
        <p:txBody>
          <a:bodyPr rtlCol="0" anchor="ctr"/>
          <a:lstStyle/>
          <a:p>
            <a:pPr algn="ctr"/>
          </a:p>
        </p:txBody>
      </p:sp>
      <p:sp>
        <p:nvSpPr>
          <p:cNvPr id="14" name="TextBox 13"/>
          <p:cNvSpPr txBox="1"/>
          <p:nvPr/>
        </p:nvSpPr>
        <p:spPr>
          <a:xfrm>
            <a:off x="736600" y="2794000"/>
            <a:ext cx="3048000" cy="190500"/>
          </a:xfrm>
          <a:prstGeom prst="rect">
            <a:avLst/>
          </a:prstGeom>
          <a:noFill/>
        </p:spPr>
        <p:txBody>
          <a:bodyPr wrap="square" lIns="0" rIns="0" tIns="0" bIns="0" anchor="t">
            <a:spAutoFit/>
          </a:bodyPr>
          <a:lstStyle/>
          <a:p>
            <a:pPr algn="l">
              <a:lnSpc>
                <a:spcPct val="115000"/>
              </a:lnSpc>
            </a:pPr>
            <a:r>
              <a:rPr sz="1600" b="1" i="0">
                <a:solidFill>
                  <a:srgbClr val="C8462B"/>
                </a:solidFill>
                <a:latin typeface="Inter"/>
              </a:rPr>
              <a:t>LA VILLE-VITRINE</a:t>
            </a:r>
          </a:p>
        </p:txBody>
      </p:sp>
      <p:sp>
        <p:nvSpPr>
          <p:cNvPr id="15" name="TextBox 14"/>
          <p:cNvSpPr txBox="1"/>
          <p:nvPr/>
        </p:nvSpPr>
        <p:spPr>
          <a:xfrm>
            <a:off x="736600" y="3035300"/>
            <a:ext cx="3048000" cy="152400"/>
          </a:xfrm>
          <a:prstGeom prst="rect">
            <a:avLst/>
          </a:prstGeom>
          <a:noFill/>
        </p:spPr>
        <p:txBody>
          <a:bodyPr wrap="square" lIns="0" rIns="0" tIns="0" bIns="0" anchor="t">
            <a:spAutoFit/>
          </a:bodyPr>
          <a:lstStyle/>
          <a:p>
            <a:pPr algn="l">
              <a:lnSpc>
                <a:spcPct val="115000"/>
              </a:lnSpc>
            </a:pPr>
            <a:r>
              <a:rPr sz="1100" b="0" i="1">
                <a:solidFill>
                  <a:srgbClr val="6E6A64"/>
                </a:solidFill>
                <a:latin typeface="Inter"/>
              </a:rPr>
              <a:t>visiteurs · investisseurs · événements</a:t>
            </a:r>
          </a:p>
        </p:txBody>
      </p:sp>
      <p:sp>
        <p:nvSpPr>
          <p:cNvPr id="16" name="Oval 15"/>
          <p:cNvSpPr/>
          <p:nvPr/>
        </p:nvSpPr>
        <p:spPr>
          <a:xfrm>
            <a:off x="755650" y="3435350"/>
            <a:ext cx="88900" cy="88900"/>
          </a:xfrm>
          <a:prstGeom prst="ellipse">
            <a:avLst/>
          </a:prstGeom>
          <a:solidFill>
            <a:srgbClr val="C8462B"/>
          </a:solidFill>
          <a:ln>
            <a:noFill/>
          </a:ln>
          <a:effectLst/>
        </p:spPr>
        <p:txBody>
          <a:bodyPr rtlCol="0" anchor="ctr"/>
          <a:lstStyle/>
          <a:p>
            <a:pPr algn="ctr"/>
          </a:p>
        </p:txBody>
      </p:sp>
      <p:sp>
        <p:nvSpPr>
          <p:cNvPr id="17" name="TextBox 16"/>
          <p:cNvSpPr txBox="1"/>
          <p:nvPr/>
        </p:nvSpPr>
        <p:spPr>
          <a:xfrm>
            <a:off x="952500" y="3397250"/>
            <a:ext cx="2921000" cy="190500"/>
          </a:xfrm>
          <a:prstGeom prst="rect">
            <a:avLst/>
          </a:prstGeom>
          <a:noFill/>
        </p:spPr>
        <p:txBody>
          <a:bodyPr wrap="square" lIns="0" rIns="0" tIns="0" bIns="0" anchor="t">
            <a:spAutoFit/>
          </a:bodyPr>
          <a:lstStyle/>
          <a:p>
            <a:pPr algn="l">
              <a:lnSpc>
                <a:spcPct val="115000"/>
              </a:lnSpc>
            </a:pPr>
            <a:r>
              <a:rPr sz="1400" b="0" i="0">
                <a:solidFill>
                  <a:srgbClr val="1C1C1C"/>
                </a:solidFill>
                <a:latin typeface="Inter"/>
              </a:rPr>
              <a:t>Marina et front de mer</a:t>
            </a:r>
          </a:p>
        </p:txBody>
      </p:sp>
      <p:sp>
        <p:nvSpPr>
          <p:cNvPr id="18" name="Oval 17"/>
          <p:cNvSpPr/>
          <p:nvPr/>
        </p:nvSpPr>
        <p:spPr>
          <a:xfrm>
            <a:off x="755650" y="3816350"/>
            <a:ext cx="88900" cy="88900"/>
          </a:xfrm>
          <a:prstGeom prst="ellipse">
            <a:avLst/>
          </a:prstGeom>
          <a:solidFill>
            <a:srgbClr val="C8462B"/>
          </a:solidFill>
          <a:ln>
            <a:noFill/>
          </a:ln>
          <a:effectLst/>
        </p:spPr>
        <p:txBody>
          <a:bodyPr rtlCol="0" anchor="ctr"/>
          <a:lstStyle/>
          <a:p>
            <a:pPr algn="ctr"/>
          </a:p>
        </p:txBody>
      </p:sp>
      <p:sp>
        <p:nvSpPr>
          <p:cNvPr id="19" name="TextBox 18"/>
          <p:cNvSpPr txBox="1"/>
          <p:nvPr/>
        </p:nvSpPr>
        <p:spPr>
          <a:xfrm>
            <a:off x="952500" y="3778250"/>
            <a:ext cx="2921000" cy="190500"/>
          </a:xfrm>
          <a:prstGeom prst="rect">
            <a:avLst/>
          </a:prstGeom>
          <a:noFill/>
        </p:spPr>
        <p:txBody>
          <a:bodyPr wrap="square" lIns="0" rIns="0" tIns="0" bIns="0" anchor="t">
            <a:spAutoFit/>
          </a:bodyPr>
          <a:lstStyle/>
          <a:p>
            <a:pPr algn="l">
              <a:lnSpc>
                <a:spcPct val="115000"/>
              </a:lnSpc>
            </a:pPr>
            <a:r>
              <a:rPr sz="1400" b="0" i="0">
                <a:solidFill>
                  <a:srgbClr val="1C1C1C"/>
                </a:solidFill>
                <a:latin typeface="Inter"/>
              </a:rPr>
              <a:t>Terminal de croisière</a:t>
            </a:r>
          </a:p>
        </p:txBody>
      </p:sp>
      <p:sp>
        <p:nvSpPr>
          <p:cNvPr id="20" name="Oval 19"/>
          <p:cNvSpPr/>
          <p:nvPr/>
        </p:nvSpPr>
        <p:spPr>
          <a:xfrm>
            <a:off x="755650" y="4197350"/>
            <a:ext cx="88900" cy="88900"/>
          </a:xfrm>
          <a:prstGeom prst="ellipse">
            <a:avLst/>
          </a:prstGeom>
          <a:solidFill>
            <a:srgbClr val="C8462B"/>
          </a:solidFill>
          <a:ln>
            <a:noFill/>
          </a:ln>
          <a:effectLst/>
        </p:spPr>
        <p:txBody>
          <a:bodyPr rtlCol="0" anchor="ctr"/>
          <a:lstStyle/>
          <a:p>
            <a:pPr algn="ctr"/>
          </a:p>
        </p:txBody>
      </p:sp>
      <p:sp>
        <p:nvSpPr>
          <p:cNvPr id="21" name="TextBox 20"/>
          <p:cNvSpPr txBox="1"/>
          <p:nvPr/>
        </p:nvSpPr>
        <p:spPr>
          <a:xfrm>
            <a:off x="952500" y="4159250"/>
            <a:ext cx="2921000" cy="190500"/>
          </a:xfrm>
          <a:prstGeom prst="rect">
            <a:avLst/>
          </a:prstGeom>
          <a:noFill/>
        </p:spPr>
        <p:txBody>
          <a:bodyPr wrap="square" lIns="0" rIns="0" tIns="0" bIns="0" anchor="t">
            <a:spAutoFit/>
          </a:bodyPr>
          <a:lstStyle/>
          <a:p>
            <a:pPr algn="l">
              <a:lnSpc>
                <a:spcPct val="115000"/>
              </a:lnSpc>
            </a:pPr>
            <a:r>
              <a:rPr sz="1400" b="0" i="0">
                <a:solidFill>
                  <a:srgbClr val="1C1C1C"/>
                </a:solidFill>
                <a:latin typeface="Inter"/>
              </a:rPr>
              <a:t>Médina restaurée</a:t>
            </a:r>
          </a:p>
        </p:txBody>
      </p:sp>
      <p:sp>
        <p:nvSpPr>
          <p:cNvPr id="22" name="Oval 21"/>
          <p:cNvSpPr/>
          <p:nvPr/>
        </p:nvSpPr>
        <p:spPr>
          <a:xfrm>
            <a:off x="755650" y="4578350"/>
            <a:ext cx="88900" cy="88900"/>
          </a:xfrm>
          <a:prstGeom prst="ellipse">
            <a:avLst/>
          </a:prstGeom>
          <a:solidFill>
            <a:srgbClr val="C8462B"/>
          </a:solidFill>
          <a:ln>
            <a:noFill/>
          </a:ln>
          <a:effectLst/>
        </p:spPr>
        <p:txBody>
          <a:bodyPr rtlCol="0" anchor="ctr"/>
          <a:lstStyle/>
          <a:p>
            <a:pPr algn="ctr"/>
          </a:p>
        </p:txBody>
      </p:sp>
      <p:sp>
        <p:nvSpPr>
          <p:cNvPr id="23" name="TextBox 22"/>
          <p:cNvSpPr txBox="1"/>
          <p:nvPr/>
        </p:nvSpPr>
        <p:spPr>
          <a:xfrm>
            <a:off x="952500" y="4540250"/>
            <a:ext cx="2921000" cy="190500"/>
          </a:xfrm>
          <a:prstGeom prst="rect">
            <a:avLst/>
          </a:prstGeom>
          <a:noFill/>
        </p:spPr>
        <p:txBody>
          <a:bodyPr wrap="square" lIns="0" rIns="0" tIns="0" bIns="0" anchor="t">
            <a:spAutoFit/>
          </a:bodyPr>
          <a:lstStyle/>
          <a:p>
            <a:pPr algn="l">
              <a:lnSpc>
                <a:spcPct val="115000"/>
              </a:lnSpc>
            </a:pPr>
            <a:r>
              <a:rPr sz="1400" b="0" i="0">
                <a:solidFill>
                  <a:srgbClr val="1C1C1C"/>
                </a:solidFill>
                <a:latin typeface="Inter"/>
              </a:rPr>
              <a:t>Corniche, hôtels de Malabata</a:t>
            </a:r>
          </a:p>
        </p:txBody>
      </p:sp>
      <p:sp>
        <p:nvSpPr>
          <p:cNvPr id="24" name="Oval 23"/>
          <p:cNvSpPr/>
          <p:nvPr/>
        </p:nvSpPr>
        <p:spPr>
          <a:xfrm>
            <a:off x="755650" y="4959350"/>
            <a:ext cx="88900" cy="88900"/>
          </a:xfrm>
          <a:prstGeom prst="ellipse">
            <a:avLst/>
          </a:prstGeom>
          <a:solidFill>
            <a:srgbClr val="C8462B"/>
          </a:solidFill>
          <a:ln>
            <a:noFill/>
          </a:ln>
          <a:effectLst/>
        </p:spPr>
        <p:txBody>
          <a:bodyPr rtlCol="0" anchor="ctr"/>
          <a:lstStyle/>
          <a:p>
            <a:pPr algn="ctr"/>
          </a:p>
        </p:txBody>
      </p:sp>
      <p:sp>
        <p:nvSpPr>
          <p:cNvPr id="25" name="TextBox 24"/>
          <p:cNvSpPr txBox="1"/>
          <p:nvPr/>
        </p:nvSpPr>
        <p:spPr>
          <a:xfrm>
            <a:off x="952500" y="4921250"/>
            <a:ext cx="2921000" cy="190500"/>
          </a:xfrm>
          <a:prstGeom prst="rect">
            <a:avLst/>
          </a:prstGeom>
          <a:noFill/>
        </p:spPr>
        <p:txBody>
          <a:bodyPr wrap="square" lIns="0" rIns="0" tIns="0" bIns="0" anchor="t">
            <a:spAutoFit/>
          </a:bodyPr>
          <a:lstStyle/>
          <a:p>
            <a:pPr algn="l">
              <a:lnSpc>
                <a:spcPct val="115000"/>
              </a:lnSpc>
            </a:pPr>
            <a:r>
              <a:rPr sz="1400" b="0" i="0">
                <a:solidFill>
                  <a:srgbClr val="1C1C1C"/>
                </a:solidFill>
                <a:latin typeface="Inter"/>
              </a:rPr>
              <a:t>Grand stade, TGV Al Boraq</a:t>
            </a:r>
          </a:p>
        </p:txBody>
      </p:sp>
      <p:sp>
        <p:nvSpPr>
          <p:cNvPr id="26" name="Rectangle 25"/>
          <p:cNvSpPr/>
          <p:nvPr/>
        </p:nvSpPr>
        <p:spPr>
          <a:xfrm>
            <a:off x="4445000" y="2540000"/>
            <a:ext cx="3556000" cy="2984500"/>
          </a:xfrm>
          <a:prstGeom prst="rect">
            <a:avLst/>
          </a:prstGeom>
          <a:solidFill>
            <a:srgbClr val="FFFFFF"/>
          </a:solidFill>
          <a:ln w="9525">
            <a:solidFill>
              <a:srgbClr val="CFC8BC"/>
            </a:solidFill>
          </a:ln>
          <a:effectLst/>
        </p:spPr>
        <p:txBody>
          <a:bodyPr rtlCol="0" anchor="ctr"/>
          <a:lstStyle/>
          <a:p>
            <a:pPr algn="ctr"/>
          </a:p>
        </p:txBody>
      </p:sp>
      <p:sp>
        <p:nvSpPr>
          <p:cNvPr id="27" name="Rectangle 26"/>
          <p:cNvSpPr/>
          <p:nvPr/>
        </p:nvSpPr>
        <p:spPr>
          <a:xfrm>
            <a:off x="4445000" y="2540000"/>
            <a:ext cx="3556000" cy="76200"/>
          </a:xfrm>
          <a:prstGeom prst="rect">
            <a:avLst/>
          </a:prstGeom>
          <a:solidFill>
            <a:srgbClr val="1F3A5F"/>
          </a:solidFill>
          <a:ln>
            <a:noFill/>
          </a:ln>
          <a:effectLst/>
        </p:spPr>
        <p:txBody>
          <a:bodyPr rtlCol="0" anchor="ctr"/>
          <a:lstStyle/>
          <a:p>
            <a:pPr algn="ctr"/>
          </a:p>
        </p:txBody>
      </p:sp>
      <p:sp>
        <p:nvSpPr>
          <p:cNvPr id="28" name="TextBox 27"/>
          <p:cNvSpPr txBox="1"/>
          <p:nvPr/>
        </p:nvSpPr>
        <p:spPr>
          <a:xfrm>
            <a:off x="4673600" y="2794000"/>
            <a:ext cx="3048000" cy="190500"/>
          </a:xfrm>
          <a:prstGeom prst="rect">
            <a:avLst/>
          </a:prstGeom>
          <a:noFill/>
        </p:spPr>
        <p:txBody>
          <a:bodyPr wrap="square" lIns="0" rIns="0" tIns="0" bIns="0" anchor="t">
            <a:spAutoFit/>
          </a:bodyPr>
          <a:lstStyle/>
          <a:p>
            <a:pPr algn="l">
              <a:lnSpc>
                <a:spcPct val="115000"/>
              </a:lnSpc>
            </a:pPr>
            <a:r>
              <a:rPr sz="1600" b="1" i="0">
                <a:solidFill>
                  <a:srgbClr val="1F3A5F"/>
                </a:solidFill>
                <a:latin typeface="Inter"/>
              </a:rPr>
              <a:t>LA VILLE VÉCUE</a:t>
            </a:r>
          </a:p>
        </p:txBody>
      </p:sp>
      <p:sp>
        <p:nvSpPr>
          <p:cNvPr id="29" name="TextBox 28"/>
          <p:cNvSpPr txBox="1"/>
          <p:nvPr/>
        </p:nvSpPr>
        <p:spPr>
          <a:xfrm>
            <a:off x="4673600" y="3035300"/>
            <a:ext cx="3048000" cy="152400"/>
          </a:xfrm>
          <a:prstGeom prst="rect">
            <a:avLst/>
          </a:prstGeom>
          <a:noFill/>
        </p:spPr>
        <p:txBody>
          <a:bodyPr wrap="square" lIns="0" rIns="0" tIns="0" bIns="0" anchor="t">
            <a:spAutoFit/>
          </a:bodyPr>
          <a:lstStyle/>
          <a:p>
            <a:pPr algn="l">
              <a:lnSpc>
                <a:spcPct val="115000"/>
              </a:lnSpc>
            </a:pPr>
            <a:r>
              <a:rPr sz="1100" b="0" i="1">
                <a:solidFill>
                  <a:srgbClr val="6E6A64"/>
                </a:solidFill>
                <a:latin typeface="Inter"/>
              </a:rPr>
              <a:t>habitants · ouvriers · familles</a:t>
            </a:r>
          </a:p>
        </p:txBody>
      </p:sp>
      <p:sp>
        <p:nvSpPr>
          <p:cNvPr id="30" name="Oval 29"/>
          <p:cNvSpPr/>
          <p:nvPr/>
        </p:nvSpPr>
        <p:spPr>
          <a:xfrm>
            <a:off x="4692650" y="3435350"/>
            <a:ext cx="88900" cy="88900"/>
          </a:xfrm>
          <a:prstGeom prst="ellipse">
            <a:avLst/>
          </a:prstGeom>
          <a:solidFill>
            <a:srgbClr val="1F3A5F"/>
          </a:solidFill>
          <a:ln>
            <a:noFill/>
          </a:ln>
          <a:effectLst/>
        </p:spPr>
        <p:txBody>
          <a:bodyPr rtlCol="0" anchor="ctr"/>
          <a:lstStyle/>
          <a:p>
            <a:pPr algn="ctr"/>
          </a:p>
        </p:txBody>
      </p:sp>
      <p:sp>
        <p:nvSpPr>
          <p:cNvPr id="31" name="TextBox 30"/>
          <p:cNvSpPr txBox="1"/>
          <p:nvPr/>
        </p:nvSpPr>
        <p:spPr>
          <a:xfrm>
            <a:off x="4889500" y="3397250"/>
            <a:ext cx="2921000" cy="190500"/>
          </a:xfrm>
          <a:prstGeom prst="rect">
            <a:avLst/>
          </a:prstGeom>
          <a:noFill/>
        </p:spPr>
        <p:txBody>
          <a:bodyPr wrap="square" lIns="0" rIns="0" tIns="0" bIns="0" anchor="t">
            <a:spAutoFit/>
          </a:bodyPr>
          <a:lstStyle/>
          <a:p>
            <a:pPr algn="l">
              <a:lnSpc>
                <a:spcPct val="115000"/>
              </a:lnSpc>
            </a:pPr>
            <a:r>
              <a:rPr sz="1400" b="0" i="0">
                <a:solidFill>
                  <a:srgbClr val="1C1C1C"/>
                </a:solidFill>
                <a:latin typeface="Inter"/>
              </a:rPr>
              <a:t>Logement abordable</a:t>
            </a:r>
          </a:p>
        </p:txBody>
      </p:sp>
      <p:sp>
        <p:nvSpPr>
          <p:cNvPr id="32" name="Oval 31"/>
          <p:cNvSpPr/>
          <p:nvPr/>
        </p:nvSpPr>
        <p:spPr>
          <a:xfrm>
            <a:off x="4692650" y="3816350"/>
            <a:ext cx="88900" cy="88900"/>
          </a:xfrm>
          <a:prstGeom prst="ellipse">
            <a:avLst/>
          </a:prstGeom>
          <a:solidFill>
            <a:srgbClr val="1F3A5F"/>
          </a:solidFill>
          <a:ln>
            <a:noFill/>
          </a:ln>
          <a:effectLst/>
        </p:spPr>
        <p:txBody>
          <a:bodyPr rtlCol="0" anchor="ctr"/>
          <a:lstStyle/>
          <a:p>
            <a:pPr algn="ctr"/>
          </a:p>
        </p:txBody>
      </p:sp>
      <p:sp>
        <p:nvSpPr>
          <p:cNvPr id="33" name="TextBox 32"/>
          <p:cNvSpPr txBox="1"/>
          <p:nvPr/>
        </p:nvSpPr>
        <p:spPr>
          <a:xfrm>
            <a:off x="4889500" y="3778250"/>
            <a:ext cx="2921000" cy="190500"/>
          </a:xfrm>
          <a:prstGeom prst="rect">
            <a:avLst/>
          </a:prstGeom>
          <a:noFill/>
        </p:spPr>
        <p:txBody>
          <a:bodyPr wrap="square" lIns="0" rIns="0" tIns="0" bIns="0" anchor="t">
            <a:spAutoFit/>
          </a:bodyPr>
          <a:lstStyle/>
          <a:p>
            <a:pPr algn="l">
              <a:lnSpc>
                <a:spcPct val="115000"/>
              </a:lnSpc>
            </a:pPr>
            <a:r>
              <a:rPr sz="1400" b="0" i="0">
                <a:solidFill>
                  <a:srgbClr val="1C1C1C"/>
                </a:solidFill>
                <a:latin typeface="Inter"/>
              </a:rPr>
              <a:t>Bus et grands taxis</a:t>
            </a:r>
          </a:p>
        </p:txBody>
      </p:sp>
      <p:sp>
        <p:nvSpPr>
          <p:cNvPr id="34" name="Oval 33"/>
          <p:cNvSpPr/>
          <p:nvPr/>
        </p:nvSpPr>
        <p:spPr>
          <a:xfrm>
            <a:off x="4692650" y="4197350"/>
            <a:ext cx="88900" cy="88900"/>
          </a:xfrm>
          <a:prstGeom prst="ellipse">
            <a:avLst/>
          </a:prstGeom>
          <a:solidFill>
            <a:srgbClr val="1F3A5F"/>
          </a:solidFill>
          <a:ln>
            <a:noFill/>
          </a:ln>
          <a:effectLst/>
        </p:spPr>
        <p:txBody>
          <a:bodyPr rtlCol="0" anchor="ctr"/>
          <a:lstStyle/>
          <a:p>
            <a:pPr algn="ctr"/>
          </a:p>
        </p:txBody>
      </p:sp>
      <p:sp>
        <p:nvSpPr>
          <p:cNvPr id="35" name="TextBox 34"/>
          <p:cNvSpPr txBox="1"/>
          <p:nvPr/>
        </p:nvSpPr>
        <p:spPr>
          <a:xfrm>
            <a:off x="4889500" y="4159250"/>
            <a:ext cx="2921000" cy="190500"/>
          </a:xfrm>
          <a:prstGeom prst="rect">
            <a:avLst/>
          </a:prstGeom>
          <a:noFill/>
        </p:spPr>
        <p:txBody>
          <a:bodyPr wrap="square" lIns="0" rIns="0" tIns="0" bIns="0" anchor="t">
            <a:spAutoFit/>
          </a:bodyPr>
          <a:lstStyle/>
          <a:p>
            <a:pPr algn="l">
              <a:lnSpc>
                <a:spcPct val="115000"/>
              </a:lnSpc>
            </a:pPr>
            <a:r>
              <a:rPr sz="1400" b="0" i="0">
                <a:solidFill>
                  <a:srgbClr val="1C1C1C"/>
                </a:solidFill>
                <a:latin typeface="Inter"/>
              </a:rPr>
              <a:t>Écoles, santé, équipements</a:t>
            </a:r>
          </a:p>
        </p:txBody>
      </p:sp>
      <p:sp>
        <p:nvSpPr>
          <p:cNvPr id="36" name="Oval 35"/>
          <p:cNvSpPr/>
          <p:nvPr/>
        </p:nvSpPr>
        <p:spPr>
          <a:xfrm>
            <a:off x="4692650" y="4578350"/>
            <a:ext cx="88900" cy="88900"/>
          </a:xfrm>
          <a:prstGeom prst="ellipse">
            <a:avLst/>
          </a:prstGeom>
          <a:solidFill>
            <a:srgbClr val="1F3A5F"/>
          </a:solidFill>
          <a:ln>
            <a:noFill/>
          </a:ln>
          <a:effectLst/>
        </p:spPr>
        <p:txBody>
          <a:bodyPr rtlCol="0" anchor="ctr"/>
          <a:lstStyle/>
          <a:p>
            <a:pPr algn="ctr"/>
          </a:p>
        </p:txBody>
      </p:sp>
      <p:sp>
        <p:nvSpPr>
          <p:cNvPr id="37" name="TextBox 36"/>
          <p:cNvSpPr txBox="1"/>
          <p:nvPr/>
        </p:nvSpPr>
        <p:spPr>
          <a:xfrm>
            <a:off x="4889500" y="4540250"/>
            <a:ext cx="2921000" cy="190500"/>
          </a:xfrm>
          <a:prstGeom prst="rect">
            <a:avLst/>
          </a:prstGeom>
          <a:noFill/>
        </p:spPr>
        <p:txBody>
          <a:bodyPr wrap="square" lIns="0" rIns="0" tIns="0" bIns="0" anchor="t">
            <a:spAutoFit/>
          </a:bodyPr>
          <a:lstStyle/>
          <a:p>
            <a:pPr algn="l">
              <a:lnSpc>
                <a:spcPct val="115000"/>
              </a:lnSpc>
            </a:pPr>
            <a:r>
              <a:rPr sz="1400" b="0" i="0">
                <a:solidFill>
                  <a:srgbClr val="1C1C1C"/>
                </a:solidFill>
                <a:latin typeface="Inter"/>
              </a:rPr>
              <a:t>Parcs et espaces verts</a:t>
            </a:r>
          </a:p>
        </p:txBody>
      </p:sp>
      <p:sp>
        <p:nvSpPr>
          <p:cNvPr id="38" name="Oval 37"/>
          <p:cNvSpPr/>
          <p:nvPr/>
        </p:nvSpPr>
        <p:spPr>
          <a:xfrm>
            <a:off x="4692650" y="4959350"/>
            <a:ext cx="88900" cy="88900"/>
          </a:xfrm>
          <a:prstGeom prst="ellipse">
            <a:avLst/>
          </a:prstGeom>
          <a:solidFill>
            <a:srgbClr val="1F3A5F"/>
          </a:solidFill>
          <a:ln>
            <a:noFill/>
          </a:ln>
          <a:effectLst/>
        </p:spPr>
        <p:txBody>
          <a:bodyPr rtlCol="0" anchor="ctr"/>
          <a:lstStyle/>
          <a:p>
            <a:pPr algn="ctr"/>
          </a:p>
        </p:txBody>
      </p:sp>
      <p:sp>
        <p:nvSpPr>
          <p:cNvPr id="39" name="TextBox 38"/>
          <p:cNvSpPr txBox="1"/>
          <p:nvPr/>
        </p:nvSpPr>
        <p:spPr>
          <a:xfrm>
            <a:off x="4889500" y="4921250"/>
            <a:ext cx="2921000" cy="190500"/>
          </a:xfrm>
          <a:prstGeom prst="rect">
            <a:avLst/>
          </a:prstGeom>
          <a:noFill/>
        </p:spPr>
        <p:txBody>
          <a:bodyPr wrap="square" lIns="0" rIns="0" tIns="0" bIns="0" anchor="t">
            <a:spAutoFit/>
          </a:bodyPr>
          <a:lstStyle/>
          <a:p>
            <a:pPr algn="l">
              <a:lnSpc>
                <a:spcPct val="115000"/>
              </a:lnSpc>
            </a:pPr>
            <a:r>
              <a:rPr sz="1400" b="0" i="0">
                <a:solidFill>
                  <a:srgbClr val="1C1C1C"/>
                </a:solidFill>
                <a:latin typeface="Inter"/>
              </a:rPr>
              <a:t>Trajets vers la zone franche</a:t>
            </a:r>
          </a:p>
        </p:txBody>
      </p:sp>
      <p:sp>
        <p:nvSpPr>
          <p:cNvPr id="40" name="Oval 39"/>
          <p:cNvSpPr/>
          <p:nvPr/>
        </p:nvSpPr>
        <p:spPr>
          <a:xfrm>
            <a:off x="4013200" y="3790950"/>
            <a:ext cx="482600" cy="482600"/>
          </a:xfrm>
          <a:prstGeom prst="ellipse">
            <a:avLst/>
          </a:prstGeom>
          <a:solidFill>
            <a:srgbClr val="1C1C1C"/>
          </a:solidFill>
          <a:ln>
            <a:noFill/>
          </a:ln>
          <a:effectLst/>
        </p:spPr>
        <p:txBody>
          <a:bodyPr rtlCol="0" anchor="ctr"/>
          <a:lstStyle/>
          <a:p>
            <a:pPr algn="ctr"/>
          </a:p>
        </p:txBody>
      </p:sp>
      <p:sp>
        <p:nvSpPr>
          <p:cNvPr id="41" name="TextBox 40"/>
          <p:cNvSpPr txBox="1"/>
          <p:nvPr/>
        </p:nvSpPr>
        <p:spPr>
          <a:xfrm>
            <a:off x="4013200" y="3790950"/>
            <a:ext cx="482600" cy="48260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vs</a:t>
            </a:r>
          </a:p>
        </p:txBody>
      </p:sp>
      <p:sp>
        <p:nvSpPr>
          <p:cNvPr id="42" name="TextBox 41"/>
          <p:cNvSpPr txBox="1"/>
          <p:nvPr/>
        </p:nvSpPr>
        <p:spPr>
          <a:xfrm>
            <a:off x="8636000" y="25400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MÉTHODE : 4 OUTILS</a:t>
            </a:r>
          </a:p>
        </p:txBody>
      </p:sp>
      <p:sp>
        <p:nvSpPr>
          <p:cNvPr id="43" name="TextBox 42"/>
          <p:cNvSpPr txBox="1"/>
          <p:nvPr/>
        </p:nvSpPr>
        <p:spPr>
          <a:xfrm>
            <a:off x="8636000" y="2794000"/>
            <a:ext cx="508000" cy="317500"/>
          </a:xfrm>
          <a:prstGeom prst="rect">
            <a:avLst/>
          </a:prstGeom>
          <a:noFill/>
        </p:spPr>
        <p:txBody>
          <a:bodyPr wrap="square" lIns="0" rIns="0" tIns="0" bIns="0" anchor="t">
            <a:spAutoFit/>
          </a:bodyPr>
          <a:lstStyle/>
          <a:p>
            <a:pPr algn="l">
              <a:lnSpc>
                <a:spcPct val="115000"/>
              </a:lnSpc>
            </a:pPr>
            <a:r>
              <a:rPr sz="2600" b="1" i="0">
                <a:solidFill>
                  <a:srgbClr val="C8462B"/>
                </a:solidFill>
                <a:latin typeface="Inter"/>
              </a:rPr>
              <a:t>01</a:t>
            </a:r>
          </a:p>
        </p:txBody>
      </p:sp>
      <p:sp>
        <p:nvSpPr>
          <p:cNvPr id="44" name="TextBox 43"/>
          <p:cNvSpPr txBox="1"/>
          <p:nvPr/>
        </p:nvSpPr>
        <p:spPr>
          <a:xfrm>
            <a:off x="9207500" y="2806700"/>
            <a:ext cx="2540000" cy="165100"/>
          </a:xfrm>
          <a:prstGeom prst="rect">
            <a:avLst/>
          </a:prstGeom>
          <a:noFill/>
        </p:spPr>
        <p:txBody>
          <a:bodyPr wrap="square" lIns="0" rIns="0" tIns="0" bIns="0" anchor="t">
            <a:spAutoFit/>
          </a:bodyPr>
          <a:lstStyle/>
          <a:p>
            <a:pPr algn="l">
              <a:lnSpc>
                <a:spcPct val="115000"/>
              </a:lnSpc>
            </a:pPr>
            <a:r>
              <a:rPr sz="1400" b="1" i="0">
                <a:solidFill>
                  <a:srgbClr val="1C1C1C"/>
                </a:solidFill>
                <a:latin typeface="Inter"/>
              </a:rPr>
              <a:t>CARTES</a:t>
            </a:r>
          </a:p>
        </p:txBody>
      </p:sp>
      <p:sp>
        <p:nvSpPr>
          <p:cNvPr id="45" name="TextBox 44"/>
          <p:cNvSpPr txBox="1"/>
          <p:nvPr/>
        </p:nvSpPr>
        <p:spPr>
          <a:xfrm>
            <a:off x="9207500" y="2997200"/>
            <a:ext cx="2540000" cy="317500"/>
          </a:xfrm>
          <a:prstGeom prst="rect">
            <a:avLst/>
          </a:prstGeom>
          <a:noFill/>
        </p:spPr>
        <p:txBody>
          <a:bodyPr wrap="square" lIns="0" rIns="0" tIns="0" bIns="0" anchor="t">
            <a:spAutoFit/>
          </a:bodyPr>
          <a:lstStyle/>
          <a:p>
            <a:pPr algn="l">
              <a:lnSpc>
                <a:spcPct val="115000"/>
              </a:lnSpc>
            </a:pPr>
            <a:r>
              <a:rPr sz="1150" b="0" i="0">
                <a:solidFill>
                  <a:srgbClr val="6E6A64"/>
                </a:solidFill>
                <a:latin typeface="Inter"/>
              </a:rPr>
              <a:t>où va l'investissement, où vit la population</a:t>
            </a:r>
          </a:p>
        </p:txBody>
      </p:sp>
      <p:sp>
        <p:nvSpPr>
          <p:cNvPr id="46" name="TextBox 45"/>
          <p:cNvSpPr txBox="1"/>
          <p:nvPr/>
        </p:nvSpPr>
        <p:spPr>
          <a:xfrm>
            <a:off x="8636000" y="3479800"/>
            <a:ext cx="508000" cy="317500"/>
          </a:xfrm>
          <a:prstGeom prst="rect">
            <a:avLst/>
          </a:prstGeom>
          <a:noFill/>
        </p:spPr>
        <p:txBody>
          <a:bodyPr wrap="square" lIns="0" rIns="0" tIns="0" bIns="0" anchor="t">
            <a:spAutoFit/>
          </a:bodyPr>
          <a:lstStyle/>
          <a:p>
            <a:pPr algn="l">
              <a:lnSpc>
                <a:spcPct val="115000"/>
              </a:lnSpc>
            </a:pPr>
            <a:r>
              <a:rPr sz="2600" b="1" i="0">
                <a:solidFill>
                  <a:srgbClr val="C8462B"/>
                </a:solidFill>
                <a:latin typeface="Inter"/>
              </a:rPr>
              <a:t>02</a:t>
            </a:r>
          </a:p>
        </p:txBody>
      </p:sp>
      <p:sp>
        <p:nvSpPr>
          <p:cNvPr id="47" name="TextBox 46"/>
          <p:cNvSpPr txBox="1"/>
          <p:nvPr/>
        </p:nvSpPr>
        <p:spPr>
          <a:xfrm>
            <a:off x="9207500" y="3492500"/>
            <a:ext cx="2540000" cy="165100"/>
          </a:xfrm>
          <a:prstGeom prst="rect">
            <a:avLst/>
          </a:prstGeom>
          <a:noFill/>
        </p:spPr>
        <p:txBody>
          <a:bodyPr wrap="square" lIns="0" rIns="0" tIns="0" bIns="0" anchor="t">
            <a:spAutoFit/>
          </a:bodyPr>
          <a:lstStyle/>
          <a:p>
            <a:pPr algn="l">
              <a:lnSpc>
                <a:spcPct val="115000"/>
              </a:lnSpc>
            </a:pPr>
            <a:r>
              <a:rPr sz="1400" b="1" i="0">
                <a:solidFill>
                  <a:srgbClr val="1C1C1C"/>
                </a:solidFill>
                <a:latin typeface="Inter"/>
              </a:rPr>
              <a:t>COUPE</a:t>
            </a:r>
          </a:p>
        </p:txBody>
      </p:sp>
      <p:sp>
        <p:nvSpPr>
          <p:cNvPr id="48" name="TextBox 47"/>
          <p:cNvSpPr txBox="1"/>
          <p:nvPr/>
        </p:nvSpPr>
        <p:spPr>
          <a:xfrm>
            <a:off x="9207500" y="3683000"/>
            <a:ext cx="2540000" cy="317500"/>
          </a:xfrm>
          <a:prstGeom prst="rect">
            <a:avLst/>
          </a:prstGeom>
          <a:noFill/>
        </p:spPr>
        <p:txBody>
          <a:bodyPr wrap="square" lIns="0" rIns="0" tIns="0" bIns="0" anchor="t">
            <a:spAutoFit/>
          </a:bodyPr>
          <a:lstStyle/>
          <a:p>
            <a:pPr algn="l">
              <a:lnSpc>
                <a:spcPct val="115000"/>
              </a:lnSpc>
            </a:pPr>
            <a:r>
              <a:rPr sz="1150" b="0" i="0">
                <a:solidFill>
                  <a:srgbClr val="6E6A64"/>
                </a:solidFill>
                <a:latin typeface="Inter"/>
              </a:rPr>
              <a:t>de la Kasbah à la mer : l'accès réel</a:t>
            </a:r>
          </a:p>
        </p:txBody>
      </p:sp>
      <p:sp>
        <p:nvSpPr>
          <p:cNvPr id="49" name="TextBox 48"/>
          <p:cNvSpPr txBox="1"/>
          <p:nvPr/>
        </p:nvSpPr>
        <p:spPr>
          <a:xfrm>
            <a:off x="8636000" y="4165600"/>
            <a:ext cx="508000" cy="317500"/>
          </a:xfrm>
          <a:prstGeom prst="rect">
            <a:avLst/>
          </a:prstGeom>
          <a:noFill/>
        </p:spPr>
        <p:txBody>
          <a:bodyPr wrap="square" lIns="0" rIns="0" tIns="0" bIns="0" anchor="t">
            <a:spAutoFit/>
          </a:bodyPr>
          <a:lstStyle/>
          <a:p>
            <a:pPr algn="l">
              <a:lnSpc>
                <a:spcPct val="115000"/>
              </a:lnSpc>
            </a:pPr>
            <a:r>
              <a:rPr sz="2600" b="1" i="0">
                <a:solidFill>
                  <a:srgbClr val="C8462B"/>
                </a:solidFill>
                <a:latin typeface="Inter"/>
              </a:rPr>
              <a:t>03</a:t>
            </a:r>
          </a:p>
        </p:txBody>
      </p:sp>
      <p:sp>
        <p:nvSpPr>
          <p:cNvPr id="50" name="TextBox 49"/>
          <p:cNvSpPr txBox="1"/>
          <p:nvPr/>
        </p:nvSpPr>
        <p:spPr>
          <a:xfrm>
            <a:off x="9207500" y="4178300"/>
            <a:ext cx="2540000" cy="165100"/>
          </a:xfrm>
          <a:prstGeom prst="rect">
            <a:avLst/>
          </a:prstGeom>
          <a:noFill/>
        </p:spPr>
        <p:txBody>
          <a:bodyPr wrap="square" lIns="0" rIns="0" tIns="0" bIns="0" anchor="t">
            <a:spAutoFit/>
          </a:bodyPr>
          <a:lstStyle/>
          <a:p>
            <a:pPr algn="l">
              <a:lnSpc>
                <a:spcPct val="115000"/>
              </a:lnSpc>
            </a:pPr>
            <a:r>
              <a:rPr sz="1400" b="1" i="0">
                <a:solidFill>
                  <a:srgbClr val="1C1C1C"/>
                </a:solidFill>
                <a:latin typeface="Inter"/>
              </a:rPr>
              <a:t>SCHÉMAS</a:t>
            </a:r>
          </a:p>
        </p:txBody>
      </p:sp>
      <p:sp>
        <p:nvSpPr>
          <p:cNvPr id="51" name="TextBox 50"/>
          <p:cNvSpPr txBox="1"/>
          <p:nvPr/>
        </p:nvSpPr>
        <p:spPr>
          <a:xfrm>
            <a:off x="9207500" y="4368800"/>
            <a:ext cx="2540000" cy="317500"/>
          </a:xfrm>
          <a:prstGeom prst="rect">
            <a:avLst/>
          </a:prstGeom>
          <a:noFill/>
        </p:spPr>
        <p:txBody>
          <a:bodyPr wrap="square" lIns="0" rIns="0" tIns="0" bIns="0" anchor="t">
            <a:spAutoFit/>
          </a:bodyPr>
          <a:lstStyle/>
          <a:p>
            <a:pPr algn="l">
              <a:lnSpc>
                <a:spcPct val="115000"/>
              </a:lnSpc>
            </a:pPr>
            <a:r>
              <a:rPr sz="1150" b="0" i="0">
                <a:solidFill>
                  <a:srgbClr val="6E6A64"/>
                </a:solidFill>
                <a:latin typeface="Inter"/>
              </a:rPr>
              <a:t>les mécanismes : rente, éviction, exception</a:t>
            </a:r>
          </a:p>
        </p:txBody>
      </p:sp>
      <p:sp>
        <p:nvSpPr>
          <p:cNvPr id="52" name="TextBox 51"/>
          <p:cNvSpPr txBox="1"/>
          <p:nvPr/>
        </p:nvSpPr>
        <p:spPr>
          <a:xfrm>
            <a:off x="8636000" y="4851400"/>
            <a:ext cx="508000" cy="317500"/>
          </a:xfrm>
          <a:prstGeom prst="rect">
            <a:avLst/>
          </a:prstGeom>
          <a:noFill/>
        </p:spPr>
        <p:txBody>
          <a:bodyPr wrap="square" lIns="0" rIns="0" tIns="0" bIns="0" anchor="t">
            <a:spAutoFit/>
          </a:bodyPr>
          <a:lstStyle/>
          <a:p>
            <a:pPr algn="l">
              <a:lnSpc>
                <a:spcPct val="115000"/>
              </a:lnSpc>
            </a:pPr>
            <a:r>
              <a:rPr sz="2600" b="1" i="0">
                <a:solidFill>
                  <a:srgbClr val="C8462B"/>
                </a:solidFill>
                <a:latin typeface="Inter"/>
              </a:rPr>
              <a:t>04</a:t>
            </a:r>
          </a:p>
        </p:txBody>
      </p:sp>
      <p:sp>
        <p:nvSpPr>
          <p:cNvPr id="53" name="TextBox 52"/>
          <p:cNvSpPr txBox="1"/>
          <p:nvPr/>
        </p:nvSpPr>
        <p:spPr>
          <a:xfrm>
            <a:off x="9207500" y="4864100"/>
            <a:ext cx="2540000" cy="165100"/>
          </a:xfrm>
          <a:prstGeom prst="rect">
            <a:avLst/>
          </a:prstGeom>
          <a:noFill/>
        </p:spPr>
        <p:txBody>
          <a:bodyPr wrap="square" lIns="0" rIns="0" tIns="0" bIns="0" anchor="t">
            <a:spAutoFit/>
          </a:bodyPr>
          <a:lstStyle/>
          <a:p>
            <a:pPr algn="l">
              <a:lnSpc>
                <a:spcPct val="115000"/>
              </a:lnSpc>
            </a:pPr>
            <a:r>
              <a:rPr sz="1400" b="1" i="0">
                <a:solidFill>
                  <a:srgbClr val="1C1C1C"/>
                </a:solidFill>
                <a:latin typeface="Inter"/>
              </a:rPr>
              <a:t>MATRICE</a:t>
            </a:r>
          </a:p>
        </p:txBody>
      </p:sp>
      <p:sp>
        <p:nvSpPr>
          <p:cNvPr id="54" name="TextBox 53"/>
          <p:cNvSpPr txBox="1"/>
          <p:nvPr/>
        </p:nvSpPr>
        <p:spPr>
          <a:xfrm>
            <a:off x="9207500" y="5054600"/>
            <a:ext cx="2540000" cy="317500"/>
          </a:xfrm>
          <a:prstGeom prst="rect">
            <a:avLst/>
          </a:prstGeom>
          <a:noFill/>
        </p:spPr>
        <p:txBody>
          <a:bodyPr wrap="square" lIns="0" rIns="0" tIns="0" bIns="0" anchor="t">
            <a:spAutoFit/>
          </a:bodyPr>
          <a:lstStyle/>
          <a:p>
            <a:pPr algn="l">
              <a:lnSpc>
                <a:spcPct val="115000"/>
              </a:lnSpc>
            </a:pPr>
            <a:r>
              <a:rPr sz="1150" b="0" i="0">
                <a:solidFill>
                  <a:srgbClr val="6E6A64"/>
                </a:solidFill>
                <a:latin typeface="Inter"/>
              </a:rPr>
              <a:t>qui gagne, qui paie : projet par projet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CHRONOLOGIE</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Deux calendriers : celui de l'image et celui du quotidien</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Les projets tournés vers l'extérieur sont livrés à l'heure ; ceux destinés aux habitants arrivent en retard, ou pas du tout.</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03 / 17</a:t>
            </a:r>
          </a:p>
        </p:txBody>
      </p:sp>
      <p:sp>
        <p:nvSpPr>
          <p:cNvPr id="11" name="Rectangle 10"/>
          <p:cNvSpPr/>
          <p:nvPr/>
        </p:nvSpPr>
        <p:spPr>
          <a:xfrm>
            <a:off x="1460500" y="3657600"/>
            <a:ext cx="10223500" cy="50800"/>
          </a:xfrm>
          <a:prstGeom prst="rect">
            <a:avLst/>
          </a:prstGeom>
          <a:solidFill>
            <a:srgbClr val="1C1C1C"/>
          </a:solidFill>
          <a:ln>
            <a:noFill/>
          </a:ln>
          <a:effectLst/>
        </p:spPr>
        <p:txBody>
          <a:bodyPr rtlCol="0" anchor="ctr"/>
          <a:lstStyle/>
          <a:p>
            <a:pPr algn="ctr"/>
          </a:p>
        </p:txBody>
      </p:sp>
      <p:cxnSp>
        <p:nvCxnSpPr>
          <p:cNvPr id="12" name="Connector 11"/>
          <p:cNvCxnSpPr/>
          <p:nvPr/>
        </p:nvCxnSpPr>
        <p:spPr>
          <a:xfrm>
            <a:off x="1460500" y="3606800"/>
            <a:ext cx="0" cy="152400"/>
          </a:xfrm>
          <a:prstGeom prst="line">
            <a:avLst/>
          </a:prstGeom>
          <a:ln w="12700">
            <a:solidFill>
              <a:srgbClr val="1C1C1C"/>
            </a:solidFill>
          </a:ln>
        </p:spPr>
      </p:cxnSp>
      <p:sp>
        <p:nvSpPr>
          <p:cNvPr id="13" name="TextBox 12"/>
          <p:cNvSpPr txBox="1"/>
          <p:nvPr/>
        </p:nvSpPr>
        <p:spPr>
          <a:xfrm>
            <a:off x="120650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2006</a:t>
            </a:r>
          </a:p>
        </p:txBody>
      </p:sp>
      <p:cxnSp>
        <p:nvCxnSpPr>
          <p:cNvPr id="14" name="Connector 13"/>
          <p:cNvCxnSpPr/>
          <p:nvPr/>
        </p:nvCxnSpPr>
        <p:spPr>
          <a:xfrm>
            <a:off x="2278380" y="3606800"/>
            <a:ext cx="0" cy="152400"/>
          </a:xfrm>
          <a:prstGeom prst="line">
            <a:avLst/>
          </a:prstGeom>
          <a:ln w="12700">
            <a:solidFill>
              <a:srgbClr val="1C1C1C"/>
            </a:solidFill>
          </a:ln>
        </p:spPr>
      </p:cxnSp>
      <p:sp>
        <p:nvSpPr>
          <p:cNvPr id="15" name="TextBox 14"/>
          <p:cNvSpPr txBox="1"/>
          <p:nvPr/>
        </p:nvSpPr>
        <p:spPr>
          <a:xfrm>
            <a:off x="202438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2008</a:t>
            </a:r>
          </a:p>
        </p:txBody>
      </p:sp>
      <p:cxnSp>
        <p:nvCxnSpPr>
          <p:cNvPr id="16" name="Connector 15"/>
          <p:cNvCxnSpPr/>
          <p:nvPr/>
        </p:nvCxnSpPr>
        <p:spPr>
          <a:xfrm>
            <a:off x="3096260" y="3606800"/>
            <a:ext cx="0" cy="152400"/>
          </a:xfrm>
          <a:prstGeom prst="line">
            <a:avLst/>
          </a:prstGeom>
          <a:ln w="12700">
            <a:solidFill>
              <a:srgbClr val="1C1C1C"/>
            </a:solidFill>
          </a:ln>
        </p:spPr>
      </p:cxnSp>
      <p:sp>
        <p:nvSpPr>
          <p:cNvPr id="17" name="TextBox 16"/>
          <p:cNvSpPr txBox="1"/>
          <p:nvPr/>
        </p:nvSpPr>
        <p:spPr>
          <a:xfrm>
            <a:off x="284226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2010</a:t>
            </a:r>
          </a:p>
        </p:txBody>
      </p:sp>
      <p:cxnSp>
        <p:nvCxnSpPr>
          <p:cNvPr id="18" name="Connector 17"/>
          <p:cNvCxnSpPr/>
          <p:nvPr/>
        </p:nvCxnSpPr>
        <p:spPr>
          <a:xfrm>
            <a:off x="3914140" y="3606800"/>
            <a:ext cx="0" cy="152400"/>
          </a:xfrm>
          <a:prstGeom prst="line">
            <a:avLst/>
          </a:prstGeom>
          <a:ln w="12700">
            <a:solidFill>
              <a:srgbClr val="1C1C1C"/>
            </a:solidFill>
          </a:ln>
        </p:spPr>
      </p:cxnSp>
      <p:sp>
        <p:nvSpPr>
          <p:cNvPr id="19" name="TextBox 18"/>
          <p:cNvSpPr txBox="1"/>
          <p:nvPr/>
        </p:nvSpPr>
        <p:spPr>
          <a:xfrm>
            <a:off x="366014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2012</a:t>
            </a:r>
          </a:p>
        </p:txBody>
      </p:sp>
      <p:cxnSp>
        <p:nvCxnSpPr>
          <p:cNvPr id="20" name="Connector 19"/>
          <p:cNvCxnSpPr/>
          <p:nvPr/>
        </p:nvCxnSpPr>
        <p:spPr>
          <a:xfrm>
            <a:off x="4732020" y="3606800"/>
            <a:ext cx="0" cy="152400"/>
          </a:xfrm>
          <a:prstGeom prst="line">
            <a:avLst/>
          </a:prstGeom>
          <a:ln w="12700">
            <a:solidFill>
              <a:srgbClr val="1C1C1C"/>
            </a:solidFill>
          </a:ln>
        </p:spPr>
      </p:cxnSp>
      <p:sp>
        <p:nvSpPr>
          <p:cNvPr id="21" name="TextBox 20"/>
          <p:cNvSpPr txBox="1"/>
          <p:nvPr/>
        </p:nvSpPr>
        <p:spPr>
          <a:xfrm>
            <a:off x="447802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2014</a:t>
            </a:r>
          </a:p>
        </p:txBody>
      </p:sp>
      <p:cxnSp>
        <p:nvCxnSpPr>
          <p:cNvPr id="22" name="Connector 21"/>
          <p:cNvCxnSpPr/>
          <p:nvPr/>
        </p:nvCxnSpPr>
        <p:spPr>
          <a:xfrm>
            <a:off x="5549900" y="3606800"/>
            <a:ext cx="0" cy="152400"/>
          </a:xfrm>
          <a:prstGeom prst="line">
            <a:avLst/>
          </a:prstGeom>
          <a:ln w="12700">
            <a:solidFill>
              <a:srgbClr val="1C1C1C"/>
            </a:solidFill>
          </a:ln>
        </p:spPr>
      </p:cxnSp>
      <p:sp>
        <p:nvSpPr>
          <p:cNvPr id="23" name="TextBox 22"/>
          <p:cNvSpPr txBox="1"/>
          <p:nvPr/>
        </p:nvSpPr>
        <p:spPr>
          <a:xfrm>
            <a:off x="529590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2016</a:t>
            </a:r>
          </a:p>
        </p:txBody>
      </p:sp>
      <p:cxnSp>
        <p:nvCxnSpPr>
          <p:cNvPr id="24" name="Connector 23"/>
          <p:cNvCxnSpPr/>
          <p:nvPr/>
        </p:nvCxnSpPr>
        <p:spPr>
          <a:xfrm>
            <a:off x="6367780" y="3606800"/>
            <a:ext cx="0" cy="152400"/>
          </a:xfrm>
          <a:prstGeom prst="line">
            <a:avLst/>
          </a:prstGeom>
          <a:ln w="12700">
            <a:solidFill>
              <a:srgbClr val="1C1C1C"/>
            </a:solidFill>
          </a:ln>
        </p:spPr>
      </p:cxnSp>
      <p:sp>
        <p:nvSpPr>
          <p:cNvPr id="25" name="TextBox 24"/>
          <p:cNvSpPr txBox="1"/>
          <p:nvPr/>
        </p:nvSpPr>
        <p:spPr>
          <a:xfrm>
            <a:off x="611378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2018</a:t>
            </a:r>
          </a:p>
        </p:txBody>
      </p:sp>
      <p:cxnSp>
        <p:nvCxnSpPr>
          <p:cNvPr id="26" name="Connector 25"/>
          <p:cNvCxnSpPr/>
          <p:nvPr/>
        </p:nvCxnSpPr>
        <p:spPr>
          <a:xfrm>
            <a:off x="7185660" y="3606800"/>
            <a:ext cx="0" cy="152400"/>
          </a:xfrm>
          <a:prstGeom prst="line">
            <a:avLst/>
          </a:prstGeom>
          <a:ln w="12700">
            <a:solidFill>
              <a:srgbClr val="1C1C1C"/>
            </a:solidFill>
          </a:ln>
        </p:spPr>
      </p:cxnSp>
      <p:sp>
        <p:nvSpPr>
          <p:cNvPr id="27" name="TextBox 26"/>
          <p:cNvSpPr txBox="1"/>
          <p:nvPr/>
        </p:nvSpPr>
        <p:spPr>
          <a:xfrm>
            <a:off x="693166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2020</a:t>
            </a:r>
          </a:p>
        </p:txBody>
      </p:sp>
      <p:cxnSp>
        <p:nvCxnSpPr>
          <p:cNvPr id="28" name="Connector 27"/>
          <p:cNvCxnSpPr/>
          <p:nvPr/>
        </p:nvCxnSpPr>
        <p:spPr>
          <a:xfrm>
            <a:off x="8003540" y="3606800"/>
            <a:ext cx="0" cy="152400"/>
          </a:xfrm>
          <a:prstGeom prst="line">
            <a:avLst/>
          </a:prstGeom>
          <a:ln w="12700">
            <a:solidFill>
              <a:srgbClr val="1C1C1C"/>
            </a:solidFill>
          </a:ln>
        </p:spPr>
      </p:cxnSp>
      <p:sp>
        <p:nvSpPr>
          <p:cNvPr id="29" name="TextBox 28"/>
          <p:cNvSpPr txBox="1"/>
          <p:nvPr/>
        </p:nvSpPr>
        <p:spPr>
          <a:xfrm>
            <a:off x="774954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2022</a:t>
            </a:r>
          </a:p>
        </p:txBody>
      </p:sp>
      <p:cxnSp>
        <p:nvCxnSpPr>
          <p:cNvPr id="30" name="Connector 29"/>
          <p:cNvCxnSpPr/>
          <p:nvPr/>
        </p:nvCxnSpPr>
        <p:spPr>
          <a:xfrm>
            <a:off x="8821420" y="3606800"/>
            <a:ext cx="0" cy="152400"/>
          </a:xfrm>
          <a:prstGeom prst="line">
            <a:avLst/>
          </a:prstGeom>
          <a:ln w="12700">
            <a:solidFill>
              <a:srgbClr val="1C1C1C"/>
            </a:solidFill>
          </a:ln>
        </p:spPr>
      </p:cxnSp>
      <p:sp>
        <p:nvSpPr>
          <p:cNvPr id="31" name="TextBox 30"/>
          <p:cNvSpPr txBox="1"/>
          <p:nvPr/>
        </p:nvSpPr>
        <p:spPr>
          <a:xfrm>
            <a:off x="856742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2024</a:t>
            </a:r>
          </a:p>
        </p:txBody>
      </p:sp>
      <p:cxnSp>
        <p:nvCxnSpPr>
          <p:cNvPr id="32" name="Connector 31"/>
          <p:cNvCxnSpPr/>
          <p:nvPr/>
        </p:nvCxnSpPr>
        <p:spPr>
          <a:xfrm>
            <a:off x="9639300" y="3606800"/>
            <a:ext cx="0" cy="152400"/>
          </a:xfrm>
          <a:prstGeom prst="line">
            <a:avLst/>
          </a:prstGeom>
          <a:ln w="12700">
            <a:solidFill>
              <a:srgbClr val="1C1C1C"/>
            </a:solidFill>
          </a:ln>
        </p:spPr>
      </p:cxnSp>
      <p:sp>
        <p:nvSpPr>
          <p:cNvPr id="33" name="TextBox 32"/>
          <p:cNvSpPr txBox="1"/>
          <p:nvPr/>
        </p:nvSpPr>
        <p:spPr>
          <a:xfrm>
            <a:off x="938530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2026</a:t>
            </a:r>
          </a:p>
        </p:txBody>
      </p:sp>
      <p:cxnSp>
        <p:nvCxnSpPr>
          <p:cNvPr id="34" name="Connector 33"/>
          <p:cNvCxnSpPr/>
          <p:nvPr/>
        </p:nvCxnSpPr>
        <p:spPr>
          <a:xfrm>
            <a:off x="10457180" y="3606800"/>
            <a:ext cx="0" cy="152400"/>
          </a:xfrm>
          <a:prstGeom prst="line">
            <a:avLst/>
          </a:prstGeom>
          <a:ln w="12700">
            <a:solidFill>
              <a:srgbClr val="1C1C1C"/>
            </a:solidFill>
          </a:ln>
        </p:spPr>
      </p:cxnSp>
      <p:sp>
        <p:nvSpPr>
          <p:cNvPr id="35" name="TextBox 34"/>
          <p:cNvSpPr txBox="1"/>
          <p:nvPr/>
        </p:nvSpPr>
        <p:spPr>
          <a:xfrm>
            <a:off x="1020318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2028</a:t>
            </a:r>
          </a:p>
        </p:txBody>
      </p:sp>
      <p:cxnSp>
        <p:nvCxnSpPr>
          <p:cNvPr id="36" name="Connector 35"/>
          <p:cNvCxnSpPr/>
          <p:nvPr/>
        </p:nvCxnSpPr>
        <p:spPr>
          <a:xfrm>
            <a:off x="11275060" y="3606800"/>
            <a:ext cx="0" cy="152400"/>
          </a:xfrm>
          <a:prstGeom prst="line">
            <a:avLst/>
          </a:prstGeom>
          <a:ln w="12700">
            <a:solidFill>
              <a:srgbClr val="1C1C1C"/>
            </a:solidFill>
          </a:ln>
        </p:spPr>
      </p:cxnSp>
      <p:sp>
        <p:nvSpPr>
          <p:cNvPr id="37" name="TextBox 36"/>
          <p:cNvSpPr txBox="1"/>
          <p:nvPr/>
        </p:nvSpPr>
        <p:spPr>
          <a:xfrm>
            <a:off x="11021060" y="3797300"/>
            <a:ext cx="508000" cy="139700"/>
          </a:xfrm>
          <a:prstGeom prst="rect">
            <a:avLst/>
          </a:prstGeom>
          <a:noFill/>
        </p:spPr>
        <p:txBody>
          <a:bodyPr wrap="square" lIns="0" rIns="0" tIns="0" bIns="0" anchor="t">
            <a:spAutoFit/>
          </a:bodyPr>
          <a:lstStyle/>
          <a:p>
            <a:pPr algn="ctr">
              <a:lnSpc>
                <a:spcPct val="115000"/>
              </a:lnSpc>
            </a:pPr>
            <a:r>
              <a:rPr sz="1000" b="1" i="0">
                <a:solidFill>
                  <a:srgbClr val="6E6A64"/>
                </a:solidFill>
                <a:latin typeface="Inter"/>
              </a:rPr>
              <a:t>2030</a:t>
            </a:r>
          </a:p>
        </p:txBody>
      </p:sp>
      <p:sp>
        <p:nvSpPr>
          <p:cNvPr id="38" name="TextBox 37"/>
          <p:cNvSpPr txBox="1"/>
          <p:nvPr/>
        </p:nvSpPr>
        <p:spPr>
          <a:xfrm>
            <a:off x="508000" y="1905000"/>
            <a:ext cx="889000" cy="190500"/>
          </a:xfrm>
          <a:prstGeom prst="rect">
            <a:avLst/>
          </a:prstGeom>
          <a:noFill/>
        </p:spPr>
        <p:txBody>
          <a:bodyPr wrap="square" lIns="0" rIns="0" tIns="0" bIns="0" anchor="t">
            <a:spAutoFit/>
          </a:bodyPr>
          <a:lstStyle/>
          <a:p>
            <a:pPr algn="l">
              <a:lnSpc>
                <a:spcPct val="115000"/>
              </a:lnSpc>
            </a:pPr>
            <a:r>
              <a:rPr sz="1200" b="1" i="0">
                <a:solidFill>
                  <a:srgbClr val="C8462B"/>
                </a:solidFill>
                <a:latin typeface="Inter"/>
              </a:rPr>
              <a:t>L'IMAGE</a:t>
            </a:r>
          </a:p>
        </p:txBody>
      </p:sp>
      <p:sp>
        <p:nvSpPr>
          <p:cNvPr id="39" name="TextBox 38"/>
          <p:cNvSpPr txBox="1"/>
          <p:nvPr/>
        </p:nvSpPr>
        <p:spPr>
          <a:xfrm>
            <a:off x="508000" y="2095500"/>
            <a:ext cx="889000" cy="571500"/>
          </a:xfrm>
          <a:prstGeom prst="rect">
            <a:avLst/>
          </a:prstGeom>
          <a:noFill/>
        </p:spPr>
        <p:txBody>
          <a:bodyPr wrap="square" lIns="0" rIns="0" tIns="0" bIns="0" anchor="t">
            <a:spAutoFit/>
          </a:bodyPr>
          <a:lstStyle/>
          <a:p>
            <a:pPr algn="l">
              <a:lnSpc>
                <a:spcPct val="115000"/>
              </a:lnSpc>
            </a:pPr>
            <a:r>
              <a:rPr sz="1000" b="0" i="0">
                <a:solidFill>
                  <a:srgbClr val="6E6A64"/>
                </a:solidFill>
                <a:latin typeface="Inter"/>
              </a:rPr>
              <a:t>tourisme,</a:t>
            </a:r>
          </a:p>
          <a:p>
            <a:pPr algn="l">
              <a:lnSpc>
                <a:spcPct val="115000"/>
              </a:lnSpc>
            </a:pPr>
            <a:r>
              <a:rPr sz="1000" b="0" i="0">
                <a:solidFill>
                  <a:srgbClr val="6E6A64"/>
                </a:solidFill>
                <a:latin typeface="Inter"/>
              </a:rPr>
              <a:t>vitrine,</a:t>
            </a:r>
          </a:p>
          <a:p>
            <a:pPr algn="l">
              <a:lnSpc>
                <a:spcPct val="115000"/>
              </a:lnSpc>
            </a:pPr>
            <a:r>
              <a:rPr sz="1000" b="0" i="0">
                <a:solidFill>
                  <a:srgbClr val="6E6A64"/>
                </a:solidFill>
                <a:latin typeface="Inter"/>
              </a:rPr>
              <a:t>événements</a:t>
            </a:r>
          </a:p>
        </p:txBody>
      </p:sp>
      <p:sp>
        <p:nvSpPr>
          <p:cNvPr id="40" name="TextBox 39"/>
          <p:cNvSpPr txBox="1"/>
          <p:nvPr/>
        </p:nvSpPr>
        <p:spPr>
          <a:xfrm>
            <a:off x="508000" y="4445000"/>
            <a:ext cx="920750" cy="190500"/>
          </a:xfrm>
          <a:prstGeom prst="rect">
            <a:avLst/>
          </a:prstGeom>
          <a:noFill/>
        </p:spPr>
        <p:txBody>
          <a:bodyPr wrap="square" lIns="0" rIns="0" tIns="0" bIns="0" anchor="t">
            <a:spAutoFit/>
          </a:bodyPr>
          <a:lstStyle/>
          <a:p>
            <a:pPr algn="l">
              <a:lnSpc>
                <a:spcPct val="115000"/>
              </a:lnSpc>
            </a:pPr>
            <a:r>
              <a:rPr sz="1000" b="1" i="0">
                <a:solidFill>
                  <a:srgbClr val="1F3A5F"/>
                </a:solidFill>
                <a:latin typeface="Inter"/>
              </a:rPr>
              <a:t>LE QUOTIDIEN</a:t>
            </a:r>
          </a:p>
        </p:txBody>
      </p:sp>
      <p:sp>
        <p:nvSpPr>
          <p:cNvPr id="41" name="TextBox 40"/>
          <p:cNvSpPr txBox="1"/>
          <p:nvPr/>
        </p:nvSpPr>
        <p:spPr>
          <a:xfrm>
            <a:off x="508000" y="4635500"/>
            <a:ext cx="889000" cy="571500"/>
          </a:xfrm>
          <a:prstGeom prst="rect">
            <a:avLst/>
          </a:prstGeom>
          <a:noFill/>
        </p:spPr>
        <p:txBody>
          <a:bodyPr wrap="square" lIns="0" rIns="0" tIns="0" bIns="0" anchor="t">
            <a:spAutoFit/>
          </a:bodyPr>
          <a:lstStyle/>
          <a:p>
            <a:pPr algn="l">
              <a:lnSpc>
                <a:spcPct val="115000"/>
              </a:lnSpc>
            </a:pPr>
            <a:r>
              <a:rPr sz="1000" b="0" i="0">
                <a:solidFill>
                  <a:srgbClr val="6E6A64"/>
                </a:solidFill>
                <a:latin typeface="Inter"/>
              </a:rPr>
              <a:t>logement,</a:t>
            </a:r>
          </a:p>
          <a:p>
            <a:pPr algn="l">
              <a:lnSpc>
                <a:spcPct val="115000"/>
              </a:lnSpc>
            </a:pPr>
            <a:r>
              <a:rPr sz="1000" b="0" i="0">
                <a:solidFill>
                  <a:srgbClr val="6E6A64"/>
                </a:solidFill>
                <a:latin typeface="Inter"/>
              </a:rPr>
              <a:t>transport,</a:t>
            </a:r>
          </a:p>
          <a:p>
            <a:pPr algn="l">
              <a:lnSpc>
                <a:spcPct val="115000"/>
              </a:lnSpc>
            </a:pPr>
            <a:r>
              <a:rPr sz="1000" b="0" i="0">
                <a:solidFill>
                  <a:srgbClr val="6E6A64"/>
                </a:solidFill>
                <a:latin typeface="Inter"/>
              </a:rPr>
              <a:t>quartiers</a:t>
            </a:r>
          </a:p>
        </p:txBody>
      </p:sp>
      <p:cxnSp>
        <p:nvCxnSpPr>
          <p:cNvPr id="42" name="Connector 41"/>
          <p:cNvCxnSpPr/>
          <p:nvPr/>
        </p:nvCxnSpPr>
        <p:spPr>
          <a:xfrm>
            <a:off x="1869440" y="3365500"/>
            <a:ext cx="0" cy="279400"/>
          </a:xfrm>
          <a:prstGeom prst="line">
            <a:avLst/>
          </a:prstGeom>
          <a:ln w="12700">
            <a:solidFill>
              <a:srgbClr val="C8462B"/>
            </a:solidFill>
          </a:ln>
        </p:spPr>
      </p:cxnSp>
      <p:sp>
        <p:nvSpPr>
          <p:cNvPr id="43" name="Oval 42"/>
          <p:cNvSpPr/>
          <p:nvPr/>
        </p:nvSpPr>
        <p:spPr>
          <a:xfrm>
            <a:off x="1805940" y="3619500"/>
            <a:ext cx="127000" cy="127000"/>
          </a:xfrm>
          <a:prstGeom prst="ellipse">
            <a:avLst/>
          </a:prstGeom>
          <a:solidFill>
            <a:srgbClr val="C8462B"/>
          </a:solidFill>
          <a:ln w="19050">
            <a:solidFill>
              <a:srgbClr val="FFFFFF"/>
            </a:solidFill>
          </a:ln>
          <a:effectLst/>
        </p:spPr>
        <p:txBody>
          <a:bodyPr rtlCol="0" anchor="ctr"/>
          <a:lstStyle/>
          <a:p>
            <a:pPr algn="ctr"/>
          </a:p>
        </p:txBody>
      </p:sp>
      <p:cxnSp>
        <p:nvCxnSpPr>
          <p:cNvPr id="44" name="Connector 43"/>
          <p:cNvCxnSpPr/>
          <p:nvPr/>
        </p:nvCxnSpPr>
        <p:spPr>
          <a:xfrm>
            <a:off x="4323080" y="3365500"/>
            <a:ext cx="0" cy="279400"/>
          </a:xfrm>
          <a:prstGeom prst="line">
            <a:avLst/>
          </a:prstGeom>
          <a:ln w="12700">
            <a:solidFill>
              <a:srgbClr val="C8462B"/>
            </a:solidFill>
          </a:ln>
        </p:spPr>
      </p:cxnSp>
      <p:sp>
        <p:nvSpPr>
          <p:cNvPr id="45" name="Oval 44"/>
          <p:cNvSpPr/>
          <p:nvPr/>
        </p:nvSpPr>
        <p:spPr>
          <a:xfrm>
            <a:off x="4259580" y="3619500"/>
            <a:ext cx="127000" cy="127000"/>
          </a:xfrm>
          <a:prstGeom prst="ellipse">
            <a:avLst/>
          </a:prstGeom>
          <a:solidFill>
            <a:srgbClr val="C8462B"/>
          </a:solidFill>
          <a:ln w="19050">
            <a:solidFill>
              <a:srgbClr val="FFFFFF"/>
            </a:solidFill>
          </a:ln>
          <a:effectLst/>
        </p:spPr>
        <p:txBody>
          <a:bodyPr rtlCol="0" anchor="ctr"/>
          <a:lstStyle/>
          <a:p>
            <a:pPr algn="ctr"/>
          </a:p>
        </p:txBody>
      </p:sp>
      <p:cxnSp>
        <p:nvCxnSpPr>
          <p:cNvPr id="46" name="Connector 45"/>
          <p:cNvCxnSpPr/>
          <p:nvPr/>
        </p:nvCxnSpPr>
        <p:spPr>
          <a:xfrm>
            <a:off x="6551803" y="3365500"/>
            <a:ext cx="0" cy="279400"/>
          </a:xfrm>
          <a:prstGeom prst="line">
            <a:avLst/>
          </a:prstGeom>
          <a:ln w="12700">
            <a:solidFill>
              <a:srgbClr val="C8462B"/>
            </a:solidFill>
          </a:ln>
        </p:spPr>
      </p:cxnSp>
      <p:sp>
        <p:nvSpPr>
          <p:cNvPr id="47" name="Oval 46"/>
          <p:cNvSpPr/>
          <p:nvPr/>
        </p:nvSpPr>
        <p:spPr>
          <a:xfrm>
            <a:off x="6488303" y="3619500"/>
            <a:ext cx="127000" cy="127000"/>
          </a:xfrm>
          <a:prstGeom prst="ellipse">
            <a:avLst/>
          </a:prstGeom>
          <a:solidFill>
            <a:srgbClr val="C8462B"/>
          </a:solidFill>
          <a:ln w="19050">
            <a:solidFill>
              <a:srgbClr val="FFFFFF"/>
            </a:solidFill>
          </a:ln>
          <a:effectLst/>
        </p:spPr>
        <p:txBody>
          <a:bodyPr rtlCol="0" anchor="ctr"/>
          <a:lstStyle/>
          <a:p>
            <a:pPr algn="ctr"/>
          </a:p>
        </p:txBody>
      </p:sp>
      <p:cxnSp>
        <p:nvCxnSpPr>
          <p:cNvPr id="48" name="Connector 47"/>
          <p:cNvCxnSpPr/>
          <p:nvPr/>
        </p:nvCxnSpPr>
        <p:spPr>
          <a:xfrm>
            <a:off x="6735826" y="2781300"/>
            <a:ext cx="0" cy="863600"/>
          </a:xfrm>
          <a:prstGeom prst="line">
            <a:avLst/>
          </a:prstGeom>
          <a:ln w="12700">
            <a:solidFill>
              <a:srgbClr val="C8462B"/>
            </a:solidFill>
          </a:ln>
        </p:spPr>
      </p:cxnSp>
      <p:sp>
        <p:nvSpPr>
          <p:cNvPr id="49" name="Oval 48"/>
          <p:cNvSpPr/>
          <p:nvPr/>
        </p:nvSpPr>
        <p:spPr>
          <a:xfrm>
            <a:off x="6672326" y="3619500"/>
            <a:ext cx="127000" cy="127000"/>
          </a:xfrm>
          <a:prstGeom prst="ellipse">
            <a:avLst/>
          </a:prstGeom>
          <a:solidFill>
            <a:srgbClr val="C8462B"/>
          </a:solidFill>
          <a:ln w="19050">
            <a:solidFill>
              <a:srgbClr val="FFFFFF"/>
            </a:solidFill>
          </a:ln>
          <a:effectLst/>
        </p:spPr>
        <p:txBody>
          <a:bodyPr rtlCol="0" anchor="ctr"/>
          <a:lstStyle/>
          <a:p>
            <a:pPr algn="ctr"/>
          </a:p>
        </p:txBody>
      </p:sp>
      <p:cxnSp>
        <p:nvCxnSpPr>
          <p:cNvPr id="50" name="Connector 49"/>
          <p:cNvCxnSpPr/>
          <p:nvPr/>
        </p:nvCxnSpPr>
        <p:spPr>
          <a:xfrm>
            <a:off x="7185660" y="2197100"/>
            <a:ext cx="0" cy="1447800"/>
          </a:xfrm>
          <a:prstGeom prst="line">
            <a:avLst/>
          </a:prstGeom>
          <a:ln w="12700">
            <a:solidFill>
              <a:srgbClr val="C8462B"/>
            </a:solidFill>
          </a:ln>
        </p:spPr>
      </p:cxnSp>
      <p:sp>
        <p:nvSpPr>
          <p:cNvPr id="51" name="Oval 50"/>
          <p:cNvSpPr/>
          <p:nvPr/>
        </p:nvSpPr>
        <p:spPr>
          <a:xfrm>
            <a:off x="7122160" y="3619500"/>
            <a:ext cx="127000" cy="127000"/>
          </a:xfrm>
          <a:prstGeom prst="ellipse">
            <a:avLst/>
          </a:prstGeom>
          <a:solidFill>
            <a:srgbClr val="C8462B"/>
          </a:solidFill>
          <a:ln w="19050">
            <a:solidFill>
              <a:srgbClr val="FFFFFF"/>
            </a:solidFill>
          </a:ln>
          <a:effectLst/>
        </p:spPr>
        <p:txBody>
          <a:bodyPr rtlCol="0" anchor="ctr"/>
          <a:lstStyle/>
          <a:p>
            <a:pPr algn="ctr"/>
          </a:p>
        </p:txBody>
      </p:sp>
      <p:cxnSp>
        <p:nvCxnSpPr>
          <p:cNvPr id="52" name="Connector 51"/>
          <p:cNvCxnSpPr/>
          <p:nvPr/>
        </p:nvCxnSpPr>
        <p:spPr>
          <a:xfrm>
            <a:off x="8821420" y="3365500"/>
            <a:ext cx="0" cy="279400"/>
          </a:xfrm>
          <a:prstGeom prst="line">
            <a:avLst/>
          </a:prstGeom>
          <a:ln w="12700">
            <a:solidFill>
              <a:srgbClr val="C8462B"/>
            </a:solidFill>
          </a:ln>
        </p:spPr>
      </p:cxnSp>
      <p:sp>
        <p:nvSpPr>
          <p:cNvPr id="53" name="Oval 52"/>
          <p:cNvSpPr/>
          <p:nvPr/>
        </p:nvSpPr>
        <p:spPr>
          <a:xfrm>
            <a:off x="8757920" y="3619500"/>
            <a:ext cx="127000" cy="127000"/>
          </a:xfrm>
          <a:prstGeom prst="ellipse">
            <a:avLst/>
          </a:prstGeom>
          <a:solidFill>
            <a:srgbClr val="C8462B"/>
          </a:solidFill>
          <a:ln w="19050">
            <a:solidFill>
              <a:srgbClr val="FFFFFF"/>
            </a:solidFill>
          </a:ln>
          <a:effectLst/>
        </p:spPr>
        <p:txBody>
          <a:bodyPr rtlCol="0" anchor="ctr"/>
          <a:lstStyle/>
          <a:p>
            <a:pPr algn="ctr"/>
          </a:p>
        </p:txBody>
      </p:sp>
      <p:cxnSp>
        <p:nvCxnSpPr>
          <p:cNvPr id="54" name="Connector 53"/>
          <p:cNvCxnSpPr/>
          <p:nvPr/>
        </p:nvCxnSpPr>
        <p:spPr>
          <a:xfrm>
            <a:off x="9230360" y="2781300"/>
            <a:ext cx="0" cy="863600"/>
          </a:xfrm>
          <a:prstGeom prst="line">
            <a:avLst/>
          </a:prstGeom>
          <a:ln w="12700">
            <a:solidFill>
              <a:srgbClr val="C8462B"/>
            </a:solidFill>
          </a:ln>
        </p:spPr>
      </p:cxnSp>
      <p:sp>
        <p:nvSpPr>
          <p:cNvPr id="55" name="Oval 54"/>
          <p:cNvSpPr/>
          <p:nvPr/>
        </p:nvSpPr>
        <p:spPr>
          <a:xfrm>
            <a:off x="9166860" y="3619500"/>
            <a:ext cx="127000" cy="127000"/>
          </a:xfrm>
          <a:prstGeom prst="ellipse">
            <a:avLst/>
          </a:prstGeom>
          <a:solidFill>
            <a:srgbClr val="C8462B"/>
          </a:solidFill>
          <a:ln w="19050">
            <a:solidFill>
              <a:srgbClr val="FFFFFF"/>
            </a:solidFill>
          </a:ln>
          <a:effectLst/>
        </p:spPr>
        <p:txBody>
          <a:bodyPr rtlCol="0" anchor="ctr"/>
          <a:lstStyle/>
          <a:p>
            <a:pPr algn="ctr"/>
          </a:p>
        </p:txBody>
      </p:sp>
      <p:cxnSp>
        <p:nvCxnSpPr>
          <p:cNvPr id="56" name="Connector 55"/>
          <p:cNvCxnSpPr/>
          <p:nvPr/>
        </p:nvCxnSpPr>
        <p:spPr>
          <a:xfrm>
            <a:off x="11275060" y="3365500"/>
            <a:ext cx="0" cy="279400"/>
          </a:xfrm>
          <a:prstGeom prst="line">
            <a:avLst/>
          </a:prstGeom>
          <a:ln w="12700">
            <a:solidFill>
              <a:srgbClr val="C8462B"/>
            </a:solidFill>
          </a:ln>
        </p:spPr>
      </p:cxnSp>
      <p:sp>
        <p:nvSpPr>
          <p:cNvPr id="57" name="Oval 56"/>
          <p:cNvSpPr/>
          <p:nvPr/>
        </p:nvSpPr>
        <p:spPr>
          <a:xfrm>
            <a:off x="11211560" y="3619500"/>
            <a:ext cx="127000" cy="127000"/>
          </a:xfrm>
          <a:prstGeom prst="ellipse">
            <a:avLst/>
          </a:prstGeom>
          <a:solidFill>
            <a:srgbClr val="C8462B"/>
          </a:solidFill>
          <a:ln w="19050">
            <a:solidFill>
              <a:srgbClr val="FFFFFF"/>
            </a:solidFill>
          </a:ln>
          <a:effectLst/>
        </p:spPr>
        <p:txBody>
          <a:bodyPr rtlCol="0" anchor="ctr"/>
          <a:lstStyle/>
          <a:p>
            <a:pPr algn="ctr"/>
          </a:p>
        </p:txBody>
      </p:sp>
      <p:sp>
        <p:nvSpPr>
          <p:cNvPr id="58" name="Rectangle 57"/>
          <p:cNvSpPr/>
          <p:nvPr/>
        </p:nvSpPr>
        <p:spPr>
          <a:xfrm>
            <a:off x="6391910" y="1739900"/>
            <a:ext cx="1587500" cy="457200"/>
          </a:xfrm>
          <a:prstGeom prst="rect">
            <a:avLst/>
          </a:prstGeom>
          <a:solidFill>
            <a:srgbClr val="FFFFFF"/>
          </a:solidFill>
          <a:ln w="12700">
            <a:solidFill>
              <a:srgbClr val="C8462B"/>
            </a:solidFill>
          </a:ln>
          <a:effectLst/>
        </p:spPr>
        <p:txBody>
          <a:bodyPr rtlCol="0" anchor="ctr"/>
          <a:lstStyle/>
          <a:p>
            <a:pPr algn="ctr"/>
          </a:p>
        </p:txBody>
      </p:sp>
      <p:sp>
        <p:nvSpPr>
          <p:cNvPr id="59" name="TextBox 58"/>
          <p:cNvSpPr txBox="1"/>
          <p:nvPr/>
        </p:nvSpPr>
        <p:spPr>
          <a:xfrm>
            <a:off x="6430010" y="1797050"/>
            <a:ext cx="1511300" cy="1651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Programme médina</a:t>
            </a:r>
          </a:p>
        </p:txBody>
      </p:sp>
      <p:sp>
        <p:nvSpPr>
          <p:cNvPr id="60" name="TextBox 59"/>
          <p:cNvSpPr txBox="1"/>
          <p:nvPr/>
        </p:nvSpPr>
        <p:spPr>
          <a:xfrm>
            <a:off x="6430010" y="1987550"/>
            <a:ext cx="1511300" cy="165100"/>
          </a:xfrm>
          <a:prstGeom prst="rect">
            <a:avLst/>
          </a:prstGeom>
          <a:noFill/>
        </p:spPr>
        <p:txBody>
          <a:bodyPr wrap="square" lIns="0" rIns="0" tIns="0" bIns="0" anchor="t">
            <a:spAutoFit/>
          </a:bodyPr>
          <a:lstStyle/>
          <a:p>
            <a:pPr algn="ctr">
              <a:lnSpc>
                <a:spcPct val="115000"/>
              </a:lnSpc>
            </a:pPr>
            <a:r>
              <a:rPr sz="1000" b="1" i="0">
                <a:solidFill>
                  <a:srgbClr val="C8462B"/>
                </a:solidFill>
                <a:latin typeface="Inter"/>
              </a:rPr>
              <a:t>850 M MAD</a:t>
            </a:r>
          </a:p>
        </p:txBody>
      </p:sp>
      <p:sp>
        <p:nvSpPr>
          <p:cNvPr id="61" name="Rectangle 60"/>
          <p:cNvSpPr/>
          <p:nvPr/>
        </p:nvSpPr>
        <p:spPr>
          <a:xfrm>
            <a:off x="5942076" y="2324100"/>
            <a:ext cx="1587500" cy="457200"/>
          </a:xfrm>
          <a:prstGeom prst="rect">
            <a:avLst/>
          </a:prstGeom>
          <a:solidFill>
            <a:srgbClr val="FFFFFF"/>
          </a:solidFill>
          <a:ln w="12700">
            <a:solidFill>
              <a:srgbClr val="C8462B"/>
            </a:solidFill>
          </a:ln>
          <a:effectLst/>
        </p:spPr>
        <p:txBody>
          <a:bodyPr rtlCol="0" anchor="ctr"/>
          <a:lstStyle/>
          <a:p>
            <a:pPr algn="ctr"/>
          </a:p>
        </p:txBody>
      </p:sp>
      <p:sp>
        <p:nvSpPr>
          <p:cNvPr id="62" name="TextBox 61"/>
          <p:cNvSpPr txBox="1"/>
          <p:nvPr/>
        </p:nvSpPr>
        <p:spPr>
          <a:xfrm>
            <a:off x="5980176" y="2381250"/>
            <a:ext cx="1511300" cy="1651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TGV Al Boraq</a:t>
            </a:r>
          </a:p>
        </p:txBody>
      </p:sp>
      <p:sp>
        <p:nvSpPr>
          <p:cNvPr id="63" name="TextBox 62"/>
          <p:cNvSpPr txBox="1"/>
          <p:nvPr/>
        </p:nvSpPr>
        <p:spPr>
          <a:xfrm>
            <a:off x="5980176" y="2571750"/>
            <a:ext cx="1511300" cy="165100"/>
          </a:xfrm>
          <a:prstGeom prst="rect">
            <a:avLst/>
          </a:prstGeom>
          <a:noFill/>
        </p:spPr>
        <p:txBody>
          <a:bodyPr wrap="square" lIns="0" rIns="0" tIns="0" bIns="0" anchor="t">
            <a:spAutoFit/>
          </a:bodyPr>
          <a:lstStyle/>
          <a:p>
            <a:pPr algn="ctr">
              <a:lnSpc>
                <a:spcPct val="115000"/>
              </a:lnSpc>
            </a:pPr>
            <a:r>
              <a:rPr sz="1000" b="1" i="0">
                <a:solidFill>
                  <a:srgbClr val="C8462B"/>
                </a:solidFill>
                <a:latin typeface="Inter"/>
              </a:rPr>
              <a:t>novembre 2018</a:t>
            </a:r>
          </a:p>
        </p:txBody>
      </p:sp>
      <p:sp>
        <p:nvSpPr>
          <p:cNvPr id="64" name="Rectangle 63"/>
          <p:cNvSpPr/>
          <p:nvPr/>
        </p:nvSpPr>
        <p:spPr>
          <a:xfrm>
            <a:off x="8436610" y="2324100"/>
            <a:ext cx="1587500" cy="457200"/>
          </a:xfrm>
          <a:prstGeom prst="rect">
            <a:avLst/>
          </a:prstGeom>
          <a:solidFill>
            <a:srgbClr val="FFFFFF"/>
          </a:solidFill>
          <a:ln w="12700">
            <a:solidFill>
              <a:srgbClr val="C8462B"/>
            </a:solidFill>
          </a:ln>
          <a:effectLst/>
        </p:spPr>
        <p:txBody>
          <a:bodyPr rtlCol="0" anchor="ctr"/>
          <a:lstStyle/>
          <a:p>
            <a:pPr algn="ctr"/>
          </a:p>
        </p:txBody>
      </p:sp>
      <p:sp>
        <p:nvSpPr>
          <p:cNvPr id="65" name="TextBox 64"/>
          <p:cNvSpPr txBox="1"/>
          <p:nvPr/>
        </p:nvSpPr>
        <p:spPr>
          <a:xfrm>
            <a:off x="8474710" y="2381250"/>
            <a:ext cx="1511300" cy="1651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167 100 croisiéristes</a:t>
            </a:r>
          </a:p>
        </p:txBody>
      </p:sp>
      <p:sp>
        <p:nvSpPr>
          <p:cNvPr id="66" name="TextBox 65"/>
          <p:cNvSpPr txBox="1"/>
          <p:nvPr/>
        </p:nvSpPr>
        <p:spPr>
          <a:xfrm>
            <a:off x="8474710" y="2571750"/>
            <a:ext cx="1511300" cy="165100"/>
          </a:xfrm>
          <a:prstGeom prst="rect">
            <a:avLst/>
          </a:prstGeom>
          <a:noFill/>
        </p:spPr>
        <p:txBody>
          <a:bodyPr wrap="square" lIns="0" rIns="0" tIns="0" bIns="0" anchor="t">
            <a:spAutoFit/>
          </a:bodyPr>
          <a:lstStyle/>
          <a:p>
            <a:pPr algn="ctr">
              <a:lnSpc>
                <a:spcPct val="115000"/>
              </a:lnSpc>
            </a:pPr>
            <a:r>
              <a:rPr sz="1000" b="1" i="0">
                <a:solidFill>
                  <a:srgbClr val="C8462B"/>
                </a:solidFill>
                <a:latin typeface="Inter"/>
              </a:rPr>
              <a:t>+81 % en un an</a:t>
            </a:r>
          </a:p>
        </p:txBody>
      </p:sp>
      <p:sp>
        <p:nvSpPr>
          <p:cNvPr id="67" name="Rectangle 66"/>
          <p:cNvSpPr/>
          <p:nvPr/>
        </p:nvSpPr>
        <p:spPr>
          <a:xfrm>
            <a:off x="1460500" y="2908300"/>
            <a:ext cx="1587500" cy="457200"/>
          </a:xfrm>
          <a:prstGeom prst="rect">
            <a:avLst/>
          </a:prstGeom>
          <a:solidFill>
            <a:srgbClr val="FFFFFF"/>
          </a:solidFill>
          <a:ln w="12700">
            <a:solidFill>
              <a:srgbClr val="C8462B"/>
            </a:solidFill>
          </a:ln>
          <a:effectLst/>
        </p:spPr>
        <p:txBody>
          <a:bodyPr rtlCol="0" anchor="ctr"/>
          <a:lstStyle/>
          <a:p>
            <a:pPr algn="ctr"/>
          </a:p>
        </p:txBody>
      </p:sp>
      <p:sp>
        <p:nvSpPr>
          <p:cNvPr id="68" name="TextBox 67"/>
          <p:cNvSpPr txBox="1"/>
          <p:nvPr/>
        </p:nvSpPr>
        <p:spPr>
          <a:xfrm>
            <a:off x="1498600" y="2965450"/>
            <a:ext cx="1511300" cy="1651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Port Tanger Med</a:t>
            </a:r>
          </a:p>
        </p:txBody>
      </p:sp>
      <p:sp>
        <p:nvSpPr>
          <p:cNvPr id="69" name="TextBox 68"/>
          <p:cNvSpPr txBox="1"/>
          <p:nvPr/>
        </p:nvSpPr>
        <p:spPr>
          <a:xfrm>
            <a:off x="1498600" y="3155950"/>
            <a:ext cx="1511300" cy="165100"/>
          </a:xfrm>
          <a:prstGeom prst="rect">
            <a:avLst/>
          </a:prstGeom>
          <a:noFill/>
        </p:spPr>
        <p:txBody>
          <a:bodyPr wrap="square" lIns="0" rIns="0" tIns="0" bIns="0" anchor="t">
            <a:spAutoFit/>
          </a:bodyPr>
          <a:lstStyle/>
          <a:p>
            <a:pPr algn="ctr">
              <a:lnSpc>
                <a:spcPct val="115000"/>
              </a:lnSpc>
            </a:pPr>
            <a:r>
              <a:rPr sz="1000" b="1" i="0">
                <a:solidFill>
                  <a:srgbClr val="C8462B"/>
                </a:solidFill>
                <a:latin typeface="Inter"/>
              </a:rPr>
              <a:t>ouverture</a:t>
            </a:r>
          </a:p>
        </p:txBody>
      </p:sp>
      <p:sp>
        <p:nvSpPr>
          <p:cNvPr id="70" name="Rectangle 69"/>
          <p:cNvSpPr/>
          <p:nvPr/>
        </p:nvSpPr>
        <p:spPr>
          <a:xfrm>
            <a:off x="3529330" y="2908300"/>
            <a:ext cx="1587500" cy="457200"/>
          </a:xfrm>
          <a:prstGeom prst="rect">
            <a:avLst/>
          </a:prstGeom>
          <a:solidFill>
            <a:srgbClr val="FFFFFF"/>
          </a:solidFill>
          <a:ln w="12700">
            <a:solidFill>
              <a:srgbClr val="C8462B"/>
            </a:solidFill>
          </a:ln>
          <a:effectLst/>
        </p:spPr>
        <p:txBody>
          <a:bodyPr rtlCol="0" anchor="ctr"/>
          <a:lstStyle/>
          <a:p>
            <a:pPr algn="ctr"/>
          </a:p>
        </p:txBody>
      </p:sp>
      <p:sp>
        <p:nvSpPr>
          <p:cNvPr id="71" name="TextBox 70"/>
          <p:cNvSpPr txBox="1"/>
          <p:nvPr/>
        </p:nvSpPr>
        <p:spPr>
          <a:xfrm>
            <a:off x="3567430" y="2965450"/>
            <a:ext cx="1511300" cy="1651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Tanger Métropole</a:t>
            </a:r>
          </a:p>
        </p:txBody>
      </p:sp>
      <p:sp>
        <p:nvSpPr>
          <p:cNvPr id="72" name="TextBox 71"/>
          <p:cNvSpPr txBox="1"/>
          <p:nvPr/>
        </p:nvSpPr>
        <p:spPr>
          <a:xfrm>
            <a:off x="3567430" y="3155950"/>
            <a:ext cx="1511300" cy="165100"/>
          </a:xfrm>
          <a:prstGeom prst="rect">
            <a:avLst/>
          </a:prstGeom>
          <a:noFill/>
        </p:spPr>
        <p:txBody>
          <a:bodyPr wrap="square" lIns="0" rIns="0" tIns="0" bIns="0" anchor="t">
            <a:spAutoFit/>
          </a:bodyPr>
          <a:lstStyle/>
          <a:p>
            <a:pPr algn="ctr">
              <a:lnSpc>
                <a:spcPct val="115000"/>
              </a:lnSpc>
            </a:pPr>
            <a:r>
              <a:rPr sz="1000" b="1" i="0">
                <a:solidFill>
                  <a:srgbClr val="C8462B"/>
                </a:solidFill>
                <a:latin typeface="Inter"/>
              </a:rPr>
              <a:t>7,66 Md MAD</a:t>
            </a:r>
          </a:p>
        </p:txBody>
      </p:sp>
      <p:sp>
        <p:nvSpPr>
          <p:cNvPr id="73" name="Rectangle 72"/>
          <p:cNvSpPr/>
          <p:nvPr/>
        </p:nvSpPr>
        <p:spPr>
          <a:xfrm>
            <a:off x="5758053" y="2908300"/>
            <a:ext cx="1587500" cy="457200"/>
          </a:xfrm>
          <a:prstGeom prst="rect">
            <a:avLst/>
          </a:prstGeom>
          <a:solidFill>
            <a:srgbClr val="FFFFFF"/>
          </a:solidFill>
          <a:ln w="12700">
            <a:solidFill>
              <a:srgbClr val="C8462B"/>
            </a:solidFill>
          </a:ln>
          <a:effectLst/>
        </p:spPr>
        <p:txBody>
          <a:bodyPr rtlCol="0" anchor="ctr"/>
          <a:lstStyle/>
          <a:p>
            <a:pPr algn="ctr"/>
          </a:p>
        </p:txBody>
      </p:sp>
      <p:sp>
        <p:nvSpPr>
          <p:cNvPr id="74" name="TextBox 73"/>
          <p:cNvSpPr txBox="1"/>
          <p:nvPr/>
        </p:nvSpPr>
        <p:spPr>
          <a:xfrm>
            <a:off x="5796153" y="2965450"/>
            <a:ext cx="1511300" cy="1651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Tanja Marina Bay</a:t>
            </a:r>
          </a:p>
        </p:txBody>
      </p:sp>
      <p:sp>
        <p:nvSpPr>
          <p:cNvPr id="75" name="TextBox 74"/>
          <p:cNvSpPr txBox="1"/>
          <p:nvPr/>
        </p:nvSpPr>
        <p:spPr>
          <a:xfrm>
            <a:off x="5796153" y="3155950"/>
            <a:ext cx="1511300" cy="165100"/>
          </a:xfrm>
          <a:prstGeom prst="rect">
            <a:avLst/>
          </a:prstGeom>
          <a:noFill/>
        </p:spPr>
        <p:txBody>
          <a:bodyPr wrap="square" lIns="0" rIns="0" tIns="0" bIns="0" anchor="t">
            <a:spAutoFit/>
          </a:bodyPr>
          <a:lstStyle/>
          <a:p>
            <a:pPr algn="ctr">
              <a:lnSpc>
                <a:spcPct val="115000"/>
              </a:lnSpc>
            </a:pPr>
            <a:r>
              <a:rPr sz="1000" b="1" i="0">
                <a:solidFill>
                  <a:srgbClr val="C8462B"/>
                </a:solidFill>
                <a:latin typeface="Inter"/>
              </a:rPr>
              <a:t>juin 2018</a:t>
            </a:r>
          </a:p>
        </p:txBody>
      </p:sp>
      <p:sp>
        <p:nvSpPr>
          <p:cNvPr id="76" name="Rectangle 75"/>
          <p:cNvSpPr/>
          <p:nvPr/>
        </p:nvSpPr>
        <p:spPr>
          <a:xfrm>
            <a:off x="8027670" y="2908300"/>
            <a:ext cx="1587500" cy="457200"/>
          </a:xfrm>
          <a:prstGeom prst="rect">
            <a:avLst/>
          </a:prstGeom>
          <a:solidFill>
            <a:srgbClr val="FFFFFF"/>
          </a:solidFill>
          <a:ln w="12700">
            <a:solidFill>
              <a:srgbClr val="C8462B"/>
            </a:solidFill>
          </a:ln>
          <a:effectLst/>
        </p:spPr>
        <p:txBody>
          <a:bodyPr rtlCol="0" anchor="ctr"/>
          <a:lstStyle/>
          <a:p>
            <a:pPr algn="ctr"/>
          </a:p>
        </p:txBody>
      </p:sp>
      <p:sp>
        <p:nvSpPr>
          <p:cNvPr id="77" name="TextBox 76"/>
          <p:cNvSpPr txBox="1"/>
          <p:nvPr/>
        </p:nvSpPr>
        <p:spPr>
          <a:xfrm>
            <a:off x="8065770" y="2965450"/>
            <a:ext cx="1511300" cy="1651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Stade agrandi</a:t>
            </a:r>
          </a:p>
        </p:txBody>
      </p:sp>
      <p:sp>
        <p:nvSpPr>
          <p:cNvPr id="78" name="TextBox 77"/>
          <p:cNvSpPr txBox="1"/>
          <p:nvPr/>
        </p:nvSpPr>
        <p:spPr>
          <a:xfrm>
            <a:off x="8065770" y="3155950"/>
            <a:ext cx="1511300" cy="165100"/>
          </a:xfrm>
          <a:prstGeom prst="rect">
            <a:avLst/>
          </a:prstGeom>
          <a:noFill/>
        </p:spPr>
        <p:txBody>
          <a:bodyPr wrap="square" lIns="0" rIns="0" tIns="0" bIns="0" anchor="t">
            <a:spAutoFit/>
          </a:bodyPr>
          <a:lstStyle/>
          <a:p>
            <a:pPr algn="ctr">
              <a:lnSpc>
                <a:spcPct val="115000"/>
              </a:lnSpc>
            </a:pPr>
            <a:r>
              <a:rPr sz="1000" b="1" i="0">
                <a:solidFill>
                  <a:srgbClr val="C8462B"/>
                </a:solidFill>
                <a:latin typeface="Inter"/>
              </a:rPr>
              <a:t>65 000 → 85 000</a:t>
            </a:r>
          </a:p>
        </p:txBody>
      </p:sp>
      <p:sp>
        <p:nvSpPr>
          <p:cNvPr id="79" name="Rectangle 78"/>
          <p:cNvSpPr/>
          <p:nvPr/>
        </p:nvSpPr>
        <p:spPr>
          <a:xfrm>
            <a:off x="10096500" y="2908300"/>
            <a:ext cx="1587500" cy="457200"/>
          </a:xfrm>
          <a:prstGeom prst="rect">
            <a:avLst/>
          </a:prstGeom>
          <a:solidFill>
            <a:srgbClr val="FFFFFF"/>
          </a:solidFill>
          <a:ln w="12700">
            <a:solidFill>
              <a:srgbClr val="C8462B"/>
            </a:solidFill>
          </a:ln>
          <a:effectLst/>
        </p:spPr>
        <p:txBody>
          <a:bodyPr rtlCol="0" anchor="ctr"/>
          <a:lstStyle/>
          <a:p>
            <a:pPr algn="ctr"/>
          </a:p>
        </p:txBody>
      </p:sp>
      <p:sp>
        <p:nvSpPr>
          <p:cNvPr id="80" name="TextBox 79"/>
          <p:cNvSpPr txBox="1"/>
          <p:nvPr/>
        </p:nvSpPr>
        <p:spPr>
          <a:xfrm>
            <a:off x="10134600" y="2965450"/>
            <a:ext cx="1511300" cy="1651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Coupe du monde</a:t>
            </a:r>
          </a:p>
        </p:txBody>
      </p:sp>
      <p:sp>
        <p:nvSpPr>
          <p:cNvPr id="81" name="TextBox 80"/>
          <p:cNvSpPr txBox="1"/>
          <p:nvPr/>
        </p:nvSpPr>
        <p:spPr>
          <a:xfrm>
            <a:off x="10134600" y="3155950"/>
            <a:ext cx="1511300" cy="165100"/>
          </a:xfrm>
          <a:prstGeom prst="rect">
            <a:avLst/>
          </a:prstGeom>
          <a:noFill/>
        </p:spPr>
        <p:txBody>
          <a:bodyPr wrap="square" lIns="0" rIns="0" tIns="0" bIns="0" anchor="t">
            <a:spAutoFit/>
          </a:bodyPr>
          <a:lstStyle/>
          <a:p>
            <a:pPr algn="ctr">
              <a:lnSpc>
                <a:spcPct val="115000"/>
              </a:lnSpc>
            </a:pPr>
            <a:r>
              <a:rPr sz="1000" b="1" i="0">
                <a:solidFill>
                  <a:srgbClr val="C8462B"/>
                </a:solidFill>
                <a:latin typeface="Inter"/>
              </a:rPr>
              <a:t>Tanger ville hôte</a:t>
            </a:r>
          </a:p>
        </p:txBody>
      </p:sp>
      <p:cxnSp>
        <p:nvCxnSpPr>
          <p:cNvPr id="82" name="Connector 81"/>
          <p:cNvCxnSpPr/>
          <p:nvPr/>
        </p:nvCxnSpPr>
        <p:spPr>
          <a:xfrm>
            <a:off x="2687320" y="3721100"/>
            <a:ext cx="0" cy="317500"/>
          </a:xfrm>
          <a:prstGeom prst="line">
            <a:avLst/>
          </a:prstGeom>
          <a:ln w="12700">
            <a:solidFill>
              <a:srgbClr val="1F3A5F"/>
            </a:solidFill>
          </a:ln>
        </p:spPr>
      </p:cxnSp>
      <p:sp>
        <p:nvSpPr>
          <p:cNvPr id="83" name="Oval 82"/>
          <p:cNvSpPr/>
          <p:nvPr/>
        </p:nvSpPr>
        <p:spPr>
          <a:xfrm>
            <a:off x="2636520" y="3632200"/>
            <a:ext cx="101600" cy="101600"/>
          </a:xfrm>
          <a:prstGeom prst="ellipse">
            <a:avLst/>
          </a:prstGeom>
          <a:solidFill>
            <a:srgbClr val="1F3A5F"/>
          </a:solidFill>
          <a:ln w="19050">
            <a:solidFill>
              <a:srgbClr val="FFFFFF"/>
            </a:solidFill>
          </a:ln>
          <a:effectLst/>
        </p:spPr>
        <p:txBody>
          <a:bodyPr rtlCol="0" anchor="ctr"/>
          <a:lstStyle/>
          <a:p>
            <a:pPr algn="ctr"/>
          </a:p>
        </p:txBody>
      </p:sp>
      <p:cxnSp>
        <p:nvCxnSpPr>
          <p:cNvPr id="84" name="Connector 83"/>
          <p:cNvCxnSpPr/>
          <p:nvPr/>
        </p:nvCxnSpPr>
        <p:spPr>
          <a:xfrm>
            <a:off x="4732020" y="3721100"/>
            <a:ext cx="0" cy="317500"/>
          </a:xfrm>
          <a:prstGeom prst="line">
            <a:avLst/>
          </a:prstGeom>
          <a:ln w="12700">
            <a:solidFill>
              <a:srgbClr val="1F3A5F"/>
            </a:solidFill>
          </a:ln>
        </p:spPr>
      </p:cxnSp>
      <p:sp>
        <p:nvSpPr>
          <p:cNvPr id="85" name="Oval 84"/>
          <p:cNvSpPr/>
          <p:nvPr/>
        </p:nvSpPr>
        <p:spPr>
          <a:xfrm>
            <a:off x="4681220" y="3632200"/>
            <a:ext cx="101600" cy="101600"/>
          </a:xfrm>
          <a:prstGeom prst="ellipse">
            <a:avLst/>
          </a:prstGeom>
          <a:solidFill>
            <a:srgbClr val="1F3A5F"/>
          </a:solidFill>
          <a:ln w="19050">
            <a:solidFill>
              <a:srgbClr val="FFFFFF"/>
            </a:solidFill>
          </a:ln>
          <a:effectLst/>
        </p:spPr>
        <p:txBody>
          <a:bodyPr rtlCol="0" anchor="ctr"/>
          <a:lstStyle/>
          <a:p>
            <a:pPr algn="ctr"/>
          </a:p>
        </p:txBody>
      </p:sp>
      <p:cxnSp>
        <p:nvCxnSpPr>
          <p:cNvPr id="86" name="Connector 85"/>
          <p:cNvCxnSpPr/>
          <p:nvPr/>
        </p:nvCxnSpPr>
        <p:spPr>
          <a:xfrm>
            <a:off x="8821420" y="3721100"/>
            <a:ext cx="0" cy="317500"/>
          </a:xfrm>
          <a:prstGeom prst="line">
            <a:avLst/>
          </a:prstGeom>
          <a:ln w="12700">
            <a:solidFill>
              <a:srgbClr val="1F3A5F"/>
            </a:solidFill>
          </a:ln>
        </p:spPr>
      </p:cxnSp>
      <p:sp>
        <p:nvSpPr>
          <p:cNvPr id="87" name="Oval 86"/>
          <p:cNvSpPr/>
          <p:nvPr/>
        </p:nvSpPr>
        <p:spPr>
          <a:xfrm>
            <a:off x="8770620" y="3632200"/>
            <a:ext cx="101600" cy="101600"/>
          </a:xfrm>
          <a:prstGeom prst="ellipse">
            <a:avLst/>
          </a:prstGeom>
          <a:solidFill>
            <a:srgbClr val="1F3A5F"/>
          </a:solidFill>
          <a:ln w="19050">
            <a:solidFill>
              <a:srgbClr val="FFFFFF"/>
            </a:solidFill>
          </a:ln>
          <a:effectLst/>
        </p:spPr>
        <p:txBody>
          <a:bodyPr rtlCol="0" anchor="ctr"/>
          <a:lstStyle/>
          <a:p>
            <a:pPr algn="ctr"/>
          </a:p>
        </p:txBody>
      </p:sp>
      <p:cxnSp>
        <p:nvCxnSpPr>
          <p:cNvPr id="88" name="Connector 87"/>
          <p:cNvCxnSpPr/>
          <p:nvPr/>
        </p:nvCxnSpPr>
        <p:spPr>
          <a:xfrm>
            <a:off x="9639300" y="3721100"/>
            <a:ext cx="0" cy="901700"/>
          </a:xfrm>
          <a:prstGeom prst="line">
            <a:avLst/>
          </a:prstGeom>
          <a:ln w="12700">
            <a:solidFill>
              <a:srgbClr val="1F3A5F"/>
            </a:solidFill>
          </a:ln>
        </p:spPr>
      </p:cxnSp>
      <p:sp>
        <p:nvSpPr>
          <p:cNvPr id="89" name="Oval 88"/>
          <p:cNvSpPr/>
          <p:nvPr/>
        </p:nvSpPr>
        <p:spPr>
          <a:xfrm>
            <a:off x="9588500" y="3632200"/>
            <a:ext cx="101600" cy="101600"/>
          </a:xfrm>
          <a:prstGeom prst="ellipse">
            <a:avLst/>
          </a:prstGeom>
          <a:solidFill>
            <a:srgbClr val="1F3A5F"/>
          </a:solidFill>
          <a:ln w="19050">
            <a:solidFill>
              <a:srgbClr val="FFFFFF"/>
            </a:solidFill>
          </a:ln>
          <a:effectLst/>
        </p:spPr>
        <p:txBody>
          <a:bodyPr rtlCol="0" anchor="ctr"/>
          <a:lstStyle/>
          <a:p>
            <a:pPr algn="ctr"/>
          </a:p>
        </p:txBody>
      </p:sp>
      <p:sp>
        <p:nvSpPr>
          <p:cNvPr id="90" name="Rectangle 89"/>
          <p:cNvSpPr/>
          <p:nvPr/>
        </p:nvSpPr>
        <p:spPr>
          <a:xfrm>
            <a:off x="8845550" y="4622800"/>
            <a:ext cx="1587500" cy="457200"/>
          </a:xfrm>
          <a:prstGeom prst="rect">
            <a:avLst/>
          </a:prstGeom>
          <a:solidFill>
            <a:srgbClr val="FFFFFF"/>
          </a:solidFill>
          <a:ln w="12700">
            <a:solidFill>
              <a:srgbClr val="1F3A5F"/>
            </a:solidFill>
          </a:ln>
          <a:effectLst/>
        </p:spPr>
        <p:txBody>
          <a:bodyPr rtlCol="0" anchor="ctr"/>
          <a:lstStyle/>
          <a:p>
            <a:pPr algn="ctr"/>
          </a:p>
        </p:txBody>
      </p:sp>
      <p:sp>
        <p:nvSpPr>
          <p:cNvPr id="91" name="TextBox 90"/>
          <p:cNvSpPr txBox="1"/>
          <p:nvPr/>
        </p:nvSpPr>
        <p:spPr>
          <a:xfrm>
            <a:off x="8883650" y="4679950"/>
            <a:ext cx="1511300" cy="1651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Bâtiments en ruine</a:t>
            </a:r>
          </a:p>
        </p:txBody>
      </p:sp>
      <p:sp>
        <p:nvSpPr>
          <p:cNvPr id="92" name="TextBox 91"/>
          <p:cNvSpPr txBox="1"/>
          <p:nvPr/>
        </p:nvSpPr>
        <p:spPr>
          <a:xfrm>
            <a:off x="8883650" y="4870450"/>
            <a:ext cx="1511300" cy="165100"/>
          </a:xfrm>
          <a:prstGeom prst="rect">
            <a:avLst/>
          </a:prstGeom>
          <a:noFill/>
        </p:spPr>
        <p:txBody>
          <a:bodyPr wrap="square" lIns="0" rIns="0" tIns="0" bIns="0" anchor="t">
            <a:spAutoFit/>
          </a:bodyPr>
          <a:lstStyle/>
          <a:p>
            <a:pPr algn="ctr">
              <a:lnSpc>
                <a:spcPct val="115000"/>
              </a:lnSpc>
            </a:pPr>
            <a:r>
              <a:rPr sz="1000" b="1" i="0">
                <a:solidFill>
                  <a:srgbClr val="1F3A5F"/>
                </a:solidFill>
                <a:latin typeface="Inter"/>
              </a:rPr>
              <a:t>98 M MAD, 2024-2027</a:t>
            </a:r>
          </a:p>
        </p:txBody>
      </p:sp>
      <p:sp>
        <p:nvSpPr>
          <p:cNvPr id="93" name="Rectangle 92"/>
          <p:cNvSpPr/>
          <p:nvPr/>
        </p:nvSpPr>
        <p:spPr>
          <a:xfrm>
            <a:off x="1893570" y="4038600"/>
            <a:ext cx="1587500" cy="457200"/>
          </a:xfrm>
          <a:prstGeom prst="rect">
            <a:avLst/>
          </a:prstGeom>
          <a:solidFill>
            <a:srgbClr val="FFFFFF"/>
          </a:solidFill>
          <a:ln w="12700">
            <a:solidFill>
              <a:srgbClr val="1F3A5F"/>
            </a:solidFill>
          </a:ln>
          <a:effectLst/>
        </p:spPr>
        <p:txBody>
          <a:bodyPr rtlCol="0" anchor="ctr"/>
          <a:lstStyle/>
          <a:p>
            <a:pPr algn="ctr"/>
          </a:p>
        </p:txBody>
      </p:sp>
      <p:sp>
        <p:nvSpPr>
          <p:cNvPr id="94" name="TextBox 93"/>
          <p:cNvSpPr txBox="1"/>
          <p:nvPr/>
        </p:nvSpPr>
        <p:spPr>
          <a:xfrm>
            <a:off x="1931670" y="4095750"/>
            <a:ext cx="1511300" cy="1651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Ville nouvelle Chrafate</a:t>
            </a:r>
          </a:p>
        </p:txBody>
      </p:sp>
      <p:sp>
        <p:nvSpPr>
          <p:cNvPr id="95" name="TextBox 94"/>
          <p:cNvSpPr txBox="1"/>
          <p:nvPr/>
        </p:nvSpPr>
        <p:spPr>
          <a:xfrm>
            <a:off x="1931670" y="4286250"/>
            <a:ext cx="1511300" cy="165100"/>
          </a:xfrm>
          <a:prstGeom prst="rect">
            <a:avLst/>
          </a:prstGeom>
          <a:noFill/>
        </p:spPr>
        <p:txBody>
          <a:bodyPr wrap="square" lIns="0" rIns="0" tIns="0" bIns="0" anchor="t">
            <a:spAutoFit/>
          </a:bodyPr>
          <a:lstStyle/>
          <a:p>
            <a:pPr algn="ctr">
              <a:lnSpc>
                <a:spcPct val="115000"/>
              </a:lnSpc>
            </a:pPr>
            <a:r>
              <a:rPr sz="1000" b="1" i="0">
                <a:solidFill>
                  <a:srgbClr val="1F3A5F"/>
                </a:solidFill>
                <a:latin typeface="Inter"/>
              </a:rPr>
              <a:t>150 000 hab. prévus</a:t>
            </a:r>
          </a:p>
        </p:txBody>
      </p:sp>
      <p:sp>
        <p:nvSpPr>
          <p:cNvPr id="96" name="Rectangle 95"/>
          <p:cNvSpPr/>
          <p:nvPr/>
        </p:nvSpPr>
        <p:spPr>
          <a:xfrm>
            <a:off x="3938270" y="4038600"/>
            <a:ext cx="1587500" cy="457200"/>
          </a:xfrm>
          <a:prstGeom prst="rect">
            <a:avLst/>
          </a:prstGeom>
          <a:solidFill>
            <a:srgbClr val="FFFFFF"/>
          </a:solidFill>
          <a:ln w="12700">
            <a:solidFill>
              <a:srgbClr val="1F3A5F"/>
            </a:solidFill>
          </a:ln>
          <a:effectLst/>
        </p:spPr>
        <p:txBody>
          <a:bodyPr rtlCol="0" anchor="ctr"/>
          <a:lstStyle/>
          <a:p>
            <a:pPr algn="ctr"/>
          </a:p>
        </p:txBody>
      </p:sp>
      <p:sp>
        <p:nvSpPr>
          <p:cNvPr id="97" name="TextBox 96"/>
          <p:cNvSpPr txBox="1"/>
          <p:nvPr/>
        </p:nvSpPr>
        <p:spPr>
          <a:xfrm>
            <a:off x="3976370" y="4095750"/>
            <a:ext cx="1511300" cy="1651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Recensement</a:t>
            </a:r>
          </a:p>
        </p:txBody>
      </p:sp>
      <p:sp>
        <p:nvSpPr>
          <p:cNvPr id="98" name="TextBox 97"/>
          <p:cNvSpPr txBox="1"/>
          <p:nvPr/>
        </p:nvSpPr>
        <p:spPr>
          <a:xfrm>
            <a:off x="3976370" y="4286250"/>
            <a:ext cx="1511300" cy="165100"/>
          </a:xfrm>
          <a:prstGeom prst="rect">
            <a:avLst/>
          </a:prstGeom>
          <a:noFill/>
        </p:spPr>
        <p:txBody>
          <a:bodyPr wrap="square" lIns="0" rIns="0" tIns="0" bIns="0" anchor="t">
            <a:spAutoFit/>
          </a:bodyPr>
          <a:lstStyle/>
          <a:p>
            <a:pPr algn="ctr">
              <a:lnSpc>
                <a:spcPct val="115000"/>
              </a:lnSpc>
            </a:pPr>
            <a:r>
              <a:rPr sz="1000" b="1" i="0">
                <a:solidFill>
                  <a:srgbClr val="1F3A5F"/>
                </a:solidFill>
                <a:latin typeface="Inter"/>
              </a:rPr>
              <a:t>1,07 M habitants</a:t>
            </a:r>
          </a:p>
        </p:txBody>
      </p:sp>
      <p:sp>
        <p:nvSpPr>
          <p:cNvPr id="99" name="Rectangle 98"/>
          <p:cNvSpPr/>
          <p:nvPr/>
        </p:nvSpPr>
        <p:spPr>
          <a:xfrm>
            <a:off x="8027670" y="4038600"/>
            <a:ext cx="1587500" cy="457200"/>
          </a:xfrm>
          <a:prstGeom prst="rect">
            <a:avLst/>
          </a:prstGeom>
          <a:solidFill>
            <a:srgbClr val="FFFFFF"/>
          </a:solidFill>
          <a:ln w="12700">
            <a:solidFill>
              <a:srgbClr val="1F3A5F"/>
            </a:solidFill>
          </a:ln>
          <a:effectLst/>
        </p:spPr>
        <p:txBody>
          <a:bodyPr rtlCol="0" anchor="ctr"/>
          <a:lstStyle/>
          <a:p>
            <a:pPr algn="ctr"/>
          </a:p>
        </p:txBody>
      </p:sp>
      <p:sp>
        <p:nvSpPr>
          <p:cNvPr id="100" name="TextBox 99"/>
          <p:cNvSpPr txBox="1"/>
          <p:nvPr/>
        </p:nvSpPr>
        <p:spPr>
          <a:xfrm>
            <a:off x="8065770" y="4095750"/>
            <a:ext cx="1511300" cy="1651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Chrafate : 36 habitants</a:t>
            </a:r>
          </a:p>
        </p:txBody>
      </p:sp>
      <p:sp>
        <p:nvSpPr>
          <p:cNvPr id="101" name="TextBox 100"/>
          <p:cNvSpPr txBox="1"/>
          <p:nvPr/>
        </p:nvSpPr>
        <p:spPr>
          <a:xfrm>
            <a:off x="8065770" y="4286250"/>
            <a:ext cx="1511300" cy="165100"/>
          </a:xfrm>
          <a:prstGeom prst="rect">
            <a:avLst/>
          </a:prstGeom>
          <a:noFill/>
        </p:spPr>
        <p:txBody>
          <a:bodyPr wrap="square" lIns="0" rIns="0" tIns="0" bIns="0" anchor="t">
            <a:spAutoFit/>
          </a:bodyPr>
          <a:lstStyle/>
          <a:p>
            <a:pPr algn="ctr">
              <a:lnSpc>
                <a:spcPct val="115000"/>
              </a:lnSpc>
            </a:pPr>
            <a:r>
              <a:rPr sz="1000" b="1" i="0">
                <a:solidFill>
                  <a:srgbClr val="1F3A5F"/>
                </a:solidFill>
                <a:latin typeface="Inter"/>
              </a:rPr>
              <a:t>Cour des comptes</a:t>
            </a:r>
          </a:p>
        </p:txBody>
      </p:sp>
      <p:sp>
        <p:nvSpPr>
          <p:cNvPr id="102" name="Rectangle 101"/>
          <p:cNvSpPr/>
          <p:nvPr/>
        </p:nvSpPr>
        <p:spPr>
          <a:xfrm>
            <a:off x="2687320" y="5715000"/>
            <a:ext cx="8587740" cy="279400"/>
          </a:xfrm>
          <a:prstGeom prst="rect">
            <a:avLst/>
          </a:prstGeom>
          <a:solidFill>
            <a:srgbClr val="C9D5E3"/>
          </a:solidFill>
          <a:ln w="9525">
            <a:solidFill>
              <a:srgbClr val="1F3A5F"/>
            </a:solidFill>
            <a:prstDash val="dash"/>
          </a:ln>
          <a:effectLst/>
        </p:spPr>
        <p:txBody>
          <a:bodyPr rtlCol="0" anchor="ctr"/>
          <a:lstStyle/>
          <a:p>
            <a:pPr algn="ctr"/>
          </a:p>
        </p:txBody>
      </p:sp>
      <p:sp>
        <p:nvSpPr>
          <p:cNvPr id="103" name="TextBox 102"/>
          <p:cNvSpPr txBox="1"/>
          <p:nvPr/>
        </p:nvSpPr>
        <p:spPr>
          <a:xfrm>
            <a:off x="2814320" y="5715000"/>
            <a:ext cx="8255000" cy="279400"/>
          </a:xfrm>
          <a:prstGeom prst="rect">
            <a:avLst/>
          </a:prstGeom>
          <a:noFill/>
        </p:spPr>
        <p:txBody>
          <a:bodyPr wrap="square" lIns="0" rIns="0" tIns="0" bIns="0" anchor="ctr">
            <a:spAutoFit/>
          </a:bodyPr>
          <a:lstStyle/>
          <a:p>
            <a:pPr algn="l">
              <a:lnSpc>
                <a:spcPct val="115000"/>
              </a:lnSpc>
            </a:pPr>
            <a:r>
              <a:rPr sz="1150" b="1" i="0">
                <a:solidFill>
                  <a:srgbClr val="1F3A5F"/>
                </a:solidFill>
                <a:latin typeface="Inter"/>
              </a:rPr>
              <a:t>2024 : 1,49 M habitants (+40 % en dix ans), et toujours pas de tramway ni de métro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LE TOURISME EN CHIFFRES</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Une croissance touristique pilotée par l'offre</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On construit et on promet plus vite que les visiteurs n'arrivent.</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04 / 17</a:t>
            </a:r>
          </a:p>
        </p:txBody>
      </p:sp>
      <p:sp>
        <p:nvSpPr>
          <p:cNvPr id="11" name="Rectangle 10"/>
          <p:cNvSpPr/>
          <p:nvPr/>
        </p:nvSpPr>
        <p:spPr>
          <a:xfrm>
            <a:off x="508000" y="1555750"/>
            <a:ext cx="2603500" cy="3460750"/>
          </a:xfrm>
          <a:prstGeom prst="rect">
            <a:avLst/>
          </a:prstGeom>
          <a:solidFill>
            <a:srgbClr val="FFFFFF"/>
          </a:solidFill>
          <a:ln w="9525">
            <a:solidFill>
              <a:srgbClr val="CFC8BC"/>
            </a:solidFill>
          </a:ln>
          <a:effectLst/>
        </p:spPr>
        <p:txBody>
          <a:bodyPr rtlCol="0" anchor="ctr"/>
          <a:lstStyle/>
          <a:p>
            <a:pPr algn="ctr"/>
          </a:p>
        </p:txBody>
      </p:sp>
      <p:sp>
        <p:nvSpPr>
          <p:cNvPr id="12" name="Rectangle 11"/>
          <p:cNvSpPr/>
          <p:nvPr/>
        </p:nvSpPr>
        <p:spPr>
          <a:xfrm>
            <a:off x="3302000" y="1555750"/>
            <a:ext cx="2603500" cy="3460750"/>
          </a:xfrm>
          <a:prstGeom prst="rect">
            <a:avLst/>
          </a:prstGeom>
          <a:solidFill>
            <a:srgbClr val="FFFFFF"/>
          </a:solidFill>
          <a:ln w="9525">
            <a:solidFill>
              <a:srgbClr val="CFC8BC"/>
            </a:solidFill>
          </a:ln>
          <a:effectLst/>
        </p:spPr>
        <p:txBody>
          <a:bodyPr rtlCol="0" anchor="ctr"/>
          <a:lstStyle/>
          <a:p>
            <a:pPr algn="ctr"/>
          </a:p>
        </p:txBody>
      </p:sp>
      <p:sp>
        <p:nvSpPr>
          <p:cNvPr id="13" name="Rectangle 12"/>
          <p:cNvSpPr/>
          <p:nvPr/>
        </p:nvSpPr>
        <p:spPr>
          <a:xfrm>
            <a:off x="6096000" y="1555750"/>
            <a:ext cx="2603500" cy="3460750"/>
          </a:xfrm>
          <a:prstGeom prst="rect">
            <a:avLst/>
          </a:prstGeom>
          <a:solidFill>
            <a:srgbClr val="FFFFFF"/>
          </a:solidFill>
          <a:ln w="9525">
            <a:solidFill>
              <a:srgbClr val="CFC8BC"/>
            </a:solidFill>
          </a:ln>
          <a:effectLst/>
        </p:spPr>
        <p:txBody>
          <a:bodyPr rtlCol="0" anchor="ctr"/>
          <a:lstStyle/>
          <a:p>
            <a:pPr algn="ctr"/>
          </a:p>
        </p:txBody>
      </p:sp>
      <p:sp>
        <p:nvSpPr>
          <p:cNvPr id="14" name="Rectangle 13"/>
          <p:cNvSpPr/>
          <p:nvPr/>
        </p:nvSpPr>
        <p:spPr>
          <a:xfrm>
            <a:off x="8890000" y="1555750"/>
            <a:ext cx="2794000" cy="3460750"/>
          </a:xfrm>
          <a:prstGeom prst="rect">
            <a:avLst/>
          </a:prstGeom>
          <a:solidFill>
            <a:srgbClr val="FFFFFF"/>
          </a:solidFill>
          <a:ln w="9525">
            <a:solidFill>
              <a:srgbClr val="CFC8BC"/>
            </a:solidFill>
          </a:ln>
          <a:effectLst/>
        </p:spPr>
        <p:txBody>
          <a:bodyPr rtlCol="0" anchor="ctr"/>
          <a:lstStyle/>
          <a:p>
            <a:pPr algn="ctr"/>
          </a:p>
        </p:txBody>
      </p:sp>
      <p:sp>
        <p:nvSpPr>
          <p:cNvPr id="15" name="TextBox 14"/>
          <p:cNvSpPr txBox="1"/>
          <p:nvPr/>
        </p:nvSpPr>
        <p:spPr>
          <a:xfrm>
            <a:off x="698500" y="17018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NUITÉES, HÔTELS CLASSÉS</a:t>
            </a:r>
          </a:p>
        </p:txBody>
      </p:sp>
      <p:sp>
        <p:nvSpPr>
          <p:cNvPr id="16" name="TextBox 15"/>
          <p:cNvSpPr txBox="1"/>
          <p:nvPr/>
        </p:nvSpPr>
        <p:spPr>
          <a:xfrm>
            <a:off x="698500" y="1879600"/>
            <a:ext cx="2286000" cy="139700"/>
          </a:xfrm>
          <a:prstGeom prst="rect">
            <a:avLst/>
          </a:prstGeom>
          <a:noFill/>
        </p:spPr>
        <p:txBody>
          <a:bodyPr wrap="square" lIns="0" rIns="0" tIns="0" bIns="0" anchor="t">
            <a:spAutoFit/>
          </a:bodyPr>
          <a:lstStyle/>
          <a:p>
            <a:pPr algn="l">
              <a:lnSpc>
                <a:spcPct val="115000"/>
              </a:lnSpc>
            </a:pPr>
            <a:r>
              <a:rPr sz="1000" b="0" i="0">
                <a:solidFill>
                  <a:srgbClr val="6E6A64"/>
                </a:solidFill>
                <a:latin typeface="Inter"/>
              </a:rPr>
              <a:t>Tanger-Assilah, janvier-septembre</a:t>
            </a:r>
          </a:p>
        </p:txBody>
      </p:sp>
      <p:sp>
        <p:nvSpPr>
          <p:cNvPr id="17" name="Rectangle 16"/>
          <p:cNvSpPr/>
          <p:nvPr/>
        </p:nvSpPr>
        <p:spPr>
          <a:xfrm>
            <a:off x="952500" y="2854960"/>
            <a:ext cx="635000" cy="1272540"/>
          </a:xfrm>
          <a:prstGeom prst="rect">
            <a:avLst/>
          </a:prstGeom>
          <a:solidFill>
            <a:srgbClr val="D4CCBE"/>
          </a:solidFill>
          <a:ln>
            <a:noFill/>
          </a:ln>
          <a:effectLst/>
        </p:spPr>
        <p:txBody>
          <a:bodyPr rtlCol="0" anchor="ctr"/>
          <a:lstStyle/>
          <a:p>
            <a:pPr algn="ctr"/>
          </a:p>
        </p:txBody>
      </p:sp>
      <p:sp>
        <p:nvSpPr>
          <p:cNvPr id="18" name="TextBox 17"/>
          <p:cNvSpPr txBox="1"/>
          <p:nvPr/>
        </p:nvSpPr>
        <p:spPr>
          <a:xfrm>
            <a:off x="793750" y="2626360"/>
            <a:ext cx="952500" cy="190500"/>
          </a:xfrm>
          <a:prstGeom prst="rect">
            <a:avLst/>
          </a:prstGeom>
          <a:noFill/>
        </p:spPr>
        <p:txBody>
          <a:bodyPr wrap="square" lIns="0" rIns="0" tIns="0" bIns="0" anchor="t">
            <a:spAutoFit/>
          </a:bodyPr>
          <a:lstStyle/>
          <a:p>
            <a:pPr algn="ctr">
              <a:lnSpc>
                <a:spcPct val="115000"/>
              </a:lnSpc>
            </a:pPr>
            <a:r>
              <a:rPr sz="1400" b="1" i="0">
                <a:solidFill>
                  <a:srgbClr val="1C1C1C"/>
                </a:solidFill>
                <a:latin typeface="Inter"/>
              </a:rPr>
              <a:t>1,34 M</a:t>
            </a:r>
          </a:p>
        </p:txBody>
      </p:sp>
      <p:sp>
        <p:nvSpPr>
          <p:cNvPr id="19" name="TextBox 18"/>
          <p:cNvSpPr txBox="1"/>
          <p:nvPr/>
        </p:nvSpPr>
        <p:spPr>
          <a:xfrm>
            <a:off x="952500" y="4191000"/>
            <a:ext cx="635000" cy="139700"/>
          </a:xfrm>
          <a:prstGeom prst="rect">
            <a:avLst/>
          </a:prstGeom>
          <a:noFill/>
        </p:spPr>
        <p:txBody>
          <a:bodyPr wrap="square" lIns="0" rIns="0" tIns="0" bIns="0" anchor="t">
            <a:spAutoFit/>
          </a:bodyPr>
          <a:lstStyle/>
          <a:p>
            <a:pPr algn="ctr">
              <a:lnSpc>
                <a:spcPct val="115000"/>
              </a:lnSpc>
            </a:pPr>
            <a:r>
              <a:rPr sz="1100" b="1" i="0">
                <a:solidFill>
                  <a:srgbClr val="6E6A64"/>
                </a:solidFill>
                <a:latin typeface="Inter"/>
              </a:rPr>
              <a:t>2024</a:t>
            </a:r>
          </a:p>
        </p:txBody>
      </p:sp>
      <p:sp>
        <p:nvSpPr>
          <p:cNvPr id="20" name="Rectangle 19"/>
          <p:cNvSpPr/>
          <p:nvPr/>
        </p:nvSpPr>
        <p:spPr>
          <a:xfrm>
            <a:off x="1905000" y="2651125"/>
            <a:ext cx="635000" cy="1476375"/>
          </a:xfrm>
          <a:prstGeom prst="rect">
            <a:avLst/>
          </a:prstGeom>
          <a:solidFill>
            <a:srgbClr val="C8462B"/>
          </a:solidFill>
          <a:ln>
            <a:noFill/>
          </a:ln>
          <a:effectLst/>
        </p:spPr>
        <p:txBody>
          <a:bodyPr rtlCol="0" anchor="ctr"/>
          <a:lstStyle/>
          <a:p>
            <a:pPr algn="ctr"/>
          </a:p>
        </p:txBody>
      </p:sp>
      <p:sp>
        <p:nvSpPr>
          <p:cNvPr id="21" name="TextBox 20"/>
          <p:cNvSpPr txBox="1"/>
          <p:nvPr/>
        </p:nvSpPr>
        <p:spPr>
          <a:xfrm>
            <a:off x="1746250" y="2422525"/>
            <a:ext cx="952500" cy="190500"/>
          </a:xfrm>
          <a:prstGeom prst="rect">
            <a:avLst/>
          </a:prstGeom>
          <a:noFill/>
        </p:spPr>
        <p:txBody>
          <a:bodyPr wrap="square" lIns="0" rIns="0" tIns="0" bIns="0" anchor="t">
            <a:spAutoFit/>
          </a:bodyPr>
          <a:lstStyle/>
          <a:p>
            <a:pPr algn="ctr">
              <a:lnSpc>
                <a:spcPct val="115000"/>
              </a:lnSpc>
            </a:pPr>
            <a:r>
              <a:rPr sz="1400" b="1" i="0">
                <a:solidFill>
                  <a:srgbClr val="1C1C1C"/>
                </a:solidFill>
                <a:latin typeface="Inter"/>
              </a:rPr>
              <a:t>1,55 M</a:t>
            </a:r>
          </a:p>
        </p:txBody>
      </p:sp>
      <p:sp>
        <p:nvSpPr>
          <p:cNvPr id="22" name="TextBox 21"/>
          <p:cNvSpPr txBox="1"/>
          <p:nvPr/>
        </p:nvSpPr>
        <p:spPr>
          <a:xfrm>
            <a:off x="1905000" y="4191000"/>
            <a:ext cx="635000" cy="139700"/>
          </a:xfrm>
          <a:prstGeom prst="rect">
            <a:avLst/>
          </a:prstGeom>
          <a:noFill/>
        </p:spPr>
        <p:txBody>
          <a:bodyPr wrap="square" lIns="0" rIns="0" tIns="0" bIns="0" anchor="t">
            <a:spAutoFit/>
          </a:bodyPr>
          <a:lstStyle/>
          <a:p>
            <a:pPr algn="ctr">
              <a:lnSpc>
                <a:spcPct val="115000"/>
              </a:lnSpc>
            </a:pPr>
            <a:r>
              <a:rPr sz="1100" b="1" i="0">
                <a:solidFill>
                  <a:srgbClr val="6E6A64"/>
                </a:solidFill>
                <a:latin typeface="Inter"/>
              </a:rPr>
              <a:t>2025</a:t>
            </a:r>
          </a:p>
        </p:txBody>
      </p:sp>
      <p:sp>
        <p:nvSpPr>
          <p:cNvPr id="23" name="TextBox 22"/>
          <p:cNvSpPr txBox="1"/>
          <p:nvPr/>
        </p:nvSpPr>
        <p:spPr>
          <a:xfrm>
            <a:off x="698500" y="4445000"/>
            <a:ext cx="2286000" cy="508000"/>
          </a:xfrm>
          <a:prstGeom prst="rect">
            <a:avLst/>
          </a:prstGeom>
          <a:noFill/>
        </p:spPr>
        <p:txBody>
          <a:bodyPr wrap="square" lIns="0" rIns="0" tIns="0" bIns="0" anchor="t">
            <a:spAutoFit/>
          </a:bodyPr>
          <a:lstStyle/>
          <a:p>
            <a:pPr algn="l">
              <a:lnSpc>
                <a:spcPct val="120000"/>
              </a:lnSpc>
            </a:pPr>
            <a:r>
              <a:rPr sz="1100" b="1" i="0">
                <a:solidFill>
                  <a:srgbClr val="C8462B"/>
                </a:solidFill>
                <a:latin typeface="Inter"/>
              </a:rPr>
              <a:t>+16 % </a:t>
            </a:r>
            <a:r>
              <a:rPr sz="1100" b="0" i="0">
                <a:solidFill>
                  <a:srgbClr val="1C1C1C"/>
                </a:solidFill>
                <a:latin typeface="Inter"/>
              </a:rPr>
              <a:t>de nuitées, mais taux d'occupation </a:t>
            </a:r>
            <a:r>
              <a:rPr sz="1100" b="1" i="0">
                <a:solidFill>
                  <a:srgbClr val="1C1C1C"/>
                </a:solidFill>
                <a:latin typeface="Inter"/>
              </a:rPr>
              <a:t>53 % → 50 %</a:t>
            </a:r>
          </a:p>
        </p:txBody>
      </p:sp>
      <p:sp>
        <p:nvSpPr>
          <p:cNvPr id="24" name="TextBox 23"/>
          <p:cNvSpPr txBox="1"/>
          <p:nvPr/>
        </p:nvSpPr>
        <p:spPr>
          <a:xfrm>
            <a:off x="3492500" y="17018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CROISIÉRISTES</a:t>
            </a:r>
          </a:p>
        </p:txBody>
      </p:sp>
      <p:sp>
        <p:nvSpPr>
          <p:cNvPr id="25" name="TextBox 24"/>
          <p:cNvSpPr txBox="1"/>
          <p:nvPr/>
        </p:nvSpPr>
        <p:spPr>
          <a:xfrm>
            <a:off x="3492500" y="1879600"/>
            <a:ext cx="2286000" cy="139700"/>
          </a:xfrm>
          <a:prstGeom prst="rect">
            <a:avLst/>
          </a:prstGeom>
          <a:noFill/>
        </p:spPr>
        <p:txBody>
          <a:bodyPr wrap="square" lIns="0" rIns="0" tIns="0" bIns="0" anchor="t">
            <a:spAutoFit/>
          </a:bodyPr>
          <a:lstStyle/>
          <a:p>
            <a:pPr algn="l">
              <a:lnSpc>
                <a:spcPct val="115000"/>
              </a:lnSpc>
            </a:pPr>
            <a:r>
              <a:rPr sz="1000" b="0" i="0">
                <a:solidFill>
                  <a:srgbClr val="6E6A64"/>
                </a:solidFill>
                <a:latin typeface="Inter"/>
              </a:rPr>
              <a:t>port de Tanger Ville : réel vs objectif</a:t>
            </a:r>
          </a:p>
        </p:txBody>
      </p:sp>
      <p:sp>
        <p:nvSpPr>
          <p:cNvPr id="26" name="Rectangle 25"/>
          <p:cNvSpPr/>
          <p:nvPr/>
        </p:nvSpPr>
        <p:spPr>
          <a:xfrm>
            <a:off x="3587750" y="3872145"/>
            <a:ext cx="571500" cy="255355"/>
          </a:xfrm>
          <a:prstGeom prst="rect">
            <a:avLst/>
          </a:prstGeom>
          <a:solidFill>
            <a:srgbClr val="D4CCBE"/>
          </a:solidFill>
          <a:ln>
            <a:noFill/>
          </a:ln>
          <a:effectLst/>
        </p:spPr>
        <p:txBody>
          <a:bodyPr rtlCol="0" anchor="ctr"/>
          <a:lstStyle/>
          <a:p>
            <a:pPr algn="ctr"/>
          </a:p>
        </p:txBody>
      </p:sp>
      <p:sp>
        <p:nvSpPr>
          <p:cNvPr id="27" name="TextBox 26"/>
          <p:cNvSpPr txBox="1"/>
          <p:nvPr/>
        </p:nvSpPr>
        <p:spPr>
          <a:xfrm>
            <a:off x="3460750" y="3656245"/>
            <a:ext cx="825500" cy="177800"/>
          </a:xfrm>
          <a:prstGeom prst="rect">
            <a:avLst/>
          </a:prstGeom>
          <a:noFill/>
        </p:spPr>
        <p:txBody>
          <a:bodyPr wrap="square" lIns="0" rIns="0" tIns="0" bIns="0" anchor="t">
            <a:spAutoFit/>
          </a:bodyPr>
          <a:lstStyle/>
          <a:p>
            <a:pPr algn="ctr">
              <a:lnSpc>
                <a:spcPct val="115000"/>
              </a:lnSpc>
            </a:pPr>
            <a:r>
              <a:rPr sz="1300" b="1" i="0">
                <a:solidFill>
                  <a:srgbClr val="1C1C1C"/>
                </a:solidFill>
                <a:latin typeface="Inter"/>
              </a:rPr>
              <a:t>104 k</a:t>
            </a:r>
          </a:p>
        </p:txBody>
      </p:sp>
      <p:sp>
        <p:nvSpPr>
          <p:cNvPr id="28" name="TextBox 27"/>
          <p:cNvSpPr txBox="1"/>
          <p:nvPr/>
        </p:nvSpPr>
        <p:spPr>
          <a:xfrm>
            <a:off x="3492500" y="4191000"/>
            <a:ext cx="762000" cy="139700"/>
          </a:xfrm>
          <a:prstGeom prst="rect">
            <a:avLst/>
          </a:prstGeom>
          <a:noFill/>
        </p:spPr>
        <p:txBody>
          <a:bodyPr wrap="square" lIns="0" rIns="0" tIns="0" bIns="0" anchor="t">
            <a:spAutoFit/>
          </a:bodyPr>
          <a:lstStyle/>
          <a:p>
            <a:pPr algn="ctr">
              <a:lnSpc>
                <a:spcPct val="115000"/>
              </a:lnSpc>
            </a:pPr>
            <a:r>
              <a:rPr sz="950" b="1" i="0">
                <a:solidFill>
                  <a:srgbClr val="6E6A64"/>
                </a:solidFill>
                <a:latin typeface="Inter"/>
              </a:rPr>
              <a:t>2024</a:t>
            </a:r>
          </a:p>
        </p:txBody>
      </p:sp>
      <p:sp>
        <p:nvSpPr>
          <p:cNvPr id="29" name="Rectangle 28"/>
          <p:cNvSpPr/>
          <p:nvPr/>
        </p:nvSpPr>
        <p:spPr>
          <a:xfrm>
            <a:off x="4349750" y="3717214"/>
            <a:ext cx="571500" cy="410286"/>
          </a:xfrm>
          <a:prstGeom prst="rect">
            <a:avLst/>
          </a:prstGeom>
          <a:solidFill>
            <a:srgbClr val="C8462B"/>
          </a:solidFill>
          <a:ln>
            <a:noFill/>
          </a:ln>
          <a:effectLst/>
        </p:spPr>
        <p:txBody>
          <a:bodyPr rtlCol="0" anchor="ctr"/>
          <a:lstStyle/>
          <a:p>
            <a:pPr algn="ctr"/>
          </a:p>
        </p:txBody>
      </p:sp>
      <p:sp>
        <p:nvSpPr>
          <p:cNvPr id="30" name="TextBox 29"/>
          <p:cNvSpPr txBox="1"/>
          <p:nvPr/>
        </p:nvSpPr>
        <p:spPr>
          <a:xfrm>
            <a:off x="4222750" y="3501314"/>
            <a:ext cx="825500" cy="177800"/>
          </a:xfrm>
          <a:prstGeom prst="rect">
            <a:avLst/>
          </a:prstGeom>
          <a:noFill/>
        </p:spPr>
        <p:txBody>
          <a:bodyPr wrap="square" lIns="0" rIns="0" tIns="0" bIns="0" anchor="t">
            <a:spAutoFit/>
          </a:bodyPr>
          <a:lstStyle/>
          <a:p>
            <a:pPr algn="ctr">
              <a:lnSpc>
                <a:spcPct val="115000"/>
              </a:lnSpc>
            </a:pPr>
            <a:r>
              <a:rPr sz="1300" b="1" i="0">
                <a:solidFill>
                  <a:srgbClr val="1C1C1C"/>
                </a:solidFill>
                <a:latin typeface="Inter"/>
              </a:rPr>
              <a:t>167 k</a:t>
            </a:r>
          </a:p>
        </p:txBody>
      </p:sp>
      <p:sp>
        <p:nvSpPr>
          <p:cNvPr id="31" name="TextBox 30"/>
          <p:cNvSpPr txBox="1"/>
          <p:nvPr/>
        </p:nvSpPr>
        <p:spPr>
          <a:xfrm>
            <a:off x="4254500" y="4191000"/>
            <a:ext cx="762000" cy="139700"/>
          </a:xfrm>
          <a:prstGeom prst="rect">
            <a:avLst/>
          </a:prstGeom>
          <a:noFill/>
        </p:spPr>
        <p:txBody>
          <a:bodyPr wrap="square" lIns="0" rIns="0" tIns="0" bIns="0" anchor="t">
            <a:spAutoFit/>
          </a:bodyPr>
          <a:lstStyle/>
          <a:p>
            <a:pPr algn="ctr">
              <a:lnSpc>
                <a:spcPct val="115000"/>
              </a:lnSpc>
            </a:pPr>
            <a:r>
              <a:rPr sz="950" b="1" i="0">
                <a:solidFill>
                  <a:srgbClr val="6E6A64"/>
                </a:solidFill>
                <a:latin typeface="Inter"/>
              </a:rPr>
              <a:t>2025</a:t>
            </a:r>
          </a:p>
        </p:txBody>
      </p:sp>
      <p:sp>
        <p:nvSpPr>
          <p:cNvPr id="32" name="Rectangle 31"/>
          <p:cNvSpPr/>
          <p:nvPr/>
        </p:nvSpPr>
        <p:spPr>
          <a:xfrm>
            <a:off x="5111750" y="2286000"/>
            <a:ext cx="571500" cy="1841500"/>
          </a:xfrm>
          <a:prstGeom prst="rect">
            <a:avLst/>
          </a:prstGeom>
          <a:noFill/>
          <a:ln w="12700">
            <a:solidFill>
              <a:srgbClr val="1C1C1C"/>
            </a:solidFill>
            <a:prstDash val="dash"/>
          </a:ln>
          <a:effectLst/>
        </p:spPr>
        <p:txBody>
          <a:bodyPr rtlCol="0" anchor="ctr"/>
          <a:lstStyle/>
          <a:p>
            <a:pPr algn="ctr"/>
          </a:p>
        </p:txBody>
      </p:sp>
      <p:sp>
        <p:nvSpPr>
          <p:cNvPr id="33" name="TextBox 32"/>
          <p:cNvSpPr txBox="1"/>
          <p:nvPr/>
        </p:nvSpPr>
        <p:spPr>
          <a:xfrm>
            <a:off x="4984750" y="2070100"/>
            <a:ext cx="825500" cy="177800"/>
          </a:xfrm>
          <a:prstGeom prst="rect">
            <a:avLst/>
          </a:prstGeom>
          <a:noFill/>
        </p:spPr>
        <p:txBody>
          <a:bodyPr wrap="square" lIns="0" rIns="0" tIns="0" bIns="0" anchor="t">
            <a:spAutoFit/>
          </a:bodyPr>
          <a:lstStyle/>
          <a:p>
            <a:pPr algn="ctr">
              <a:lnSpc>
                <a:spcPct val="115000"/>
              </a:lnSpc>
            </a:pPr>
            <a:r>
              <a:rPr sz="1300" b="1" i="0">
                <a:solidFill>
                  <a:srgbClr val="1C1C1C"/>
                </a:solidFill>
                <a:latin typeface="Inter"/>
              </a:rPr>
              <a:t>750 k</a:t>
            </a:r>
          </a:p>
        </p:txBody>
      </p:sp>
      <p:sp>
        <p:nvSpPr>
          <p:cNvPr id="34" name="TextBox 33"/>
          <p:cNvSpPr txBox="1"/>
          <p:nvPr/>
        </p:nvSpPr>
        <p:spPr>
          <a:xfrm>
            <a:off x="5016500" y="4191000"/>
            <a:ext cx="762000" cy="139700"/>
          </a:xfrm>
          <a:prstGeom prst="rect">
            <a:avLst/>
          </a:prstGeom>
          <a:noFill/>
        </p:spPr>
        <p:txBody>
          <a:bodyPr wrap="square" lIns="0" rIns="0" tIns="0" bIns="0" anchor="t">
            <a:spAutoFit/>
          </a:bodyPr>
          <a:lstStyle/>
          <a:p>
            <a:pPr algn="ctr">
              <a:lnSpc>
                <a:spcPct val="115000"/>
              </a:lnSpc>
            </a:pPr>
            <a:r>
              <a:rPr sz="950" b="1" i="0">
                <a:solidFill>
                  <a:srgbClr val="6E6A64"/>
                </a:solidFill>
                <a:latin typeface="Inter"/>
              </a:rPr>
              <a:t>Objectif</a:t>
            </a:r>
          </a:p>
        </p:txBody>
      </p:sp>
      <p:sp>
        <p:nvSpPr>
          <p:cNvPr id="35" name="TextBox 34"/>
          <p:cNvSpPr txBox="1"/>
          <p:nvPr/>
        </p:nvSpPr>
        <p:spPr>
          <a:xfrm>
            <a:off x="3492500" y="4445000"/>
            <a:ext cx="2286000" cy="508000"/>
          </a:xfrm>
          <a:prstGeom prst="rect">
            <a:avLst/>
          </a:prstGeom>
          <a:noFill/>
        </p:spPr>
        <p:txBody>
          <a:bodyPr wrap="square" lIns="0" rIns="0" tIns="0" bIns="0" anchor="t">
            <a:spAutoFit/>
          </a:bodyPr>
          <a:lstStyle/>
          <a:p>
            <a:pPr algn="l">
              <a:lnSpc>
                <a:spcPct val="120000"/>
              </a:lnSpc>
            </a:pPr>
            <a:r>
              <a:rPr sz="1100" b="1" i="0">
                <a:solidFill>
                  <a:srgbClr val="C8462B"/>
                </a:solidFill>
                <a:latin typeface="Inter"/>
              </a:rPr>
              <a:t>La promesse valait 4,5 fois le résultat.</a:t>
            </a:r>
          </a:p>
        </p:txBody>
      </p:sp>
      <p:sp>
        <p:nvSpPr>
          <p:cNvPr id="36" name="TextBox 35"/>
          <p:cNvSpPr txBox="1"/>
          <p:nvPr/>
        </p:nvSpPr>
        <p:spPr>
          <a:xfrm>
            <a:off x="6286500" y="17018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ÉVALUATION FIFA (/5)</a:t>
            </a:r>
          </a:p>
        </p:txBody>
      </p:sp>
      <p:sp>
        <p:nvSpPr>
          <p:cNvPr id="37" name="TextBox 36"/>
          <p:cNvSpPr txBox="1"/>
          <p:nvPr/>
        </p:nvSpPr>
        <p:spPr>
          <a:xfrm>
            <a:off x="6286500" y="1879600"/>
            <a:ext cx="2286000" cy="139700"/>
          </a:xfrm>
          <a:prstGeom prst="rect">
            <a:avLst/>
          </a:prstGeom>
          <a:noFill/>
        </p:spPr>
        <p:txBody>
          <a:bodyPr wrap="square" lIns="0" rIns="0" tIns="0" bIns="0" anchor="t">
            <a:spAutoFit/>
          </a:bodyPr>
          <a:lstStyle/>
          <a:p>
            <a:pPr algn="l">
              <a:lnSpc>
                <a:spcPct val="115000"/>
              </a:lnSpc>
            </a:pPr>
            <a:r>
              <a:rPr sz="1000" b="0" i="0">
                <a:solidFill>
                  <a:srgbClr val="6E6A64"/>
                </a:solidFill>
                <a:latin typeface="Inter"/>
              </a:rPr>
              <a:t>notes rapportées par la presse, 2024</a:t>
            </a:r>
          </a:p>
        </p:txBody>
      </p:sp>
      <p:sp>
        <p:nvSpPr>
          <p:cNvPr id="38" name="TextBox 37"/>
          <p:cNvSpPr txBox="1"/>
          <p:nvPr/>
        </p:nvSpPr>
        <p:spPr>
          <a:xfrm>
            <a:off x="6286500" y="2222500"/>
            <a:ext cx="1270000" cy="152400"/>
          </a:xfrm>
          <a:prstGeom prst="rect">
            <a:avLst/>
          </a:prstGeom>
          <a:noFill/>
        </p:spPr>
        <p:txBody>
          <a:bodyPr wrap="square" lIns="0" rIns="0" tIns="0" bIns="0" anchor="t">
            <a:spAutoFit/>
          </a:bodyPr>
          <a:lstStyle/>
          <a:p>
            <a:pPr algn="l">
              <a:lnSpc>
                <a:spcPct val="115000"/>
              </a:lnSpc>
            </a:pPr>
            <a:r>
              <a:rPr sz="1200" b="1" i="0">
                <a:solidFill>
                  <a:srgbClr val="1C1C1C"/>
                </a:solidFill>
                <a:latin typeface="Inter"/>
              </a:rPr>
              <a:t>Stade</a:t>
            </a:r>
          </a:p>
        </p:txBody>
      </p:sp>
      <p:sp>
        <p:nvSpPr>
          <p:cNvPr id="39" name="Rectangle 38"/>
          <p:cNvSpPr/>
          <p:nvPr/>
        </p:nvSpPr>
        <p:spPr>
          <a:xfrm>
            <a:off x="6286500" y="2438400"/>
            <a:ext cx="1778000" cy="190500"/>
          </a:xfrm>
          <a:prstGeom prst="rect">
            <a:avLst/>
          </a:prstGeom>
          <a:solidFill>
            <a:srgbClr val="EEE9E0"/>
          </a:solidFill>
          <a:ln>
            <a:noFill/>
          </a:ln>
          <a:effectLst/>
        </p:spPr>
        <p:txBody>
          <a:bodyPr rtlCol="0" anchor="ctr"/>
          <a:lstStyle/>
          <a:p>
            <a:pPr algn="ctr"/>
          </a:p>
        </p:txBody>
      </p:sp>
      <p:sp>
        <p:nvSpPr>
          <p:cNvPr id="40" name="Rectangle 39"/>
          <p:cNvSpPr/>
          <p:nvPr/>
        </p:nvSpPr>
        <p:spPr>
          <a:xfrm>
            <a:off x="6286500" y="2438400"/>
            <a:ext cx="1422400" cy="190500"/>
          </a:xfrm>
          <a:prstGeom prst="rect">
            <a:avLst/>
          </a:prstGeom>
          <a:solidFill>
            <a:srgbClr val="C8462B"/>
          </a:solidFill>
          <a:ln>
            <a:noFill/>
          </a:ln>
          <a:effectLst/>
        </p:spPr>
        <p:txBody>
          <a:bodyPr rtlCol="0" anchor="ctr"/>
          <a:lstStyle/>
          <a:p>
            <a:pPr algn="ctr"/>
          </a:p>
        </p:txBody>
      </p:sp>
      <p:sp>
        <p:nvSpPr>
          <p:cNvPr id="41" name="TextBox 40"/>
          <p:cNvSpPr txBox="1"/>
          <p:nvPr/>
        </p:nvSpPr>
        <p:spPr>
          <a:xfrm>
            <a:off x="7772400" y="2438400"/>
            <a:ext cx="444500" cy="190500"/>
          </a:xfrm>
          <a:prstGeom prst="rect">
            <a:avLst/>
          </a:prstGeom>
          <a:noFill/>
        </p:spPr>
        <p:txBody>
          <a:bodyPr wrap="square" lIns="0" rIns="0" tIns="0" bIns="0" anchor="ctr">
            <a:spAutoFit/>
          </a:bodyPr>
          <a:lstStyle/>
          <a:p>
            <a:pPr algn="l">
              <a:lnSpc>
                <a:spcPct val="115000"/>
              </a:lnSpc>
            </a:pPr>
            <a:r>
              <a:rPr sz="1300" b="1" i="0">
                <a:solidFill>
                  <a:srgbClr val="1C1C1C"/>
                </a:solidFill>
                <a:latin typeface="Inter"/>
              </a:rPr>
              <a:t>4,0</a:t>
            </a:r>
          </a:p>
        </p:txBody>
      </p:sp>
      <p:sp>
        <p:nvSpPr>
          <p:cNvPr id="42" name="TextBox 41"/>
          <p:cNvSpPr txBox="1"/>
          <p:nvPr/>
        </p:nvSpPr>
        <p:spPr>
          <a:xfrm>
            <a:off x="6286500" y="2857500"/>
            <a:ext cx="1270000" cy="152400"/>
          </a:xfrm>
          <a:prstGeom prst="rect">
            <a:avLst/>
          </a:prstGeom>
          <a:noFill/>
        </p:spPr>
        <p:txBody>
          <a:bodyPr wrap="square" lIns="0" rIns="0" tIns="0" bIns="0" anchor="t">
            <a:spAutoFit/>
          </a:bodyPr>
          <a:lstStyle/>
          <a:p>
            <a:pPr algn="l">
              <a:lnSpc>
                <a:spcPct val="115000"/>
              </a:lnSpc>
            </a:pPr>
            <a:r>
              <a:rPr sz="1200" b="1" i="0">
                <a:solidFill>
                  <a:srgbClr val="1C1C1C"/>
                </a:solidFill>
                <a:latin typeface="Inter"/>
              </a:rPr>
              <a:t>Transports</a:t>
            </a:r>
          </a:p>
        </p:txBody>
      </p:sp>
      <p:sp>
        <p:nvSpPr>
          <p:cNvPr id="43" name="Rectangle 42"/>
          <p:cNvSpPr/>
          <p:nvPr/>
        </p:nvSpPr>
        <p:spPr>
          <a:xfrm>
            <a:off x="6286500" y="3073400"/>
            <a:ext cx="1778000" cy="190500"/>
          </a:xfrm>
          <a:prstGeom prst="rect">
            <a:avLst/>
          </a:prstGeom>
          <a:solidFill>
            <a:srgbClr val="EEE9E0"/>
          </a:solidFill>
          <a:ln>
            <a:noFill/>
          </a:ln>
          <a:effectLst/>
        </p:spPr>
        <p:txBody>
          <a:bodyPr rtlCol="0" anchor="ctr"/>
          <a:lstStyle/>
          <a:p>
            <a:pPr algn="ctr"/>
          </a:p>
        </p:txBody>
      </p:sp>
      <p:sp>
        <p:nvSpPr>
          <p:cNvPr id="44" name="Rectangle 43"/>
          <p:cNvSpPr/>
          <p:nvPr/>
        </p:nvSpPr>
        <p:spPr>
          <a:xfrm>
            <a:off x="6286500" y="3073400"/>
            <a:ext cx="924560" cy="190500"/>
          </a:xfrm>
          <a:prstGeom prst="rect">
            <a:avLst/>
          </a:prstGeom>
          <a:solidFill>
            <a:srgbClr val="1F3A5F"/>
          </a:solidFill>
          <a:ln>
            <a:noFill/>
          </a:ln>
          <a:effectLst/>
        </p:spPr>
        <p:txBody>
          <a:bodyPr rtlCol="0" anchor="ctr"/>
          <a:lstStyle/>
          <a:p>
            <a:pPr algn="ctr"/>
          </a:p>
        </p:txBody>
      </p:sp>
      <p:sp>
        <p:nvSpPr>
          <p:cNvPr id="45" name="TextBox 44"/>
          <p:cNvSpPr txBox="1"/>
          <p:nvPr/>
        </p:nvSpPr>
        <p:spPr>
          <a:xfrm>
            <a:off x="7274560" y="3073400"/>
            <a:ext cx="444500" cy="190500"/>
          </a:xfrm>
          <a:prstGeom prst="rect">
            <a:avLst/>
          </a:prstGeom>
          <a:noFill/>
        </p:spPr>
        <p:txBody>
          <a:bodyPr wrap="square" lIns="0" rIns="0" tIns="0" bIns="0" anchor="ctr">
            <a:spAutoFit/>
          </a:bodyPr>
          <a:lstStyle/>
          <a:p>
            <a:pPr algn="l">
              <a:lnSpc>
                <a:spcPct val="115000"/>
              </a:lnSpc>
            </a:pPr>
            <a:r>
              <a:rPr sz="1300" b="1" i="0">
                <a:solidFill>
                  <a:srgbClr val="1C1C1C"/>
                </a:solidFill>
                <a:latin typeface="Inter"/>
              </a:rPr>
              <a:t>2,6</a:t>
            </a:r>
          </a:p>
        </p:txBody>
      </p:sp>
      <p:sp>
        <p:nvSpPr>
          <p:cNvPr id="46" name="TextBox 45"/>
          <p:cNvSpPr txBox="1"/>
          <p:nvPr/>
        </p:nvSpPr>
        <p:spPr>
          <a:xfrm>
            <a:off x="6286500" y="3492500"/>
            <a:ext cx="1270000" cy="152400"/>
          </a:xfrm>
          <a:prstGeom prst="rect">
            <a:avLst/>
          </a:prstGeom>
          <a:noFill/>
        </p:spPr>
        <p:txBody>
          <a:bodyPr wrap="square" lIns="0" rIns="0" tIns="0" bIns="0" anchor="t">
            <a:spAutoFit/>
          </a:bodyPr>
          <a:lstStyle/>
          <a:p>
            <a:pPr algn="l">
              <a:lnSpc>
                <a:spcPct val="115000"/>
              </a:lnSpc>
            </a:pPr>
            <a:r>
              <a:rPr sz="1200" b="1" i="0">
                <a:solidFill>
                  <a:srgbClr val="1C1C1C"/>
                </a:solidFill>
                <a:latin typeface="Inter"/>
              </a:rPr>
              <a:t>Hôtels</a:t>
            </a:r>
          </a:p>
        </p:txBody>
      </p:sp>
      <p:sp>
        <p:nvSpPr>
          <p:cNvPr id="47" name="Rectangle 46"/>
          <p:cNvSpPr/>
          <p:nvPr/>
        </p:nvSpPr>
        <p:spPr>
          <a:xfrm>
            <a:off x="6286500" y="3708400"/>
            <a:ext cx="1778000" cy="190500"/>
          </a:xfrm>
          <a:prstGeom prst="rect">
            <a:avLst/>
          </a:prstGeom>
          <a:solidFill>
            <a:srgbClr val="EEE9E0"/>
          </a:solidFill>
          <a:ln>
            <a:noFill/>
          </a:ln>
          <a:effectLst/>
        </p:spPr>
        <p:txBody>
          <a:bodyPr rtlCol="0" anchor="ctr"/>
          <a:lstStyle/>
          <a:p>
            <a:pPr algn="ctr"/>
          </a:p>
        </p:txBody>
      </p:sp>
      <p:sp>
        <p:nvSpPr>
          <p:cNvPr id="48" name="Rectangle 47"/>
          <p:cNvSpPr/>
          <p:nvPr/>
        </p:nvSpPr>
        <p:spPr>
          <a:xfrm>
            <a:off x="6286500" y="3708400"/>
            <a:ext cx="782320" cy="190500"/>
          </a:xfrm>
          <a:prstGeom prst="rect">
            <a:avLst/>
          </a:prstGeom>
          <a:solidFill>
            <a:srgbClr val="D4CCBE"/>
          </a:solidFill>
          <a:ln>
            <a:noFill/>
          </a:ln>
          <a:effectLst/>
        </p:spPr>
        <p:txBody>
          <a:bodyPr rtlCol="0" anchor="ctr"/>
          <a:lstStyle/>
          <a:p>
            <a:pPr algn="ctr"/>
          </a:p>
        </p:txBody>
      </p:sp>
      <p:sp>
        <p:nvSpPr>
          <p:cNvPr id="49" name="TextBox 48"/>
          <p:cNvSpPr txBox="1"/>
          <p:nvPr/>
        </p:nvSpPr>
        <p:spPr>
          <a:xfrm>
            <a:off x="7132320" y="3708400"/>
            <a:ext cx="444500" cy="190500"/>
          </a:xfrm>
          <a:prstGeom prst="rect">
            <a:avLst/>
          </a:prstGeom>
          <a:noFill/>
        </p:spPr>
        <p:txBody>
          <a:bodyPr wrap="square" lIns="0" rIns="0" tIns="0" bIns="0" anchor="ctr">
            <a:spAutoFit/>
          </a:bodyPr>
          <a:lstStyle/>
          <a:p>
            <a:pPr algn="l">
              <a:lnSpc>
                <a:spcPct val="115000"/>
              </a:lnSpc>
            </a:pPr>
            <a:r>
              <a:rPr sz="1300" b="1" i="0">
                <a:solidFill>
                  <a:srgbClr val="1C1C1C"/>
                </a:solidFill>
                <a:latin typeface="Inter"/>
              </a:rPr>
              <a:t>2,2</a:t>
            </a:r>
          </a:p>
        </p:txBody>
      </p:sp>
      <p:sp>
        <p:nvSpPr>
          <p:cNvPr id="50" name="TextBox 49"/>
          <p:cNvSpPr txBox="1"/>
          <p:nvPr/>
        </p:nvSpPr>
        <p:spPr>
          <a:xfrm>
            <a:off x="6286500" y="4267200"/>
            <a:ext cx="2222500" cy="6985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Réponse annoncée : </a:t>
            </a:r>
            <a:r>
              <a:rPr sz="1050" b="0" i="0">
                <a:solidFill>
                  <a:srgbClr val="1C1C1C"/>
                </a:solidFill>
                <a:latin typeface="Inter"/>
              </a:rPr>
              <a:t>permis hôteliers exceptionnels ; rien d'équivalent pour les trajets des habitants.</a:t>
            </a:r>
          </a:p>
        </p:txBody>
      </p:sp>
      <p:sp>
        <p:nvSpPr>
          <p:cNvPr id="51" name="TextBox 50"/>
          <p:cNvSpPr txBox="1"/>
          <p:nvPr/>
        </p:nvSpPr>
        <p:spPr>
          <a:xfrm>
            <a:off x="9080500" y="17018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CLASSEMENT DES NUITÉES</a:t>
            </a:r>
          </a:p>
        </p:txBody>
      </p:sp>
      <p:sp>
        <p:nvSpPr>
          <p:cNvPr id="52" name="TextBox 51"/>
          <p:cNvSpPr txBox="1"/>
          <p:nvPr/>
        </p:nvSpPr>
        <p:spPr>
          <a:xfrm>
            <a:off x="9080500" y="1879600"/>
            <a:ext cx="2413000" cy="139700"/>
          </a:xfrm>
          <a:prstGeom prst="rect">
            <a:avLst/>
          </a:prstGeom>
          <a:noFill/>
        </p:spPr>
        <p:txBody>
          <a:bodyPr wrap="square" lIns="0" rIns="0" tIns="0" bIns="0" anchor="t">
            <a:spAutoFit/>
          </a:bodyPr>
          <a:lstStyle/>
          <a:p>
            <a:pPr algn="l">
              <a:lnSpc>
                <a:spcPct val="115000"/>
              </a:lnSpc>
            </a:pPr>
            <a:r>
              <a:rPr sz="1000" b="0" i="0">
                <a:solidFill>
                  <a:srgbClr val="6E6A64"/>
                </a:solidFill>
                <a:latin typeface="Inter"/>
              </a:rPr>
              <a:t>janvier-septembre 2025, en millions</a:t>
            </a:r>
          </a:p>
        </p:txBody>
      </p:sp>
      <p:sp>
        <p:nvSpPr>
          <p:cNvPr id="53" name="TextBox 52"/>
          <p:cNvSpPr txBox="1"/>
          <p:nvPr/>
        </p:nvSpPr>
        <p:spPr>
          <a:xfrm>
            <a:off x="9080500" y="2159000"/>
            <a:ext cx="1270000" cy="1524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Marrakech</a:t>
            </a:r>
          </a:p>
        </p:txBody>
      </p:sp>
      <p:sp>
        <p:nvSpPr>
          <p:cNvPr id="54" name="Rectangle 53"/>
          <p:cNvSpPr/>
          <p:nvPr/>
        </p:nvSpPr>
        <p:spPr>
          <a:xfrm>
            <a:off x="9080500" y="2362200"/>
            <a:ext cx="1841500" cy="165100"/>
          </a:xfrm>
          <a:prstGeom prst="rect">
            <a:avLst/>
          </a:prstGeom>
          <a:solidFill>
            <a:srgbClr val="D4CCBE"/>
          </a:solidFill>
          <a:ln>
            <a:noFill/>
          </a:ln>
          <a:effectLst/>
        </p:spPr>
        <p:txBody>
          <a:bodyPr rtlCol="0" anchor="ctr"/>
          <a:lstStyle/>
          <a:p>
            <a:pPr algn="ctr"/>
          </a:p>
        </p:txBody>
      </p:sp>
      <p:sp>
        <p:nvSpPr>
          <p:cNvPr id="55" name="TextBox 54"/>
          <p:cNvSpPr txBox="1"/>
          <p:nvPr/>
        </p:nvSpPr>
        <p:spPr>
          <a:xfrm>
            <a:off x="10985500" y="2362200"/>
            <a:ext cx="508000" cy="165100"/>
          </a:xfrm>
          <a:prstGeom prst="rect">
            <a:avLst/>
          </a:prstGeom>
          <a:noFill/>
        </p:spPr>
        <p:txBody>
          <a:bodyPr wrap="square" lIns="0" rIns="0" tIns="0" bIns="0" anchor="ctr">
            <a:spAutoFit/>
          </a:bodyPr>
          <a:lstStyle/>
          <a:p>
            <a:pPr algn="l">
              <a:lnSpc>
                <a:spcPct val="115000"/>
              </a:lnSpc>
            </a:pPr>
            <a:r>
              <a:rPr sz="1150" b="1" i="0">
                <a:solidFill>
                  <a:srgbClr val="1C1C1C"/>
                </a:solidFill>
                <a:latin typeface="Inter"/>
              </a:rPr>
              <a:t>7,64</a:t>
            </a:r>
          </a:p>
        </p:txBody>
      </p:sp>
      <p:sp>
        <p:nvSpPr>
          <p:cNvPr id="56" name="TextBox 55"/>
          <p:cNvSpPr txBox="1"/>
          <p:nvPr/>
        </p:nvSpPr>
        <p:spPr>
          <a:xfrm>
            <a:off x="9080500" y="2692400"/>
            <a:ext cx="1270000" cy="1524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Agadir</a:t>
            </a:r>
          </a:p>
        </p:txBody>
      </p:sp>
      <p:sp>
        <p:nvSpPr>
          <p:cNvPr id="57" name="Rectangle 56"/>
          <p:cNvSpPr/>
          <p:nvPr/>
        </p:nvSpPr>
        <p:spPr>
          <a:xfrm>
            <a:off x="9080500" y="2895600"/>
            <a:ext cx="1277480" cy="165100"/>
          </a:xfrm>
          <a:prstGeom prst="rect">
            <a:avLst/>
          </a:prstGeom>
          <a:solidFill>
            <a:srgbClr val="D4CCBE"/>
          </a:solidFill>
          <a:ln>
            <a:noFill/>
          </a:ln>
          <a:effectLst/>
        </p:spPr>
        <p:txBody>
          <a:bodyPr rtlCol="0" anchor="ctr"/>
          <a:lstStyle/>
          <a:p>
            <a:pPr algn="ctr"/>
          </a:p>
        </p:txBody>
      </p:sp>
      <p:sp>
        <p:nvSpPr>
          <p:cNvPr id="58" name="TextBox 57"/>
          <p:cNvSpPr txBox="1"/>
          <p:nvPr/>
        </p:nvSpPr>
        <p:spPr>
          <a:xfrm>
            <a:off x="10421480" y="2895600"/>
            <a:ext cx="508000" cy="165100"/>
          </a:xfrm>
          <a:prstGeom prst="rect">
            <a:avLst/>
          </a:prstGeom>
          <a:noFill/>
        </p:spPr>
        <p:txBody>
          <a:bodyPr wrap="square" lIns="0" rIns="0" tIns="0" bIns="0" anchor="ctr">
            <a:spAutoFit/>
          </a:bodyPr>
          <a:lstStyle/>
          <a:p>
            <a:pPr algn="l">
              <a:lnSpc>
                <a:spcPct val="115000"/>
              </a:lnSpc>
            </a:pPr>
            <a:r>
              <a:rPr sz="1150" b="1" i="0">
                <a:solidFill>
                  <a:srgbClr val="1C1C1C"/>
                </a:solidFill>
                <a:latin typeface="Inter"/>
              </a:rPr>
              <a:t>5,30</a:t>
            </a:r>
          </a:p>
        </p:txBody>
      </p:sp>
      <p:sp>
        <p:nvSpPr>
          <p:cNvPr id="59" name="TextBox 58"/>
          <p:cNvSpPr txBox="1"/>
          <p:nvPr/>
        </p:nvSpPr>
        <p:spPr>
          <a:xfrm>
            <a:off x="9080500" y="3225800"/>
            <a:ext cx="1270000" cy="1524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Casablanca</a:t>
            </a:r>
          </a:p>
        </p:txBody>
      </p:sp>
      <p:sp>
        <p:nvSpPr>
          <p:cNvPr id="60" name="Rectangle 59"/>
          <p:cNvSpPr/>
          <p:nvPr/>
        </p:nvSpPr>
        <p:spPr>
          <a:xfrm>
            <a:off x="9080500" y="3429000"/>
            <a:ext cx="448323" cy="165100"/>
          </a:xfrm>
          <a:prstGeom prst="rect">
            <a:avLst/>
          </a:prstGeom>
          <a:solidFill>
            <a:srgbClr val="D4CCBE"/>
          </a:solidFill>
          <a:ln>
            <a:noFill/>
          </a:ln>
          <a:effectLst/>
        </p:spPr>
        <p:txBody>
          <a:bodyPr rtlCol="0" anchor="ctr"/>
          <a:lstStyle/>
          <a:p>
            <a:pPr algn="ctr"/>
          </a:p>
        </p:txBody>
      </p:sp>
      <p:sp>
        <p:nvSpPr>
          <p:cNvPr id="61" name="TextBox 60"/>
          <p:cNvSpPr txBox="1"/>
          <p:nvPr/>
        </p:nvSpPr>
        <p:spPr>
          <a:xfrm>
            <a:off x="9592323" y="3429000"/>
            <a:ext cx="508000" cy="165100"/>
          </a:xfrm>
          <a:prstGeom prst="rect">
            <a:avLst/>
          </a:prstGeom>
          <a:noFill/>
        </p:spPr>
        <p:txBody>
          <a:bodyPr wrap="square" lIns="0" rIns="0" tIns="0" bIns="0" anchor="ctr">
            <a:spAutoFit/>
          </a:bodyPr>
          <a:lstStyle/>
          <a:p>
            <a:pPr algn="l">
              <a:lnSpc>
                <a:spcPct val="115000"/>
              </a:lnSpc>
            </a:pPr>
            <a:r>
              <a:rPr sz="1150" b="1" i="0">
                <a:solidFill>
                  <a:srgbClr val="1C1C1C"/>
                </a:solidFill>
                <a:latin typeface="Inter"/>
              </a:rPr>
              <a:t>1,86</a:t>
            </a:r>
          </a:p>
        </p:txBody>
      </p:sp>
      <p:sp>
        <p:nvSpPr>
          <p:cNvPr id="62" name="TextBox 61"/>
          <p:cNvSpPr txBox="1"/>
          <p:nvPr/>
        </p:nvSpPr>
        <p:spPr>
          <a:xfrm>
            <a:off x="9080500" y="3759200"/>
            <a:ext cx="1270000" cy="152400"/>
          </a:xfrm>
          <a:prstGeom prst="rect">
            <a:avLst/>
          </a:prstGeom>
          <a:noFill/>
        </p:spPr>
        <p:txBody>
          <a:bodyPr wrap="square" lIns="0" rIns="0" tIns="0" bIns="0" anchor="t">
            <a:spAutoFit/>
          </a:bodyPr>
          <a:lstStyle/>
          <a:p>
            <a:pPr algn="l">
              <a:lnSpc>
                <a:spcPct val="115000"/>
              </a:lnSpc>
            </a:pPr>
            <a:r>
              <a:rPr sz="1150" b="1" i="0">
                <a:solidFill>
                  <a:srgbClr val="C8462B"/>
                </a:solidFill>
                <a:latin typeface="Inter"/>
              </a:rPr>
              <a:t>Tanger</a:t>
            </a:r>
          </a:p>
        </p:txBody>
      </p:sp>
      <p:sp>
        <p:nvSpPr>
          <p:cNvPr id="63" name="Rectangle 62"/>
          <p:cNvSpPr/>
          <p:nvPr/>
        </p:nvSpPr>
        <p:spPr>
          <a:xfrm>
            <a:off x="9080500" y="3962400"/>
            <a:ext cx="373603" cy="165100"/>
          </a:xfrm>
          <a:prstGeom prst="rect">
            <a:avLst/>
          </a:prstGeom>
          <a:solidFill>
            <a:srgbClr val="C8462B"/>
          </a:solidFill>
          <a:ln>
            <a:noFill/>
          </a:ln>
          <a:effectLst/>
        </p:spPr>
        <p:txBody>
          <a:bodyPr rtlCol="0" anchor="ctr"/>
          <a:lstStyle/>
          <a:p>
            <a:pPr algn="ctr"/>
          </a:p>
        </p:txBody>
      </p:sp>
      <p:sp>
        <p:nvSpPr>
          <p:cNvPr id="64" name="TextBox 63"/>
          <p:cNvSpPr txBox="1"/>
          <p:nvPr/>
        </p:nvSpPr>
        <p:spPr>
          <a:xfrm>
            <a:off x="9517603" y="3962400"/>
            <a:ext cx="508000" cy="165100"/>
          </a:xfrm>
          <a:prstGeom prst="rect">
            <a:avLst/>
          </a:prstGeom>
          <a:noFill/>
        </p:spPr>
        <p:txBody>
          <a:bodyPr wrap="square" lIns="0" rIns="0" tIns="0" bIns="0" anchor="ctr">
            <a:spAutoFit/>
          </a:bodyPr>
          <a:lstStyle/>
          <a:p>
            <a:pPr algn="l">
              <a:lnSpc>
                <a:spcPct val="115000"/>
              </a:lnSpc>
            </a:pPr>
            <a:r>
              <a:rPr sz="1150" b="1" i="0">
                <a:solidFill>
                  <a:srgbClr val="1C1C1C"/>
                </a:solidFill>
                <a:latin typeface="Inter"/>
              </a:rPr>
              <a:t>1,55</a:t>
            </a:r>
          </a:p>
        </p:txBody>
      </p:sp>
      <p:sp>
        <p:nvSpPr>
          <p:cNvPr id="65" name="TextBox 64"/>
          <p:cNvSpPr txBox="1"/>
          <p:nvPr/>
        </p:nvSpPr>
        <p:spPr>
          <a:xfrm>
            <a:off x="9080500" y="4381500"/>
            <a:ext cx="2476500" cy="5715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4e destination </a:t>
            </a:r>
            <a:r>
              <a:rPr sz="1050" b="0" i="0">
                <a:solidFill>
                  <a:srgbClr val="1C1C1C"/>
                </a:solidFill>
                <a:latin typeface="Inter"/>
              </a:rPr>
              <a:t>du pays : la ville se remodèle pour un rang qu'elle n'a pas.</a:t>
            </a:r>
          </a:p>
        </p:txBody>
      </p:sp>
      <p:sp>
        <p:nvSpPr>
          <p:cNvPr id="66" name="TextBox 65"/>
          <p:cNvSpPr txBox="1"/>
          <p:nvPr/>
        </p:nvSpPr>
        <p:spPr>
          <a:xfrm>
            <a:off x="508000" y="5175250"/>
            <a:ext cx="11176000" cy="825500"/>
          </a:xfrm>
          <a:prstGeom prst="rect">
            <a:avLst/>
          </a:prstGeom>
          <a:noFill/>
        </p:spPr>
        <p:txBody>
          <a:bodyPr wrap="square" lIns="0" rIns="0" tIns="0" bIns="0" anchor="t">
            <a:spAutoFit/>
          </a:bodyPr>
          <a:lstStyle/>
          <a:p>
            <a:pPr algn="l">
              <a:lnSpc>
                <a:spcPct val="130000"/>
              </a:lnSpc>
            </a:pPr>
            <a:r>
              <a:rPr sz="1250" b="1" i="0">
                <a:solidFill>
                  <a:srgbClr val="C8462B"/>
                </a:solidFill>
                <a:latin typeface="Inter"/>
              </a:rPr>
              <a:t>Lecture critique. </a:t>
            </a:r>
            <a:r>
              <a:rPr sz="1250" b="0" i="0">
                <a:solidFill>
                  <a:srgbClr val="1C1C1C"/>
                </a:solidFill>
                <a:latin typeface="Inter"/>
              </a:rPr>
              <a:t>Les nuitées augmentent, mais le taux d'occupation baisse : l'offre grandit plus vite que la demande. Les croisières restent très loin des 750 000 passagers annoncés. L'urbanisme suit une demande espérée, pas une demande constatée.</a:t>
            </a:r>
          </a:p>
        </p:txBody>
      </p:sp>
      <p:sp>
        <p:nvSpPr>
          <p:cNvPr id="67" name="TextBox 66"/>
          <p:cNvSpPr txBox="1"/>
          <p:nvPr/>
        </p:nvSpPr>
        <p:spPr>
          <a:xfrm>
            <a:off x="508000" y="6096000"/>
            <a:ext cx="11176000" cy="152400"/>
          </a:xfrm>
          <a:prstGeom prst="rect">
            <a:avLst/>
          </a:prstGeom>
          <a:noFill/>
        </p:spPr>
        <p:txBody>
          <a:bodyPr wrap="square" lIns="0" rIns="0" tIns="0" bIns="0" anchor="t">
            <a:spAutoFit/>
          </a:bodyPr>
          <a:lstStyle/>
          <a:p>
            <a:pPr algn="l">
              <a:lnSpc>
                <a:spcPct val="115000"/>
              </a:lnSpc>
            </a:pPr>
            <a:r>
              <a:rPr sz="900" b="0" i="1">
                <a:solidFill>
                  <a:srgbClr val="6E6A64"/>
                </a:solidFill>
                <a:latin typeface="Inter"/>
              </a:rPr>
              <a:t>Sources : ONT via Hespress FR (nov. 2025) ; port de Tanger Ville via Finances News Hebdo et Le360 ; évaluation FIFA via Bladi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CARTE 1 : GÉOGRAPHIE DE LA VITRINE</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L'argent suit la côte, la population s'étale au sud</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Les projets pour le visiteur forment un ruban littoral ; la croissance démographique se fait dans des quartiers que le visiteur ne voit pas.</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05 / 17</a:t>
            </a:r>
          </a:p>
        </p:txBody>
      </p:sp>
      <p:sp>
        <p:nvSpPr>
          <p:cNvPr id="11" name="Rectangle 10"/>
          <p:cNvSpPr/>
          <p:nvPr/>
        </p:nvSpPr>
        <p:spPr>
          <a:xfrm>
            <a:off x="508000" y="1460500"/>
            <a:ext cx="7493000" cy="4572000"/>
          </a:xfrm>
          <a:prstGeom prst="rect">
            <a:avLst/>
          </a:prstGeom>
          <a:solidFill>
            <a:srgbClr val="D3E3EA"/>
          </a:solidFill>
          <a:ln>
            <a:noFill/>
          </a:ln>
          <a:effectLst/>
        </p:spPr>
        <p:txBody>
          <a:bodyPr rtlCol="0" anchor="ctr"/>
          <a:lstStyle/>
          <a:p>
            <a:pPr algn="ctr"/>
          </a:p>
        </p:txBody>
      </p:sp>
      <p:sp>
        <p:nvSpPr>
          <p:cNvPr id="12" name="Freeform 11"/>
          <p:cNvSpPr/>
          <p:nvPr/>
        </p:nvSpPr>
        <p:spPr>
          <a:xfrm>
            <a:off x="508000" y="1765300"/>
            <a:ext cx="7493000" cy="4267200"/>
          </a:xfrm>
          <a:custGeom>
            <a:avLst/>
            <a:gdLst/>
            <a:ahLst/>
            <a:cxnLst/>
            <a:rect l="l" t="t" r="r" b="b"/>
            <a:pathLst>
              <a:path w="7493000" h="4267200">
                <a:moveTo>
                  <a:pt x="0" y="91440"/>
                </a:moveTo>
                <a:lnTo>
                  <a:pt x="48913" y="78493"/>
                </a:lnTo>
                <a:lnTo>
                  <a:pt x="116558" y="58138"/>
                </a:lnTo>
                <a:lnTo>
                  <a:pt x="196691" y="35242"/>
                </a:lnTo>
                <a:lnTo>
                  <a:pt x="283069" y="14676"/>
                </a:lnTo>
                <a:lnTo>
                  <a:pt x="369447" y="1305"/>
                </a:lnTo>
                <a:lnTo>
                  <a:pt x="449580" y="0"/>
                </a:lnTo>
                <a:lnTo>
                  <a:pt x="523643" y="14182"/>
                </a:lnTo>
                <a:lnTo>
                  <a:pt x="596665" y="40640"/>
                </a:lnTo>
                <a:lnTo>
                  <a:pt x="669687" y="74295"/>
                </a:lnTo>
                <a:lnTo>
                  <a:pt x="743750" y="110067"/>
                </a:lnTo>
                <a:lnTo>
                  <a:pt x="819894" y="142875"/>
                </a:lnTo>
                <a:lnTo>
                  <a:pt x="899160" y="167640"/>
                </a:lnTo>
                <a:lnTo>
                  <a:pt x="982242" y="183444"/>
                </a:lnTo>
                <a:lnTo>
                  <a:pt x="1068446" y="194169"/>
                </a:lnTo>
                <a:lnTo>
                  <a:pt x="1156732" y="201930"/>
                </a:lnTo>
                <a:lnTo>
                  <a:pt x="1246058" y="208844"/>
                </a:lnTo>
                <a:lnTo>
                  <a:pt x="1335384" y="217029"/>
                </a:lnTo>
                <a:lnTo>
                  <a:pt x="1423670" y="228600"/>
                </a:lnTo>
                <a:lnTo>
                  <a:pt x="1511088" y="243911"/>
                </a:lnTo>
                <a:lnTo>
                  <a:pt x="1598507" y="261338"/>
                </a:lnTo>
                <a:lnTo>
                  <a:pt x="1685925" y="280035"/>
                </a:lnTo>
                <a:lnTo>
                  <a:pt x="1773343" y="299156"/>
                </a:lnTo>
                <a:lnTo>
                  <a:pt x="1860762" y="317853"/>
                </a:lnTo>
                <a:lnTo>
                  <a:pt x="1948180" y="335280"/>
                </a:lnTo>
                <a:lnTo>
                  <a:pt x="2035598" y="351049"/>
                </a:lnTo>
                <a:lnTo>
                  <a:pt x="2123017" y="365760"/>
                </a:lnTo>
                <a:lnTo>
                  <a:pt x="2210435" y="380048"/>
                </a:lnTo>
                <a:lnTo>
                  <a:pt x="2297853" y="394547"/>
                </a:lnTo>
                <a:lnTo>
                  <a:pt x="2385272" y="409892"/>
                </a:lnTo>
                <a:lnTo>
                  <a:pt x="2472690" y="426720"/>
                </a:lnTo>
                <a:lnTo>
                  <a:pt x="2561843" y="445276"/>
                </a:lnTo>
                <a:lnTo>
                  <a:pt x="2653077" y="465102"/>
                </a:lnTo>
                <a:lnTo>
                  <a:pt x="2744311" y="485775"/>
                </a:lnTo>
                <a:lnTo>
                  <a:pt x="2833464" y="506871"/>
                </a:lnTo>
                <a:lnTo>
                  <a:pt x="2918454" y="527967"/>
                </a:lnTo>
                <a:lnTo>
                  <a:pt x="2997200" y="548640"/>
                </a:lnTo>
                <a:lnTo>
                  <a:pt x="3069615" y="568431"/>
                </a:lnTo>
                <a:lnTo>
                  <a:pt x="3137347" y="587587"/>
                </a:lnTo>
                <a:lnTo>
                  <a:pt x="3200916" y="606742"/>
                </a:lnTo>
                <a:lnTo>
                  <a:pt x="3260843" y="626533"/>
                </a:lnTo>
                <a:lnTo>
                  <a:pt x="3317647" y="647594"/>
                </a:lnTo>
                <a:lnTo>
                  <a:pt x="3371850" y="670560"/>
                </a:lnTo>
                <a:lnTo>
                  <a:pt x="3423364" y="695590"/>
                </a:lnTo>
                <a:lnTo>
                  <a:pt x="3471757" y="722207"/>
                </a:lnTo>
                <a:lnTo>
                  <a:pt x="3517027" y="750094"/>
                </a:lnTo>
                <a:lnTo>
                  <a:pt x="3559175" y="778933"/>
                </a:lnTo>
                <a:lnTo>
                  <a:pt x="3598201" y="808408"/>
                </a:lnTo>
                <a:lnTo>
                  <a:pt x="3634105" y="838200"/>
                </a:lnTo>
                <a:lnTo>
                  <a:pt x="3667320" y="870832"/>
                </a:lnTo>
                <a:lnTo>
                  <a:pt x="3697934" y="907062"/>
                </a:lnTo>
                <a:lnTo>
                  <a:pt x="3725426" y="943928"/>
                </a:lnTo>
                <a:lnTo>
                  <a:pt x="3749275" y="978464"/>
                </a:lnTo>
                <a:lnTo>
                  <a:pt x="3768962" y="1007710"/>
                </a:lnTo>
                <a:lnTo>
                  <a:pt x="3783965" y="1028700"/>
                </a:lnTo>
                <a:lnTo>
                  <a:pt x="3802611" y="1066271"/>
                </a:lnTo>
                <a:lnTo>
                  <a:pt x="3826980" y="1118447"/>
                </a:lnTo>
                <a:lnTo>
                  <a:pt x="3856553" y="1180148"/>
                </a:lnTo>
                <a:lnTo>
                  <a:pt x="3890810" y="1246293"/>
                </a:lnTo>
                <a:lnTo>
                  <a:pt x="3929229" y="1311804"/>
                </a:lnTo>
                <a:lnTo>
                  <a:pt x="3971290" y="1371600"/>
                </a:lnTo>
                <a:lnTo>
                  <a:pt x="4017081" y="1427674"/>
                </a:lnTo>
                <a:lnTo>
                  <a:pt x="4067034" y="1484489"/>
                </a:lnTo>
                <a:lnTo>
                  <a:pt x="4121150" y="1540669"/>
                </a:lnTo>
                <a:lnTo>
                  <a:pt x="4179429" y="1594838"/>
                </a:lnTo>
                <a:lnTo>
                  <a:pt x="4241871" y="1645620"/>
                </a:lnTo>
                <a:lnTo>
                  <a:pt x="4308475" y="1691640"/>
                </a:lnTo>
                <a:lnTo>
                  <a:pt x="4380543" y="1733479"/>
                </a:lnTo>
                <a:lnTo>
                  <a:pt x="4458335" y="1772356"/>
                </a:lnTo>
                <a:lnTo>
                  <a:pt x="4540290" y="1807845"/>
                </a:lnTo>
                <a:lnTo>
                  <a:pt x="4624846" y="1839524"/>
                </a:lnTo>
                <a:lnTo>
                  <a:pt x="4710443" y="1866971"/>
                </a:lnTo>
                <a:lnTo>
                  <a:pt x="4795520" y="1889760"/>
                </a:lnTo>
                <a:lnTo>
                  <a:pt x="4881204" y="1908140"/>
                </a:lnTo>
                <a:lnTo>
                  <a:pt x="4968969" y="1922498"/>
                </a:lnTo>
                <a:lnTo>
                  <a:pt x="5057775" y="1932622"/>
                </a:lnTo>
                <a:lnTo>
                  <a:pt x="5146581" y="1938302"/>
                </a:lnTo>
                <a:lnTo>
                  <a:pt x="5234346" y="1939325"/>
                </a:lnTo>
                <a:lnTo>
                  <a:pt x="5320030" y="1935480"/>
                </a:lnTo>
                <a:lnTo>
                  <a:pt x="5404240" y="1926096"/>
                </a:lnTo>
                <a:lnTo>
                  <a:pt x="5487929" y="1911209"/>
                </a:lnTo>
                <a:lnTo>
                  <a:pt x="5570577" y="1891665"/>
                </a:lnTo>
                <a:lnTo>
                  <a:pt x="5651665" y="1868311"/>
                </a:lnTo>
                <a:lnTo>
                  <a:pt x="5730671" y="1841994"/>
                </a:lnTo>
                <a:lnTo>
                  <a:pt x="5807075" y="1813560"/>
                </a:lnTo>
                <a:lnTo>
                  <a:pt x="5881398" y="1782780"/>
                </a:lnTo>
                <a:lnTo>
                  <a:pt x="5954160" y="1748931"/>
                </a:lnTo>
                <a:lnTo>
                  <a:pt x="6024840" y="1712119"/>
                </a:lnTo>
                <a:lnTo>
                  <a:pt x="6092919" y="1672449"/>
                </a:lnTo>
                <a:lnTo>
                  <a:pt x="6157876" y="1630027"/>
                </a:lnTo>
                <a:lnTo>
                  <a:pt x="6219190" y="1584960"/>
                </a:lnTo>
                <a:lnTo>
                  <a:pt x="6276949" y="1536259"/>
                </a:lnTo>
                <a:lnTo>
                  <a:pt x="6331585" y="1483642"/>
                </a:lnTo>
                <a:lnTo>
                  <a:pt x="6383099" y="1428274"/>
                </a:lnTo>
                <a:lnTo>
                  <a:pt x="6431492" y="1371318"/>
                </a:lnTo>
                <a:lnTo>
                  <a:pt x="6476762" y="1313938"/>
                </a:lnTo>
                <a:lnTo>
                  <a:pt x="6518910" y="1257300"/>
                </a:lnTo>
                <a:lnTo>
                  <a:pt x="6556202" y="1199268"/>
                </a:lnTo>
                <a:lnTo>
                  <a:pt x="6588290" y="1138484"/>
                </a:lnTo>
                <a:lnTo>
                  <a:pt x="6617256" y="1077278"/>
                </a:lnTo>
                <a:lnTo>
                  <a:pt x="6645181" y="1017976"/>
                </a:lnTo>
                <a:lnTo>
                  <a:pt x="6674147" y="962907"/>
                </a:lnTo>
                <a:lnTo>
                  <a:pt x="6706235" y="914400"/>
                </a:lnTo>
                <a:lnTo>
                  <a:pt x="6740665" y="872243"/>
                </a:lnTo>
                <a:lnTo>
                  <a:pt x="6775615" y="834531"/>
                </a:lnTo>
                <a:lnTo>
                  <a:pt x="6811605" y="801052"/>
                </a:lnTo>
                <a:lnTo>
                  <a:pt x="6849157" y="771596"/>
                </a:lnTo>
                <a:lnTo>
                  <a:pt x="6888790" y="745949"/>
                </a:lnTo>
                <a:lnTo>
                  <a:pt x="6931025" y="723900"/>
                </a:lnTo>
                <a:lnTo>
                  <a:pt x="6977076" y="706102"/>
                </a:lnTo>
                <a:lnTo>
                  <a:pt x="7026769" y="692856"/>
                </a:lnTo>
                <a:lnTo>
                  <a:pt x="7078543" y="683419"/>
                </a:lnTo>
                <a:lnTo>
                  <a:pt x="7130838" y="677051"/>
                </a:lnTo>
                <a:lnTo>
                  <a:pt x="7182093" y="673012"/>
                </a:lnTo>
                <a:lnTo>
                  <a:pt x="7230745" y="670560"/>
                </a:lnTo>
                <a:lnTo>
                  <a:pt x="7279658" y="671142"/>
                </a:lnTo>
                <a:lnTo>
                  <a:pt x="7330652" y="675640"/>
                </a:lnTo>
                <a:lnTo>
                  <a:pt x="7380605" y="682466"/>
                </a:lnTo>
                <a:lnTo>
                  <a:pt x="7426396" y="690033"/>
                </a:lnTo>
                <a:lnTo>
                  <a:pt x="7464901" y="696754"/>
                </a:lnTo>
                <a:lnTo>
                  <a:pt x="7493000" y="701040"/>
                </a:lnTo>
                <a:lnTo>
                  <a:pt x="7493000" y="4267200"/>
                </a:lnTo>
                <a:lnTo>
                  <a:pt x="0" y="4267200"/>
                </a:lnTo>
                <a:close/>
              </a:path>
            </a:pathLst>
          </a:custGeom>
          <a:solidFill>
            <a:srgbClr val="EFE9DE"/>
          </a:solidFill>
          <a:ln>
            <a:noFill/>
          </a:ln>
          <a:effectLst/>
        </p:spPr>
        <p:txBody>
          <a:bodyPr rtlCol="0" anchor="ctr"/>
          <a:lstStyle/>
          <a:p>
            <a:pPr algn="ctr"/>
          </a:p>
        </p:txBody>
      </p:sp>
      <p:sp>
        <p:nvSpPr>
          <p:cNvPr id="13" name="Freeform 12"/>
          <p:cNvSpPr/>
          <p:nvPr/>
        </p:nvSpPr>
        <p:spPr>
          <a:xfrm>
            <a:off x="508000" y="1765300"/>
            <a:ext cx="7493000" cy="1939325"/>
          </a:xfrm>
          <a:custGeom>
            <a:avLst/>
            <a:gdLst/>
            <a:ahLst/>
            <a:cxnLst/>
            <a:rect l="l" t="t" r="r" b="b"/>
            <a:pathLst>
              <a:path w="7493000" h="1939325">
                <a:moveTo>
                  <a:pt x="0" y="91440"/>
                </a:moveTo>
                <a:lnTo>
                  <a:pt x="48913" y="78493"/>
                </a:lnTo>
                <a:lnTo>
                  <a:pt x="116558" y="58138"/>
                </a:lnTo>
                <a:lnTo>
                  <a:pt x="196691" y="35242"/>
                </a:lnTo>
                <a:lnTo>
                  <a:pt x="283069" y="14676"/>
                </a:lnTo>
                <a:lnTo>
                  <a:pt x="369447" y="1305"/>
                </a:lnTo>
                <a:lnTo>
                  <a:pt x="449580" y="0"/>
                </a:lnTo>
                <a:lnTo>
                  <a:pt x="523643" y="14182"/>
                </a:lnTo>
                <a:lnTo>
                  <a:pt x="596665" y="40640"/>
                </a:lnTo>
                <a:lnTo>
                  <a:pt x="669687" y="74295"/>
                </a:lnTo>
                <a:lnTo>
                  <a:pt x="743750" y="110067"/>
                </a:lnTo>
                <a:lnTo>
                  <a:pt x="819894" y="142875"/>
                </a:lnTo>
                <a:lnTo>
                  <a:pt x="899160" y="167640"/>
                </a:lnTo>
                <a:lnTo>
                  <a:pt x="982242" y="183444"/>
                </a:lnTo>
                <a:lnTo>
                  <a:pt x="1068446" y="194169"/>
                </a:lnTo>
                <a:lnTo>
                  <a:pt x="1156732" y="201930"/>
                </a:lnTo>
                <a:lnTo>
                  <a:pt x="1246058" y="208844"/>
                </a:lnTo>
                <a:lnTo>
                  <a:pt x="1335384" y="217029"/>
                </a:lnTo>
                <a:lnTo>
                  <a:pt x="1423670" y="228600"/>
                </a:lnTo>
                <a:lnTo>
                  <a:pt x="1511088" y="243911"/>
                </a:lnTo>
                <a:lnTo>
                  <a:pt x="1598507" y="261338"/>
                </a:lnTo>
                <a:lnTo>
                  <a:pt x="1685925" y="280035"/>
                </a:lnTo>
                <a:lnTo>
                  <a:pt x="1773343" y="299156"/>
                </a:lnTo>
                <a:lnTo>
                  <a:pt x="1860762" y="317853"/>
                </a:lnTo>
                <a:lnTo>
                  <a:pt x="1948180" y="335280"/>
                </a:lnTo>
                <a:lnTo>
                  <a:pt x="2035598" y="351049"/>
                </a:lnTo>
                <a:lnTo>
                  <a:pt x="2123017" y="365760"/>
                </a:lnTo>
                <a:lnTo>
                  <a:pt x="2210435" y="380048"/>
                </a:lnTo>
                <a:lnTo>
                  <a:pt x="2297853" y="394547"/>
                </a:lnTo>
                <a:lnTo>
                  <a:pt x="2385272" y="409892"/>
                </a:lnTo>
                <a:lnTo>
                  <a:pt x="2472690" y="426720"/>
                </a:lnTo>
                <a:lnTo>
                  <a:pt x="2561843" y="445276"/>
                </a:lnTo>
                <a:lnTo>
                  <a:pt x="2653077" y="465102"/>
                </a:lnTo>
                <a:lnTo>
                  <a:pt x="2744311" y="485775"/>
                </a:lnTo>
                <a:lnTo>
                  <a:pt x="2833464" y="506871"/>
                </a:lnTo>
                <a:lnTo>
                  <a:pt x="2918454" y="527967"/>
                </a:lnTo>
                <a:lnTo>
                  <a:pt x="2997200" y="548640"/>
                </a:lnTo>
                <a:lnTo>
                  <a:pt x="3069615" y="568431"/>
                </a:lnTo>
                <a:lnTo>
                  <a:pt x="3137347" y="587587"/>
                </a:lnTo>
                <a:lnTo>
                  <a:pt x="3200916" y="606742"/>
                </a:lnTo>
                <a:lnTo>
                  <a:pt x="3260843" y="626533"/>
                </a:lnTo>
                <a:lnTo>
                  <a:pt x="3317647" y="647594"/>
                </a:lnTo>
                <a:lnTo>
                  <a:pt x="3371850" y="670560"/>
                </a:lnTo>
                <a:lnTo>
                  <a:pt x="3423364" y="695590"/>
                </a:lnTo>
                <a:lnTo>
                  <a:pt x="3471757" y="722207"/>
                </a:lnTo>
                <a:lnTo>
                  <a:pt x="3517027" y="750094"/>
                </a:lnTo>
                <a:lnTo>
                  <a:pt x="3559175" y="778933"/>
                </a:lnTo>
                <a:lnTo>
                  <a:pt x="3598201" y="808408"/>
                </a:lnTo>
                <a:lnTo>
                  <a:pt x="3634105" y="838200"/>
                </a:lnTo>
                <a:lnTo>
                  <a:pt x="3667320" y="870832"/>
                </a:lnTo>
                <a:lnTo>
                  <a:pt x="3697934" y="907062"/>
                </a:lnTo>
                <a:lnTo>
                  <a:pt x="3725426" y="943928"/>
                </a:lnTo>
                <a:lnTo>
                  <a:pt x="3749275" y="978464"/>
                </a:lnTo>
                <a:lnTo>
                  <a:pt x="3768962" y="1007710"/>
                </a:lnTo>
                <a:lnTo>
                  <a:pt x="3783965" y="1028700"/>
                </a:lnTo>
                <a:lnTo>
                  <a:pt x="3802611" y="1066271"/>
                </a:lnTo>
                <a:lnTo>
                  <a:pt x="3826980" y="1118447"/>
                </a:lnTo>
                <a:lnTo>
                  <a:pt x="3856553" y="1180148"/>
                </a:lnTo>
                <a:lnTo>
                  <a:pt x="3890810" y="1246293"/>
                </a:lnTo>
                <a:lnTo>
                  <a:pt x="3929229" y="1311804"/>
                </a:lnTo>
                <a:lnTo>
                  <a:pt x="3971290" y="1371600"/>
                </a:lnTo>
                <a:lnTo>
                  <a:pt x="4017081" y="1427674"/>
                </a:lnTo>
                <a:lnTo>
                  <a:pt x="4067034" y="1484489"/>
                </a:lnTo>
                <a:lnTo>
                  <a:pt x="4121150" y="1540669"/>
                </a:lnTo>
                <a:lnTo>
                  <a:pt x="4179429" y="1594838"/>
                </a:lnTo>
                <a:lnTo>
                  <a:pt x="4241871" y="1645620"/>
                </a:lnTo>
                <a:lnTo>
                  <a:pt x="4308475" y="1691640"/>
                </a:lnTo>
                <a:lnTo>
                  <a:pt x="4380543" y="1733479"/>
                </a:lnTo>
                <a:lnTo>
                  <a:pt x="4458335" y="1772356"/>
                </a:lnTo>
                <a:lnTo>
                  <a:pt x="4540290" y="1807845"/>
                </a:lnTo>
                <a:lnTo>
                  <a:pt x="4624846" y="1839524"/>
                </a:lnTo>
                <a:lnTo>
                  <a:pt x="4710443" y="1866971"/>
                </a:lnTo>
                <a:lnTo>
                  <a:pt x="4795520" y="1889760"/>
                </a:lnTo>
                <a:lnTo>
                  <a:pt x="4881204" y="1908140"/>
                </a:lnTo>
                <a:lnTo>
                  <a:pt x="4968969" y="1922498"/>
                </a:lnTo>
                <a:lnTo>
                  <a:pt x="5057775" y="1932622"/>
                </a:lnTo>
                <a:lnTo>
                  <a:pt x="5146581" y="1938302"/>
                </a:lnTo>
                <a:lnTo>
                  <a:pt x="5234346" y="1939325"/>
                </a:lnTo>
                <a:lnTo>
                  <a:pt x="5320030" y="1935480"/>
                </a:lnTo>
                <a:lnTo>
                  <a:pt x="5404240" y="1926096"/>
                </a:lnTo>
                <a:lnTo>
                  <a:pt x="5487929" y="1911209"/>
                </a:lnTo>
                <a:lnTo>
                  <a:pt x="5570577" y="1891665"/>
                </a:lnTo>
                <a:lnTo>
                  <a:pt x="5651665" y="1868311"/>
                </a:lnTo>
                <a:lnTo>
                  <a:pt x="5730671" y="1841994"/>
                </a:lnTo>
                <a:lnTo>
                  <a:pt x="5807075" y="1813560"/>
                </a:lnTo>
                <a:lnTo>
                  <a:pt x="5881398" y="1782780"/>
                </a:lnTo>
                <a:lnTo>
                  <a:pt x="5954160" y="1748931"/>
                </a:lnTo>
                <a:lnTo>
                  <a:pt x="6024840" y="1712119"/>
                </a:lnTo>
                <a:lnTo>
                  <a:pt x="6092919" y="1672449"/>
                </a:lnTo>
                <a:lnTo>
                  <a:pt x="6157876" y="1630027"/>
                </a:lnTo>
                <a:lnTo>
                  <a:pt x="6219190" y="1584960"/>
                </a:lnTo>
                <a:lnTo>
                  <a:pt x="6276949" y="1536259"/>
                </a:lnTo>
                <a:lnTo>
                  <a:pt x="6331585" y="1483642"/>
                </a:lnTo>
                <a:lnTo>
                  <a:pt x="6383099" y="1428274"/>
                </a:lnTo>
                <a:lnTo>
                  <a:pt x="6431492" y="1371318"/>
                </a:lnTo>
                <a:lnTo>
                  <a:pt x="6476762" y="1313938"/>
                </a:lnTo>
                <a:lnTo>
                  <a:pt x="6518910" y="1257300"/>
                </a:lnTo>
                <a:lnTo>
                  <a:pt x="6556202" y="1199268"/>
                </a:lnTo>
                <a:lnTo>
                  <a:pt x="6588290" y="1138484"/>
                </a:lnTo>
                <a:lnTo>
                  <a:pt x="6617256" y="1077278"/>
                </a:lnTo>
                <a:lnTo>
                  <a:pt x="6645181" y="1017976"/>
                </a:lnTo>
                <a:lnTo>
                  <a:pt x="6674147" y="962907"/>
                </a:lnTo>
                <a:lnTo>
                  <a:pt x="6706235" y="914400"/>
                </a:lnTo>
                <a:lnTo>
                  <a:pt x="6740665" y="872243"/>
                </a:lnTo>
                <a:lnTo>
                  <a:pt x="6775615" y="834531"/>
                </a:lnTo>
                <a:lnTo>
                  <a:pt x="6811605" y="801052"/>
                </a:lnTo>
                <a:lnTo>
                  <a:pt x="6849157" y="771596"/>
                </a:lnTo>
                <a:lnTo>
                  <a:pt x="6888790" y="745949"/>
                </a:lnTo>
                <a:lnTo>
                  <a:pt x="6931025" y="723900"/>
                </a:lnTo>
                <a:lnTo>
                  <a:pt x="6977076" y="706102"/>
                </a:lnTo>
                <a:lnTo>
                  <a:pt x="7026769" y="692856"/>
                </a:lnTo>
                <a:lnTo>
                  <a:pt x="7078543" y="683419"/>
                </a:lnTo>
                <a:lnTo>
                  <a:pt x="7130838" y="677051"/>
                </a:lnTo>
                <a:lnTo>
                  <a:pt x="7182093" y="673012"/>
                </a:lnTo>
                <a:lnTo>
                  <a:pt x="7230745" y="670560"/>
                </a:lnTo>
                <a:lnTo>
                  <a:pt x="7279658" y="671142"/>
                </a:lnTo>
                <a:lnTo>
                  <a:pt x="7330652" y="675640"/>
                </a:lnTo>
                <a:lnTo>
                  <a:pt x="7380605" y="682466"/>
                </a:lnTo>
                <a:lnTo>
                  <a:pt x="7426396" y="690033"/>
                </a:lnTo>
                <a:lnTo>
                  <a:pt x="7464901" y="696754"/>
                </a:lnTo>
                <a:lnTo>
                  <a:pt x="7493000" y="701040"/>
                </a:lnTo>
              </a:path>
            </a:pathLst>
          </a:custGeom>
          <a:noFill/>
          <a:ln w="15875">
            <a:solidFill>
              <a:srgbClr val="8C9AA0"/>
            </a:solidFill>
          </a:ln>
          <a:effectLst/>
        </p:spPr>
        <p:txBody>
          <a:bodyPr rtlCol="0" anchor="ctr"/>
          <a:lstStyle/>
          <a:p>
            <a:pPr algn="ctr"/>
          </a:p>
        </p:txBody>
      </p:sp>
      <p:sp>
        <p:nvSpPr>
          <p:cNvPr id="14" name="TextBox 13"/>
          <p:cNvSpPr txBox="1"/>
          <p:nvPr/>
        </p:nvSpPr>
        <p:spPr>
          <a:xfrm>
            <a:off x="2381250" y="1521460"/>
            <a:ext cx="2540000" cy="152400"/>
          </a:xfrm>
          <a:prstGeom prst="rect">
            <a:avLst/>
          </a:prstGeom>
          <a:noFill/>
        </p:spPr>
        <p:txBody>
          <a:bodyPr wrap="square" lIns="0" rIns="0" tIns="0" bIns="0" anchor="t">
            <a:spAutoFit/>
          </a:bodyPr>
          <a:lstStyle/>
          <a:p>
            <a:pPr algn="l">
              <a:lnSpc>
                <a:spcPct val="115000"/>
              </a:lnSpc>
            </a:pPr>
            <a:r>
              <a:rPr sz="1000" b="1" i="1">
                <a:solidFill>
                  <a:srgbClr val="5C7884"/>
                </a:solidFill>
                <a:latin typeface="Inter"/>
              </a:rPr>
              <a:t>DÉTROIT DE GIBRALTAR</a:t>
            </a:r>
          </a:p>
        </p:txBody>
      </p:sp>
      <p:sp>
        <p:nvSpPr>
          <p:cNvPr id="15" name="TextBox 14"/>
          <p:cNvSpPr txBox="1"/>
          <p:nvPr/>
        </p:nvSpPr>
        <p:spPr>
          <a:xfrm>
            <a:off x="5303520" y="2603500"/>
            <a:ext cx="1651000" cy="152400"/>
          </a:xfrm>
          <a:prstGeom prst="rect">
            <a:avLst/>
          </a:prstGeom>
          <a:noFill/>
        </p:spPr>
        <p:txBody>
          <a:bodyPr wrap="square" lIns="0" rIns="0" tIns="0" bIns="0" anchor="t">
            <a:spAutoFit/>
          </a:bodyPr>
          <a:lstStyle/>
          <a:p>
            <a:pPr algn="l">
              <a:lnSpc>
                <a:spcPct val="115000"/>
              </a:lnSpc>
            </a:pPr>
            <a:r>
              <a:rPr sz="1000" b="0" i="1">
                <a:solidFill>
                  <a:srgbClr val="5C7884"/>
                </a:solidFill>
                <a:latin typeface="Inter"/>
              </a:rPr>
              <a:t>Baie de Tanger</a:t>
            </a:r>
          </a:p>
        </p:txBody>
      </p:sp>
      <p:sp>
        <p:nvSpPr>
          <p:cNvPr id="16" name="Rectangle 15"/>
          <p:cNvSpPr/>
          <p:nvPr/>
        </p:nvSpPr>
        <p:spPr>
          <a:xfrm>
            <a:off x="508000" y="1460500"/>
            <a:ext cx="7493000" cy="4572000"/>
          </a:xfrm>
          <a:prstGeom prst="rect">
            <a:avLst/>
          </a:prstGeom>
          <a:noFill/>
          <a:ln w="9525">
            <a:solidFill>
              <a:srgbClr val="CFC8BC"/>
            </a:solidFill>
          </a:ln>
          <a:effectLst/>
        </p:spPr>
        <p:txBody>
          <a:bodyPr rtlCol="0" anchor="ctr"/>
          <a:lstStyle/>
          <a:p>
            <a:pPr algn="ctr"/>
          </a:p>
        </p:txBody>
      </p:sp>
      <p:sp>
        <p:nvSpPr>
          <p:cNvPr id="17" name="Freeform 16"/>
          <p:cNvSpPr/>
          <p:nvPr/>
        </p:nvSpPr>
        <p:spPr>
          <a:xfrm>
            <a:off x="4078987" y="3577627"/>
            <a:ext cx="1273810" cy="835275"/>
          </a:xfrm>
          <a:custGeom>
            <a:avLst/>
            <a:gdLst/>
            <a:ahLst/>
            <a:cxnLst/>
            <a:rect l="l" t="t" r="r" b="b"/>
            <a:pathLst>
              <a:path w="1273810" h="835275">
                <a:moveTo>
                  <a:pt x="1273810" y="397473"/>
                </a:moveTo>
                <a:lnTo>
                  <a:pt x="1272799" y="451166"/>
                </a:lnTo>
                <a:lnTo>
                  <a:pt x="1263319" y="507464"/>
                </a:lnTo>
                <a:lnTo>
                  <a:pt x="1244702" y="563320"/>
                </a:lnTo>
                <a:lnTo>
                  <a:pt x="1216279" y="615686"/>
                </a:lnTo>
                <a:lnTo>
                  <a:pt x="1177381" y="661513"/>
                </a:lnTo>
                <a:lnTo>
                  <a:pt x="1125036" y="701359"/>
                </a:lnTo>
                <a:lnTo>
                  <a:pt x="1059689" y="737257"/>
                </a:lnTo>
                <a:lnTo>
                  <a:pt x="985800" y="768370"/>
                </a:lnTo>
                <a:lnTo>
                  <a:pt x="907824" y="793861"/>
                </a:lnTo>
                <a:lnTo>
                  <a:pt x="830220" y="812894"/>
                </a:lnTo>
                <a:lnTo>
                  <a:pt x="750171" y="825993"/>
                </a:lnTo>
                <a:lnTo>
                  <a:pt x="664707" y="833715"/>
                </a:lnTo>
                <a:lnTo>
                  <a:pt x="578050" y="835275"/>
                </a:lnTo>
                <a:lnTo>
                  <a:pt x="494424" y="829888"/>
                </a:lnTo>
                <a:lnTo>
                  <a:pt x="418052" y="816771"/>
                </a:lnTo>
                <a:lnTo>
                  <a:pt x="347760" y="794107"/>
                </a:lnTo>
                <a:lnTo>
                  <a:pt x="280733" y="762419"/>
                </a:lnTo>
                <a:lnTo>
                  <a:pt x="218732" y="724431"/>
                </a:lnTo>
                <a:lnTo>
                  <a:pt x="163517" y="682868"/>
                </a:lnTo>
                <a:lnTo>
                  <a:pt x="116851" y="640455"/>
                </a:lnTo>
                <a:lnTo>
                  <a:pt x="77463" y="595896"/>
                </a:lnTo>
                <a:lnTo>
                  <a:pt x="44180" y="547374"/>
                </a:lnTo>
                <a:lnTo>
                  <a:pt x="18905" y="496833"/>
                </a:lnTo>
                <a:lnTo>
                  <a:pt x="3544" y="446218"/>
                </a:lnTo>
                <a:lnTo>
                  <a:pt x="0" y="397473"/>
                </a:lnTo>
                <a:lnTo>
                  <a:pt x="10206" y="349618"/>
                </a:lnTo>
                <a:lnTo>
                  <a:pt x="32894" y="301358"/>
                </a:lnTo>
                <a:lnTo>
                  <a:pt x="65162" y="254162"/>
                </a:lnTo>
                <a:lnTo>
                  <a:pt x="104113" y="209496"/>
                </a:lnTo>
                <a:lnTo>
                  <a:pt x="146847" y="168831"/>
                </a:lnTo>
                <a:lnTo>
                  <a:pt x="194285" y="130863"/>
                </a:lnTo>
                <a:lnTo>
                  <a:pt x="248359" y="94613"/>
                </a:lnTo>
                <a:lnTo>
                  <a:pt x="307689" y="62035"/>
                </a:lnTo>
                <a:lnTo>
                  <a:pt x="370893" y="35085"/>
                </a:lnTo>
                <a:lnTo>
                  <a:pt x="436591" y="15719"/>
                </a:lnTo>
                <a:lnTo>
                  <a:pt x="506777" y="4458"/>
                </a:lnTo>
                <a:lnTo>
                  <a:pt x="582372" y="0"/>
                </a:lnTo>
                <a:lnTo>
                  <a:pt x="660384" y="1560"/>
                </a:lnTo>
                <a:lnTo>
                  <a:pt x="737818" y="8353"/>
                </a:lnTo>
                <a:lnTo>
                  <a:pt x="811681" y="19596"/>
                </a:lnTo>
                <a:lnTo>
                  <a:pt x="884691" y="35332"/>
                </a:lnTo>
                <a:lnTo>
                  <a:pt x="958844" y="56084"/>
                </a:lnTo>
                <a:lnTo>
                  <a:pt x="1030062" y="81787"/>
                </a:lnTo>
                <a:lnTo>
                  <a:pt x="1094268" y="112372"/>
                </a:lnTo>
                <a:lnTo>
                  <a:pt x="1147385" y="147774"/>
                </a:lnTo>
                <a:lnTo>
                  <a:pt x="1189629" y="189707"/>
                </a:lnTo>
                <a:lnTo>
                  <a:pt x="1223720" y="238216"/>
                </a:lnTo>
                <a:lnTo>
                  <a:pt x="1249331" y="290728"/>
                </a:lnTo>
                <a:lnTo>
                  <a:pt x="1266136" y="344671"/>
                </a:lnTo>
                <a:close/>
              </a:path>
            </a:pathLst>
          </a:custGeom>
          <a:solidFill>
            <a:srgbClr val="D4CCBE"/>
          </a:solidFill>
          <a:ln>
            <a:noFill/>
          </a:ln>
          <a:effectLst/>
        </p:spPr>
        <p:txBody>
          <a:bodyPr rtlCol="0" anchor="ctr"/>
          <a:lstStyle/>
          <a:p>
            <a:pPr algn="ctr"/>
          </a:p>
        </p:txBody>
      </p:sp>
      <p:sp>
        <p:nvSpPr>
          <p:cNvPr id="18" name="Freeform 17"/>
          <p:cNvSpPr/>
          <p:nvPr/>
        </p:nvSpPr>
        <p:spPr>
          <a:xfrm>
            <a:off x="2937139" y="3835297"/>
            <a:ext cx="1426565" cy="1079374"/>
          </a:xfrm>
          <a:custGeom>
            <a:avLst/>
            <a:gdLst/>
            <a:ahLst/>
            <a:cxnLst/>
            <a:rect l="l" t="t" r="r" b="b"/>
            <a:pathLst>
              <a:path w="1426565" h="1079374">
                <a:moveTo>
                  <a:pt x="1423670" y="520803"/>
                </a:moveTo>
                <a:lnTo>
                  <a:pt x="1426490" y="592990"/>
                </a:lnTo>
                <a:lnTo>
                  <a:pt x="1426565" y="669067"/>
                </a:lnTo>
                <a:lnTo>
                  <a:pt x="1418895" y="744024"/>
                </a:lnTo>
                <a:lnTo>
                  <a:pt x="1398480" y="812851"/>
                </a:lnTo>
                <a:lnTo>
                  <a:pt x="1360319" y="870538"/>
                </a:lnTo>
                <a:lnTo>
                  <a:pt x="1299159" y="915776"/>
                </a:lnTo>
                <a:lnTo>
                  <a:pt x="1218332" y="951904"/>
                </a:lnTo>
                <a:lnTo>
                  <a:pt x="1125719" y="980887"/>
                </a:lnTo>
                <a:lnTo>
                  <a:pt x="1029205" y="1004690"/>
                </a:lnTo>
                <a:lnTo>
                  <a:pt x="936668" y="1025279"/>
                </a:lnTo>
                <a:lnTo>
                  <a:pt x="845077" y="1045590"/>
                </a:lnTo>
                <a:lnTo>
                  <a:pt x="749177" y="1064313"/>
                </a:lnTo>
                <a:lnTo>
                  <a:pt x="653518" y="1077043"/>
                </a:lnTo>
                <a:lnTo>
                  <a:pt x="562650" y="1079374"/>
                </a:lnTo>
                <a:lnTo>
                  <a:pt x="481125" y="1066903"/>
                </a:lnTo>
                <a:lnTo>
                  <a:pt x="409633" y="1035458"/>
                </a:lnTo>
                <a:lnTo>
                  <a:pt x="345141" y="987976"/>
                </a:lnTo>
                <a:lnTo>
                  <a:pt x="286611" y="930713"/>
                </a:lnTo>
                <a:lnTo>
                  <a:pt x="233009" y="869923"/>
                </a:lnTo>
                <a:lnTo>
                  <a:pt x="183297" y="811864"/>
                </a:lnTo>
                <a:lnTo>
                  <a:pt x="133038" y="755737"/>
                </a:lnTo>
                <a:lnTo>
                  <a:pt x="82923" y="697373"/>
                </a:lnTo>
                <a:lnTo>
                  <a:pt x="39609" y="637967"/>
                </a:lnTo>
                <a:lnTo>
                  <a:pt x="9749" y="578712"/>
                </a:lnTo>
                <a:lnTo>
                  <a:pt x="0" y="520803"/>
                </a:lnTo>
                <a:lnTo>
                  <a:pt x="15357" y="463748"/>
                </a:lnTo>
                <a:lnTo>
                  <a:pt x="51383" y="406751"/>
                </a:lnTo>
                <a:lnTo>
                  <a:pt x="100586" y="350549"/>
                </a:lnTo>
                <a:lnTo>
                  <a:pt x="155471" y="295883"/>
                </a:lnTo>
                <a:lnTo>
                  <a:pt x="208546" y="243489"/>
                </a:lnTo>
                <a:lnTo>
                  <a:pt x="258908" y="189690"/>
                </a:lnTo>
                <a:lnTo>
                  <a:pt x="311551" y="133993"/>
                </a:lnTo>
                <a:lnTo>
                  <a:pt x="367831" y="81916"/>
                </a:lnTo>
                <a:lnTo>
                  <a:pt x="429106" y="38976"/>
                </a:lnTo>
                <a:lnTo>
                  <a:pt x="496730" y="10692"/>
                </a:lnTo>
                <a:lnTo>
                  <a:pt x="573048" y="0"/>
                </a:lnTo>
                <a:lnTo>
                  <a:pt x="657156" y="3221"/>
                </a:lnTo>
                <a:lnTo>
                  <a:pt x="745538" y="15951"/>
                </a:lnTo>
                <a:lnTo>
                  <a:pt x="834679" y="33784"/>
                </a:lnTo>
                <a:lnTo>
                  <a:pt x="921063" y="52316"/>
                </a:lnTo>
                <a:lnTo>
                  <a:pt x="1009732" y="69743"/>
                </a:lnTo>
                <a:lnTo>
                  <a:pt x="1103029" y="89005"/>
                </a:lnTo>
                <a:lnTo>
                  <a:pt x="1193392" y="112802"/>
                </a:lnTo>
                <a:lnTo>
                  <a:pt x="1273260" y="143837"/>
                </a:lnTo>
                <a:lnTo>
                  <a:pt x="1335070" y="184814"/>
                </a:lnTo>
                <a:lnTo>
                  <a:pt x="1376047" y="238769"/>
                </a:lnTo>
                <a:lnTo>
                  <a:pt x="1401233" y="303899"/>
                </a:lnTo>
                <a:lnTo>
                  <a:pt x="1414790" y="375650"/>
                </a:lnTo>
                <a:lnTo>
                  <a:pt x="1420882" y="449470"/>
                </a:lnTo>
                <a:close/>
              </a:path>
            </a:pathLst>
          </a:custGeom>
          <a:solidFill>
            <a:srgbClr val="C9D5E3"/>
          </a:solidFill>
          <a:ln>
            <a:noFill/>
          </a:ln>
          <a:effectLst/>
        </p:spPr>
        <p:txBody>
          <a:bodyPr rtlCol="0" anchor="ctr"/>
          <a:lstStyle/>
          <a:p>
            <a:pPr algn="ctr"/>
          </a:p>
        </p:txBody>
      </p:sp>
      <p:sp>
        <p:nvSpPr>
          <p:cNvPr id="19" name="Freeform 18"/>
          <p:cNvSpPr/>
          <p:nvPr/>
        </p:nvSpPr>
        <p:spPr>
          <a:xfrm>
            <a:off x="2095359" y="3483050"/>
            <a:ext cx="1198880" cy="848999"/>
          </a:xfrm>
          <a:custGeom>
            <a:avLst/>
            <a:gdLst/>
            <a:ahLst/>
            <a:cxnLst/>
            <a:rect l="l" t="t" r="r" b="b"/>
            <a:pathLst>
              <a:path w="1198880" h="848999">
                <a:moveTo>
                  <a:pt x="1198880" y="415850"/>
                </a:moveTo>
                <a:lnTo>
                  <a:pt x="1191111" y="467411"/>
                </a:lnTo>
                <a:lnTo>
                  <a:pt x="1168005" y="520623"/>
                </a:lnTo>
                <a:lnTo>
                  <a:pt x="1133582" y="573387"/>
                </a:lnTo>
                <a:lnTo>
                  <a:pt x="1091862" y="623606"/>
                </a:lnTo>
                <a:lnTo>
                  <a:pt x="1046864" y="669181"/>
                </a:lnTo>
                <a:lnTo>
                  <a:pt x="997439" y="712167"/>
                </a:lnTo>
                <a:lnTo>
                  <a:pt x="940909" y="753965"/>
                </a:lnTo>
                <a:lnTo>
                  <a:pt x="878995" y="791489"/>
                </a:lnTo>
                <a:lnTo>
                  <a:pt x="813420" y="821657"/>
                </a:lnTo>
                <a:lnTo>
                  <a:pt x="745906" y="841384"/>
                </a:lnTo>
                <a:lnTo>
                  <a:pt x="674020" y="848999"/>
                </a:lnTo>
                <a:lnTo>
                  <a:pt x="596613" y="846556"/>
                </a:lnTo>
                <a:lnTo>
                  <a:pt x="517336" y="836565"/>
                </a:lnTo>
                <a:lnTo>
                  <a:pt x="439838" y="821535"/>
                </a:lnTo>
                <a:lnTo>
                  <a:pt x="367771" y="803975"/>
                </a:lnTo>
                <a:lnTo>
                  <a:pt x="298515" y="783854"/>
                </a:lnTo>
                <a:lnTo>
                  <a:pt x="229635" y="759501"/>
                </a:lnTo>
                <a:lnTo>
                  <a:pt x="165062" y="730960"/>
                </a:lnTo>
                <a:lnTo>
                  <a:pt x="108725" y="698277"/>
                </a:lnTo>
                <a:lnTo>
                  <a:pt x="64554" y="661497"/>
                </a:lnTo>
                <a:lnTo>
                  <a:pt x="34105" y="618870"/>
                </a:lnTo>
                <a:lnTo>
                  <a:pt x="14757" y="570364"/>
                </a:lnTo>
                <a:lnTo>
                  <a:pt x="4177" y="518608"/>
                </a:lnTo>
                <a:lnTo>
                  <a:pt x="36" y="466227"/>
                </a:lnTo>
                <a:lnTo>
                  <a:pt x="0" y="415850"/>
                </a:lnTo>
                <a:lnTo>
                  <a:pt x="2789" y="365864"/>
                </a:lnTo>
                <a:lnTo>
                  <a:pt x="9958" y="314517"/>
                </a:lnTo>
                <a:lnTo>
                  <a:pt x="23427" y="264229"/>
                </a:lnTo>
                <a:lnTo>
                  <a:pt x="45117" y="217417"/>
                </a:lnTo>
                <a:lnTo>
                  <a:pt x="76949" y="176499"/>
                </a:lnTo>
                <a:lnTo>
                  <a:pt x="121438" y="141671"/>
                </a:lnTo>
                <a:lnTo>
                  <a:pt x="177304" y="111320"/>
                </a:lnTo>
                <a:lnTo>
                  <a:pt x="240773" y="85155"/>
                </a:lnTo>
                <a:lnTo>
                  <a:pt x="308074" y="62882"/>
                </a:lnTo>
                <a:lnTo>
                  <a:pt x="375432" y="44209"/>
                </a:lnTo>
                <a:lnTo>
                  <a:pt x="444943" y="27464"/>
                </a:lnTo>
                <a:lnTo>
                  <a:pt x="519122" y="12841"/>
                </a:lnTo>
                <a:lnTo>
                  <a:pt x="594827" y="2850"/>
                </a:lnTo>
                <a:lnTo>
                  <a:pt x="668915" y="0"/>
                </a:lnTo>
                <a:lnTo>
                  <a:pt x="738246" y="6799"/>
                </a:lnTo>
                <a:lnTo>
                  <a:pt x="803861" y="25079"/>
                </a:lnTo>
                <a:lnTo>
                  <a:pt x="867856" y="53166"/>
                </a:lnTo>
                <a:lnTo>
                  <a:pt x="928666" y="88315"/>
                </a:lnTo>
                <a:lnTo>
                  <a:pt x="984726" y="127780"/>
                </a:lnTo>
                <a:lnTo>
                  <a:pt x="1034469" y="168816"/>
                </a:lnTo>
                <a:lnTo>
                  <a:pt x="1080850" y="212681"/>
                </a:lnTo>
                <a:lnTo>
                  <a:pt x="1124912" y="261206"/>
                </a:lnTo>
                <a:lnTo>
                  <a:pt x="1162225" y="312502"/>
                </a:lnTo>
                <a:lnTo>
                  <a:pt x="1188358" y="364680"/>
                </a:lnTo>
                <a:close/>
              </a:path>
            </a:pathLst>
          </a:custGeom>
          <a:solidFill>
            <a:srgbClr val="C9D5E3"/>
          </a:solidFill>
          <a:ln>
            <a:noFill/>
          </a:ln>
          <a:effectLst/>
        </p:spPr>
        <p:txBody>
          <a:bodyPr rtlCol="0" anchor="ctr"/>
          <a:lstStyle/>
          <a:p>
            <a:pPr algn="ctr"/>
          </a:p>
        </p:txBody>
      </p:sp>
      <p:sp>
        <p:nvSpPr>
          <p:cNvPr id="20" name="Freeform 19"/>
          <p:cNvSpPr/>
          <p:nvPr/>
        </p:nvSpPr>
        <p:spPr>
          <a:xfrm>
            <a:off x="4434629" y="4460735"/>
            <a:ext cx="1274708" cy="860907"/>
          </a:xfrm>
          <a:custGeom>
            <a:avLst/>
            <a:gdLst/>
            <a:ahLst/>
            <a:cxnLst/>
            <a:rect l="l" t="t" r="r" b="b"/>
            <a:pathLst>
              <a:path w="1274708" h="860907">
                <a:moveTo>
                  <a:pt x="1274708" y="428765"/>
                </a:moveTo>
                <a:lnTo>
                  <a:pt x="1263163" y="479183"/>
                </a:lnTo>
                <a:lnTo>
                  <a:pt x="1232216" y="530749"/>
                </a:lnTo>
                <a:lnTo>
                  <a:pt x="1188170" y="581814"/>
                </a:lnTo>
                <a:lnTo>
                  <a:pt x="1137325" y="630730"/>
                </a:lnTo>
                <a:lnTo>
                  <a:pt x="1085986" y="675846"/>
                </a:lnTo>
                <a:lnTo>
                  <a:pt x="1033699" y="719803"/>
                </a:lnTo>
                <a:lnTo>
                  <a:pt x="976261" y="763700"/>
                </a:lnTo>
                <a:lnTo>
                  <a:pt x="914354" y="803577"/>
                </a:lnTo>
                <a:lnTo>
                  <a:pt x="848656" y="835474"/>
                </a:lnTo>
                <a:lnTo>
                  <a:pt x="779849" y="855429"/>
                </a:lnTo>
                <a:lnTo>
                  <a:pt x="705491" y="860907"/>
                </a:lnTo>
                <a:lnTo>
                  <a:pt x="625129" y="854547"/>
                </a:lnTo>
                <a:lnTo>
                  <a:pt x="542425" y="840154"/>
                </a:lnTo>
                <a:lnTo>
                  <a:pt x="461038" y="821535"/>
                </a:lnTo>
                <a:lnTo>
                  <a:pt x="384631" y="802494"/>
                </a:lnTo>
                <a:lnTo>
                  <a:pt x="309743" y="783767"/>
                </a:lnTo>
                <a:lnTo>
                  <a:pt x="233933" y="762816"/>
                </a:lnTo>
                <a:lnTo>
                  <a:pt x="162392" y="738540"/>
                </a:lnTo>
                <a:lnTo>
                  <a:pt x="100311" y="709833"/>
                </a:lnTo>
                <a:lnTo>
                  <a:pt x="52881" y="675595"/>
                </a:lnTo>
                <a:lnTo>
                  <a:pt x="22875" y="633885"/>
                </a:lnTo>
                <a:lnTo>
                  <a:pt x="6831" y="585439"/>
                </a:lnTo>
                <a:lnTo>
                  <a:pt x="592" y="533165"/>
                </a:lnTo>
                <a:lnTo>
                  <a:pt x="0" y="479971"/>
                </a:lnTo>
                <a:lnTo>
                  <a:pt x="898" y="428765"/>
                </a:lnTo>
                <a:lnTo>
                  <a:pt x="571" y="377635"/>
                </a:lnTo>
                <a:lnTo>
                  <a:pt x="1791" y="324643"/>
                </a:lnTo>
                <a:lnTo>
                  <a:pt x="8630" y="272656"/>
                </a:lnTo>
                <a:lnTo>
                  <a:pt x="25159" y="224541"/>
                </a:lnTo>
                <a:lnTo>
                  <a:pt x="55452" y="183164"/>
                </a:lnTo>
                <a:lnTo>
                  <a:pt x="102948" y="149307"/>
                </a:lnTo>
                <a:lnTo>
                  <a:pt x="164931" y="121056"/>
                </a:lnTo>
                <a:lnTo>
                  <a:pt x="236243" y="97243"/>
                </a:lnTo>
                <a:lnTo>
                  <a:pt x="311726" y="76699"/>
                </a:lnTo>
                <a:lnTo>
                  <a:pt x="386220" y="58254"/>
                </a:lnTo>
                <a:lnTo>
                  <a:pt x="462097" y="39372"/>
                </a:lnTo>
                <a:lnTo>
                  <a:pt x="542795" y="20832"/>
                </a:lnTo>
                <a:lnTo>
                  <a:pt x="624759" y="6440"/>
                </a:lnTo>
                <a:lnTo>
                  <a:pt x="704433" y="0"/>
                </a:lnTo>
                <a:lnTo>
                  <a:pt x="778260" y="5318"/>
                </a:lnTo>
                <a:lnTo>
                  <a:pt x="846674" y="24991"/>
                </a:lnTo>
                <a:lnTo>
                  <a:pt x="912043" y="56482"/>
                </a:lnTo>
                <a:lnTo>
                  <a:pt x="973722" y="95895"/>
                </a:lnTo>
                <a:lnTo>
                  <a:pt x="1031062" y="139337"/>
                </a:lnTo>
                <a:lnTo>
                  <a:pt x="1083415" y="182913"/>
                </a:lnTo>
                <a:lnTo>
                  <a:pt x="1135041" y="227695"/>
                </a:lnTo>
                <a:lnTo>
                  <a:pt x="1186371" y="276280"/>
                </a:lnTo>
                <a:lnTo>
                  <a:pt x="1231018" y="327059"/>
                </a:lnTo>
                <a:lnTo>
                  <a:pt x="1262592" y="378424"/>
                </a:lnTo>
                <a:close/>
              </a:path>
            </a:pathLst>
          </a:custGeom>
          <a:solidFill>
            <a:srgbClr val="C9D5E3"/>
          </a:solidFill>
          <a:ln>
            <a:noFill/>
          </a:ln>
          <a:effectLst/>
        </p:spPr>
        <p:txBody>
          <a:bodyPr rtlCol="0" anchor="ctr"/>
          <a:lstStyle/>
          <a:p>
            <a:pPr algn="ctr"/>
          </a:p>
        </p:txBody>
      </p:sp>
      <p:sp>
        <p:nvSpPr>
          <p:cNvPr id="21" name="Freeform 20"/>
          <p:cNvSpPr/>
          <p:nvPr/>
        </p:nvSpPr>
        <p:spPr>
          <a:xfrm>
            <a:off x="1606186" y="4844969"/>
            <a:ext cx="1423670" cy="839960"/>
          </a:xfrm>
          <a:custGeom>
            <a:avLst/>
            <a:gdLst/>
            <a:ahLst/>
            <a:cxnLst/>
            <a:rect l="l" t="t" r="r" b="b"/>
            <a:pathLst>
              <a:path w="1423670" h="839960">
                <a:moveTo>
                  <a:pt x="1423670" y="425531"/>
                </a:moveTo>
                <a:lnTo>
                  <a:pt x="1420777" y="481436"/>
                </a:lnTo>
                <a:lnTo>
                  <a:pt x="1412065" y="539502"/>
                </a:lnTo>
                <a:lnTo>
                  <a:pt x="1394713" y="596250"/>
                </a:lnTo>
                <a:lnTo>
                  <a:pt x="1365902" y="648205"/>
                </a:lnTo>
                <a:lnTo>
                  <a:pt x="1322812" y="691887"/>
                </a:lnTo>
                <a:lnTo>
                  <a:pt x="1260859" y="726492"/>
                </a:lnTo>
                <a:lnTo>
                  <a:pt x="1181923" y="754338"/>
                </a:lnTo>
                <a:lnTo>
                  <a:pt x="1092880" y="776633"/>
                </a:lnTo>
                <a:lnTo>
                  <a:pt x="1000609" y="794587"/>
                </a:lnTo>
                <a:lnTo>
                  <a:pt x="911986" y="809410"/>
                </a:lnTo>
                <a:lnTo>
                  <a:pt x="824449" y="822722"/>
                </a:lnTo>
                <a:lnTo>
                  <a:pt x="733414" y="833715"/>
                </a:lnTo>
                <a:lnTo>
                  <a:pt x="642723" y="839960"/>
                </a:lnTo>
                <a:lnTo>
                  <a:pt x="556221" y="839029"/>
                </a:lnTo>
                <a:lnTo>
                  <a:pt x="477752" y="828492"/>
                </a:lnTo>
                <a:lnTo>
                  <a:pt x="407627" y="805822"/>
                </a:lnTo>
                <a:lnTo>
                  <a:pt x="343286" y="772641"/>
                </a:lnTo>
                <a:lnTo>
                  <a:pt x="284258" y="732735"/>
                </a:lnTo>
                <a:lnTo>
                  <a:pt x="230075" y="689895"/>
                </a:lnTo>
                <a:lnTo>
                  <a:pt x="180268" y="647909"/>
                </a:lnTo>
                <a:lnTo>
                  <a:pt x="131092" y="606171"/>
                </a:lnTo>
                <a:lnTo>
                  <a:pt x="82859" y="562156"/>
                </a:lnTo>
                <a:lnTo>
                  <a:pt x="41187" y="516772"/>
                </a:lnTo>
                <a:lnTo>
                  <a:pt x="11695" y="470928"/>
                </a:lnTo>
                <a:lnTo>
                  <a:pt x="0" y="425531"/>
                </a:lnTo>
                <a:lnTo>
                  <a:pt x="9645" y="379889"/>
                </a:lnTo>
                <a:lnTo>
                  <a:pt x="36883" y="333396"/>
                </a:lnTo>
                <a:lnTo>
                  <a:pt x="76403" y="287092"/>
                </a:lnTo>
                <a:lnTo>
                  <a:pt x="122892" y="242015"/>
                </a:lnTo>
                <a:lnTo>
                  <a:pt x="171039" y="199206"/>
                </a:lnTo>
                <a:lnTo>
                  <a:pt x="220608" y="155996"/>
                </a:lnTo>
                <a:lnTo>
                  <a:pt x="275142" y="111693"/>
                </a:lnTo>
                <a:lnTo>
                  <a:pt x="334992" y="70298"/>
                </a:lnTo>
                <a:lnTo>
                  <a:pt x="400510" y="35812"/>
                </a:lnTo>
                <a:lnTo>
                  <a:pt x="472048" y="12235"/>
                </a:lnTo>
                <a:lnTo>
                  <a:pt x="552420" y="1186"/>
                </a:lnTo>
                <a:lnTo>
                  <a:pt x="641393" y="0"/>
                </a:lnTo>
                <a:lnTo>
                  <a:pt x="734743" y="6245"/>
                </a:lnTo>
                <a:lnTo>
                  <a:pt x="828250" y="17494"/>
                </a:lnTo>
                <a:lnTo>
                  <a:pt x="917690" y="31316"/>
                </a:lnTo>
                <a:lnTo>
                  <a:pt x="1007726" y="47047"/>
                </a:lnTo>
                <a:lnTo>
                  <a:pt x="1101174" y="66306"/>
                </a:lnTo>
                <a:lnTo>
                  <a:pt x="1191038" y="90091"/>
                </a:lnTo>
                <a:lnTo>
                  <a:pt x="1270326" y="119398"/>
                </a:lnTo>
                <a:lnTo>
                  <a:pt x="1332041" y="155227"/>
                </a:lnTo>
                <a:lnTo>
                  <a:pt x="1374101" y="199982"/>
                </a:lnTo>
                <a:lnTo>
                  <a:pt x="1401168" y="252998"/>
                </a:lnTo>
                <a:lnTo>
                  <a:pt x="1416368" y="310667"/>
                </a:lnTo>
                <a:lnTo>
                  <a:pt x="1422827" y="369381"/>
                </a:lnTo>
                <a:close/>
              </a:path>
            </a:pathLst>
          </a:custGeom>
          <a:solidFill>
            <a:srgbClr val="C9D5E3"/>
          </a:solidFill>
          <a:ln>
            <a:noFill/>
          </a:ln>
          <a:effectLst/>
        </p:spPr>
        <p:txBody>
          <a:bodyPr rtlCol="0" anchor="ctr"/>
          <a:lstStyle/>
          <a:p>
            <a:pPr algn="ctr"/>
          </a:p>
        </p:txBody>
      </p:sp>
      <p:sp>
        <p:nvSpPr>
          <p:cNvPr id="22" name="Freeform 21"/>
          <p:cNvSpPr/>
          <p:nvPr/>
        </p:nvSpPr>
        <p:spPr>
          <a:xfrm>
            <a:off x="1007165" y="2171556"/>
            <a:ext cx="1648460" cy="839220"/>
          </a:xfrm>
          <a:custGeom>
            <a:avLst/>
            <a:gdLst/>
            <a:ahLst/>
            <a:cxnLst/>
            <a:rect l="l" t="t" r="r" b="b"/>
            <a:pathLst>
              <a:path w="1648460" h="839220">
                <a:moveTo>
                  <a:pt x="1648460" y="431944"/>
                </a:moveTo>
                <a:lnTo>
                  <a:pt x="1643061" y="487094"/>
                </a:lnTo>
                <a:lnTo>
                  <a:pt x="1629965" y="544059"/>
                </a:lnTo>
                <a:lnTo>
                  <a:pt x="1606694" y="599590"/>
                </a:lnTo>
                <a:lnTo>
                  <a:pt x="1570772" y="650439"/>
                </a:lnTo>
                <a:lnTo>
                  <a:pt x="1519725" y="693357"/>
                </a:lnTo>
                <a:lnTo>
                  <a:pt x="1448627" y="727646"/>
                </a:lnTo>
                <a:lnTo>
                  <a:pt x="1359129" y="755473"/>
                </a:lnTo>
                <a:lnTo>
                  <a:pt x="1258618" y="777883"/>
                </a:lnTo>
                <a:lnTo>
                  <a:pt x="1154481" y="795925"/>
                </a:lnTo>
                <a:lnTo>
                  <a:pt x="1054104" y="810646"/>
                </a:lnTo>
                <a:lnTo>
                  <a:pt x="954698" y="823475"/>
                </a:lnTo>
                <a:lnTo>
                  <a:pt x="851339" y="833714"/>
                </a:lnTo>
                <a:lnTo>
                  <a:pt x="748211" y="839220"/>
                </a:lnTo>
                <a:lnTo>
                  <a:pt x="649496" y="837847"/>
                </a:lnTo>
                <a:lnTo>
                  <a:pt x="559376" y="827453"/>
                </a:lnTo>
                <a:lnTo>
                  <a:pt x="477941" y="805791"/>
                </a:lnTo>
                <a:lnTo>
                  <a:pt x="402402" y="774290"/>
                </a:lnTo>
                <a:lnTo>
                  <a:pt x="332626" y="736320"/>
                </a:lnTo>
                <a:lnTo>
                  <a:pt x="268481" y="695247"/>
                </a:lnTo>
                <a:lnTo>
                  <a:pt x="209838" y="654441"/>
                </a:lnTo>
                <a:lnTo>
                  <a:pt x="152594" y="613249"/>
                </a:lnTo>
                <a:lnTo>
                  <a:pt x="96839" y="569426"/>
                </a:lnTo>
                <a:lnTo>
                  <a:pt x="48722" y="523949"/>
                </a:lnTo>
                <a:lnTo>
                  <a:pt x="14393" y="477796"/>
                </a:lnTo>
                <a:lnTo>
                  <a:pt x="0" y="431944"/>
                </a:lnTo>
                <a:lnTo>
                  <a:pt x="9119" y="385547"/>
                </a:lnTo>
                <a:lnTo>
                  <a:pt x="37649" y="337953"/>
                </a:lnTo>
                <a:lnTo>
                  <a:pt x="80230" y="290431"/>
                </a:lnTo>
                <a:lnTo>
                  <a:pt x="131498" y="244250"/>
                </a:lnTo>
                <a:lnTo>
                  <a:pt x="186093" y="200676"/>
                </a:lnTo>
                <a:lnTo>
                  <a:pt x="244126" y="157150"/>
                </a:lnTo>
                <a:lnTo>
                  <a:pt x="309173" y="112828"/>
                </a:lnTo>
                <a:lnTo>
                  <a:pt x="381064" y="71548"/>
                </a:lnTo>
                <a:lnTo>
                  <a:pt x="459630" y="37149"/>
                </a:lnTo>
                <a:lnTo>
                  <a:pt x="544701" y="13470"/>
                </a:lnTo>
                <a:lnTo>
                  <a:pt x="639717" y="1940"/>
                </a:lnTo>
                <a:lnTo>
                  <a:pt x="744789" y="0"/>
                </a:lnTo>
                <a:lnTo>
                  <a:pt x="854761" y="5505"/>
                </a:lnTo>
                <a:lnTo>
                  <a:pt x="964476" y="16312"/>
                </a:lnTo>
                <a:lnTo>
                  <a:pt x="1068779" y="30277"/>
                </a:lnTo>
                <a:lnTo>
                  <a:pt x="1172793" y="47015"/>
                </a:lnTo>
                <a:lnTo>
                  <a:pt x="1279956" y="67956"/>
                </a:lnTo>
                <a:lnTo>
                  <a:pt x="1382582" y="93675"/>
                </a:lnTo>
                <a:lnTo>
                  <a:pt x="1472983" y="124751"/>
                </a:lnTo>
                <a:lnTo>
                  <a:pt x="1543470" y="161759"/>
                </a:lnTo>
                <a:lnTo>
                  <a:pt x="1591868" y="207059"/>
                </a:lnTo>
                <a:lnTo>
                  <a:pt x="1623303" y="260267"/>
                </a:lnTo>
                <a:lnTo>
                  <a:pt x="1641038" y="317844"/>
                </a:lnTo>
                <a:lnTo>
                  <a:pt x="1648335" y="376249"/>
                </a:lnTo>
                <a:close/>
              </a:path>
            </a:pathLst>
          </a:custGeom>
          <a:solidFill>
            <a:srgbClr val="D5E3CC"/>
          </a:solidFill>
          <a:ln w="12700">
            <a:solidFill>
              <a:srgbClr val="8FAE82"/>
            </a:solidFill>
          </a:ln>
          <a:effectLst/>
        </p:spPr>
        <p:txBody>
          <a:bodyPr rtlCol="0" anchor="ctr"/>
          <a:lstStyle/>
          <a:p>
            <a:pPr algn="ctr"/>
          </a:p>
        </p:txBody>
      </p:sp>
      <p:sp>
        <p:nvSpPr>
          <p:cNvPr id="23" name="Freeform 22"/>
          <p:cNvSpPr/>
          <p:nvPr/>
        </p:nvSpPr>
        <p:spPr>
          <a:xfrm>
            <a:off x="6608066" y="2898307"/>
            <a:ext cx="753061" cy="531625"/>
          </a:xfrm>
          <a:custGeom>
            <a:avLst/>
            <a:gdLst/>
            <a:ahLst/>
            <a:cxnLst/>
            <a:rect l="l" t="t" r="r" b="b"/>
            <a:pathLst>
              <a:path w="753061" h="531625">
                <a:moveTo>
                  <a:pt x="753061" y="276693"/>
                </a:moveTo>
                <a:lnTo>
                  <a:pt x="744265" y="306919"/>
                </a:lnTo>
                <a:lnTo>
                  <a:pt x="723780" y="337327"/>
                </a:lnTo>
                <a:lnTo>
                  <a:pt x="695731" y="367169"/>
                </a:lnTo>
                <a:lnTo>
                  <a:pt x="664244" y="395696"/>
                </a:lnTo>
                <a:lnTo>
                  <a:pt x="633443" y="422159"/>
                </a:lnTo>
                <a:lnTo>
                  <a:pt x="603313" y="448140"/>
                </a:lnTo>
                <a:lnTo>
                  <a:pt x="571103" y="474137"/>
                </a:lnTo>
                <a:lnTo>
                  <a:pt x="536837" y="497779"/>
                </a:lnTo>
                <a:lnTo>
                  <a:pt x="500539" y="516695"/>
                </a:lnTo>
                <a:lnTo>
                  <a:pt x="462234" y="528512"/>
                </a:lnTo>
                <a:lnTo>
                  <a:pt x="420721" y="531625"/>
                </a:lnTo>
                <a:lnTo>
                  <a:pt x="375985" y="527613"/>
                </a:lnTo>
                <a:lnTo>
                  <a:pt x="329824" y="518887"/>
                </a:lnTo>
                <a:lnTo>
                  <a:pt x="284040" y="507858"/>
                </a:lnTo>
                <a:lnTo>
                  <a:pt x="240430" y="496937"/>
                </a:lnTo>
                <a:lnTo>
                  <a:pt x="196855" y="486837"/>
                </a:lnTo>
                <a:lnTo>
                  <a:pt x="152115" y="475952"/>
                </a:lnTo>
                <a:lnTo>
                  <a:pt x="109420" y="463211"/>
                </a:lnTo>
                <a:lnTo>
                  <a:pt x="71982" y="447541"/>
                </a:lnTo>
                <a:lnTo>
                  <a:pt x="43011" y="427873"/>
                </a:lnTo>
                <a:lnTo>
                  <a:pt x="24035" y="403019"/>
                </a:lnTo>
                <a:lnTo>
                  <a:pt x="12912" y="373694"/>
                </a:lnTo>
                <a:lnTo>
                  <a:pt x="7352" y="341677"/>
                </a:lnTo>
                <a:lnTo>
                  <a:pt x="5065" y="308750"/>
                </a:lnTo>
                <a:lnTo>
                  <a:pt x="3761" y="276693"/>
                </a:lnTo>
                <a:lnTo>
                  <a:pt x="1564" y="244144"/>
                </a:lnTo>
                <a:lnTo>
                  <a:pt x="0" y="209916"/>
                </a:lnTo>
                <a:lnTo>
                  <a:pt x="1884" y="176053"/>
                </a:lnTo>
                <a:lnTo>
                  <a:pt x="10029" y="144597"/>
                </a:lnTo>
                <a:lnTo>
                  <a:pt x="27247" y="117592"/>
                </a:lnTo>
                <a:lnTo>
                  <a:pt x="55812" y="95469"/>
                </a:lnTo>
                <a:lnTo>
                  <a:pt x="93849" y="76866"/>
                </a:lnTo>
                <a:lnTo>
                  <a:pt x="137948" y="61136"/>
                </a:lnTo>
                <a:lnTo>
                  <a:pt x="184698" y="47634"/>
                </a:lnTo>
                <a:lnTo>
                  <a:pt x="230687" y="35713"/>
                </a:lnTo>
                <a:lnTo>
                  <a:pt x="277548" y="23766"/>
                </a:lnTo>
                <a:lnTo>
                  <a:pt x="327553" y="12225"/>
                </a:lnTo>
                <a:lnTo>
                  <a:pt x="378256" y="3500"/>
                </a:lnTo>
                <a:lnTo>
                  <a:pt x="427213" y="0"/>
                </a:lnTo>
                <a:lnTo>
                  <a:pt x="471977" y="4138"/>
                </a:lnTo>
                <a:lnTo>
                  <a:pt x="512697" y="17776"/>
                </a:lnTo>
                <a:lnTo>
                  <a:pt x="551004" y="39309"/>
                </a:lnTo>
                <a:lnTo>
                  <a:pt x="586673" y="65940"/>
                </a:lnTo>
                <a:lnTo>
                  <a:pt x="619483" y="94871"/>
                </a:lnTo>
                <a:lnTo>
                  <a:pt x="649208" y="123306"/>
                </a:lnTo>
                <a:lnTo>
                  <a:pt x="678250" y="151921"/>
                </a:lnTo>
                <a:lnTo>
                  <a:pt x="706759" y="182578"/>
                </a:lnTo>
                <a:lnTo>
                  <a:pt x="731132" y="214266"/>
                </a:lnTo>
                <a:lnTo>
                  <a:pt x="747766" y="245975"/>
                </a:lnTo>
                <a:close/>
              </a:path>
            </a:pathLst>
          </a:custGeom>
          <a:solidFill>
            <a:srgbClr val="D4CCBE"/>
          </a:solidFill>
          <a:ln>
            <a:noFill/>
          </a:ln>
          <a:effectLst/>
        </p:spPr>
        <p:txBody>
          <a:bodyPr rtlCol="0" anchor="ctr"/>
          <a:lstStyle/>
          <a:p>
            <a:pPr algn="ctr"/>
          </a:p>
        </p:txBody>
      </p:sp>
      <p:sp>
        <p:nvSpPr>
          <p:cNvPr id="24" name="Freeform 23"/>
          <p:cNvSpPr/>
          <p:nvPr/>
        </p:nvSpPr>
        <p:spPr>
          <a:xfrm>
            <a:off x="876967" y="1734922"/>
            <a:ext cx="6613857" cy="2259226"/>
          </a:xfrm>
          <a:custGeom>
            <a:avLst/>
            <a:gdLst/>
            <a:ahLst/>
            <a:cxnLst/>
            <a:rect l="l" t="t" r="r" b="b"/>
            <a:pathLst>
              <a:path w="6613857" h="2259226">
                <a:moveTo>
                  <a:pt x="0" y="1207"/>
                </a:moveTo>
                <a:lnTo>
                  <a:pt x="83066" y="0"/>
                </a:lnTo>
                <a:lnTo>
                  <a:pt x="162534" y="15146"/>
                </a:lnTo>
                <a:lnTo>
                  <a:pt x="238943" y="42765"/>
                </a:lnTo>
                <a:lnTo>
                  <a:pt x="313338" y="77026"/>
                </a:lnTo>
                <a:lnTo>
                  <a:pt x="387058" y="112638"/>
                </a:lnTo>
                <a:lnTo>
                  <a:pt x="461186" y="144614"/>
                </a:lnTo>
                <a:lnTo>
                  <a:pt x="537345" y="168419"/>
                </a:lnTo>
                <a:lnTo>
                  <a:pt x="617840" y="183698"/>
                </a:lnTo>
                <a:lnTo>
                  <a:pt x="702585" y="194231"/>
                </a:lnTo>
                <a:lnTo>
                  <a:pt x="790192" y="201928"/>
                </a:lnTo>
                <a:lnTo>
                  <a:pt x="879573" y="208847"/>
                </a:lnTo>
                <a:lnTo>
                  <a:pt x="969676" y="217108"/>
                </a:lnTo>
                <a:lnTo>
                  <a:pt x="1059162" y="228837"/>
                </a:lnTo>
                <a:lnTo>
                  <a:pt x="1147549" y="244312"/>
                </a:lnTo>
                <a:lnTo>
                  <a:pt x="1235507" y="261846"/>
                </a:lnTo>
                <a:lnTo>
                  <a:pt x="1323194" y="280600"/>
                </a:lnTo>
                <a:lnTo>
                  <a:pt x="1410612" y="299720"/>
                </a:lnTo>
                <a:lnTo>
                  <a:pt x="1497762" y="318361"/>
                </a:lnTo>
                <a:lnTo>
                  <a:pt x="1584714" y="335696"/>
                </a:lnTo>
                <a:lnTo>
                  <a:pt x="1671696" y="351385"/>
                </a:lnTo>
                <a:lnTo>
                  <a:pt x="1758874" y="366055"/>
                </a:lnTo>
                <a:lnTo>
                  <a:pt x="1846258" y="380337"/>
                </a:lnTo>
                <a:lnTo>
                  <a:pt x="1933848" y="394865"/>
                </a:lnTo>
                <a:lnTo>
                  <a:pt x="2021642" y="410278"/>
                </a:lnTo>
                <a:lnTo>
                  <a:pt x="2109518" y="427193"/>
                </a:lnTo>
                <a:lnTo>
                  <a:pt x="2199014" y="445820"/>
                </a:lnTo>
                <a:lnTo>
                  <a:pt x="2290501" y="465701"/>
                </a:lnTo>
                <a:lnTo>
                  <a:pt x="2381998" y="486434"/>
                </a:lnTo>
                <a:lnTo>
                  <a:pt x="2471443" y="507599"/>
                </a:lnTo>
                <a:lnTo>
                  <a:pt x="2556780" y="528781"/>
                </a:lnTo>
                <a:lnTo>
                  <a:pt x="2635862" y="549542"/>
                </a:lnTo>
                <a:lnTo>
                  <a:pt x="2708549" y="569407"/>
                </a:lnTo>
                <a:lnTo>
                  <a:pt x="2776646" y="588667"/>
                </a:lnTo>
                <a:lnTo>
                  <a:pt x="2840827" y="608008"/>
                </a:lnTo>
                <a:lnTo>
                  <a:pt x="2901629" y="628090"/>
                </a:lnTo>
                <a:lnTo>
                  <a:pt x="2959570" y="649575"/>
                </a:lnTo>
                <a:lnTo>
                  <a:pt x="3015101" y="673106"/>
                </a:lnTo>
                <a:lnTo>
                  <a:pt x="3067979" y="698797"/>
                </a:lnTo>
                <a:lnTo>
                  <a:pt x="3117676" y="726130"/>
                </a:lnTo>
                <a:lnTo>
                  <a:pt x="3164182" y="754777"/>
                </a:lnTo>
                <a:lnTo>
                  <a:pt x="3207501" y="784416"/>
                </a:lnTo>
                <a:lnTo>
                  <a:pt x="3247635" y="814726"/>
                </a:lnTo>
                <a:lnTo>
                  <a:pt x="3285040" y="845788"/>
                </a:lnTo>
                <a:lnTo>
                  <a:pt x="3320163" y="880303"/>
                </a:lnTo>
                <a:lnTo>
                  <a:pt x="3352276" y="918278"/>
                </a:lnTo>
                <a:lnTo>
                  <a:pt x="3380653" y="956314"/>
                </a:lnTo>
                <a:lnTo>
                  <a:pt x="3404930" y="991462"/>
                </a:lnTo>
                <a:lnTo>
                  <a:pt x="3424523" y="1020571"/>
                </a:lnTo>
                <a:lnTo>
                  <a:pt x="3440876" y="1043700"/>
                </a:lnTo>
                <a:lnTo>
                  <a:pt x="3460586" y="1083294"/>
                </a:lnTo>
                <a:lnTo>
                  <a:pt x="3485016" y="1135597"/>
                </a:lnTo>
                <a:lnTo>
                  <a:pt x="3514311" y="1196727"/>
                </a:lnTo>
                <a:lnTo>
                  <a:pt x="3547978" y="1261751"/>
                </a:lnTo>
                <a:lnTo>
                  <a:pt x="3585355" y="1325514"/>
                </a:lnTo>
                <a:lnTo>
                  <a:pt x="3626059" y="1383367"/>
                </a:lnTo>
                <a:lnTo>
                  <a:pt x="3670810" y="1438145"/>
                </a:lnTo>
                <a:lnTo>
                  <a:pt x="3719942" y="1494031"/>
                </a:lnTo>
                <a:lnTo>
                  <a:pt x="3773000" y="1549118"/>
                </a:lnTo>
                <a:lnTo>
                  <a:pt x="3829938" y="1602048"/>
                </a:lnTo>
                <a:lnTo>
                  <a:pt x="3890695" y="1651469"/>
                </a:lnTo>
                <a:lnTo>
                  <a:pt x="3955357" y="1696148"/>
                </a:lnTo>
                <a:lnTo>
                  <a:pt x="4025604" y="1736922"/>
                </a:lnTo>
                <a:lnTo>
                  <a:pt x="4101843" y="1775019"/>
                </a:lnTo>
                <a:lnTo>
                  <a:pt x="4182374" y="1809891"/>
                </a:lnTo>
                <a:lnTo>
                  <a:pt x="4265570" y="1841060"/>
                </a:lnTo>
                <a:lnTo>
                  <a:pt x="4349809" y="1868070"/>
                </a:lnTo>
                <a:lnTo>
                  <a:pt x="4433467" y="1890480"/>
                </a:lnTo>
                <a:lnTo>
                  <a:pt x="4517706" y="1908550"/>
                </a:lnTo>
                <a:lnTo>
                  <a:pt x="4604051" y="1922675"/>
                </a:lnTo>
                <a:lnTo>
                  <a:pt x="4691421" y="1932637"/>
                </a:lnTo>
                <a:lnTo>
                  <a:pt x="4778732" y="1938221"/>
                </a:lnTo>
                <a:lnTo>
                  <a:pt x="4864900" y="1939227"/>
                </a:lnTo>
                <a:lnTo>
                  <a:pt x="4948775" y="1935467"/>
                </a:lnTo>
                <a:lnTo>
                  <a:pt x="5031054" y="1926297"/>
                </a:lnTo>
                <a:lnTo>
                  <a:pt x="5112984" y="1911719"/>
                </a:lnTo>
                <a:lnTo>
                  <a:pt x="5194133" y="1892527"/>
                </a:lnTo>
                <a:lnTo>
                  <a:pt x="5273951" y="1869536"/>
                </a:lnTo>
                <a:lnTo>
                  <a:pt x="5351893" y="1843571"/>
                </a:lnTo>
                <a:lnTo>
                  <a:pt x="5427308" y="1815506"/>
                </a:lnTo>
                <a:lnTo>
                  <a:pt x="5500543" y="1785178"/>
                </a:lnTo>
                <a:lnTo>
                  <a:pt x="5572127" y="1751878"/>
                </a:lnTo>
                <a:lnTo>
                  <a:pt x="5641591" y="1715700"/>
                </a:lnTo>
                <a:lnTo>
                  <a:pt x="5708404" y="1676769"/>
                </a:lnTo>
                <a:lnTo>
                  <a:pt x="5772033" y="1635216"/>
                </a:lnTo>
                <a:lnTo>
                  <a:pt x="5831872" y="1591239"/>
                </a:lnTo>
                <a:lnTo>
                  <a:pt x="5888100" y="1543828"/>
                </a:lnTo>
                <a:lnTo>
                  <a:pt x="5941421" y="1492471"/>
                </a:lnTo>
                <a:lnTo>
                  <a:pt x="5991904" y="1438205"/>
                </a:lnTo>
                <a:lnTo>
                  <a:pt x="6039497" y="1382187"/>
                </a:lnTo>
                <a:lnTo>
                  <a:pt x="6084158" y="1325575"/>
                </a:lnTo>
                <a:lnTo>
                  <a:pt x="6125441" y="1270124"/>
                </a:lnTo>
                <a:lnTo>
                  <a:pt x="6161464" y="1214083"/>
                </a:lnTo>
                <a:lnTo>
                  <a:pt x="6192611" y="1155037"/>
                </a:lnTo>
                <a:lnTo>
                  <a:pt x="6221269" y="1094464"/>
                </a:lnTo>
                <a:lnTo>
                  <a:pt x="6249469" y="1034595"/>
                </a:lnTo>
                <a:lnTo>
                  <a:pt x="6279473" y="977614"/>
                </a:lnTo>
                <a:lnTo>
                  <a:pt x="6313246" y="926551"/>
                </a:lnTo>
                <a:lnTo>
                  <a:pt x="6349235" y="882441"/>
                </a:lnTo>
                <a:lnTo>
                  <a:pt x="6384836" y="844004"/>
                </a:lnTo>
                <a:lnTo>
                  <a:pt x="6613857" y="1063508"/>
                </a:lnTo>
                <a:lnTo>
                  <a:pt x="6585092" y="1094327"/>
                </a:lnTo>
                <a:lnTo>
                  <a:pt x="6565481" y="1117936"/>
                </a:lnTo>
                <a:lnTo>
                  <a:pt x="6549396" y="1142163"/>
                </a:lnTo>
                <a:lnTo>
                  <a:pt x="6530289" y="1179059"/>
                </a:lnTo>
                <a:lnTo>
                  <a:pt x="6504974" y="1232977"/>
                </a:lnTo>
                <a:lnTo>
                  <a:pt x="6473080" y="1300205"/>
                </a:lnTo>
                <a:lnTo>
                  <a:pt x="6432056" y="1377491"/>
                </a:lnTo>
                <a:lnTo>
                  <a:pt x="6382712" y="1454445"/>
                </a:lnTo>
                <a:lnTo>
                  <a:pt x="6332341" y="1522363"/>
                </a:lnTo>
                <a:lnTo>
                  <a:pt x="6281291" y="1587034"/>
                </a:lnTo>
                <a:lnTo>
                  <a:pt x="6225298" y="1652893"/>
                </a:lnTo>
                <a:lnTo>
                  <a:pt x="6163988" y="1718737"/>
                </a:lnTo>
                <a:lnTo>
                  <a:pt x="6096854" y="1783322"/>
                </a:lnTo>
                <a:lnTo>
                  <a:pt x="6024553" y="1844281"/>
                </a:lnTo>
                <a:lnTo>
                  <a:pt x="5949230" y="1899703"/>
                </a:lnTo>
                <a:lnTo>
                  <a:pt x="5871658" y="1950379"/>
                </a:lnTo>
                <a:lnTo>
                  <a:pt x="5791552" y="1997069"/>
                </a:lnTo>
                <a:lnTo>
                  <a:pt x="5709322" y="2039905"/>
                </a:lnTo>
                <a:lnTo>
                  <a:pt x="5625366" y="2078967"/>
                </a:lnTo>
                <a:lnTo>
                  <a:pt x="5540713" y="2114044"/>
                </a:lnTo>
                <a:lnTo>
                  <a:pt x="5454909" y="2145979"/>
                </a:lnTo>
                <a:lnTo>
                  <a:pt x="5365787" y="2175646"/>
                </a:lnTo>
                <a:lnTo>
                  <a:pt x="5272646" y="2202447"/>
                </a:lnTo>
                <a:lnTo>
                  <a:pt x="5175753" y="2225329"/>
                </a:lnTo>
                <a:lnTo>
                  <a:pt x="5075344" y="2243152"/>
                </a:lnTo>
                <a:lnTo>
                  <a:pt x="4972801" y="2254573"/>
                </a:lnTo>
                <a:lnTo>
                  <a:pt x="4869934" y="2259226"/>
                </a:lnTo>
                <a:lnTo>
                  <a:pt x="4766993" y="2258039"/>
                </a:lnTo>
                <a:lnTo>
                  <a:pt x="4663989" y="2251458"/>
                </a:lnTo>
                <a:lnTo>
                  <a:pt x="4561536" y="2239781"/>
                </a:lnTo>
                <a:lnTo>
                  <a:pt x="4460278" y="2223216"/>
                </a:lnTo>
                <a:lnTo>
                  <a:pt x="4360870" y="2201888"/>
                </a:lnTo>
                <a:lnTo>
                  <a:pt x="4262314" y="2175493"/>
                </a:lnTo>
                <a:lnTo>
                  <a:pt x="4163814" y="2143908"/>
                </a:lnTo>
                <a:lnTo>
                  <a:pt x="4066336" y="2107381"/>
                </a:lnTo>
                <a:lnTo>
                  <a:pt x="3970854" y="2066019"/>
                </a:lnTo>
                <a:lnTo>
                  <a:pt x="3878310" y="2019744"/>
                </a:lnTo>
                <a:lnTo>
                  <a:pt x="3788945" y="1967783"/>
                </a:lnTo>
                <a:lnTo>
                  <a:pt x="3703882" y="1909022"/>
                </a:lnTo>
                <a:lnTo>
                  <a:pt x="3625441" y="1845311"/>
                </a:lnTo>
                <a:lnTo>
                  <a:pt x="3554417" y="1779365"/>
                </a:lnTo>
                <a:lnTo>
                  <a:pt x="3490252" y="1712810"/>
                </a:lnTo>
                <a:lnTo>
                  <a:pt x="3432499" y="1647171"/>
                </a:lnTo>
                <a:lnTo>
                  <a:pt x="3376834" y="1578787"/>
                </a:lnTo>
                <a:lnTo>
                  <a:pt x="3321872" y="1500526"/>
                </a:lnTo>
                <a:lnTo>
                  <a:pt x="3273555" y="1418413"/>
                </a:lnTo>
                <a:lnTo>
                  <a:pt x="3233702" y="1341614"/>
                </a:lnTo>
                <a:lnTo>
                  <a:pt x="3201492" y="1274491"/>
                </a:lnTo>
                <a:lnTo>
                  <a:pt x="3177695" y="1223518"/>
                </a:lnTo>
                <a:lnTo>
                  <a:pt x="3169158" y="1205166"/>
                </a:lnTo>
                <a:lnTo>
                  <a:pt x="3166978" y="1204497"/>
                </a:lnTo>
                <a:lnTo>
                  <a:pt x="3146403" y="1173957"/>
                </a:lnTo>
                <a:lnTo>
                  <a:pt x="3126617" y="1145220"/>
                </a:lnTo>
                <a:lnTo>
                  <a:pt x="3107537" y="1119478"/>
                </a:lnTo>
                <a:lnTo>
                  <a:pt x="3091160" y="1099826"/>
                </a:lnTo>
                <a:lnTo>
                  <a:pt x="3076067" y="1085085"/>
                </a:lnTo>
                <a:lnTo>
                  <a:pt x="3054424" y="1067351"/>
                </a:lnTo>
                <a:lnTo>
                  <a:pt x="3025925" y="1045814"/>
                </a:lnTo>
                <a:lnTo>
                  <a:pt x="2994897" y="1024571"/>
                </a:lnTo>
                <a:lnTo>
                  <a:pt x="2961374" y="1003907"/>
                </a:lnTo>
                <a:lnTo>
                  <a:pt x="2925371" y="984092"/>
                </a:lnTo>
                <a:lnTo>
                  <a:pt x="2886810" y="965346"/>
                </a:lnTo>
                <a:lnTo>
                  <a:pt x="2845223" y="947742"/>
                </a:lnTo>
                <a:lnTo>
                  <a:pt x="2799223" y="930712"/>
                </a:lnTo>
                <a:lnTo>
                  <a:pt x="2747612" y="913687"/>
                </a:lnTo>
                <a:lnTo>
                  <a:pt x="2689852" y="896295"/>
                </a:lnTo>
                <a:lnTo>
                  <a:pt x="2625591" y="878128"/>
                </a:lnTo>
                <a:lnTo>
                  <a:pt x="2555753" y="859040"/>
                </a:lnTo>
                <a:lnTo>
                  <a:pt x="2480209" y="839204"/>
                </a:lnTo>
                <a:lnTo>
                  <a:pt x="2398507" y="818925"/>
                </a:lnTo>
                <a:lnTo>
                  <a:pt x="2312130" y="798487"/>
                </a:lnTo>
                <a:lnTo>
                  <a:pt x="2223396" y="778381"/>
                </a:lnTo>
                <a:lnTo>
                  <a:pt x="2134563" y="759077"/>
                </a:lnTo>
                <a:lnTo>
                  <a:pt x="2048674" y="741195"/>
                </a:lnTo>
                <a:lnTo>
                  <a:pt x="1965605" y="725203"/>
                </a:lnTo>
                <a:lnTo>
                  <a:pt x="1881751" y="710490"/>
                </a:lnTo>
                <a:lnTo>
                  <a:pt x="1795961" y="696263"/>
                </a:lnTo>
                <a:lnTo>
                  <a:pt x="1708216" y="681922"/>
                </a:lnTo>
                <a:lnTo>
                  <a:pt x="1618522" y="666824"/>
                </a:lnTo>
                <a:lnTo>
                  <a:pt x="1526954" y="650299"/>
                </a:lnTo>
                <a:lnTo>
                  <a:pt x="1435102" y="631993"/>
                </a:lnTo>
                <a:lnTo>
                  <a:pt x="1345139" y="612758"/>
                </a:lnTo>
                <a:lnTo>
                  <a:pt x="1257721" y="593637"/>
                </a:lnTo>
                <a:lnTo>
                  <a:pt x="1172847" y="575478"/>
                </a:lnTo>
                <a:lnTo>
                  <a:pt x="1090561" y="559061"/>
                </a:lnTo>
                <a:lnTo>
                  <a:pt x="1012343" y="545316"/>
                </a:lnTo>
                <a:lnTo>
                  <a:pt x="935459" y="535250"/>
                </a:lnTo>
                <a:lnTo>
                  <a:pt x="853509" y="527788"/>
                </a:lnTo>
                <a:lnTo>
                  <a:pt x="764706" y="520917"/>
                </a:lnTo>
                <a:lnTo>
                  <a:pt x="669977" y="512548"/>
                </a:lnTo>
                <a:lnTo>
                  <a:pt x="569910" y="500004"/>
                </a:lnTo>
                <a:lnTo>
                  <a:pt x="462248" y="479213"/>
                </a:lnTo>
                <a:lnTo>
                  <a:pt x="353467" y="445323"/>
                </a:lnTo>
                <a:lnTo>
                  <a:pt x="258162" y="404603"/>
                </a:lnTo>
                <a:lnTo>
                  <a:pt x="180844" y="367320"/>
                </a:lnTo>
                <a:lnTo>
                  <a:pt x="120870" y="339426"/>
                </a:lnTo>
                <a:lnTo>
                  <a:pt x="80021" y="323990"/>
                </a:lnTo>
                <a:lnTo>
                  <a:pt x="57311" y="318967"/>
                </a:lnTo>
                <a:lnTo>
                  <a:pt x="5040" y="321206"/>
                </a:lnTo>
                <a:close/>
              </a:path>
            </a:pathLst>
          </a:custGeom>
          <a:solidFill>
            <a:srgbClr val="C8462B"/>
          </a:solidFill>
          <a:ln>
            <a:noFill/>
          </a:ln>
          <a:effectLst/>
        </p:spPr>
        <p:txBody>
          <a:bodyPr rtlCol="0" anchor="ctr"/>
          <a:lstStyle/>
          <a:p>
            <a:pPr algn="ctr"/>
          </a:p>
        </p:txBody>
      </p:sp>
      <p:sp>
        <p:nvSpPr>
          <p:cNvPr id="25" name="Oval 24"/>
          <p:cNvSpPr/>
          <p:nvPr/>
        </p:nvSpPr>
        <p:spPr>
          <a:xfrm>
            <a:off x="4171315" y="2650490"/>
            <a:ext cx="241300" cy="241300"/>
          </a:xfrm>
          <a:prstGeom prst="ellipse">
            <a:avLst/>
          </a:prstGeom>
          <a:solidFill>
            <a:srgbClr val="C8462B"/>
          </a:solidFill>
          <a:ln w="19050">
            <a:solidFill>
              <a:srgbClr val="FFFFFF"/>
            </a:solidFill>
          </a:ln>
          <a:effectLst/>
        </p:spPr>
        <p:txBody>
          <a:bodyPr rtlCol="0" anchor="ctr"/>
          <a:lstStyle/>
          <a:p>
            <a:pPr algn="ctr"/>
          </a:p>
        </p:txBody>
      </p:sp>
      <p:sp>
        <p:nvSpPr>
          <p:cNvPr id="26" name="TextBox 25"/>
          <p:cNvSpPr txBox="1"/>
          <p:nvPr/>
        </p:nvSpPr>
        <p:spPr>
          <a:xfrm>
            <a:off x="4171315" y="2650490"/>
            <a:ext cx="241300" cy="2413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1</a:t>
            </a:r>
          </a:p>
        </p:txBody>
      </p:sp>
      <p:sp>
        <p:nvSpPr>
          <p:cNvPr id="27" name="Oval 26"/>
          <p:cNvSpPr/>
          <p:nvPr/>
        </p:nvSpPr>
        <p:spPr>
          <a:xfrm>
            <a:off x="3909060" y="2863850"/>
            <a:ext cx="241300" cy="241300"/>
          </a:xfrm>
          <a:prstGeom prst="ellipse">
            <a:avLst/>
          </a:prstGeom>
          <a:solidFill>
            <a:srgbClr val="C8462B"/>
          </a:solidFill>
          <a:ln w="19050">
            <a:solidFill>
              <a:srgbClr val="FFFFFF"/>
            </a:solidFill>
          </a:ln>
          <a:effectLst/>
        </p:spPr>
        <p:txBody>
          <a:bodyPr rtlCol="0" anchor="ctr"/>
          <a:lstStyle/>
          <a:p>
            <a:pPr algn="ctr"/>
          </a:p>
        </p:txBody>
      </p:sp>
      <p:sp>
        <p:nvSpPr>
          <p:cNvPr id="28" name="TextBox 27"/>
          <p:cNvSpPr txBox="1"/>
          <p:nvPr/>
        </p:nvSpPr>
        <p:spPr>
          <a:xfrm>
            <a:off x="3909060" y="2863850"/>
            <a:ext cx="241300" cy="2413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2</a:t>
            </a:r>
          </a:p>
        </p:txBody>
      </p:sp>
      <p:sp>
        <p:nvSpPr>
          <p:cNvPr id="29" name="Oval 28"/>
          <p:cNvSpPr/>
          <p:nvPr/>
        </p:nvSpPr>
        <p:spPr>
          <a:xfrm>
            <a:off x="5482590" y="3625850"/>
            <a:ext cx="241300" cy="241300"/>
          </a:xfrm>
          <a:prstGeom prst="ellipse">
            <a:avLst/>
          </a:prstGeom>
          <a:solidFill>
            <a:srgbClr val="C8462B"/>
          </a:solidFill>
          <a:ln w="19050">
            <a:solidFill>
              <a:srgbClr val="FFFFFF"/>
            </a:solidFill>
          </a:ln>
          <a:effectLst/>
        </p:spPr>
        <p:txBody>
          <a:bodyPr rtlCol="0" anchor="ctr"/>
          <a:lstStyle/>
          <a:p>
            <a:pPr algn="ctr"/>
          </a:p>
        </p:txBody>
      </p:sp>
      <p:sp>
        <p:nvSpPr>
          <p:cNvPr id="30" name="TextBox 29"/>
          <p:cNvSpPr txBox="1"/>
          <p:nvPr/>
        </p:nvSpPr>
        <p:spPr>
          <a:xfrm>
            <a:off x="5482590" y="3625850"/>
            <a:ext cx="241300" cy="2413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3</a:t>
            </a:r>
          </a:p>
        </p:txBody>
      </p:sp>
      <p:sp>
        <p:nvSpPr>
          <p:cNvPr id="31" name="Oval 30"/>
          <p:cNvSpPr/>
          <p:nvPr/>
        </p:nvSpPr>
        <p:spPr>
          <a:xfrm>
            <a:off x="6943725" y="2901950"/>
            <a:ext cx="241300" cy="241300"/>
          </a:xfrm>
          <a:prstGeom prst="ellipse">
            <a:avLst/>
          </a:prstGeom>
          <a:solidFill>
            <a:srgbClr val="C8462B"/>
          </a:solidFill>
          <a:ln w="19050">
            <a:solidFill>
              <a:srgbClr val="FFFFFF"/>
            </a:solidFill>
          </a:ln>
          <a:effectLst/>
        </p:spPr>
        <p:txBody>
          <a:bodyPr rtlCol="0" anchor="ctr"/>
          <a:lstStyle/>
          <a:p>
            <a:pPr algn="ctr"/>
          </a:p>
        </p:txBody>
      </p:sp>
      <p:sp>
        <p:nvSpPr>
          <p:cNvPr id="32" name="TextBox 31"/>
          <p:cNvSpPr txBox="1"/>
          <p:nvPr/>
        </p:nvSpPr>
        <p:spPr>
          <a:xfrm>
            <a:off x="6943725" y="2901950"/>
            <a:ext cx="241300" cy="2413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4</a:t>
            </a:r>
          </a:p>
        </p:txBody>
      </p:sp>
      <p:sp>
        <p:nvSpPr>
          <p:cNvPr id="33" name="Oval 32"/>
          <p:cNvSpPr/>
          <p:nvPr/>
        </p:nvSpPr>
        <p:spPr>
          <a:xfrm>
            <a:off x="799465" y="1873250"/>
            <a:ext cx="241300" cy="241300"/>
          </a:xfrm>
          <a:prstGeom prst="ellipse">
            <a:avLst/>
          </a:prstGeom>
          <a:solidFill>
            <a:srgbClr val="C8462B"/>
          </a:solidFill>
          <a:ln w="19050">
            <a:solidFill>
              <a:srgbClr val="FFFFFF"/>
            </a:solidFill>
          </a:ln>
          <a:effectLst/>
        </p:spPr>
        <p:txBody>
          <a:bodyPr rtlCol="0" anchor="ctr"/>
          <a:lstStyle/>
          <a:p>
            <a:pPr algn="ctr"/>
          </a:p>
        </p:txBody>
      </p:sp>
      <p:sp>
        <p:nvSpPr>
          <p:cNvPr id="34" name="TextBox 33"/>
          <p:cNvSpPr txBox="1"/>
          <p:nvPr/>
        </p:nvSpPr>
        <p:spPr>
          <a:xfrm>
            <a:off x="799465" y="1873250"/>
            <a:ext cx="241300" cy="2413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5</a:t>
            </a:r>
          </a:p>
        </p:txBody>
      </p:sp>
      <p:sp>
        <p:nvSpPr>
          <p:cNvPr id="35" name="Oval 34"/>
          <p:cNvSpPr/>
          <p:nvPr/>
        </p:nvSpPr>
        <p:spPr>
          <a:xfrm>
            <a:off x="6156960" y="3778250"/>
            <a:ext cx="241300" cy="241300"/>
          </a:xfrm>
          <a:prstGeom prst="ellipse">
            <a:avLst/>
          </a:prstGeom>
          <a:solidFill>
            <a:srgbClr val="C8462B"/>
          </a:solidFill>
          <a:ln w="19050">
            <a:solidFill>
              <a:srgbClr val="FFFFFF"/>
            </a:solidFill>
          </a:ln>
          <a:effectLst/>
        </p:spPr>
        <p:txBody>
          <a:bodyPr rtlCol="0" anchor="ctr"/>
          <a:lstStyle/>
          <a:p>
            <a:pPr algn="ctr"/>
          </a:p>
        </p:txBody>
      </p:sp>
      <p:sp>
        <p:nvSpPr>
          <p:cNvPr id="36" name="TextBox 35"/>
          <p:cNvSpPr txBox="1"/>
          <p:nvPr/>
        </p:nvSpPr>
        <p:spPr>
          <a:xfrm>
            <a:off x="6156960" y="3778250"/>
            <a:ext cx="241300" cy="2413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6</a:t>
            </a:r>
          </a:p>
        </p:txBody>
      </p:sp>
      <p:sp>
        <p:nvSpPr>
          <p:cNvPr id="37" name="Oval 36"/>
          <p:cNvSpPr/>
          <p:nvPr/>
        </p:nvSpPr>
        <p:spPr>
          <a:xfrm>
            <a:off x="4283710" y="5302250"/>
            <a:ext cx="241300" cy="241300"/>
          </a:xfrm>
          <a:prstGeom prst="ellipse">
            <a:avLst/>
          </a:prstGeom>
          <a:solidFill>
            <a:srgbClr val="C8462B"/>
          </a:solidFill>
          <a:ln w="19050">
            <a:solidFill>
              <a:srgbClr val="FFFFFF"/>
            </a:solidFill>
          </a:ln>
          <a:effectLst/>
        </p:spPr>
        <p:txBody>
          <a:bodyPr rtlCol="0" anchor="ctr"/>
          <a:lstStyle/>
          <a:p>
            <a:pPr algn="ctr"/>
          </a:p>
        </p:txBody>
      </p:sp>
      <p:sp>
        <p:nvSpPr>
          <p:cNvPr id="38" name="TextBox 37"/>
          <p:cNvSpPr txBox="1"/>
          <p:nvPr/>
        </p:nvSpPr>
        <p:spPr>
          <a:xfrm>
            <a:off x="4283710" y="5302250"/>
            <a:ext cx="241300" cy="2413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7</a:t>
            </a:r>
          </a:p>
        </p:txBody>
      </p:sp>
      <p:sp>
        <p:nvSpPr>
          <p:cNvPr id="39" name="TextBox 38"/>
          <p:cNvSpPr txBox="1"/>
          <p:nvPr/>
        </p:nvSpPr>
        <p:spPr>
          <a:xfrm>
            <a:off x="2956560" y="43942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Beni Makada</a:t>
            </a:r>
          </a:p>
        </p:txBody>
      </p:sp>
      <p:sp>
        <p:nvSpPr>
          <p:cNvPr id="40" name="TextBox 39"/>
          <p:cNvSpPr txBox="1"/>
          <p:nvPr/>
        </p:nvSpPr>
        <p:spPr>
          <a:xfrm>
            <a:off x="1945005" y="39370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Mesnana</a:t>
            </a:r>
          </a:p>
        </p:txBody>
      </p:sp>
      <p:sp>
        <p:nvSpPr>
          <p:cNvPr id="41" name="TextBox 40"/>
          <p:cNvSpPr txBox="1"/>
          <p:nvPr/>
        </p:nvSpPr>
        <p:spPr>
          <a:xfrm>
            <a:off x="4380230" y="49276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Bir Chifa</a:t>
            </a:r>
          </a:p>
        </p:txBody>
      </p:sp>
      <p:sp>
        <p:nvSpPr>
          <p:cNvPr id="42" name="TextBox 41"/>
          <p:cNvSpPr txBox="1"/>
          <p:nvPr/>
        </p:nvSpPr>
        <p:spPr>
          <a:xfrm>
            <a:off x="1607820" y="53086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Gzenaya, zone franche,</a:t>
            </a:r>
          </a:p>
          <a:p>
            <a:pPr algn="ctr">
              <a:lnSpc>
                <a:spcPct val="115000"/>
              </a:lnSpc>
            </a:pPr>
            <a:r>
              <a:rPr sz="1100" b="1" i="0">
                <a:solidFill>
                  <a:srgbClr val="1F3A5F"/>
                </a:solidFill>
                <a:latin typeface="Inter"/>
              </a:rPr>
              <a:t>aéroport</a:t>
            </a:r>
          </a:p>
        </p:txBody>
      </p:sp>
      <p:sp>
        <p:nvSpPr>
          <p:cNvPr id="43" name="TextBox 42"/>
          <p:cNvSpPr txBox="1"/>
          <p:nvPr/>
        </p:nvSpPr>
        <p:spPr>
          <a:xfrm>
            <a:off x="4005580" y="3975100"/>
            <a:ext cx="1397000" cy="254000"/>
          </a:xfrm>
          <a:prstGeom prst="rect">
            <a:avLst/>
          </a:prstGeom>
          <a:noFill/>
        </p:spPr>
        <p:txBody>
          <a:bodyPr wrap="square" lIns="0" rIns="0" tIns="0" bIns="0" anchor="t">
            <a:spAutoFit/>
          </a:bodyPr>
          <a:lstStyle/>
          <a:p>
            <a:pPr algn="ctr">
              <a:lnSpc>
                <a:spcPct val="115000"/>
              </a:lnSpc>
            </a:pPr>
            <a:r>
              <a:rPr sz="1100" b="1" i="0">
                <a:solidFill>
                  <a:srgbClr val="1C1C1C"/>
                </a:solidFill>
                <a:latin typeface="Inter"/>
              </a:rPr>
              <a:t>Centre</a:t>
            </a:r>
          </a:p>
        </p:txBody>
      </p:sp>
      <p:sp>
        <p:nvSpPr>
          <p:cNvPr id="44" name="TextBox 43"/>
          <p:cNvSpPr txBox="1"/>
          <p:nvPr/>
        </p:nvSpPr>
        <p:spPr>
          <a:xfrm>
            <a:off x="1120775" y="2603500"/>
            <a:ext cx="1397000" cy="254000"/>
          </a:xfrm>
          <a:prstGeom prst="rect">
            <a:avLst/>
          </a:prstGeom>
          <a:noFill/>
        </p:spPr>
        <p:txBody>
          <a:bodyPr wrap="square" lIns="0" rIns="0" tIns="0" bIns="0" anchor="t">
            <a:spAutoFit/>
          </a:bodyPr>
          <a:lstStyle/>
          <a:p>
            <a:pPr algn="ctr">
              <a:lnSpc>
                <a:spcPct val="115000"/>
              </a:lnSpc>
            </a:pPr>
            <a:r>
              <a:rPr sz="1100" b="1" i="0">
                <a:solidFill>
                  <a:srgbClr val="1C1C1C"/>
                </a:solidFill>
                <a:latin typeface="Inter"/>
              </a:rPr>
              <a:t>Forêt de Rmilat</a:t>
            </a:r>
          </a:p>
        </p:txBody>
      </p:sp>
      <p:cxnSp>
        <p:nvCxnSpPr>
          <p:cNvPr id="45" name="Connector 44"/>
          <p:cNvCxnSpPr/>
          <p:nvPr/>
        </p:nvCxnSpPr>
        <p:spPr>
          <a:xfrm flipH="1">
            <a:off x="3804920" y="3746500"/>
            <a:ext cx="599440" cy="914400"/>
          </a:xfrm>
          <a:prstGeom prst="line">
            <a:avLst/>
          </a:prstGeom>
          <a:ln w="19050">
            <a:solidFill>
              <a:srgbClr val="1F3A5F"/>
            </a:solidFill>
            <a:prstDash val="dash"/>
            <a:tailEnd type="triangle" w="med" len="med"/>
          </a:ln>
        </p:spPr>
      </p:cxnSp>
      <p:cxnSp>
        <p:nvCxnSpPr>
          <p:cNvPr id="46" name="Connector 45"/>
          <p:cNvCxnSpPr/>
          <p:nvPr/>
        </p:nvCxnSpPr>
        <p:spPr>
          <a:xfrm>
            <a:off x="4554220" y="3898900"/>
            <a:ext cx="524510" cy="1219200"/>
          </a:xfrm>
          <a:prstGeom prst="line">
            <a:avLst/>
          </a:prstGeom>
          <a:ln w="19050">
            <a:solidFill>
              <a:srgbClr val="1F3A5F"/>
            </a:solidFill>
            <a:prstDash val="dash"/>
            <a:tailEnd type="triangle" w="med" len="med"/>
          </a:ln>
        </p:spPr>
      </p:cxnSp>
      <p:cxnSp>
        <p:nvCxnSpPr>
          <p:cNvPr id="47" name="Connector 46"/>
          <p:cNvCxnSpPr/>
          <p:nvPr/>
        </p:nvCxnSpPr>
        <p:spPr>
          <a:xfrm flipH="1">
            <a:off x="2606040" y="3670300"/>
            <a:ext cx="1423670" cy="1600200"/>
          </a:xfrm>
          <a:prstGeom prst="line">
            <a:avLst/>
          </a:prstGeom>
          <a:ln w="19050">
            <a:solidFill>
              <a:srgbClr val="1F3A5F"/>
            </a:solidFill>
            <a:prstDash val="dash"/>
            <a:tailEnd type="triangle" w="med" len="med"/>
          </a:ln>
        </p:spPr>
      </p:cxnSp>
      <p:sp>
        <p:nvSpPr>
          <p:cNvPr id="48" name="Freeform 47"/>
          <p:cNvSpPr/>
          <p:nvPr/>
        </p:nvSpPr>
        <p:spPr>
          <a:xfrm>
            <a:off x="7607300" y="5461000"/>
            <a:ext cx="152400" cy="215900"/>
          </a:xfrm>
          <a:custGeom>
            <a:avLst/>
            <a:gdLst/>
            <a:ahLst/>
            <a:cxnLst/>
            <a:rect l="l" t="t" r="r" b="b"/>
            <a:pathLst>
              <a:path w="152400" h="215900">
                <a:moveTo>
                  <a:pt x="76200" y="0"/>
                </a:moveTo>
                <a:lnTo>
                  <a:pt x="152400" y="215900"/>
                </a:lnTo>
                <a:lnTo>
                  <a:pt x="76200" y="165100"/>
                </a:lnTo>
                <a:lnTo>
                  <a:pt x="0" y="215900"/>
                </a:lnTo>
                <a:close/>
              </a:path>
            </a:pathLst>
          </a:custGeom>
          <a:solidFill>
            <a:srgbClr val="1C1C1C"/>
          </a:solidFill>
          <a:ln>
            <a:noFill/>
          </a:ln>
          <a:effectLst/>
        </p:spPr>
        <p:txBody>
          <a:bodyPr rtlCol="0" anchor="ctr"/>
          <a:lstStyle/>
          <a:p>
            <a:pPr algn="ctr"/>
          </a:p>
        </p:txBody>
      </p:sp>
      <p:sp>
        <p:nvSpPr>
          <p:cNvPr id="49" name="TextBox 48"/>
          <p:cNvSpPr txBox="1"/>
          <p:nvPr/>
        </p:nvSpPr>
        <p:spPr>
          <a:xfrm>
            <a:off x="7556500" y="5702300"/>
            <a:ext cx="254000" cy="127000"/>
          </a:xfrm>
          <a:prstGeom prst="rect">
            <a:avLst/>
          </a:prstGeom>
          <a:noFill/>
        </p:spPr>
        <p:txBody>
          <a:bodyPr wrap="square" lIns="0" rIns="0" tIns="0" bIns="0" anchor="t">
            <a:spAutoFit/>
          </a:bodyPr>
          <a:lstStyle/>
          <a:p>
            <a:pPr algn="ctr">
              <a:lnSpc>
                <a:spcPct val="115000"/>
              </a:lnSpc>
            </a:pPr>
            <a:r>
              <a:rPr sz="1100" b="1" i="0">
                <a:solidFill>
                  <a:srgbClr val="1C1C1C"/>
                </a:solidFill>
                <a:latin typeface="Inter"/>
              </a:rPr>
              <a:t>N</a:t>
            </a:r>
          </a:p>
        </p:txBody>
      </p:sp>
      <p:sp>
        <p:nvSpPr>
          <p:cNvPr id="50" name="TextBox 49"/>
          <p:cNvSpPr txBox="1"/>
          <p:nvPr/>
        </p:nvSpPr>
        <p:spPr>
          <a:xfrm>
            <a:off x="508000" y="6083300"/>
            <a:ext cx="7493000" cy="152400"/>
          </a:xfrm>
          <a:prstGeom prst="rect">
            <a:avLst/>
          </a:prstGeom>
          <a:noFill/>
        </p:spPr>
        <p:txBody>
          <a:bodyPr wrap="square" lIns="0" rIns="0" tIns="0" bIns="0" anchor="t">
            <a:spAutoFit/>
          </a:bodyPr>
          <a:lstStyle/>
          <a:p>
            <a:pPr algn="l">
              <a:lnSpc>
                <a:spcPct val="115000"/>
              </a:lnSpc>
            </a:pPr>
            <a:r>
              <a:rPr sz="900" b="0" i="1">
                <a:solidFill>
                  <a:srgbClr val="6E6A64"/>
                </a:solidFill>
                <a:latin typeface="Inter"/>
              </a:rPr>
              <a:t>Carte schématique de l'auteur, positions approximatives, sans échelle.</a:t>
            </a:r>
          </a:p>
        </p:txBody>
      </p:sp>
      <p:sp>
        <p:nvSpPr>
          <p:cNvPr id="51" name="TextBox 50"/>
          <p:cNvSpPr txBox="1"/>
          <p:nvPr/>
        </p:nvSpPr>
        <p:spPr>
          <a:xfrm>
            <a:off x="8318500" y="15240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LÉGENDE</a:t>
            </a:r>
          </a:p>
        </p:txBody>
      </p:sp>
      <p:sp>
        <p:nvSpPr>
          <p:cNvPr id="52" name="Rectangle 51"/>
          <p:cNvSpPr/>
          <p:nvPr/>
        </p:nvSpPr>
        <p:spPr>
          <a:xfrm>
            <a:off x="8318500" y="1765300"/>
            <a:ext cx="190500" cy="127000"/>
          </a:xfrm>
          <a:prstGeom prst="rect">
            <a:avLst/>
          </a:prstGeom>
          <a:solidFill>
            <a:srgbClr val="C8462B"/>
          </a:solidFill>
          <a:ln>
            <a:noFill/>
          </a:ln>
          <a:effectLst/>
        </p:spPr>
        <p:txBody>
          <a:bodyPr rtlCol="0" anchor="ctr"/>
          <a:lstStyle/>
          <a:p>
            <a:pPr algn="ctr"/>
          </a:p>
        </p:txBody>
      </p:sp>
      <p:sp>
        <p:nvSpPr>
          <p:cNvPr id="53" name="TextBox 52"/>
          <p:cNvSpPr txBox="1"/>
          <p:nvPr/>
        </p:nvSpPr>
        <p:spPr>
          <a:xfrm>
            <a:off x="8597900" y="1746250"/>
            <a:ext cx="3048000" cy="165100"/>
          </a:xfrm>
          <a:prstGeom prst="rect">
            <a:avLst/>
          </a:prstGeom>
          <a:noFill/>
        </p:spPr>
        <p:txBody>
          <a:bodyPr wrap="square" lIns="0" rIns="0" tIns="0" bIns="0" anchor="t">
            <a:spAutoFit/>
          </a:bodyPr>
          <a:lstStyle/>
          <a:p>
            <a:pPr algn="l">
              <a:lnSpc>
                <a:spcPct val="115000"/>
              </a:lnSpc>
            </a:pPr>
            <a:r>
              <a:rPr sz="1100" b="0" i="0">
                <a:solidFill>
                  <a:srgbClr val="1C1C1C"/>
                </a:solidFill>
                <a:latin typeface="Inter"/>
              </a:rPr>
              <a:t>Ruban de la vitrine</a:t>
            </a:r>
          </a:p>
        </p:txBody>
      </p:sp>
      <p:sp>
        <p:nvSpPr>
          <p:cNvPr id="54" name="Rectangle 53"/>
          <p:cNvSpPr/>
          <p:nvPr/>
        </p:nvSpPr>
        <p:spPr>
          <a:xfrm>
            <a:off x="8318500" y="1987550"/>
            <a:ext cx="190500" cy="127000"/>
          </a:xfrm>
          <a:prstGeom prst="rect">
            <a:avLst/>
          </a:prstGeom>
          <a:solidFill>
            <a:srgbClr val="C9D5E3"/>
          </a:solidFill>
          <a:ln>
            <a:noFill/>
          </a:ln>
          <a:effectLst/>
        </p:spPr>
        <p:txBody>
          <a:bodyPr rtlCol="0" anchor="ctr"/>
          <a:lstStyle/>
          <a:p>
            <a:pPr algn="ctr"/>
          </a:p>
        </p:txBody>
      </p:sp>
      <p:sp>
        <p:nvSpPr>
          <p:cNvPr id="55" name="TextBox 54"/>
          <p:cNvSpPr txBox="1"/>
          <p:nvPr/>
        </p:nvSpPr>
        <p:spPr>
          <a:xfrm>
            <a:off x="8597900" y="1968500"/>
            <a:ext cx="3048000" cy="165100"/>
          </a:xfrm>
          <a:prstGeom prst="rect">
            <a:avLst/>
          </a:prstGeom>
          <a:noFill/>
        </p:spPr>
        <p:txBody>
          <a:bodyPr wrap="square" lIns="0" rIns="0" tIns="0" bIns="0" anchor="t">
            <a:spAutoFit/>
          </a:bodyPr>
          <a:lstStyle/>
          <a:p>
            <a:pPr algn="l">
              <a:lnSpc>
                <a:spcPct val="115000"/>
              </a:lnSpc>
            </a:pPr>
            <a:r>
              <a:rPr sz="1100" b="0" i="0">
                <a:solidFill>
                  <a:srgbClr val="1C1C1C"/>
                </a:solidFill>
                <a:latin typeface="Inter"/>
              </a:rPr>
              <a:t>Quartiers populaires en forte croissance</a:t>
            </a:r>
          </a:p>
        </p:txBody>
      </p:sp>
      <p:sp>
        <p:nvSpPr>
          <p:cNvPr id="56" name="Rectangle 55"/>
          <p:cNvSpPr/>
          <p:nvPr/>
        </p:nvSpPr>
        <p:spPr>
          <a:xfrm>
            <a:off x="8318500" y="2209800"/>
            <a:ext cx="190500" cy="127000"/>
          </a:xfrm>
          <a:prstGeom prst="rect">
            <a:avLst/>
          </a:prstGeom>
          <a:solidFill>
            <a:srgbClr val="D4CCBE"/>
          </a:solidFill>
          <a:ln>
            <a:noFill/>
          </a:ln>
          <a:effectLst/>
        </p:spPr>
        <p:txBody>
          <a:bodyPr rtlCol="0" anchor="ctr"/>
          <a:lstStyle/>
          <a:p>
            <a:pPr algn="ctr"/>
          </a:p>
        </p:txBody>
      </p:sp>
      <p:sp>
        <p:nvSpPr>
          <p:cNvPr id="57" name="TextBox 56"/>
          <p:cNvSpPr txBox="1"/>
          <p:nvPr/>
        </p:nvSpPr>
        <p:spPr>
          <a:xfrm>
            <a:off x="8597900" y="2190750"/>
            <a:ext cx="3048000" cy="165100"/>
          </a:xfrm>
          <a:prstGeom prst="rect">
            <a:avLst/>
          </a:prstGeom>
          <a:noFill/>
        </p:spPr>
        <p:txBody>
          <a:bodyPr wrap="square" lIns="0" rIns="0" tIns="0" bIns="0" anchor="t">
            <a:spAutoFit/>
          </a:bodyPr>
          <a:lstStyle/>
          <a:p>
            <a:pPr algn="l">
              <a:lnSpc>
                <a:spcPct val="115000"/>
              </a:lnSpc>
            </a:pPr>
            <a:r>
              <a:rPr sz="1100" b="0" i="0">
                <a:solidFill>
                  <a:srgbClr val="1C1C1C"/>
                </a:solidFill>
                <a:latin typeface="Inter"/>
              </a:rPr>
              <a:t>Centre et autres tissus bâtis</a:t>
            </a:r>
          </a:p>
        </p:txBody>
      </p:sp>
      <p:sp>
        <p:nvSpPr>
          <p:cNvPr id="58" name="Rectangle 57"/>
          <p:cNvSpPr/>
          <p:nvPr/>
        </p:nvSpPr>
        <p:spPr>
          <a:xfrm>
            <a:off x="8318500" y="2432050"/>
            <a:ext cx="190500" cy="127000"/>
          </a:xfrm>
          <a:prstGeom prst="rect">
            <a:avLst/>
          </a:prstGeom>
          <a:solidFill>
            <a:srgbClr val="D5E3CC"/>
          </a:solidFill>
          <a:ln w="12700">
            <a:solidFill>
              <a:srgbClr val="8FAE82"/>
            </a:solidFill>
          </a:ln>
          <a:effectLst/>
        </p:spPr>
        <p:txBody>
          <a:bodyPr rtlCol="0" anchor="ctr"/>
          <a:lstStyle/>
          <a:p>
            <a:pPr algn="ctr"/>
          </a:p>
        </p:txBody>
      </p:sp>
      <p:sp>
        <p:nvSpPr>
          <p:cNvPr id="59" name="TextBox 58"/>
          <p:cNvSpPr txBox="1"/>
          <p:nvPr/>
        </p:nvSpPr>
        <p:spPr>
          <a:xfrm>
            <a:off x="8597900" y="2413000"/>
            <a:ext cx="3048000" cy="165100"/>
          </a:xfrm>
          <a:prstGeom prst="rect">
            <a:avLst/>
          </a:prstGeom>
          <a:noFill/>
        </p:spPr>
        <p:txBody>
          <a:bodyPr wrap="square" lIns="0" rIns="0" tIns="0" bIns="0" anchor="t">
            <a:spAutoFit/>
          </a:bodyPr>
          <a:lstStyle/>
          <a:p>
            <a:pPr algn="l">
              <a:lnSpc>
                <a:spcPct val="115000"/>
              </a:lnSpc>
            </a:pPr>
            <a:r>
              <a:rPr sz="1100" b="0" i="0">
                <a:solidFill>
                  <a:srgbClr val="1C1C1C"/>
                </a:solidFill>
                <a:latin typeface="Inter"/>
              </a:rPr>
              <a:t>Forêt, espaces naturels</a:t>
            </a:r>
          </a:p>
        </p:txBody>
      </p:sp>
      <p:cxnSp>
        <p:nvCxnSpPr>
          <p:cNvPr id="60" name="Connector 59"/>
          <p:cNvCxnSpPr/>
          <p:nvPr/>
        </p:nvCxnSpPr>
        <p:spPr>
          <a:xfrm>
            <a:off x="8318500" y="2717800"/>
            <a:ext cx="190500" cy="0"/>
          </a:xfrm>
          <a:prstGeom prst="line">
            <a:avLst/>
          </a:prstGeom>
          <a:ln w="25400">
            <a:solidFill>
              <a:srgbClr val="1F3A5F"/>
            </a:solidFill>
            <a:prstDash val="dash"/>
          </a:ln>
        </p:spPr>
      </p:cxnSp>
      <p:sp>
        <p:nvSpPr>
          <p:cNvPr id="61" name="TextBox 60"/>
          <p:cNvSpPr txBox="1"/>
          <p:nvPr/>
        </p:nvSpPr>
        <p:spPr>
          <a:xfrm>
            <a:off x="8597900" y="2635250"/>
            <a:ext cx="3048000" cy="165100"/>
          </a:xfrm>
          <a:prstGeom prst="rect">
            <a:avLst/>
          </a:prstGeom>
          <a:noFill/>
        </p:spPr>
        <p:txBody>
          <a:bodyPr wrap="square" lIns="0" rIns="0" tIns="0" bIns="0" anchor="t">
            <a:spAutoFit/>
          </a:bodyPr>
          <a:lstStyle/>
          <a:p>
            <a:pPr algn="l">
              <a:lnSpc>
                <a:spcPct val="115000"/>
              </a:lnSpc>
            </a:pPr>
            <a:r>
              <a:rPr sz="1100" b="0" i="0">
                <a:solidFill>
                  <a:srgbClr val="1C1C1C"/>
                </a:solidFill>
                <a:latin typeface="Inter"/>
              </a:rPr>
              <a:t>Direction de la croissance urbaine</a:t>
            </a:r>
          </a:p>
        </p:txBody>
      </p:sp>
      <p:cxnSp>
        <p:nvCxnSpPr>
          <p:cNvPr id="62" name="Connector 61"/>
          <p:cNvCxnSpPr/>
          <p:nvPr/>
        </p:nvCxnSpPr>
        <p:spPr>
          <a:xfrm>
            <a:off x="8318500" y="2952750"/>
            <a:ext cx="3365500" cy="0"/>
          </a:xfrm>
          <a:prstGeom prst="line">
            <a:avLst/>
          </a:prstGeom>
          <a:ln w="9525">
            <a:solidFill>
              <a:srgbClr val="CFC8BC"/>
            </a:solidFill>
          </a:ln>
        </p:spPr>
      </p:cxnSp>
      <p:sp>
        <p:nvSpPr>
          <p:cNvPr id="63" name="TextBox 62"/>
          <p:cNvSpPr txBox="1"/>
          <p:nvPr/>
        </p:nvSpPr>
        <p:spPr>
          <a:xfrm>
            <a:off x="8318500" y="30480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PROJETS DE LA VITRINE</a:t>
            </a:r>
          </a:p>
        </p:txBody>
      </p:sp>
      <p:sp>
        <p:nvSpPr>
          <p:cNvPr id="64" name="Oval 63"/>
          <p:cNvSpPr/>
          <p:nvPr/>
        </p:nvSpPr>
        <p:spPr>
          <a:xfrm>
            <a:off x="8337550" y="3257550"/>
            <a:ext cx="190500" cy="190500"/>
          </a:xfrm>
          <a:prstGeom prst="ellipse">
            <a:avLst/>
          </a:prstGeom>
          <a:solidFill>
            <a:srgbClr val="C8462B"/>
          </a:solidFill>
          <a:ln w="19050">
            <a:solidFill>
              <a:srgbClr val="FFFFFF"/>
            </a:solidFill>
          </a:ln>
          <a:effectLst/>
        </p:spPr>
        <p:txBody>
          <a:bodyPr rtlCol="0" anchor="ctr"/>
          <a:lstStyle/>
          <a:p>
            <a:pPr algn="ctr"/>
          </a:p>
        </p:txBody>
      </p:sp>
      <p:sp>
        <p:nvSpPr>
          <p:cNvPr id="65" name="TextBox 64"/>
          <p:cNvSpPr txBox="1"/>
          <p:nvPr/>
        </p:nvSpPr>
        <p:spPr>
          <a:xfrm>
            <a:off x="8337550" y="3257550"/>
            <a:ext cx="190500" cy="190500"/>
          </a:xfrm>
          <a:prstGeom prst="rect">
            <a:avLst/>
          </a:prstGeom>
          <a:noFill/>
        </p:spPr>
        <p:txBody>
          <a:bodyPr wrap="square" lIns="0" rIns="0" tIns="0" bIns="0" anchor="ctr">
            <a:spAutoFit/>
          </a:bodyPr>
          <a:lstStyle/>
          <a:p>
            <a:pPr algn="ctr">
              <a:lnSpc>
                <a:spcPct val="115000"/>
              </a:lnSpc>
            </a:pPr>
            <a:r>
              <a:rPr sz="1000" b="1" i="0">
                <a:solidFill>
                  <a:srgbClr val="FFFFFF"/>
                </a:solidFill>
                <a:latin typeface="Inter"/>
              </a:rPr>
              <a:t>1</a:t>
            </a:r>
          </a:p>
        </p:txBody>
      </p:sp>
      <p:sp>
        <p:nvSpPr>
          <p:cNvPr id="66" name="TextBox 65"/>
          <p:cNvSpPr txBox="1"/>
          <p:nvPr/>
        </p:nvSpPr>
        <p:spPr>
          <a:xfrm>
            <a:off x="8610600" y="3276600"/>
            <a:ext cx="3048000" cy="1651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Port Tanger Ville, marina</a:t>
            </a:r>
          </a:p>
        </p:txBody>
      </p:sp>
      <p:sp>
        <p:nvSpPr>
          <p:cNvPr id="67" name="Oval 66"/>
          <p:cNvSpPr/>
          <p:nvPr/>
        </p:nvSpPr>
        <p:spPr>
          <a:xfrm>
            <a:off x="8337550" y="3536950"/>
            <a:ext cx="190500" cy="190500"/>
          </a:xfrm>
          <a:prstGeom prst="ellipse">
            <a:avLst/>
          </a:prstGeom>
          <a:solidFill>
            <a:srgbClr val="C8462B"/>
          </a:solidFill>
          <a:ln w="19050">
            <a:solidFill>
              <a:srgbClr val="FFFFFF"/>
            </a:solidFill>
          </a:ln>
          <a:effectLst/>
        </p:spPr>
        <p:txBody>
          <a:bodyPr rtlCol="0" anchor="ctr"/>
          <a:lstStyle/>
          <a:p>
            <a:pPr algn="ctr"/>
          </a:p>
        </p:txBody>
      </p:sp>
      <p:sp>
        <p:nvSpPr>
          <p:cNvPr id="68" name="TextBox 67"/>
          <p:cNvSpPr txBox="1"/>
          <p:nvPr/>
        </p:nvSpPr>
        <p:spPr>
          <a:xfrm>
            <a:off x="8337550" y="3536950"/>
            <a:ext cx="190500" cy="190500"/>
          </a:xfrm>
          <a:prstGeom prst="rect">
            <a:avLst/>
          </a:prstGeom>
          <a:noFill/>
        </p:spPr>
        <p:txBody>
          <a:bodyPr wrap="square" lIns="0" rIns="0" tIns="0" bIns="0" anchor="ctr">
            <a:spAutoFit/>
          </a:bodyPr>
          <a:lstStyle/>
          <a:p>
            <a:pPr algn="ctr">
              <a:lnSpc>
                <a:spcPct val="115000"/>
              </a:lnSpc>
            </a:pPr>
            <a:r>
              <a:rPr sz="1000" b="1" i="0">
                <a:solidFill>
                  <a:srgbClr val="FFFFFF"/>
                </a:solidFill>
                <a:latin typeface="Inter"/>
              </a:rPr>
              <a:t>2</a:t>
            </a:r>
          </a:p>
        </p:txBody>
      </p:sp>
      <p:sp>
        <p:nvSpPr>
          <p:cNvPr id="69" name="TextBox 68"/>
          <p:cNvSpPr txBox="1"/>
          <p:nvPr/>
        </p:nvSpPr>
        <p:spPr>
          <a:xfrm>
            <a:off x="8610600" y="3556000"/>
            <a:ext cx="3048000" cy="1651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Médina et Kasbah</a:t>
            </a:r>
          </a:p>
        </p:txBody>
      </p:sp>
      <p:sp>
        <p:nvSpPr>
          <p:cNvPr id="70" name="Oval 69"/>
          <p:cNvSpPr/>
          <p:nvPr/>
        </p:nvSpPr>
        <p:spPr>
          <a:xfrm>
            <a:off x="8337550" y="3816350"/>
            <a:ext cx="190500" cy="190500"/>
          </a:xfrm>
          <a:prstGeom prst="ellipse">
            <a:avLst/>
          </a:prstGeom>
          <a:solidFill>
            <a:srgbClr val="C8462B"/>
          </a:solidFill>
          <a:ln w="19050">
            <a:solidFill>
              <a:srgbClr val="FFFFFF"/>
            </a:solidFill>
          </a:ln>
          <a:effectLst/>
        </p:spPr>
        <p:txBody>
          <a:bodyPr rtlCol="0" anchor="ctr"/>
          <a:lstStyle/>
          <a:p>
            <a:pPr algn="ctr"/>
          </a:p>
        </p:txBody>
      </p:sp>
      <p:sp>
        <p:nvSpPr>
          <p:cNvPr id="71" name="TextBox 70"/>
          <p:cNvSpPr txBox="1"/>
          <p:nvPr/>
        </p:nvSpPr>
        <p:spPr>
          <a:xfrm>
            <a:off x="8337550" y="3816350"/>
            <a:ext cx="190500" cy="190500"/>
          </a:xfrm>
          <a:prstGeom prst="rect">
            <a:avLst/>
          </a:prstGeom>
          <a:noFill/>
        </p:spPr>
        <p:txBody>
          <a:bodyPr wrap="square" lIns="0" rIns="0" tIns="0" bIns="0" anchor="ctr">
            <a:spAutoFit/>
          </a:bodyPr>
          <a:lstStyle/>
          <a:p>
            <a:pPr algn="ctr">
              <a:lnSpc>
                <a:spcPct val="115000"/>
              </a:lnSpc>
            </a:pPr>
            <a:r>
              <a:rPr sz="1000" b="1" i="0">
                <a:solidFill>
                  <a:srgbClr val="FFFFFF"/>
                </a:solidFill>
                <a:latin typeface="Inter"/>
              </a:rPr>
              <a:t>3</a:t>
            </a:r>
          </a:p>
        </p:txBody>
      </p:sp>
      <p:sp>
        <p:nvSpPr>
          <p:cNvPr id="72" name="TextBox 71"/>
          <p:cNvSpPr txBox="1"/>
          <p:nvPr/>
        </p:nvSpPr>
        <p:spPr>
          <a:xfrm>
            <a:off x="8610600" y="3835400"/>
            <a:ext cx="3048000" cy="1651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Corniche</a:t>
            </a:r>
          </a:p>
        </p:txBody>
      </p:sp>
      <p:sp>
        <p:nvSpPr>
          <p:cNvPr id="73" name="Oval 72"/>
          <p:cNvSpPr/>
          <p:nvPr/>
        </p:nvSpPr>
        <p:spPr>
          <a:xfrm>
            <a:off x="8337550" y="4095750"/>
            <a:ext cx="190500" cy="190500"/>
          </a:xfrm>
          <a:prstGeom prst="ellipse">
            <a:avLst/>
          </a:prstGeom>
          <a:solidFill>
            <a:srgbClr val="C8462B"/>
          </a:solidFill>
          <a:ln w="19050">
            <a:solidFill>
              <a:srgbClr val="FFFFFF"/>
            </a:solidFill>
          </a:ln>
          <a:effectLst/>
        </p:spPr>
        <p:txBody>
          <a:bodyPr rtlCol="0" anchor="ctr"/>
          <a:lstStyle/>
          <a:p>
            <a:pPr algn="ctr"/>
          </a:p>
        </p:txBody>
      </p:sp>
      <p:sp>
        <p:nvSpPr>
          <p:cNvPr id="74" name="TextBox 73"/>
          <p:cNvSpPr txBox="1"/>
          <p:nvPr/>
        </p:nvSpPr>
        <p:spPr>
          <a:xfrm>
            <a:off x="8337550" y="4095750"/>
            <a:ext cx="190500" cy="190500"/>
          </a:xfrm>
          <a:prstGeom prst="rect">
            <a:avLst/>
          </a:prstGeom>
          <a:noFill/>
        </p:spPr>
        <p:txBody>
          <a:bodyPr wrap="square" lIns="0" rIns="0" tIns="0" bIns="0" anchor="ctr">
            <a:spAutoFit/>
          </a:bodyPr>
          <a:lstStyle/>
          <a:p>
            <a:pPr algn="ctr">
              <a:lnSpc>
                <a:spcPct val="115000"/>
              </a:lnSpc>
            </a:pPr>
            <a:r>
              <a:rPr sz="1000" b="1" i="0">
                <a:solidFill>
                  <a:srgbClr val="FFFFFF"/>
                </a:solidFill>
                <a:latin typeface="Inter"/>
              </a:rPr>
              <a:t>4</a:t>
            </a:r>
          </a:p>
        </p:txBody>
      </p:sp>
      <p:sp>
        <p:nvSpPr>
          <p:cNvPr id="75" name="TextBox 74"/>
          <p:cNvSpPr txBox="1"/>
          <p:nvPr/>
        </p:nvSpPr>
        <p:spPr>
          <a:xfrm>
            <a:off x="8610600" y="4114800"/>
            <a:ext cx="3048000" cy="1651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Malabata : hôtels, résidences</a:t>
            </a:r>
          </a:p>
        </p:txBody>
      </p:sp>
      <p:sp>
        <p:nvSpPr>
          <p:cNvPr id="76" name="Oval 75"/>
          <p:cNvSpPr/>
          <p:nvPr/>
        </p:nvSpPr>
        <p:spPr>
          <a:xfrm>
            <a:off x="8337550" y="4375150"/>
            <a:ext cx="190500" cy="190500"/>
          </a:xfrm>
          <a:prstGeom prst="ellipse">
            <a:avLst/>
          </a:prstGeom>
          <a:solidFill>
            <a:srgbClr val="C8462B"/>
          </a:solidFill>
          <a:ln w="19050">
            <a:solidFill>
              <a:srgbClr val="FFFFFF"/>
            </a:solidFill>
          </a:ln>
          <a:effectLst/>
        </p:spPr>
        <p:txBody>
          <a:bodyPr rtlCol="0" anchor="ctr"/>
          <a:lstStyle/>
          <a:p>
            <a:pPr algn="ctr"/>
          </a:p>
        </p:txBody>
      </p:sp>
      <p:sp>
        <p:nvSpPr>
          <p:cNvPr id="77" name="TextBox 76"/>
          <p:cNvSpPr txBox="1"/>
          <p:nvPr/>
        </p:nvSpPr>
        <p:spPr>
          <a:xfrm>
            <a:off x="8337550" y="4375150"/>
            <a:ext cx="190500" cy="190500"/>
          </a:xfrm>
          <a:prstGeom prst="rect">
            <a:avLst/>
          </a:prstGeom>
          <a:noFill/>
        </p:spPr>
        <p:txBody>
          <a:bodyPr wrap="square" lIns="0" rIns="0" tIns="0" bIns="0" anchor="ctr">
            <a:spAutoFit/>
          </a:bodyPr>
          <a:lstStyle/>
          <a:p>
            <a:pPr algn="ctr">
              <a:lnSpc>
                <a:spcPct val="115000"/>
              </a:lnSpc>
            </a:pPr>
            <a:r>
              <a:rPr sz="1000" b="1" i="0">
                <a:solidFill>
                  <a:srgbClr val="FFFFFF"/>
                </a:solidFill>
                <a:latin typeface="Inter"/>
              </a:rPr>
              <a:t>5</a:t>
            </a:r>
          </a:p>
        </p:txBody>
      </p:sp>
      <p:sp>
        <p:nvSpPr>
          <p:cNvPr id="78" name="TextBox 77"/>
          <p:cNvSpPr txBox="1"/>
          <p:nvPr/>
        </p:nvSpPr>
        <p:spPr>
          <a:xfrm>
            <a:off x="8610600" y="4394200"/>
            <a:ext cx="3048000" cy="1651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Cap Spartel, grottes d'Hercule</a:t>
            </a:r>
          </a:p>
        </p:txBody>
      </p:sp>
      <p:sp>
        <p:nvSpPr>
          <p:cNvPr id="79" name="Oval 78"/>
          <p:cNvSpPr/>
          <p:nvPr/>
        </p:nvSpPr>
        <p:spPr>
          <a:xfrm>
            <a:off x="8337550" y="4654550"/>
            <a:ext cx="190500" cy="190500"/>
          </a:xfrm>
          <a:prstGeom prst="ellipse">
            <a:avLst/>
          </a:prstGeom>
          <a:solidFill>
            <a:srgbClr val="C8462B"/>
          </a:solidFill>
          <a:ln w="19050">
            <a:solidFill>
              <a:srgbClr val="FFFFFF"/>
            </a:solidFill>
          </a:ln>
          <a:effectLst/>
        </p:spPr>
        <p:txBody>
          <a:bodyPr rtlCol="0" anchor="ctr"/>
          <a:lstStyle/>
          <a:p>
            <a:pPr algn="ctr"/>
          </a:p>
        </p:txBody>
      </p:sp>
      <p:sp>
        <p:nvSpPr>
          <p:cNvPr id="80" name="TextBox 79"/>
          <p:cNvSpPr txBox="1"/>
          <p:nvPr/>
        </p:nvSpPr>
        <p:spPr>
          <a:xfrm>
            <a:off x="8337550" y="4654550"/>
            <a:ext cx="190500" cy="190500"/>
          </a:xfrm>
          <a:prstGeom prst="rect">
            <a:avLst/>
          </a:prstGeom>
          <a:noFill/>
        </p:spPr>
        <p:txBody>
          <a:bodyPr wrap="square" lIns="0" rIns="0" tIns="0" bIns="0" anchor="ctr">
            <a:spAutoFit/>
          </a:bodyPr>
          <a:lstStyle/>
          <a:p>
            <a:pPr algn="ctr">
              <a:lnSpc>
                <a:spcPct val="115000"/>
              </a:lnSpc>
            </a:pPr>
            <a:r>
              <a:rPr sz="1000" b="1" i="0">
                <a:solidFill>
                  <a:srgbClr val="FFFFFF"/>
                </a:solidFill>
                <a:latin typeface="Inter"/>
              </a:rPr>
              <a:t>6</a:t>
            </a:r>
          </a:p>
        </p:txBody>
      </p:sp>
      <p:sp>
        <p:nvSpPr>
          <p:cNvPr id="81" name="TextBox 80"/>
          <p:cNvSpPr txBox="1"/>
          <p:nvPr/>
        </p:nvSpPr>
        <p:spPr>
          <a:xfrm>
            <a:off x="8610600" y="4673600"/>
            <a:ext cx="3048000" cy="1651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Gare Al Boraq</a:t>
            </a:r>
          </a:p>
        </p:txBody>
      </p:sp>
      <p:sp>
        <p:nvSpPr>
          <p:cNvPr id="82" name="Oval 81"/>
          <p:cNvSpPr/>
          <p:nvPr/>
        </p:nvSpPr>
        <p:spPr>
          <a:xfrm>
            <a:off x="8337550" y="4933950"/>
            <a:ext cx="190500" cy="190500"/>
          </a:xfrm>
          <a:prstGeom prst="ellipse">
            <a:avLst/>
          </a:prstGeom>
          <a:solidFill>
            <a:srgbClr val="C8462B"/>
          </a:solidFill>
          <a:ln w="19050">
            <a:solidFill>
              <a:srgbClr val="FFFFFF"/>
            </a:solidFill>
          </a:ln>
          <a:effectLst/>
        </p:spPr>
        <p:txBody>
          <a:bodyPr rtlCol="0" anchor="ctr"/>
          <a:lstStyle/>
          <a:p>
            <a:pPr algn="ctr"/>
          </a:p>
        </p:txBody>
      </p:sp>
      <p:sp>
        <p:nvSpPr>
          <p:cNvPr id="83" name="TextBox 82"/>
          <p:cNvSpPr txBox="1"/>
          <p:nvPr/>
        </p:nvSpPr>
        <p:spPr>
          <a:xfrm>
            <a:off x="8337550" y="4933950"/>
            <a:ext cx="190500" cy="190500"/>
          </a:xfrm>
          <a:prstGeom prst="rect">
            <a:avLst/>
          </a:prstGeom>
          <a:noFill/>
        </p:spPr>
        <p:txBody>
          <a:bodyPr wrap="square" lIns="0" rIns="0" tIns="0" bIns="0" anchor="ctr">
            <a:spAutoFit/>
          </a:bodyPr>
          <a:lstStyle/>
          <a:p>
            <a:pPr algn="ctr">
              <a:lnSpc>
                <a:spcPct val="115000"/>
              </a:lnSpc>
            </a:pPr>
            <a:r>
              <a:rPr sz="1000" b="1" i="0">
                <a:solidFill>
                  <a:srgbClr val="FFFFFF"/>
                </a:solidFill>
                <a:latin typeface="Inter"/>
              </a:rPr>
              <a:t>7</a:t>
            </a:r>
          </a:p>
        </p:txBody>
      </p:sp>
      <p:sp>
        <p:nvSpPr>
          <p:cNvPr id="84" name="TextBox 83"/>
          <p:cNvSpPr txBox="1"/>
          <p:nvPr/>
        </p:nvSpPr>
        <p:spPr>
          <a:xfrm>
            <a:off x="8610600" y="4953000"/>
            <a:ext cx="3048000" cy="1651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Grand stade Ibn Batouta</a:t>
            </a:r>
          </a:p>
        </p:txBody>
      </p:sp>
      <p:cxnSp>
        <p:nvCxnSpPr>
          <p:cNvPr id="85" name="Connector 84"/>
          <p:cNvCxnSpPr/>
          <p:nvPr/>
        </p:nvCxnSpPr>
        <p:spPr>
          <a:xfrm>
            <a:off x="8318500" y="5334000"/>
            <a:ext cx="3365500" cy="0"/>
          </a:xfrm>
          <a:prstGeom prst="line">
            <a:avLst/>
          </a:prstGeom>
          <a:ln w="9525">
            <a:solidFill>
              <a:srgbClr val="CFC8BC"/>
            </a:solidFill>
          </a:ln>
        </p:spPr>
      </p:cxnSp>
      <p:sp>
        <p:nvSpPr>
          <p:cNvPr id="86" name="TextBox 85"/>
          <p:cNvSpPr txBox="1"/>
          <p:nvPr/>
        </p:nvSpPr>
        <p:spPr>
          <a:xfrm>
            <a:off x="8318500" y="5429250"/>
            <a:ext cx="3365500" cy="889000"/>
          </a:xfrm>
          <a:prstGeom prst="rect">
            <a:avLst/>
          </a:prstGeom>
          <a:noFill/>
        </p:spPr>
        <p:txBody>
          <a:bodyPr wrap="square" lIns="0" rIns="0" tIns="0" bIns="0" anchor="t">
            <a:spAutoFit/>
          </a:bodyPr>
          <a:lstStyle/>
          <a:p>
            <a:pPr algn="l">
              <a:lnSpc>
                <a:spcPct val="125000"/>
              </a:lnSpc>
            </a:pPr>
            <a:r>
              <a:rPr sz="1150" b="1" i="0">
                <a:solidFill>
                  <a:srgbClr val="C8462B"/>
                </a:solidFill>
                <a:latin typeface="Inter"/>
              </a:rPr>
              <a:t>Lecture : </a:t>
            </a:r>
            <a:r>
              <a:rPr sz="1150" b="0" i="0">
                <a:solidFill>
                  <a:srgbClr val="1C1C1C"/>
                </a:solidFill>
                <a:latin typeface="Inter"/>
              </a:rPr>
              <a:t>presque tous les grands projets touchent la mer ou le patrimoine. Les quartiers qui ont absorbé +430 000 habitants en dix ans n'en accueillent aucun.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SCHÉMA 1 : LA MÉCANIQUE</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Le cercle de la ville-vitrine</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Comment un projet d'image produit, étape par étape, de la rente pour quelques-uns et de l'éviction pour les autres.</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06 / 17</a:t>
            </a:r>
          </a:p>
        </p:txBody>
      </p:sp>
      <p:sp>
        <p:nvSpPr>
          <p:cNvPr id="11" name="Oval 10"/>
          <p:cNvSpPr/>
          <p:nvPr/>
        </p:nvSpPr>
        <p:spPr>
          <a:xfrm>
            <a:off x="1968500" y="2063750"/>
            <a:ext cx="3683000" cy="3683000"/>
          </a:xfrm>
          <a:prstGeom prst="ellipse">
            <a:avLst/>
          </a:prstGeom>
          <a:noFill/>
          <a:ln w="19050">
            <a:solidFill>
              <a:srgbClr val="CFC8BC"/>
            </a:solidFill>
          </a:ln>
          <a:effectLst/>
        </p:spPr>
        <p:txBody>
          <a:bodyPr rtlCol="0" anchor="ctr"/>
          <a:lstStyle/>
          <a:p>
            <a:pPr algn="ctr"/>
          </a:p>
        </p:txBody>
      </p:sp>
      <p:sp>
        <p:nvSpPr>
          <p:cNvPr id="12" name="Freeform 11"/>
          <p:cNvSpPr/>
          <p:nvPr/>
        </p:nvSpPr>
        <p:spPr>
          <a:xfrm>
            <a:off x="4560891" y="2223797"/>
            <a:ext cx="290870" cy="162948"/>
          </a:xfrm>
          <a:custGeom>
            <a:avLst/>
            <a:gdLst/>
            <a:ahLst/>
            <a:cxnLst/>
            <a:rect l="l" t="t" r="r" b="b"/>
            <a:pathLst>
              <a:path w="290870" h="162948">
                <a:moveTo>
                  <a:pt x="0" y="0"/>
                </a:moveTo>
                <a:lnTo>
                  <a:pt x="43292" y="20009"/>
                </a:lnTo>
                <a:lnTo>
                  <a:pt x="86052" y="41133"/>
                </a:lnTo>
                <a:lnTo>
                  <a:pt x="128250" y="63358"/>
                </a:lnTo>
                <a:lnTo>
                  <a:pt x="169859" y="86667"/>
                </a:lnTo>
                <a:lnTo>
                  <a:pt x="210850" y="111047"/>
                </a:lnTo>
                <a:lnTo>
                  <a:pt x="251196" y="136479"/>
                </a:lnTo>
                <a:lnTo>
                  <a:pt x="290870" y="162948"/>
                </a:lnTo>
              </a:path>
            </a:pathLst>
          </a:custGeom>
          <a:noFill/>
          <a:ln w="25400">
            <a:solidFill>
              <a:srgbClr val="1C1C1C"/>
            </a:solidFill>
          </a:ln>
          <a:effectLst/>
        </p:spPr>
        <p:txBody>
          <a:bodyPr rtlCol="0" anchor="ctr"/>
          <a:lstStyle/>
          <a:p>
            <a:pPr algn="ctr"/>
          </a:p>
        </p:txBody>
      </p:sp>
      <p:cxnSp>
        <p:nvCxnSpPr>
          <p:cNvPr id="13" name="Connector 12"/>
          <p:cNvCxnSpPr/>
          <p:nvPr/>
        </p:nvCxnSpPr>
        <p:spPr>
          <a:xfrm>
            <a:off x="4851761" y="2386745"/>
            <a:ext cx="38975" cy="27488"/>
          </a:xfrm>
          <a:prstGeom prst="line">
            <a:avLst/>
          </a:prstGeom>
          <a:ln w="25400">
            <a:solidFill>
              <a:srgbClr val="1C1C1C"/>
            </a:solidFill>
            <a:tailEnd type="triangle" w="med" len="med"/>
          </a:ln>
        </p:spPr>
      </p:cxnSp>
      <p:sp>
        <p:nvSpPr>
          <p:cNvPr id="14" name="Freeform 13"/>
          <p:cNvSpPr/>
          <p:nvPr/>
        </p:nvSpPr>
        <p:spPr>
          <a:xfrm>
            <a:off x="5641627" y="3714814"/>
            <a:ext cx="9873" cy="333375"/>
          </a:xfrm>
          <a:custGeom>
            <a:avLst/>
            <a:gdLst/>
            <a:ahLst/>
            <a:cxnLst/>
            <a:rect l="l" t="t" r="r" b="b"/>
            <a:pathLst>
              <a:path w="9873" h="333375">
                <a:moveTo>
                  <a:pt x="0" y="0"/>
                </a:moveTo>
                <a:lnTo>
                  <a:pt x="4317" y="47497"/>
                </a:lnTo>
                <a:lnTo>
                  <a:pt x="7403" y="95090"/>
                </a:lnTo>
                <a:lnTo>
                  <a:pt x="9255" y="142747"/>
                </a:lnTo>
                <a:lnTo>
                  <a:pt x="9873" y="190436"/>
                </a:lnTo>
                <a:lnTo>
                  <a:pt x="9255" y="238125"/>
                </a:lnTo>
                <a:lnTo>
                  <a:pt x="7403" y="285782"/>
                </a:lnTo>
                <a:lnTo>
                  <a:pt x="4317" y="333375"/>
                </a:lnTo>
              </a:path>
            </a:pathLst>
          </a:custGeom>
          <a:noFill/>
          <a:ln w="25400">
            <a:solidFill>
              <a:srgbClr val="1C1C1C"/>
            </a:solidFill>
          </a:ln>
          <a:effectLst/>
        </p:spPr>
        <p:txBody>
          <a:bodyPr rtlCol="0" anchor="ctr"/>
          <a:lstStyle/>
          <a:p>
            <a:pPr algn="ctr"/>
          </a:p>
        </p:txBody>
      </p:sp>
      <p:cxnSp>
        <p:nvCxnSpPr>
          <p:cNvPr id="15" name="Connector 14"/>
          <p:cNvCxnSpPr/>
          <p:nvPr/>
        </p:nvCxnSpPr>
        <p:spPr>
          <a:xfrm flipH="1">
            <a:off x="5641627" y="4048189"/>
            <a:ext cx="4317" cy="47497"/>
          </a:xfrm>
          <a:prstGeom prst="line">
            <a:avLst/>
          </a:prstGeom>
          <a:ln w="25400">
            <a:solidFill>
              <a:srgbClr val="1C1C1C"/>
            </a:solidFill>
            <a:tailEnd type="triangle" w="med" len="med"/>
          </a:ln>
        </p:spPr>
      </p:cxnSp>
      <p:sp>
        <p:nvSpPr>
          <p:cNvPr id="16" name="Freeform 15"/>
          <p:cNvSpPr/>
          <p:nvPr/>
        </p:nvSpPr>
        <p:spPr>
          <a:xfrm>
            <a:off x="4604183" y="5396267"/>
            <a:ext cx="286553" cy="170427"/>
          </a:xfrm>
          <a:custGeom>
            <a:avLst/>
            <a:gdLst/>
            <a:ahLst/>
            <a:cxnLst/>
            <a:rect l="l" t="t" r="r" b="b"/>
            <a:pathLst>
              <a:path w="286553" h="170427">
                <a:moveTo>
                  <a:pt x="286553" y="0"/>
                </a:moveTo>
                <a:lnTo>
                  <a:pt x="247578" y="27488"/>
                </a:lnTo>
                <a:lnTo>
                  <a:pt x="207904" y="53957"/>
                </a:lnTo>
                <a:lnTo>
                  <a:pt x="167558" y="79389"/>
                </a:lnTo>
                <a:lnTo>
                  <a:pt x="126567" y="103769"/>
                </a:lnTo>
                <a:lnTo>
                  <a:pt x="84958" y="127078"/>
                </a:lnTo>
                <a:lnTo>
                  <a:pt x="42760" y="149303"/>
                </a:lnTo>
                <a:lnTo>
                  <a:pt x="0" y="170427"/>
                </a:lnTo>
              </a:path>
            </a:pathLst>
          </a:custGeom>
          <a:noFill/>
          <a:ln w="25400">
            <a:solidFill>
              <a:srgbClr val="1C1C1C"/>
            </a:solidFill>
          </a:ln>
          <a:effectLst/>
        </p:spPr>
        <p:txBody>
          <a:bodyPr rtlCol="0" anchor="ctr"/>
          <a:lstStyle/>
          <a:p>
            <a:pPr algn="ctr"/>
          </a:p>
        </p:txBody>
      </p:sp>
      <p:cxnSp>
        <p:nvCxnSpPr>
          <p:cNvPr id="17" name="Connector 16"/>
          <p:cNvCxnSpPr/>
          <p:nvPr/>
        </p:nvCxnSpPr>
        <p:spPr>
          <a:xfrm flipH="1">
            <a:off x="4560891" y="5566694"/>
            <a:ext cx="43292" cy="20009"/>
          </a:xfrm>
          <a:prstGeom prst="line">
            <a:avLst/>
          </a:prstGeom>
          <a:ln w="25400">
            <a:solidFill>
              <a:srgbClr val="1C1C1C"/>
            </a:solidFill>
            <a:tailEnd type="triangle" w="med" len="med"/>
          </a:ln>
        </p:spPr>
      </p:cxnSp>
      <p:sp>
        <p:nvSpPr>
          <p:cNvPr id="18" name="Freeform 17"/>
          <p:cNvSpPr/>
          <p:nvPr/>
        </p:nvSpPr>
        <p:spPr>
          <a:xfrm>
            <a:off x="2768239" y="5423755"/>
            <a:ext cx="290870" cy="162948"/>
          </a:xfrm>
          <a:custGeom>
            <a:avLst/>
            <a:gdLst/>
            <a:ahLst/>
            <a:cxnLst/>
            <a:rect l="l" t="t" r="r" b="b"/>
            <a:pathLst>
              <a:path w="290870" h="162948">
                <a:moveTo>
                  <a:pt x="290870" y="162948"/>
                </a:moveTo>
                <a:lnTo>
                  <a:pt x="247578" y="142939"/>
                </a:lnTo>
                <a:lnTo>
                  <a:pt x="204818" y="121815"/>
                </a:lnTo>
                <a:lnTo>
                  <a:pt x="162620" y="99590"/>
                </a:lnTo>
                <a:lnTo>
                  <a:pt x="121011" y="76281"/>
                </a:lnTo>
                <a:lnTo>
                  <a:pt x="80020" y="51901"/>
                </a:lnTo>
                <a:lnTo>
                  <a:pt x="39674" y="26469"/>
                </a:lnTo>
                <a:lnTo>
                  <a:pt x="0" y="0"/>
                </a:lnTo>
              </a:path>
            </a:pathLst>
          </a:custGeom>
          <a:noFill/>
          <a:ln w="25400">
            <a:solidFill>
              <a:srgbClr val="1C1C1C"/>
            </a:solidFill>
          </a:ln>
          <a:effectLst/>
        </p:spPr>
        <p:txBody>
          <a:bodyPr rtlCol="0" anchor="ctr"/>
          <a:lstStyle/>
          <a:p>
            <a:pPr algn="ctr"/>
          </a:p>
        </p:txBody>
      </p:sp>
      <p:cxnSp>
        <p:nvCxnSpPr>
          <p:cNvPr id="19" name="Connector 18"/>
          <p:cNvCxnSpPr/>
          <p:nvPr/>
        </p:nvCxnSpPr>
        <p:spPr>
          <a:xfrm flipH="1" flipV="1">
            <a:off x="2729264" y="5396267"/>
            <a:ext cx="38975" cy="27488"/>
          </a:xfrm>
          <a:prstGeom prst="line">
            <a:avLst/>
          </a:prstGeom>
          <a:ln w="25400">
            <a:solidFill>
              <a:srgbClr val="1C1C1C"/>
            </a:solidFill>
            <a:tailEnd type="triangle" w="med" len="med"/>
          </a:ln>
        </p:spPr>
      </p:cxnSp>
      <p:sp>
        <p:nvSpPr>
          <p:cNvPr id="20" name="Freeform 19"/>
          <p:cNvSpPr/>
          <p:nvPr/>
        </p:nvSpPr>
        <p:spPr>
          <a:xfrm>
            <a:off x="1968500" y="3762311"/>
            <a:ext cx="9873" cy="333375"/>
          </a:xfrm>
          <a:custGeom>
            <a:avLst/>
            <a:gdLst/>
            <a:ahLst/>
            <a:cxnLst/>
            <a:rect l="l" t="t" r="r" b="b"/>
            <a:pathLst>
              <a:path w="9873" h="333375">
                <a:moveTo>
                  <a:pt x="9873" y="333375"/>
                </a:moveTo>
                <a:lnTo>
                  <a:pt x="5556" y="285878"/>
                </a:lnTo>
                <a:lnTo>
                  <a:pt x="2470" y="238285"/>
                </a:lnTo>
                <a:lnTo>
                  <a:pt x="618" y="190628"/>
                </a:lnTo>
                <a:lnTo>
                  <a:pt x="0" y="142939"/>
                </a:lnTo>
                <a:lnTo>
                  <a:pt x="618" y="95250"/>
                </a:lnTo>
                <a:lnTo>
                  <a:pt x="2470" y="47593"/>
                </a:lnTo>
                <a:lnTo>
                  <a:pt x="5556" y="0"/>
                </a:lnTo>
              </a:path>
            </a:pathLst>
          </a:custGeom>
          <a:noFill/>
          <a:ln w="25400">
            <a:solidFill>
              <a:srgbClr val="1C1C1C"/>
            </a:solidFill>
          </a:ln>
          <a:effectLst/>
        </p:spPr>
        <p:txBody>
          <a:bodyPr rtlCol="0" anchor="ctr"/>
          <a:lstStyle/>
          <a:p>
            <a:pPr algn="ctr"/>
          </a:p>
        </p:txBody>
      </p:sp>
      <p:cxnSp>
        <p:nvCxnSpPr>
          <p:cNvPr id="21" name="Connector 20"/>
          <p:cNvCxnSpPr/>
          <p:nvPr/>
        </p:nvCxnSpPr>
        <p:spPr>
          <a:xfrm flipV="1">
            <a:off x="1974056" y="3714814"/>
            <a:ext cx="4317" cy="47497"/>
          </a:xfrm>
          <a:prstGeom prst="line">
            <a:avLst/>
          </a:prstGeom>
          <a:ln w="25400">
            <a:solidFill>
              <a:srgbClr val="1C1C1C"/>
            </a:solidFill>
            <a:tailEnd type="triangle" w="med" len="med"/>
          </a:ln>
        </p:spPr>
      </p:cxnSp>
      <p:sp>
        <p:nvSpPr>
          <p:cNvPr id="22" name="Freeform 21"/>
          <p:cNvSpPr/>
          <p:nvPr/>
        </p:nvSpPr>
        <p:spPr>
          <a:xfrm>
            <a:off x="2729264" y="2243806"/>
            <a:ext cx="286553" cy="170427"/>
          </a:xfrm>
          <a:custGeom>
            <a:avLst/>
            <a:gdLst/>
            <a:ahLst/>
            <a:cxnLst/>
            <a:rect l="l" t="t" r="r" b="b"/>
            <a:pathLst>
              <a:path w="286553" h="170427">
                <a:moveTo>
                  <a:pt x="0" y="170427"/>
                </a:moveTo>
                <a:lnTo>
                  <a:pt x="38975" y="142939"/>
                </a:lnTo>
                <a:lnTo>
                  <a:pt x="78649" y="116470"/>
                </a:lnTo>
                <a:lnTo>
                  <a:pt x="118995" y="91038"/>
                </a:lnTo>
                <a:lnTo>
                  <a:pt x="159986" y="66658"/>
                </a:lnTo>
                <a:lnTo>
                  <a:pt x="201595" y="43349"/>
                </a:lnTo>
                <a:lnTo>
                  <a:pt x="243793" y="21124"/>
                </a:lnTo>
                <a:lnTo>
                  <a:pt x="286553" y="0"/>
                </a:lnTo>
              </a:path>
            </a:pathLst>
          </a:custGeom>
          <a:noFill/>
          <a:ln w="25400">
            <a:solidFill>
              <a:srgbClr val="1C1C1C"/>
            </a:solidFill>
          </a:ln>
          <a:effectLst/>
        </p:spPr>
        <p:txBody>
          <a:bodyPr rtlCol="0" anchor="ctr"/>
          <a:lstStyle/>
          <a:p>
            <a:pPr algn="ctr"/>
          </a:p>
        </p:txBody>
      </p:sp>
      <p:cxnSp>
        <p:nvCxnSpPr>
          <p:cNvPr id="23" name="Connector 22"/>
          <p:cNvCxnSpPr/>
          <p:nvPr/>
        </p:nvCxnSpPr>
        <p:spPr>
          <a:xfrm flipV="1">
            <a:off x="3015817" y="2223797"/>
            <a:ext cx="43292" cy="20009"/>
          </a:xfrm>
          <a:prstGeom prst="line">
            <a:avLst/>
          </a:prstGeom>
          <a:ln w="25400">
            <a:solidFill>
              <a:srgbClr val="1C1C1C"/>
            </a:solidFill>
            <a:tailEnd type="triangle" w="med" len="med"/>
          </a:ln>
        </p:spPr>
      </p:cxnSp>
      <p:sp>
        <p:nvSpPr>
          <p:cNvPr id="24" name="Rounded Rectangle 23"/>
          <p:cNvSpPr/>
          <p:nvPr/>
        </p:nvSpPr>
        <p:spPr>
          <a:xfrm>
            <a:off x="2857500" y="1631950"/>
            <a:ext cx="1905000" cy="863600"/>
          </a:xfrm>
          <a:prstGeom prst="roundRect">
            <a:avLst>
              <a:gd name="adj" fmla="val 10294"/>
            </a:avLst>
          </a:prstGeom>
          <a:solidFill>
            <a:srgbClr val="FFFFFF"/>
          </a:solidFill>
          <a:ln w="19050">
            <a:solidFill>
              <a:srgbClr val="C8462B"/>
            </a:solidFill>
          </a:ln>
          <a:effectLst/>
        </p:spPr>
        <p:txBody>
          <a:bodyPr rtlCol="0" anchor="ctr"/>
          <a:lstStyle/>
          <a:p>
            <a:pPr algn="ctr"/>
          </a:p>
        </p:txBody>
      </p:sp>
      <p:sp>
        <p:nvSpPr>
          <p:cNvPr id="25" name="Oval 24"/>
          <p:cNvSpPr/>
          <p:nvPr/>
        </p:nvSpPr>
        <p:spPr>
          <a:xfrm>
            <a:off x="2768600" y="1543050"/>
            <a:ext cx="228600" cy="228600"/>
          </a:xfrm>
          <a:prstGeom prst="ellipse">
            <a:avLst/>
          </a:prstGeom>
          <a:solidFill>
            <a:srgbClr val="C8462B"/>
          </a:solidFill>
          <a:ln w="19050">
            <a:solidFill>
              <a:srgbClr val="FFFFFF"/>
            </a:solidFill>
          </a:ln>
          <a:effectLst/>
        </p:spPr>
        <p:txBody>
          <a:bodyPr rtlCol="0" anchor="ctr"/>
          <a:lstStyle/>
          <a:p>
            <a:pPr algn="ctr"/>
          </a:p>
        </p:txBody>
      </p:sp>
      <p:sp>
        <p:nvSpPr>
          <p:cNvPr id="26" name="TextBox 25"/>
          <p:cNvSpPr txBox="1"/>
          <p:nvPr/>
        </p:nvSpPr>
        <p:spPr>
          <a:xfrm>
            <a:off x="2768600" y="1543050"/>
            <a:ext cx="228600" cy="228600"/>
          </a:xfrm>
          <a:prstGeom prst="rect">
            <a:avLst/>
          </a:prstGeom>
          <a:noFill/>
        </p:spPr>
        <p:txBody>
          <a:bodyPr wrap="square" lIns="0" rIns="0" tIns="0" bIns="0" anchor="ctr">
            <a:spAutoFit/>
          </a:bodyPr>
          <a:lstStyle/>
          <a:p>
            <a:pPr algn="ctr">
              <a:lnSpc>
                <a:spcPct val="115000"/>
              </a:lnSpc>
            </a:pPr>
            <a:r>
              <a:rPr sz="1100" b="1" i="0">
                <a:solidFill>
                  <a:srgbClr val="FFFFFF"/>
                </a:solidFill>
                <a:latin typeface="Inter"/>
              </a:rPr>
              <a:t>1</a:t>
            </a:r>
          </a:p>
        </p:txBody>
      </p:sp>
      <p:sp>
        <p:nvSpPr>
          <p:cNvPr id="27" name="TextBox 26"/>
          <p:cNvSpPr txBox="1"/>
          <p:nvPr/>
        </p:nvSpPr>
        <p:spPr>
          <a:xfrm>
            <a:off x="2984500" y="1708150"/>
            <a:ext cx="1651000" cy="381000"/>
          </a:xfrm>
          <a:prstGeom prst="rect">
            <a:avLst/>
          </a:prstGeom>
          <a:noFill/>
        </p:spPr>
        <p:txBody>
          <a:bodyPr wrap="square" lIns="0" rIns="0" tIns="0" bIns="0" anchor="t">
            <a:spAutoFit/>
          </a:bodyPr>
          <a:lstStyle/>
          <a:p>
            <a:pPr algn="ctr">
              <a:lnSpc>
                <a:spcPct val="100000"/>
              </a:lnSpc>
            </a:pPr>
            <a:r>
              <a:rPr sz="1200" b="1" i="0">
                <a:solidFill>
                  <a:srgbClr val="1C1C1C"/>
                </a:solidFill>
                <a:latin typeface="Inter"/>
              </a:rPr>
              <a:t>Ambition</a:t>
            </a:r>
          </a:p>
          <a:p>
            <a:pPr algn="ctr">
              <a:lnSpc>
                <a:spcPct val="100000"/>
              </a:lnSpc>
            </a:pPr>
            <a:r>
              <a:rPr sz="1200" b="1" i="0">
                <a:solidFill>
                  <a:srgbClr val="1C1C1C"/>
                </a:solidFill>
                <a:latin typeface="Inter"/>
              </a:rPr>
              <a:t>internationale</a:t>
            </a:r>
          </a:p>
        </p:txBody>
      </p:sp>
      <p:sp>
        <p:nvSpPr>
          <p:cNvPr id="28" name="TextBox 27"/>
          <p:cNvSpPr txBox="1"/>
          <p:nvPr/>
        </p:nvSpPr>
        <p:spPr>
          <a:xfrm>
            <a:off x="2921000" y="2101850"/>
            <a:ext cx="1778000" cy="355600"/>
          </a:xfrm>
          <a:prstGeom prst="rect">
            <a:avLst/>
          </a:prstGeom>
          <a:noFill/>
        </p:spPr>
        <p:txBody>
          <a:bodyPr wrap="square" lIns="0" rIns="0" tIns="0" bIns="0" anchor="t">
            <a:spAutoFit/>
          </a:bodyPr>
          <a:lstStyle/>
          <a:p>
            <a:pPr algn="ctr">
              <a:lnSpc>
                <a:spcPct val="105000"/>
              </a:lnSpc>
            </a:pPr>
            <a:r>
              <a:rPr sz="950" b="0" i="0">
                <a:solidFill>
                  <a:srgbClr val="6E6A64"/>
                </a:solidFill>
                <a:latin typeface="Inter"/>
              </a:rPr>
              <a:t>Mondial, croisières,</a:t>
            </a:r>
          </a:p>
          <a:p>
            <a:pPr algn="ctr">
              <a:lnSpc>
                <a:spcPct val="105000"/>
              </a:lnSpc>
            </a:pPr>
            <a:r>
              <a:rPr sz="950" b="0" i="0">
                <a:solidFill>
                  <a:srgbClr val="6E6A64"/>
                </a:solidFill>
                <a:latin typeface="Inter"/>
              </a:rPr>
              <a:t>rang touristique</a:t>
            </a:r>
          </a:p>
        </p:txBody>
      </p:sp>
      <p:sp>
        <p:nvSpPr>
          <p:cNvPr id="29" name="Rounded Rectangle 28"/>
          <p:cNvSpPr/>
          <p:nvPr/>
        </p:nvSpPr>
        <p:spPr>
          <a:xfrm>
            <a:off x="4643660" y="2552700"/>
            <a:ext cx="1905000" cy="863600"/>
          </a:xfrm>
          <a:prstGeom prst="roundRect">
            <a:avLst>
              <a:gd name="adj" fmla="val 10294"/>
            </a:avLst>
          </a:prstGeom>
          <a:solidFill>
            <a:srgbClr val="FFFFFF"/>
          </a:solidFill>
          <a:ln w="19050">
            <a:solidFill>
              <a:srgbClr val="C8462B"/>
            </a:solidFill>
          </a:ln>
          <a:effectLst/>
        </p:spPr>
        <p:txBody>
          <a:bodyPr rtlCol="0" anchor="ctr"/>
          <a:lstStyle/>
          <a:p>
            <a:pPr algn="ctr"/>
          </a:p>
        </p:txBody>
      </p:sp>
      <p:sp>
        <p:nvSpPr>
          <p:cNvPr id="30" name="Oval 29"/>
          <p:cNvSpPr/>
          <p:nvPr/>
        </p:nvSpPr>
        <p:spPr>
          <a:xfrm>
            <a:off x="4554760" y="2463800"/>
            <a:ext cx="228600" cy="228600"/>
          </a:xfrm>
          <a:prstGeom prst="ellipse">
            <a:avLst/>
          </a:prstGeom>
          <a:solidFill>
            <a:srgbClr val="C8462B"/>
          </a:solidFill>
          <a:ln w="19050">
            <a:solidFill>
              <a:srgbClr val="FFFFFF"/>
            </a:solidFill>
          </a:ln>
          <a:effectLst/>
        </p:spPr>
        <p:txBody>
          <a:bodyPr rtlCol="0" anchor="ctr"/>
          <a:lstStyle/>
          <a:p>
            <a:pPr algn="ctr"/>
          </a:p>
        </p:txBody>
      </p:sp>
      <p:sp>
        <p:nvSpPr>
          <p:cNvPr id="31" name="TextBox 30"/>
          <p:cNvSpPr txBox="1"/>
          <p:nvPr/>
        </p:nvSpPr>
        <p:spPr>
          <a:xfrm>
            <a:off x="4554760" y="2463800"/>
            <a:ext cx="228600" cy="228600"/>
          </a:xfrm>
          <a:prstGeom prst="rect">
            <a:avLst/>
          </a:prstGeom>
          <a:noFill/>
        </p:spPr>
        <p:txBody>
          <a:bodyPr wrap="square" lIns="0" rIns="0" tIns="0" bIns="0" anchor="ctr">
            <a:spAutoFit/>
          </a:bodyPr>
          <a:lstStyle/>
          <a:p>
            <a:pPr algn="ctr">
              <a:lnSpc>
                <a:spcPct val="115000"/>
              </a:lnSpc>
            </a:pPr>
            <a:r>
              <a:rPr sz="1100" b="1" i="0">
                <a:solidFill>
                  <a:srgbClr val="FFFFFF"/>
                </a:solidFill>
                <a:latin typeface="Inter"/>
              </a:rPr>
              <a:t>2</a:t>
            </a:r>
          </a:p>
        </p:txBody>
      </p:sp>
      <p:sp>
        <p:nvSpPr>
          <p:cNvPr id="32" name="TextBox 31"/>
          <p:cNvSpPr txBox="1"/>
          <p:nvPr/>
        </p:nvSpPr>
        <p:spPr>
          <a:xfrm>
            <a:off x="4770660" y="2628900"/>
            <a:ext cx="1651000" cy="381000"/>
          </a:xfrm>
          <a:prstGeom prst="rect">
            <a:avLst/>
          </a:prstGeom>
          <a:noFill/>
        </p:spPr>
        <p:txBody>
          <a:bodyPr wrap="square" lIns="0" rIns="0" tIns="0" bIns="0" anchor="t">
            <a:spAutoFit/>
          </a:bodyPr>
          <a:lstStyle/>
          <a:p>
            <a:pPr algn="ctr">
              <a:lnSpc>
                <a:spcPct val="100000"/>
              </a:lnSpc>
            </a:pPr>
            <a:r>
              <a:rPr sz="1200" b="1" i="0">
                <a:solidFill>
                  <a:srgbClr val="1C1C1C"/>
                </a:solidFill>
                <a:latin typeface="Inter"/>
              </a:rPr>
              <a:t>Grands projets</a:t>
            </a:r>
          </a:p>
          <a:p>
            <a:pPr algn="ctr">
              <a:lnSpc>
                <a:spcPct val="100000"/>
              </a:lnSpc>
            </a:pPr>
            <a:r>
              <a:rPr sz="1200" b="1" i="0">
                <a:solidFill>
                  <a:srgbClr val="1C1C1C"/>
                </a:solidFill>
                <a:latin typeface="Inter"/>
              </a:rPr>
              <a:t>vitrines</a:t>
            </a:r>
          </a:p>
        </p:txBody>
      </p:sp>
      <p:sp>
        <p:nvSpPr>
          <p:cNvPr id="33" name="TextBox 32"/>
          <p:cNvSpPr txBox="1"/>
          <p:nvPr/>
        </p:nvSpPr>
        <p:spPr>
          <a:xfrm>
            <a:off x="4707160" y="3022600"/>
            <a:ext cx="1778000" cy="355600"/>
          </a:xfrm>
          <a:prstGeom prst="rect">
            <a:avLst/>
          </a:prstGeom>
          <a:noFill/>
        </p:spPr>
        <p:txBody>
          <a:bodyPr wrap="square" lIns="0" rIns="0" tIns="0" bIns="0" anchor="t">
            <a:spAutoFit/>
          </a:bodyPr>
          <a:lstStyle/>
          <a:p>
            <a:pPr algn="ctr">
              <a:lnSpc>
                <a:spcPct val="105000"/>
              </a:lnSpc>
            </a:pPr>
            <a:r>
              <a:rPr sz="950" b="0" i="0">
                <a:solidFill>
                  <a:srgbClr val="6E6A64"/>
                </a:solidFill>
                <a:latin typeface="Inter"/>
              </a:rPr>
              <a:t>marina, corniche,</a:t>
            </a:r>
          </a:p>
          <a:p>
            <a:pPr algn="ctr">
              <a:lnSpc>
                <a:spcPct val="105000"/>
              </a:lnSpc>
            </a:pPr>
            <a:r>
              <a:rPr sz="950" b="0" i="0">
                <a:solidFill>
                  <a:srgbClr val="6E6A64"/>
                </a:solidFill>
                <a:latin typeface="Inter"/>
              </a:rPr>
              <a:t>médina restaurée</a:t>
            </a:r>
          </a:p>
        </p:txBody>
      </p:sp>
      <p:sp>
        <p:nvSpPr>
          <p:cNvPr id="34" name="Rounded Rectangle 33"/>
          <p:cNvSpPr/>
          <p:nvPr/>
        </p:nvSpPr>
        <p:spPr>
          <a:xfrm>
            <a:off x="4643660" y="4394200"/>
            <a:ext cx="1905000" cy="863600"/>
          </a:xfrm>
          <a:prstGeom prst="roundRect">
            <a:avLst>
              <a:gd name="adj" fmla="val 10294"/>
            </a:avLst>
          </a:prstGeom>
          <a:solidFill>
            <a:srgbClr val="FFFFFF"/>
          </a:solidFill>
          <a:ln w="19050">
            <a:solidFill>
              <a:srgbClr val="D9A441"/>
            </a:solidFill>
          </a:ln>
          <a:effectLst/>
        </p:spPr>
        <p:txBody>
          <a:bodyPr rtlCol="0" anchor="ctr"/>
          <a:lstStyle/>
          <a:p>
            <a:pPr algn="ctr"/>
          </a:p>
        </p:txBody>
      </p:sp>
      <p:sp>
        <p:nvSpPr>
          <p:cNvPr id="35" name="Oval 34"/>
          <p:cNvSpPr/>
          <p:nvPr/>
        </p:nvSpPr>
        <p:spPr>
          <a:xfrm>
            <a:off x="4554760" y="4305300"/>
            <a:ext cx="228600" cy="228600"/>
          </a:xfrm>
          <a:prstGeom prst="ellipse">
            <a:avLst/>
          </a:prstGeom>
          <a:solidFill>
            <a:srgbClr val="D9A441"/>
          </a:solidFill>
          <a:ln w="19050">
            <a:solidFill>
              <a:srgbClr val="FFFFFF"/>
            </a:solidFill>
          </a:ln>
          <a:effectLst/>
        </p:spPr>
        <p:txBody>
          <a:bodyPr rtlCol="0" anchor="ctr"/>
          <a:lstStyle/>
          <a:p>
            <a:pPr algn="ctr"/>
          </a:p>
        </p:txBody>
      </p:sp>
      <p:sp>
        <p:nvSpPr>
          <p:cNvPr id="36" name="TextBox 35"/>
          <p:cNvSpPr txBox="1"/>
          <p:nvPr/>
        </p:nvSpPr>
        <p:spPr>
          <a:xfrm>
            <a:off x="4554760" y="4305300"/>
            <a:ext cx="228600" cy="228600"/>
          </a:xfrm>
          <a:prstGeom prst="rect">
            <a:avLst/>
          </a:prstGeom>
          <a:noFill/>
        </p:spPr>
        <p:txBody>
          <a:bodyPr wrap="square" lIns="0" rIns="0" tIns="0" bIns="0" anchor="ctr">
            <a:spAutoFit/>
          </a:bodyPr>
          <a:lstStyle/>
          <a:p>
            <a:pPr algn="ctr">
              <a:lnSpc>
                <a:spcPct val="115000"/>
              </a:lnSpc>
            </a:pPr>
            <a:r>
              <a:rPr sz="1100" b="1" i="0">
                <a:solidFill>
                  <a:srgbClr val="FFFFFF"/>
                </a:solidFill>
                <a:latin typeface="Inter"/>
              </a:rPr>
              <a:t>3</a:t>
            </a:r>
          </a:p>
        </p:txBody>
      </p:sp>
      <p:sp>
        <p:nvSpPr>
          <p:cNvPr id="37" name="TextBox 36"/>
          <p:cNvSpPr txBox="1"/>
          <p:nvPr/>
        </p:nvSpPr>
        <p:spPr>
          <a:xfrm>
            <a:off x="4770660" y="4470400"/>
            <a:ext cx="1651000" cy="381000"/>
          </a:xfrm>
          <a:prstGeom prst="rect">
            <a:avLst/>
          </a:prstGeom>
          <a:noFill/>
        </p:spPr>
        <p:txBody>
          <a:bodyPr wrap="square" lIns="0" rIns="0" tIns="0" bIns="0" anchor="t">
            <a:spAutoFit/>
          </a:bodyPr>
          <a:lstStyle/>
          <a:p>
            <a:pPr algn="ctr">
              <a:lnSpc>
                <a:spcPct val="100000"/>
              </a:lnSpc>
            </a:pPr>
            <a:r>
              <a:rPr sz="1200" b="1" i="0">
                <a:solidFill>
                  <a:srgbClr val="1C1C1C"/>
                </a:solidFill>
                <a:latin typeface="Inter"/>
              </a:rPr>
              <a:t>Hausse de la</a:t>
            </a:r>
          </a:p>
          <a:p>
            <a:pPr algn="ctr">
              <a:lnSpc>
                <a:spcPct val="100000"/>
              </a:lnSpc>
            </a:pPr>
            <a:r>
              <a:rPr sz="1200" b="1" i="0">
                <a:solidFill>
                  <a:srgbClr val="1C1C1C"/>
                </a:solidFill>
                <a:latin typeface="Inter"/>
              </a:rPr>
              <a:t>rente foncière</a:t>
            </a:r>
          </a:p>
        </p:txBody>
      </p:sp>
      <p:sp>
        <p:nvSpPr>
          <p:cNvPr id="38" name="TextBox 37"/>
          <p:cNvSpPr txBox="1"/>
          <p:nvPr/>
        </p:nvSpPr>
        <p:spPr>
          <a:xfrm>
            <a:off x="4707160" y="4864100"/>
            <a:ext cx="1778000" cy="355600"/>
          </a:xfrm>
          <a:prstGeom prst="rect">
            <a:avLst/>
          </a:prstGeom>
          <a:noFill/>
        </p:spPr>
        <p:txBody>
          <a:bodyPr wrap="square" lIns="0" rIns="0" tIns="0" bIns="0" anchor="t">
            <a:spAutoFit/>
          </a:bodyPr>
          <a:lstStyle/>
          <a:p>
            <a:pPr algn="ctr">
              <a:lnSpc>
                <a:spcPct val="105000"/>
              </a:lnSpc>
            </a:pPr>
            <a:r>
              <a:rPr sz="950" b="0" i="0">
                <a:solidFill>
                  <a:srgbClr val="6E6A64"/>
                </a:solidFill>
                <a:latin typeface="Inter"/>
              </a:rPr>
              <a:t>le front de mer et la</a:t>
            </a:r>
          </a:p>
          <a:p>
            <a:pPr algn="ctr">
              <a:lnSpc>
                <a:spcPct val="105000"/>
              </a:lnSpc>
            </a:pPr>
            <a:r>
              <a:rPr sz="950" b="0" i="0">
                <a:solidFill>
                  <a:srgbClr val="6E6A64"/>
                </a:solidFill>
                <a:latin typeface="Inter"/>
              </a:rPr>
              <a:t>médina prennent de la valeur</a:t>
            </a:r>
          </a:p>
        </p:txBody>
      </p:sp>
      <p:sp>
        <p:nvSpPr>
          <p:cNvPr id="39" name="Rounded Rectangle 38"/>
          <p:cNvSpPr/>
          <p:nvPr/>
        </p:nvSpPr>
        <p:spPr>
          <a:xfrm>
            <a:off x="2857500" y="5314950"/>
            <a:ext cx="1905000" cy="863600"/>
          </a:xfrm>
          <a:prstGeom prst="roundRect">
            <a:avLst>
              <a:gd name="adj" fmla="val 10294"/>
            </a:avLst>
          </a:prstGeom>
          <a:solidFill>
            <a:srgbClr val="FFFFFF"/>
          </a:solidFill>
          <a:ln w="19050">
            <a:solidFill>
              <a:srgbClr val="D9A441"/>
            </a:solidFill>
          </a:ln>
          <a:effectLst/>
        </p:spPr>
        <p:txBody>
          <a:bodyPr rtlCol="0" anchor="ctr"/>
          <a:lstStyle/>
          <a:p>
            <a:pPr algn="ctr"/>
          </a:p>
        </p:txBody>
      </p:sp>
      <p:sp>
        <p:nvSpPr>
          <p:cNvPr id="40" name="Oval 39"/>
          <p:cNvSpPr/>
          <p:nvPr/>
        </p:nvSpPr>
        <p:spPr>
          <a:xfrm>
            <a:off x="2768600" y="5226050"/>
            <a:ext cx="228600" cy="228600"/>
          </a:xfrm>
          <a:prstGeom prst="ellipse">
            <a:avLst/>
          </a:prstGeom>
          <a:solidFill>
            <a:srgbClr val="D9A441"/>
          </a:solidFill>
          <a:ln w="19050">
            <a:solidFill>
              <a:srgbClr val="FFFFFF"/>
            </a:solidFill>
          </a:ln>
          <a:effectLst/>
        </p:spPr>
        <p:txBody>
          <a:bodyPr rtlCol="0" anchor="ctr"/>
          <a:lstStyle/>
          <a:p>
            <a:pPr algn="ctr"/>
          </a:p>
        </p:txBody>
      </p:sp>
      <p:sp>
        <p:nvSpPr>
          <p:cNvPr id="41" name="TextBox 40"/>
          <p:cNvSpPr txBox="1"/>
          <p:nvPr/>
        </p:nvSpPr>
        <p:spPr>
          <a:xfrm>
            <a:off x="2768600" y="5226050"/>
            <a:ext cx="228600" cy="228600"/>
          </a:xfrm>
          <a:prstGeom prst="rect">
            <a:avLst/>
          </a:prstGeom>
          <a:noFill/>
        </p:spPr>
        <p:txBody>
          <a:bodyPr wrap="square" lIns="0" rIns="0" tIns="0" bIns="0" anchor="ctr">
            <a:spAutoFit/>
          </a:bodyPr>
          <a:lstStyle/>
          <a:p>
            <a:pPr algn="ctr">
              <a:lnSpc>
                <a:spcPct val="115000"/>
              </a:lnSpc>
            </a:pPr>
            <a:r>
              <a:rPr sz="1100" b="1" i="0">
                <a:solidFill>
                  <a:srgbClr val="FFFFFF"/>
                </a:solidFill>
                <a:latin typeface="Inter"/>
              </a:rPr>
              <a:t>4</a:t>
            </a:r>
          </a:p>
        </p:txBody>
      </p:sp>
      <p:sp>
        <p:nvSpPr>
          <p:cNvPr id="42" name="TextBox 41"/>
          <p:cNvSpPr txBox="1"/>
          <p:nvPr/>
        </p:nvSpPr>
        <p:spPr>
          <a:xfrm>
            <a:off x="2984500" y="5391150"/>
            <a:ext cx="1651000" cy="381000"/>
          </a:xfrm>
          <a:prstGeom prst="rect">
            <a:avLst/>
          </a:prstGeom>
          <a:noFill/>
        </p:spPr>
        <p:txBody>
          <a:bodyPr wrap="square" lIns="0" rIns="0" tIns="0" bIns="0" anchor="t">
            <a:spAutoFit/>
          </a:bodyPr>
          <a:lstStyle/>
          <a:p>
            <a:pPr algn="ctr">
              <a:lnSpc>
                <a:spcPct val="100000"/>
              </a:lnSpc>
            </a:pPr>
            <a:r>
              <a:rPr sz="1200" b="1" i="0">
                <a:solidFill>
                  <a:srgbClr val="1C1C1C"/>
                </a:solidFill>
                <a:latin typeface="Inter"/>
              </a:rPr>
              <a:t>Hôtels, résidences,</a:t>
            </a:r>
          </a:p>
          <a:p>
            <a:pPr algn="ctr">
              <a:lnSpc>
                <a:spcPct val="100000"/>
              </a:lnSpc>
            </a:pPr>
            <a:r>
              <a:rPr sz="1200" b="1" i="0">
                <a:solidFill>
                  <a:srgbClr val="1C1C1C"/>
                </a:solidFill>
                <a:latin typeface="Inter"/>
              </a:rPr>
              <a:t>maisons d'hôtes</a:t>
            </a:r>
          </a:p>
        </p:txBody>
      </p:sp>
      <p:sp>
        <p:nvSpPr>
          <p:cNvPr id="43" name="TextBox 42"/>
          <p:cNvSpPr txBox="1"/>
          <p:nvPr/>
        </p:nvSpPr>
        <p:spPr>
          <a:xfrm>
            <a:off x="2921000" y="5784850"/>
            <a:ext cx="1778000" cy="355600"/>
          </a:xfrm>
          <a:prstGeom prst="rect">
            <a:avLst/>
          </a:prstGeom>
          <a:noFill/>
        </p:spPr>
        <p:txBody>
          <a:bodyPr wrap="square" lIns="0" rIns="0" tIns="0" bIns="0" anchor="t">
            <a:spAutoFit/>
          </a:bodyPr>
          <a:lstStyle/>
          <a:p>
            <a:pPr algn="ctr">
              <a:lnSpc>
                <a:spcPct val="105000"/>
              </a:lnSpc>
            </a:pPr>
            <a:r>
              <a:rPr sz="950" b="0" i="0">
                <a:solidFill>
                  <a:srgbClr val="6E6A64"/>
                </a:solidFill>
                <a:latin typeface="Inter"/>
              </a:rPr>
              <a:t>le sol va à l'usage</a:t>
            </a:r>
          </a:p>
          <a:p>
            <a:pPr algn="ctr">
              <a:lnSpc>
                <a:spcPct val="105000"/>
              </a:lnSpc>
            </a:pPr>
            <a:r>
              <a:rPr sz="950" b="0" i="0">
                <a:solidFill>
                  <a:srgbClr val="6E6A64"/>
                </a:solidFill>
                <a:latin typeface="Inter"/>
              </a:rPr>
              <a:t>le plus rentable</a:t>
            </a:r>
          </a:p>
        </p:txBody>
      </p:sp>
      <p:sp>
        <p:nvSpPr>
          <p:cNvPr id="44" name="Rounded Rectangle 43"/>
          <p:cNvSpPr/>
          <p:nvPr/>
        </p:nvSpPr>
        <p:spPr>
          <a:xfrm>
            <a:off x="1071340" y="4394200"/>
            <a:ext cx="1905000" cy="863600"/>
          </a:xfrm>
          <a:prstGeom prst="roundRect">
            <a:avLst>
              <a:gd name="adj" fmla="val 10294"/>
            </a:avLst>
          </a:prstGeom>
          <a:solidFill>
            <a:srgbClr val="FFFFFF"/>
          </a:solidFill>
          <a:ln w="19050">
            <a:solidFill>
              <a:srgbClr val="1F3A5F"/>
            </a:solidFill>
          </a:ln>
          <a:effectLst/>
        </p:spPr>
        <p:txBody>
          <a:bodyPr rtlCol="0" anchor="ctr"/>
          <a:lstStyle/>
          <a:p>
            <a:pPr algn="ctr"/>
          </a:p>
        </p:txBody>
      </p:sp>
      <p:sp>
        <p:nvSpPr>
          <p:cNvPr id="45" name="Oval 44"/>
          <p:cNvSpPr/>
          <p:nvPr/>
        </p:nvSpPr>
        <p:spPr>
          <a:xfrm>
            <a:off x="982440" y="4305300"/>
            <a:ext cx="228600" cy="228600"/>
          </a:xfrm>
          <a:prstGeom prst="ellipse">
            <a:avLst/>
          </a:prstGeom>
          <a:solidFill>
            <a:srgbClr val="1F3A5F"/>
          </a:solidFill>
          <a:ln w="19050">
            <a:solidFill>
              <a:srgbClr val="FFFFFF"/>
            </a:solidFill>
          </a:ln>
          <a:effectLst/>
        </p:spPr>
        <p:txBody>
          <a:bodyPr rtlCol="0" anchor="ctr"/>
          <a:lstStyle/>
          <a:p>
            <a:pPr algn="ctr"/>
          </a:p>
        </p:txBody>
      </p:sp>
      <p:sp>
        <p:nvSpPr>
          <p:cNvPr id="46" name="TextBox 45"/>
          <p:cNvSpPr txBox="1"/>
          <p:nvPr/>
        </p:nvSpPr>
        <p:spPr>
          <a:xfrm>
            <a:off x="982440" y="4305300"/>
            <a:ext cx="228600" cy="228600"/>
          </a:xfrm>
          <a:prstGeom prst="rect">
            <a:avLst/>
          </a:prstGeom>
          <a:noFill/>
        </p:spPr>
        <p:txBody>
          <a:bodyPr wrap="square" lIns="0" rIns="0" tIns="0" bIns="0" anchor="ctr">
            <a:spAutoFit/>
          </a:bodyPr>
          <a:lstStyle/>
          <a:p>
            <a:pPr algn="ctr">
              <a:lnSpc>
                <a:spcPct val="115000"/>
              </a:lnSpc>
            </a:pPr>
            <a:r>
              <a:rPr sz="1100" b="1" i="0">
                <a:solidFill>
                  <a:srgbClr val="FFFFFF"/>
                </a:solidFill>
                <a:latin typeface="Inter"/>
              </a:rPr>
              <a:t>5</a:t>
            </a:r>
          </a:p>
        </p:txBody>
      </p:sp>
      <p:sp>
        <p:nvSpPr>
          <p:cNvPr id="47" name="TextBox 46"/>
          <p:cNvSpPr txBox="1"/>
          <p:nvPr/>
        </p:nvSpPr>
        <p:spPr>
          <a:xfrm>
            <a:off x="1198340" y="4470400"/>
            <a:ext cx="1651000" cy="381000"/>
          </a:xfrm>
          <a:prstGeom prst="rect">
            <a:avLst/>
          </a:prstGeom>
          <a:noFill/>
        </p:spPr>
        <p:txBody>
          <a:bodyPr wrap="square" lIns="0" rIns="0" tIns="0" bIns="0" anchor="t">
            <a:spAutoFit/>
          </a:bodyPr>
          <a:lstStyle/>
          <a:p>
            <a:pPr algn="ctr">
              <a:lnSpc>
                <a:spcPct val="100000"/>
              </a:lnSpc>
            </a:pPr>
            <a:r>
              <a:rPr sz="1200" b="1" i="0">
                <a:solidFill>
                  <a:srgbClr val="1C1C1C"/>
                </a:solidFill>
                <a:latin typeface="Inter"/>
              </a:rPr>
              <a:t>Hausse des prix,</a:t>
            </a:r>
          </a:p>
          <a:p>
            <a:pPr algn="ctr">
              <a:lnSpc>
                <a:spcPct val="100000"/>
              </a:lnSpc>
            </a:pPr>
            <a:r>
              <a:rPr sz="1200" b="1" i="0">
                <a:solidFill>
                  <a:srgbClr val="1C1C1C"/>
                </a:solidFill>
                <a:latin typeface="Inter"/>
              </a:rPr>
              <a:t>départ des ménages</a:t>
            </a:r>
          </a:p>
        </p:txBody>
      </p:sp>
      <p:sp>
        <p:nvSpPr>
          <p:cNvPr id="48" name="TextBox 47"/>
          <p:cNvSpPr txBox="1"/>
          <p:nvPr/>
        </p:nvSpPr>
        <p:spPr>
          <a:xfrm>
            <a:off x="1134840" y="4864100"/>
            <a:ext cx="1778000" cy="355600"/>
          </a:xfrm>
          <a:prstGeom prst="rect">
            <a:avLst/>
          </a:prstGeom>
          <a:noFill/>
        </p:spPr>
        <p:txBody>
          <a:bodyPr wrap="square" lIns="0" rIns="0" tIns="0" bIns="0" anchor="t">
            <a:spAutoFit/>
          </a:bodyPr>
          <a:lstStyle/>
          <a:p>
            <a:pPr algn="ctr">
              <a:lnSpc>
                <a:spcPct val="105000"/>
              </a:lnSpc>
            </a:pPr>
            <a:r>
              <a:rPr sz="950" b="0" i="0">
                <a:solidFill>
                  <a:srgbClr val="6E6A64"/>
                </a:solidFill>
                <a:latin typeface="Inter"/>
              </a:rPr>
              <a:t>les familles modestes</a:t>
            </a:r>
          </a:p>
          <a:p>
            <a:pPr algn="ctr">
              <a:lnSpc>
                <a:spcPct val="105000"/>
              </a:lnSpc>
            </a:pPr>
            <a:r>
              <a:rPr sz="950" b="0" i="0">
                <a:solidFill>
                  <a:srgbClr val="6E6A64"/>
                </a:solidFill>
                <a:latin typeface="Inter"/>
              </a:rPr>
              <a:t>quittent le centre</a:t>
            </a:r>
          </a:p>
        </p:txBody>
      </p:sp>
      <p:sp>
        <p:nvSpPr>
          <p:cNvPr id="49" name="Rounded Rectangle 48"/>
          <p:cNvSpPr/>
          <p:nvPr/>
        </p:nvSpPr>
        <p:spPr>
          <a:xfrm>
            <a:off x="1071340" y="2552700"/>
            <a:ext cx="1905000" cy="863600"/>
          </a:xfrm>
          <a:prstGeom prst="roundRect">
            <a:avLst>
              <a:gd name="adj" fmla="val 10294"/>
            </a:avLst>
          </a:prstGeom>
          <a:solidFill>
            <a:srgbClr val="FFFFFF"/>
          </a:solidFill>
          <a:ln w="19050">
            <a:solidFill>
              <a:srgbClr val="1F3A5F"/>
            </a:solidFill>
          </a:ln>
          <a:effectLst/>
        </p:spPr>
        <p:txBody>
          <a:bodyPr rtlCol="0" anchor="ctr"/>
          <a:lstStyle/>
          <a:p>
            <a:pPr algn="ctr"/>
          </a:p>
        </p:txBody>
      </p:sp>
      <p:sp>
        <p:nvSpPr>
          <p:cNvPr id="50" name="Oval 49"/>
          <p:cNvSpPr/>
          <p:nvPr/>
        </p:nvSpPr>
        <p:spPr>
          <a:xfrm>
            <a:off x="982440" y="2463800"/>
            <a:ext cx="228600" cy="228600"/>
          </a:xfrm>
          <a:prstGeom prst="ellipse">
            <a:avLst/>
          </a:prstGeom>
          <a:solidFill>
            <a:srgbClr val="1F3A5F"/>
          </a:solidFill>
          <a:ln w="19050">
            <a:solidFill>
              <a:srgbClr val="FFFFFF"/>
            </a:solidFill>
          </a:ln>
          <a:effectLst/>
        </p:spPr>
        <p:txBody>
          <a:bodyPr rtlCol="0" anchor="ctr"/>
          <a:lstStyle/>
          <a:p>
            <a:pPr algn="ctr"/>
          </a:p>
        </p:txBody>
      </p:sp>
      <p:sp>
        <p:nvSpPr>
          <p:cNvPr id="51" name="TextBox 50"/>
          <p:cNvSpPr txBox="1"/>
          <p:nvPr/>
        </p:nvSpPr>
        <p:spPr>
          <a:xfrm>
            <a:off x="982440" y="2463800"/>
            <a:ext cx="228600" cy="228600"/>
          </a:xfrm>
          <a:prstGeom prst="rect">
            <a:avLst/>
          </a:prstGeom>
          <a:noFill/>
        </p:spPr>
        <p:txBody>
          <a:bodyPr wrap="square" lIns="0" rIns="0" tIns="0" bIns="0" anchor="ctr">
            <a:spAutoFit/>
          </a:bodyPr>
          <a:lstStyle/>
          <a:p>
            <a:pPr algn="ctr">
              <a:lnSpc>
                <a:spcPct val="115000"/>
              </a:lnSpc>
            </a:pPr>
            <a:r>
              <a:rPr sz="1100" b="1" i="0">
                <a:solidFill>
                  <a:srgbClr val="FFFFFF"/>
                </a:solidFill>
                <a:latin typeface="Inter"/>
              </a:rPr>
              <a:t>6</a:t>
            </a:r>
          </a:p>
        </p:txBody>
      </p:sp>
      <p:sp>
        <p:nvSpPr>
          <p:cNvPr id="52" name="TextBox 51"/>
          <p:cNvSpPr txBox="1"/>
          <p:nvPr/>
        </p:nvSpPr>
        <p:spPr>
          <a:xfrm>
            <a:off x="1198340" y="2628900"/>
            <a:ext cx="1651000" cy="381000"/>
          </a:xfrm>
          <a:prstGeom prst="rect">
            <a:avLst/>
          </a:prstGeom>
          <a:noFill/>
        </p:spPr>
        <p:txBody>
          <a:bodyPr wrap="square" lIns="0" rIns="0" tIns="0" bIns="0" anchor="t">
            <a:spAutoFit/>
          </a:bodyPr>
          <a:lstStyle/>
          <a:p>
            <a:pPr algn="ctr">
              <a:lnSpc>
                <a:spcPct val="100000"/>
              </a:lnSpc>
            </a:pPr>
            <a:r>
              <a:rPr sz="1200" b="1" i="0">
                <a:solidFill>
                  <a:srgbClr val="1C1C1C"/>
                </a:solidFill>
                <a:latin typeface="Inter"/>
              </a:rPr>
              <a:t>Étalement en</a:t>
            </a:r>
          </a:p>
          <a:p>
            <a:pPr algn="ctr">
              <a:lnSpc>
                <a:spcPct val="100000"/>
              </a:lnSpc>
            </a:pPr>
            <a:r>
              <a:rPr sz="1200" b="1" i="0">
                <a:solidFill>
                  <a:srgbClr val="1C1C1C"/>
                </a:solidFill>
                <a:latin typeface="Inter"/>
              </a:rPr>
              <a:t>périphérie</a:t>
            </a:r>
          </a:p>
        </p:txBody>
      </p:sp>
      <p:sp>
        <p:nvSpPr>
          <p:cNvPr id="53" name="TextBox 52"/>
          <p:cNvSpPr txBox="1"/>
          <p:nvPr/>
        </p:nvSpPr>
        <p:spPr>
          <a:xfrm>
            <a:off x="1134840" y="3022600"/>
            <a:ext cx="1778000" cy="355600"/>
          </a:xfrm>
          <a:prstGeom prst="rect">
            <a:avLst/>
          </a:prstGeom>
          <a:noFill/>
        </p:spPr>
        <p:txBody>
          <a:bodyPr wrap="square" lIns="0" rIns="0" tIns="0" bIns="0" anchor="t">
            <a:spAutoFit/>
          </a:bodyPr>
          <a:lstStyle/>
          <a:p>
            <a:pPr algn="ctr">
              <a:lnSpc>
                <a:spcPct val="105000"/>
              </a:lnSpc>
            </a:pPr>
            <a:r>
              <a:rPr sz="950" b="0" i="0">
                <a:solidFill>
                  <a:srgbClr val="6E6A64"/>
                </a:solidFill>
                <a:latin typeface="Inter"/>
              </a:rPr>
              <a:t>quartiers sous-équipés,</a:t>
            </a:r>
          </a:p>
          <a:p>
            <a:pPr algn="ctr">
              <a:lnSpc>
                <a:spcPct val="105000"/>
              </a:lnSpc>
            </a:pPr>
            <a:r>
              <a:rPr sz="950" b="0" i="0">
                <a:solidFill>
                  <a:srgbClr val="6E6A64"/>
                </a:solidFill>
                <a:latin typeface="Inter"/>
              </a:rPr>
              <a:t>invisibles, jamais prioritaires</a:t>
            </a:r>
          </a:p>
        </p:txBody>
      </p:sp>
      <p:sp>
        <p:nvSpPr>
          <p:cNvPr id="54" name="TextBox 53"/>
          <p:cNvSpPr txBox="1"/>
          <p:nvPr/>
        </p:nvSpPr>
        <p:spPr>
          <a:xfrm>
            <a:off x="2921000" y="3619500"/>
            <a:ext cx="1778000" cy="190500"/>
          </a:xfrm>
          <a:prstGeom prst="rect">
            <a:avLst/>
          </a:prstGeom>
          <a:noFill/>
        </p:spPr>
        <p:txBody>
          <a:bodyPr wrap="square" lIns="0" rIns="0" tIns="0" bIns="0" anchor="t">
            <a:spAutoFit/>
          </a:bodyPr>
          <a:lstStyle/>
          <a:p>
            <a:pPr algn="ctr">
              <a:lnSpc>
                <a:spcPct val="115000"/>
              </a:lnSpc>
            </a:pPr>
            <a:r>
              <a:rPr sz="1300" b="1" i="0">
                <a:solidFill>
                  <a:srgbClr val="C8462B"/>
                </a:solidFill>
                <a:latin typeface="Inter"/>
              </a:rPr>
              <a:t>LE CERCLE</a:t>
            </a:r>
          </a:p>
        </p:txBody>
      </p:sp>
      <p:sp>
        <p:nvSpPr>
          <p:cNvPr id="55" name="TextBox 54"/>
          <p:cNvSpPr txBox="1"/>
          <p:nvPr/>
        </p:nvSpPr>
        <p:spPr>
          <a:xfrm>
            <a:off x="2921000" y="3841750"/>
            <a:ext cx="1778000" cy="381000"/>
          </a:xfrm>
          <a:prstGeom prst="rect">
            <a:avLst/>
          </a:prstGeom>
          <a:noFill/>
        </p:spPr>
        <p:txBody>
          <a:bodyPr wrap="square" lIns="0" rIns="0" tIns="0" bIns="0" anchor="t">
            <a:spAutoFit/>
          </a:bodyPr>
          <a:lstStyle/>
          <a:p>
            <a:pPr algn="ctr">
              <a:lnSpc>
                <a:spcPct val="115000"/>
              </a:lnSpc>
            </a:pPr>
            <a:r>
              <a:rPr sz="1100" b="0" i="1">
                <a:solidFill>
                  <a:srgbClr val="6E6A64"/>
                </a:solidFill>
                <a:latin typeface="Inter"/>
              </a:rPr>
              <a:t>chaque tour renforce</a:t>
            </a:r>
          </a:p>
          <a:p>
            <a:pPr algn="ctr">
              <a:lnSpc>
                <a:spcPct val="115000"/>
              </a:lnSpc>
            </a:pPr>
            <a:r>
              <a:rPr sz="1100" b="0" i="1">
                <a:solidFill>
                  <a:srgbClr val="6E6A64"/>
                </a:solidFill>
                <a:latin typeface="Inter"/>
              </a:rPr>
              <a:t>le suivant</a:t>
            </a:r>
          </a:p>
        </p:txBody>
      </p:sp>
      <p:sp>
        <p:nvSpPr>
          <p:cNvPr id="56" name="Rectangle 55"/>
          <p:cNvSpPr/>
          <p:nvPr/>
        </p:nvSpPr>
        <p:spPr>
          <a:xfrm>
            <a:off x="7620000" y="1555750"/>
            <a:ext cx="4064000" cy="2095500"/>
          </a:xfrm>
          <a:prstGeom prst="rect">
            <a:avLst/>
          </a:prstGeom>
          <a:solidFill>
            <a:srgbClr val="FFFFFF"/>
          </a:solidFill>
          <a:ln w="9525">
            <a:solidFill>
              <a:srgbClr val="CFC8BC"/>
            </a:solidFill>
          </a:ln>
          <a:effectLst/>
        </p:spPr>
        <p:txBody>
          <a:bodyPr rtlCol="0" anchor="ctr"/>
          <a:lstStyle/>
          <a:p>
            <a:pPr algn="ctr"/>
          </a:p>
        </p:txBody>
      </p:sp>
      <p:sp>
        <p:nvSpPr>
          <p:cNvPr id="57" name="Rectangle 56"/>
          <p:cNvSpPr/>
          <p:nvPr/>
        </p:nvSpPr>
        <p:spPr>
          <a:xfrm>
            <a:off x="7620000" y="1555750"/>
            <a:ext cx="63500" cy="2095500"/>
          </a:xfrm>
          <a:prstGeom prst="rect">
            <a:avLst/>
          </a:prstGeom>
          <a:solidFill>
            <a:srgbClr val="C8462B"/>
          </a:solidFill>
          <a:ln>
            <a:noFill/>
          </a:ln>
          <a:effectLst/>
        </p:spPr>
        <p:txBody>
          <a:bodyPr rtlCol="0" anchor="ctr"/>
          <a:lstStyle/>
          <a:p>
            <a:pPr algn="ctr"/>
          </a:p>
        </p:txBody>
      </p:sp>
      <p:sp>
        <p:nvSpPr>
          <p:cNvPr id="58" name="TextBox 57"/>
          <p:cNvSpPr txBox="1"/>
          <p:nvPr/>
        </p:nvSpPr>
        <p:spPr>
          <a:xfrm>
            <a:off x="7848600" y="1708150"/>
            <a:ext cx="3683000" cy="190500"/>
          </a:xfrm>
          <a:prstGeom prst="rect">
            <a:avLst/>
          </a:prstGeom>
          <a:noFill/>
        </p:spPr>
        <p:txBody>
          <a:bodyPr wrap="square" lIns="0" rIns="0" tIns="0" bIns="0" anchor="t">
            <a:spAutoFit/>
          </a:bodyPr>
          <a:lstStyle/>
          <a:p>
            <a:pPr algn="l">
              <a:lnSpc>
                <a:spcPct val="115000"/>
              </a:lnSpc>
            </a:pPr>
            <a:r>
              <a:rPr sz="1500" b="1" i="0">
                <a:solidFill>
                  <a:srgbClr val="C8462B"/>
                </a:solidFill>
                <a:latin typeface="Inter"/>
              </a:rPr>
              <a:t>QUI GAGNE</a:t>
            </a:r>
          </a:p>
        </p:txBody>
      </p:sp>
      <p:sp>
        <p:nvSpPr>
          <p:cNvPr id="59" name="Oval 58"/>
          <p:cNvSpPr/>
          <p:nvPr/>
        </p:nvSpPr>
        <p:spPr>
          <a:xfrm>
            <a:off x="7874000" y="2139950"/>
            <a:ext cx="76200" cy="76200"/>
          </a:xfrm>
          <a:prstGeom prst="ellipse">
            <a:avLst/>
          </a:prstGeom>
          <a:solidFill>
            <a:srgbClr val="C8462B"/>
          </a:solidFill>
          <a:ln>
            <a:noFill/>
          </a:ln>
          <a:effectLst/>
        </p:spPr>
        <p:txBody>
          <a:bodyPr rtlCol="0" anchor="ctr"/>
          <a:lstStyle/>
          <a:p>
            <a:pPr algn="ctr"/>
          </a:p>
        </p:txBody>
      </p:sp>
      <p:sp>
        <p:nvSpPr>
          <p:cNvPr id="60" name="TextBox 59"/>
          <p:cNvSpPr txBox="1"/>
          <p:nvPr/>
        </p:nvSpPr>
        <p:spPr>
          <a:xfrm>
            <a:off x="8039100" y="2076450"/>
            <a:ext cx="3556000" cy="215900"/>
          </a:xfrm>
          <a:prstGeom prst="rect">
            <a:avLst/>
          </a:prstGeom>
          <a:noFill/>
        </p:spPr>
        <p:txBody>
          <a:bodyPr wrap="square" lIns="0" rIns="0" tIns="0" bIns="0" anchor="t">
            <a:spAutoFit/>
          </a:bodyPr>
          <a:lstStyle/>
          <a:p>
            <a:pPr algn="l">
              <a:lnSpc>
                <a:spcPct val="115000"/>
              </a:lnSpc>
            </a:pPr>
            <a:r>
              <a:rPr sz="1300" b="0" i="0">
                <a:solidFill>
                  <a:srgbClr val="1C1C1C"/>
                </a:solidFill>
                <a:latin typeface="Inter"/>
              </a:rPr>
              <a:t>Promoteurs et investisseurs</a:t>
            </a:r>
          </a:p>
        </p:txBody>
      </p:sp>
      <p:sp>
        <p:nvSpPr>
          <p:cNvPr id="61" name="Oval 60"/>
          <p:cNvSpPr/>
          <p:nvPr/>
        </p:nvSpPr>
        <p:spPr>
          <a:xfrm>
            <a:off x="7874000" y="2495550"/>
            <a:ext cx="76200" cy="76200"/>
          </a:xfrm>
          <a:prstGeom prst="ellipse">
            <a:avLst/>
          </a:prstGeom>
          <a:solidFill>
            <a:srgbClr val="C8462B"/>
          </a:solidFill>
          <a:ln>
            <a:noFill/>
          </a:ln>
          <a:effectLst/>
        </p:spPr>
        <p:txBody>
          <a:bodyPr rtlCol="0" anchor="ctr"/>
          <a:lstStyle/>
          <a:p>
            <a:pPr algn="ctr"/>
          </a:p>
        </p:txBody>
      </p:sp>
      <p:sp>
        <p:nvSpPr>
          <p:cNvPr id="62" name="TextBox 61"/>
          <p:cNvSpPr txBox="1"/>
          <p:nvPr/>
        </p:nvSpPr>
        <p:spPr>
          <a:xfrm>
            <a:off x="8039100" y="2432050"/>
            <a:ext cx="3556000" cy="215900"/>
          </a:xfrm>
          <a:prstGeom prst="rect">
            <a:avLst/>
          </a:prstGeom>
          <a:noFill/>
        </p:spPr>
        <p:txBody>
          <a:bodyPr wrap="square" lIns="0" rIns="0" tIns="0" bIns="0" anchor="t">
            <a:spAutoFit/>
          </a:bodyPr>
          <a:lstStyle/>
          <a:p>
            <a:pPr algn="l">
              <a:lnSpc>
                <a:spcPct val="115000"/>
              </a:lnSpc>
            </a:pPr>
            <a:r>
              <a:rPr sz="1300" b="0" i="0">
                <a:solidFill>
                  <a:srgbClr val="1C1C1C"/>
                </a:solidFill>
                <a:latin typeface="Inter"/>
              </a:rPr>
              <a:t>Hôtels, opérateurs de croisière</a:t>
            </a:r>
          </a:p>
        </p:txBody>
      </p:sp>
      <p:sp>
        <p:nvSpPr>
          <p:cNvPr id="63" name="Oval 62"/>
          <p:cNvSpPr/>
          <p:nvPr/>
        </p:nvSpPr>
        <p:spPr>
          <a:xfrm>
            <a:off x="7874000" y="2851150"/>
            <a:ext cx="76200" cy="76200"/>
          </a:xfrm>
          <a:prstGeom prst="ellipse">
            <a:avLst/>
          </a:prstGeom>
          <a:solidFill>
            <a:srgbClr val="C8462B"/>
          </a:solidFill>
          <a:ln>
            <a:noFill/>
          </a:ln>
          <a:effectLst/>
        </p:spPr>
        <p:txBody>
          <a:bodyPr rtlCol="0" anchor="ctr"/>
          <a:lstStyle/>
          <a:p>
            <a:pPr algn="ctr"/>
          </a:p>
        </p:txBody>
      </p:sp>
      <p:sp>
        <p:nvSpPr>
          <p:cNvPr id="64" name="TextBox 63"/>
          <p:cNvSpPr txBox="1"/>
          <p:nvPr/>
        </p:nvSpPr>
        <p:spPr>
          <a:xfrm>
            <a:off x="8039100" y="2787650"/>
            <a:ext cx="3556000" cy="215900"/>
          </a:xfrm>
          <a:prstGeom prst="rect">
            <a:avLst/>
          </a:prstGeom>
          <a:noFill/>
        </p:spPr>
        <p:txBody>
          <a:bodyPr wrap="square" lIns="0" rIns="0" tIns="0" bIns="0" anchor="t">
            <a:spAutoFit/>
          </a:bodyPr>
          <a:lstStyle/>
          <a:p>
            <a:pPr algn="l">
              <a:lnSpc>
                <a:spcPct val="115000"/>
              </a:lnSpc>
            </a:pPr>
            <a:r>
              <a:rPr sz="1300" b="0" i="0">
                <a:solidFill>
                  <a:srgbClr val="1C1C1C"/>
                </a:solidFill>
                <a:latin typeface="Inter"/>
              </a:rPr>
              <a:t>Propriétaires du front de mer</a:t>
            </a:r>
          </a:p>
        </p:txBody>
      </p:sp>
      <p:sp>
        <p:nvSpPr>
          <p:cNvPr id="65" name="Oval 64"/>
          <p:cNvSpPr/>
          <p:nvPr/>
        </p:nvSpPr>
        <p:spPr>
          <a:xfrm>
            <a:off x="7874000" y="3206750"/>
            <a:ext cx="76200" cy="76200"/>
          </a:xfrm>
          <a:prstGeom prst="ellipse">
            <a:avLst/>
          </a:prstGeom>
          <a:solidFill>
            <a:srgbClr val="C8462B"/>
          </a:solidFill>
          <a:ln>
            <a:noFill/>
          </a:ln>
          <a:effectLst/>
        </p:spPr>
        <p:txBody>
          <a:bodyPr rtlCol="0" anchor="ctr"/>
          <a:lstStyle/>
          <a:p>
            <a:pPr algn="ctr"/>
          </a:p>
        </p:txBody>
      </p:sp>
      <p:sp>
        <p:nvSpPr>
          <p:cNvPr id="66" name="TextBox 65"/>
          <p:cNvSpPr txBox="1"/>
          <p:nvPr/>
        </p:nvSpPr>
        <p:spPr>
          <a:xfrm>
            <a:off x="8039100" y="3143250"/>
            <a:ext cx="3556000" cy="215900"/>
          </a:xfrm>
          <a:prstGeom prst="rect">
            <a:avLst/>
          </a:prstGeom>
          <a:noFill/>
        </p:spPr>
        <p:txBody>
          <a:bodyPr wrap="square" lIns="0" rIns="0" tIns="0" bIns="0" anchor="t">
            <a:spAutoFit/>
          </a:bodyPr>
          <a:lstStyle/>
          <a:p>
            <a:pPr algn="l">
              <a:lnSpc>
                <a:spcPct val="115000"/>
              </a:lnSpc>
            </a:pPr>
            <a:r>
              <a:rPr sz="1300" b="0" i="0">
                <a:solidFill>
                  <a:srgbClr val="1C1C1C"/>
                </a:solidFill>
                <a:latin typeface="Inter"/>
              </a:rPr>
              <a:t>L'image nationale</a:t>
            </a:r>
          </a:p>
        </p:txBody>
      </p:sp>
      <p:sp>
        <p:nvSpPr>
          <p:cNvPr id="67" name="Rectangle 66"/>
          <p:cNvSpPr/>
          <p:nvPr/>
        </p:nvSpPr>
        <p:spPr>
          <a:xfrm>
            <a:off x="7620000" y="3873500"/>
            <a:ext cx="4064000" cy="2095500"/>
          </a:xfrm>
          <a:prstGeom prst="rect">
            <a:avLst/>
          </a:prstGeom>
          <a:solidFill>
            <a:srgbClr val="FFFFFF"/>
          </a:solidFill>
          <a:ln w="9525">
            <a:solidFill>
              <a:srgbClr val="CFC8BC"/>
            </a:solidFill>
          </a:ln>
          <a:effectLst/>
        </p:spPr>
        <p:txBody>
          <a:bodyPr rtlCol="0" anchor="ctr"/>
          <a:lstStyle/>
          <a:p>
            <a:pPr algn="ctr"/>
          </a:p>
        </p:txBody>
      </p:sp>
      <p:sp>
        <p:nvSpPr>
          <p:cNvPr id="68" name="Rectangle 67"/>
          <p:cNvSpPr/>
          <p:nvPr/>
        </p:nvSpPr>
        <p:spPr>
          <a:xfrm>
            <a:off x="7620000" y="3873500"/>
            <a:ext cx="63500" cy="2095500"/>
          </a:xfrm>
          <a:prstGeom prst="rect">
            <a:avLst/>
          </a:prstGeom>
          <a:solidFill>
            <a:srgbClr val="1F3A5F"/>
          </a:solidFill>
          <a:ln>
            <a:noFill/>
          </a:ln>
          <a:effectLst/>
        </p:spPr>
        <p:txBody>
          <a:bodyPr rtlCol="0" anchor="ctr"/>
          <a:lstStyle/>
          <a:p>
            <a:pPr algn="ctr"/>
          </a:p>
        </p:txBody>
      </p:sp>
      <p:sp>
        <p:nvSpPr>
          <p:cNvPr id="69" name="TextBox 68"/>
          <p:cNvSpPr txBox="1"/>
          <p:nvPr/>
        </p:nvSpPr>
        <p:spPr>
          <a:xfrm>
            <a:off x="7848600" y="4025900"/>
            <a:ext cx="3683000" cy="190500"/>
          </a:xfrm>
          <a:prstGeom prst="rect">
            <a:avLst/>
          </a:prstGeom>
          <a:noFill/>
        </p:spPr>
        <p:txBody>
          <a:bodyPr wrap="square" lIns="0" rIns="0" tIns="0" bIns="0" anchor="t">
            <a:spAutoFit/>
          </a:bodyPr>
          <a:lstStyle/>
          <a:p>
            <a:pPr algn="l">
              <a:lnSpc>
                <a:spcPct val="115000"/>
              </a:lnSpc>
            </a:pPr>
            <a:r>
              <a:rPr sz="1500" b="1" i="0">
                <a:solidFill>
                  <a:srgbClr val="1F3A5F"/>
                </a:solidFill>
                <a:latin typeface="Inter"/>
              </a:rPr>
              <a:t>QUI PAIE</a:t>
            </a:r>
          </a:p>
        </p:txBody>
      </p:sp>
      <p:sp>
        <p:nvSpPr>
          <p:cNvPr id="70" name="Oval 69"/>
          <p:cNvSpPr/>
          <p:nvPr/>
        </p:nvSpPr>
        <p:spPr>
          <a:xfrm>
            <a:off x="7874000" y="4457700"/>
            <a:ext cx="76200" cy="76200"/>
          </a:xfrm>
          <a:prstGeom prst="ellipse">
            <a:avLst/>
          </a:prstGeom>
          <a:solidFill>
            <a:srgbClr val="1F3A5F"/>
          </a:solidFill>
          <a:ln>
            <a:noFill/>
          </a:ln>
          <a:effectLst/>
        </p:spPr>
        <p:txBody>
          <a:bodyPr rtlCol="0" anchor="ctr"/>
          <a:lstStyle/>
          <a:p>
            <a:pPr algn="ctr"/>
          </a:p>
        </p:txBody>
      </p:sp>
      <p:sp>
        <p:nvSpPr>
          <p:cNvPr id="71" name="TextBox 70"/>
          <p:cNvSpPr txBox="1"/>
          <p:nvPr/>
        </p:nvSpPr>
        <p:spPr>
          <a:xfrm>
            <a:off x="8039100" y="4394200"/>
            <a:ext cx="3556000" cy="215900"/>
          </a:xfrm>
          <a:prstGeom prst="rect">
            <a:avLst/>
          </a:prstGeom>
          <a:noFill/>
        </p:spPr>
        <p:txBody>
          <a:bodyPr wrap="square" lIns="0" rIns="0" tIns="0" bIns="0" anchor="t">
            <a:spAutoFit/>
          </a:bodyPr>
          <a:lstStyle/>
          <a:p>
            <a:pPr algn="l">
              <a:lnSpc>
                <a:spcPct val="115000"/>
              </a:lnSpc>
            </a:pPr>
            <a:r>
              <a:rPr sz="1300" b="0" i="0">
                <a:solidFill>
                  <a:srgbClr val="1C1C1C"/>
                </a:solidFill>
                <a:latin typeface="Inter"/>
              </a:rPr>
              <a:t>Locataires de la médina et du centre</a:t>
            </a:r>
          </a:p>
        </p:txBody>
      </p:sp>
      <p:sp>
        <p:nvSpPr>
          <p:cNvPr id="72" name="Oval 71"/>
          <p:cNvSpPr/>
          <p:nvPr/>
        </p:nvSpPr>
        <p:spPr>
          <a:xfrm>
            <a:off x="7874000" y="4813300"/>
            <a:ext cx="76200" cy="76200"/>
          </a:xfrm>
          <a:prstGeom prst="ellipse">
            <a:avLst/>
          </a:prstGeom>
          <a:solidFill>
            <a:srgbClr val="1F3A5F"/>
          </a:solidFill>
          <a:ln>
            <a:noFill/>
          </a:ln>
          <a:effectLst/>
        </p:spPr>
        <p:txBody>
          <a:bodyPr rtlCol="0" anchor="ctr"/>
          <a:lstStyle/>
          <a:p>
            <a:pPr algn="ctr"/>
          </a:p>
        </p:txBody>
      </p:sp>
      <p:sp>
        <p:nvSpPr>
          <p:cNvPr id="73" name="TextBox 72"/>
          <p:cNvSpPr txBox="1"/>
          <p:nvPr/>
        </p:nvSpPr>
        <p:spPr>
          <a:xfrm>
            <a:off x="8039100" y="4749800"/>
            <a:ext cx="3556000" cy="215900"/>
          </a:xfrm>
          <a:prstGeom prst="rect">
            <a:avLst/>
          </a:prstGeom>
          <a:noFill/>
        </p:spPr>
        <p:txBody>
          <a:bodyPr wrap="square" lIns="0" rIns="0" tIns="0" bIns="0" anchor="t">
            <a:spAutoFit/>
          </a:bodyPr>
          <a:lstStyle/>
          <a:p>
            <a:pPr algn="l">
              <a:lnSpc>
                <a:spcPct val="115000"/>
              </a:lnSpc>
            </a:pPr>
            <a:r>
              <a:rPr sz="1300" b="0" i="0">
                <a:solidFill>
                  <a:srgbClr val="1C1C1C"/>
                </a:solidFill>
                <a:latin typeface="Inter"/>
              </a:rPr>
              <a:t>Pêcheurs de l'ancien port</a:t>
            </a:r>
          </a:p>
        </p:txBody>
      </p:sp>
      <p:sp>
        <p:nvSpPr>
          <p:cNvPr id="74" name="Oval 73"/>
          <p:cNvSpPr/>
          <p:nvPr/>
        </p:nvSpPr>
        <p:spPr>
          <a:xfrm>
            <a:off x="7874000" y="5168900"/>
            <a:ext cx="76200" cy="76200"/>
          </a:xfrm>
          <a:prstGeom prst="ellipse">
            <a:avLst/>
          </a:prstGeom>
          <a:solidFill>
            <a:srgbClr val="1F3A5F"/>
          </a:solidFill>
          <a:ln>
            <a:noFill/>
          </a:ln>
          <a:effectLst/>
        </p:spPr>
        <p:txBody>
          <a:bodyPr rtlCol="0" anchor="ctr"/>
          <a:lstStyle/>
          <a:p>
            <a:pPr algn="ctr"/>
          </a:p>
        </p:txBody>
      </p:sp>
      <p:sp>
        <p:nvSpPr>
          <p:cNvPr id="75" name="TextBox 74"/>
          <p:cNvSpPr txBox="1"/>
          <p:nvPr/>
        </p:nvSpPr>
        <p:spPr>
          <a:xfrm>
            <a:off x="8039100" y="5105400"/>
            <a:ext cx="3556000" cy="215900"/>
          </a:xfrm>
          <a:prstGeom prst="rect">
            <a:avLst/>
          </a:prstGeom>
          <a:noFill/>
        </p:spPr>
        <p:txBody>
          <a:bodyPr wrap="square" lIns="0" rIns="0" tIns="0" bIns="0" anchor="t">
            <a:spAutoFit/>
          </a:bodyPr>
          <a:lstStyle/>
          <a:p>
            <a:pPr algn="l">
              <a:lnSpc>
                <a:spcPct val="115000"/>
              </a:lnSpc>
            </a:pPr>
            <a:r>
              <a:rPr sz="1300" b="0" i="0">
                <a:solidFill>
                  <a:srgbClr val="1C1C1C"/>
                </a:solidFill>
                <a:latin typeface="Inter"/>
              </a:rPr>
              <a:t>Quartiers sans équipements</a:t>
            </a:r>
          </a:p>
        </p:txBody>
      </p:sp>
      <p:sp>
        <p:nvSpPr>
          <p:cNvPr id="76" name="Oval 75"/>
          <p:cNvSpPr/>
          <p:nvPr/>
        </p:nvSpPr>
        <p:spPr>
          <a:xfrm>
            <a:off x="7874000" y="5524500"/>
            <a:ext cx="76200" cy="76200"/>
          </a:xfrm>
          <a:prstGeom prst="ellipse">
            <a:avLst/>
          </a:prstGeom>
          <a:solidFill>
            <a:srgbClr val="1F3A5F"/>
          </a:solidFill>
          <a:ln>
            <a:noFill/>
          </a:ln>
          <a:effectLst/>
        </p:spPr>
        <p:txBody>
          <a:bodyPr rtlCol="0" anchor="ctr"/>
          <a:lstStyle/>
          <a:p>
            <a:pPr algn="ctr"/>
          </a:p>
        </p:txBody>
      </p:sp>
      <p:sp>
        <p:nvSpPr>
          <p:cNvPr id="77" name="TextBox 76"/>
          <p:cNvSpPr txBox="1"/>
          <p:nvPr/>
        </p:nvSpPr>
        <p:spPr>
          <a:xfrm>
            <a:off x="8039100" y="5461000"/>
            <a:ext cx="3556000" cy="215900"/>
          </a:xfrm>
          <a:prstGeom prst="rect">
            <a:avLst/>
          </a:prstGeom>
          <a:noFill/>
        </p:spPr>
        <p:txBody>
          <a:bodyPr wrap="square" lIns="0" rIns="0" tIns="0" bIns="0" anchor="t">
            <a:spAutoFit/>
          </a:bodyPr>
          <a:lstStyle/>
          <a:p>
            <a:pPr algn="l">
              <a:lnSpc>
                <a:spcPct val="115000"/>
              </a:lnSpc>
            </a:pPr>
            <a:r>
              <a:rPr sz="1300" b="0" i="0">
                <a:solidFill>
                  <a:srgbClr val="1C1C1C"/>
                </a:solidFill>
                <a:latin typeface="Inter"/>
              </a:rPr>
              <a:t>Le budget public</a:t>
            </a:r>
          </a:p>
        </p:txBody>
      </p:sp>
      <p:sp>
        <p:nvSpPr>
          <p:cNvPr id="78" name="TextBox 77"/>
          <p:cNvSpPr txBox="1"/>
          <p:nvPr/>
        </p:nvSpPr>
        <p:spPr>
          <a:xfrm>
            <a:off x="7620000" y="6083300"/>
            <a:ext cx="4064000" cy="152400"/>
          </a:xfrm>
          <a:prstGeom prst="rect">
            <a:avLst/>
          </a:prstGeom>
          <a:noFill/>
        </p:spPr>
        <p:txBody>
          <a:bodyPr wrap="square" lIns="0" rIns="0" tIns="0" bIns="0" anchor="t">
            <a:spAutoFit/>
          </a:bodyPr>
          <a:lstStyle/>
          <a:p>
            <a:pPr algn="l">
              <a:lnSpc>
                <a:spcPct val="115000"/>
              </a:lnSpc>
            </a:pPr>
            <a:r>
              <a:rPr sz="900" b="0" i="1">
                <a:solidFill>
                  <a:srgbClr val="6E6A64"/>
                </a:solidFill>
                <a:latin typeface="Inter"/>
              </a:rPr>
              <a:t>Schéma d'analyse de l'auteur, d'après les cas étudiés.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CAS 1 : LE PORT</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Du port qui travaille au port qui se visite</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La reconversion a ouvert la baie au public, mais elle a aussi remplacé le travail par la consommation de loisirs.</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07 / 17</a:t>
            </a:r>
          </a:p>
        </p:txBody>
      </p:sp>
      <p:sp>
        <p:nvSpPr>
          <p:cNvPr id="11" name="TextBox 10"/>
          <p:cNvSpPr txBox="1"/>
          <p:nvPr/>
        </p:nvSpPr>
        <p:spPr>
          <a:xfrm>
            <a:off x="508000" y="14605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AVANT  (PORT ACTIF JUSQU'AUX ANNÉES 2010)</a:t>
            </a:r>
          </a:p>
        </p:txBody>
      </p:sp>
      <p:sp>
        <p:nvSpPr>
          <p:cNvPr id="12" name="Rectangle 11"/>
          <p:cNvSpPr/>
          <p:nvPr/>
        </p:nvSpPr>
        <p:spPr>
          <a:xfrm>
            <a:off x="508000" y="1651000"/>
            <a:ext cx="3556000" cy="2413000"/>
          </a:xfrm>
          <a:prstGeom prst="rect">
            <a:avLst/>
          </a:prstGeom>
          <a:solidFill>
            <a:srgbClr val="D3E3EA"/>
          </a:solidFill>
          <a:ln>
            <a:noFill/>
          </a:ln>
          <a:effectLst/>
        </p:spPr>
        <p:txBody>
          <a:bodyPr rtlCol="0" anchor="ctr"/>
          <a:lstStyle/>
          <a:p>
            <a:pPr algn="ctr"/>
          </a:p>
        </p:txBody>
      </p:sp>
      <p:sp>
        <p:nvSpPr>
          <p:cNvPr id="13" name="Freeform 12"/>
          <p:cNvSpPr/>
          <p:nvPr/>
        </p:nvSpPr>
        <p:spPr>
          <a:xfrm>
            <a:off x="508000" y="3111500"/>
            <a:ext cx="3556000" cy="952500"/>
          </a:xfrm>
          <a:custGeom>
            <a:avLst/>
            <a:gdLst/>
            <a:ahLst/>
            <a:cxnLst/>
            <a:rect l="l" t="t" r="r" b="b"/>
            <a:pathLst>
              <a:path w="3556000" h="952500">
                <a:moveTo>
                  <a:pt x="0" y="127000"/>
                </a:moveTo>
                <a:lnTo>
                  <a:pt x="762000" y="0"/>
                </a:lnTo>
                <a:lnTo>
                  <a:pt x="1587500" y="158750"/>
                </a:lnTo>
                <a:lnTo>
                  <a:pt x="2540000" y="381000"/>
                </a:lnTo>
                <a:lnTo>
                  <a:pt x="3556000" y="444500"/>
                </a:lnTo>
                <a:lnTo>
                  <a:pt x="3556000" y="952500"/>
                </a:lnTo>
                <a:lnTo>
                  <a:pt x="0" y="952500"/>
                </a:lnTo>
                <a:close/>
              </a:path>
            </a:pathLst>
          </a:custGeom>
          <a:solidFill>
            <a:srgbClr val="EFE9DE"/>
          </a:solidFill>
          <a:ln w="12700">
            <a:solidFill>
              <a:srgbClr val="8C9AA0"/>
            </a:solidFill>
          </a:ln>
          <a:effectLst/>
        </p:spPr>
        <p:txBody>
          <a:bodyPr rtlCol="0" anchor="ctr"/>
          <a:lstStyle/>
          <a:p>
            <a:pPr algn="ctr"/>
          </a:p>
        </p:txBody>
      </p:sp>
      <p:sp>
        <p:nvSpPr>
          <p:cNvPr id="14" name="Freeform 13"/>
          <p:cNvSpPr/>
          <p:nvPr/>
        </p:nvSpPr>
        <p:spPr>
          <a:xfrm>
            <a:off x="571500" y="3175000"/>
            <a:ext cx="825500" cy="698500"/>
          </a:xfrm>
          <a:custGeom>
            <a:avLst/>
            <a:gdLst/>
            <a:ahLst/>
            <a:cxnLst/>
            <a:rect l="l" t="t" r="r" b="b"/>
            <a:pathLst>
              <a:path w="825500" h="698500">
                <a:moveTo>
                  <a:pt x="0" y="95250"/>
                </a:moveTo>
                <a:lnTo>
                  <a:pt x="635000" y="0"/>
                </a:lnTo>
                <a:lnTo>
                  <a:pt x="825500" y="571500"/>
                </a:lnTo>
                <a:lnTo>
                  <a:pt x="127000" y="698500"/>
                </a:lnTo>
                <a:close/>
              </a:path>
            </a:pathLst>
          </a:custGeom>
          <a:solidFill>
            <a:srgbClr val="C8462B">
              <a:alpha val="80000"/>
            </a:srgbClr>
          </a:solidFill>
          <a:ln>
            <a:noFill/>
          </a:ln>
          <a:effectLst/>
        </p:spPr>
        <p:txBody>
          <a:bodyPr rtlCol="0" anchor="ctr"/>
          <a:lstStyle/>
          <a:p>
            <a:pPr algn="ctr"/>
          </a:p>
        </p:txBody>
      </p:sp>
      <p:sp>
        <p:nvSpPr>
          <p:cNvPr id="15" name="TextBox 14"/>
          <p:cNvSpPr txBox="1"/>
          <p:nvPr/>
        </p:nvSpPr>
        <p:spPr>
          <a:xfrm>
            <a:off x="698500" y="3460750"/>
            <a:ext cx="635000" cy="152400"/>
          </a:xfrm>
          <a:prstGeom prst="rect">
            <a:avLst/>
          </a:prstGeom>
          <a:noFill/>
        </p:spPr>
        <p:txBody>
          <a:bodyPr wrap="square" lIns="0" rIns="0" tIns="0" bIns="0" anchor="t">
            <a:spAutoFit/>
          </a:bodyPr>
          <a:lstStyle/>
          <a:p>
            <a:pPr algn="l">
              <a:lnSpc>
                <a:spcPct val="115000"/>
              </a:lnSpc>
            </a:pPr>
            <a:r>
              <a:rPr sz="1100" b="1" i="0">
                <a:solidFill>
                  <a:srgbClr val="FFFFFF"/>
                </a:solidFill>
                <a:latin typeface="Inter"/>
              </a:rPr>
              <a:t>Médina</a:t>
            </a:r>
          </a:p>
        </p:txBody>
      </p:sp>
      <p:sp>
        <p:nvSpPr>
          <p:cNvPr id="16" name="Freeform 15"/>
          <p:cNvSpPr/>
          <p:nvPr/>
        </p:nvSpPr>
        <p:spPr>
          <a:xfrm>
            <a:off x="1397000" y="2095500"/>
            <a:ext cx="1270000" cy="1143000"/>
          </a:xfrm>
          <a:custGeom>
            <a:avLst/>
            <a:gdLst/>
            <a:ahLst/>
            <a:cxnLst/>
            <a:rect l="l" t="t" r="r" b="b"/>
            <a:pathLst>
              <a:path w="1270000" h="1143000">
                <a:moveTo>
                  <a:pt x="0" y="1079500"/>
                </a:moveTo>
                <a:lnTo>
                  <a:pt x="381000" y="127000"/>
                </a:lnTo>
                <a:lnTo>
                  <a:pt x="1206500" y="0"/>
                </a:lnTo>
                <a:lnTo>
                  <a:pt x="1270000" y="1143000"/>
                </a:lnTo>
                <a:close/>
              </a:path>
            </a:pathLst>
          </a:custGeom>
          <a:solidFill>
            <a:srgbClr val="8A8A8A"/>
          </a:solidFill>
          <a:ln>
            <a:noFill/>
          </a:ln>
          <a:effectLst/>
        </p:spPr>
        <p:txBody>
          <a:bodyPr rtlCol="0" anchor="ctr"/>
          <a:lstStyle/>
          <a:p>
            <a:pPr algn="ctr"/>
          </a:p>
        </p:txBody>
      </p:sp>
      <p:cxnSp>
        <p:nvCxnSpPr>
          <p:cNvPr id="17" name="Connector 16"/>
          <p:cNvCxnSpPr/>
          <p:nvPr/>
        </p:nvCxnSpPr>
        <p:spPr>
          <a:xfrm flipV="1">
            <a:off x="1270000" y="1905000"/>
            <a:ext cx="1524000" cy="127000"/>
          </a:xfrm>
          <a:prstGeom prst="line">
            <a:avLst/>
          </a:prstGeom>
          <a:ln w="31750">
            <a:solidFill>
              <a:srgbClr val="1C1C1C"/>
            </a:solidFill>
          </a:ln>
        </p:spPr>
      </p:cxnSp>
      <p:sp>
        <p:nvSpPr>
          <p:cNvPr id="18" name="TextBox 17"/>
          <p:cNvSpPr txBox="1"/>
          <p:nvPr/>
        </p:nvSpPr>
        <p:spPr>
          <a:xfrm>
            <a:off x="1714500" y="2476500"/>
            <a:ext cx="952500" cy="381000"/>
          </a:xfrm>
          <a:prstGeom prst="rect">
            <a:avLst/>
          </a:prstGeom>
          <a:noFill/>
        </p:spPr>
        <p:txBody>
          <a:bodyPr wrap="square" lIns="0" rIns="0" tIns="0" bIns="0" anchor="t">
            <a:spAutoFit/>
          </a:bodyPr>
          <a:lstStyle/>
          <a:p>
            <a:pPr algn="ctr">
              <a:lnSpc>
                <a:spcPct val="115000"/>
              </a:lnSpc>
            </a:pPr>
            <a:r>
              <a:rPr sz="1100" b="1" i="0">
                <a:solidFill>
                  <a:srgbClr val="FFFFFF"/>
                </a:solidFill>
                <a:latin typeface="Inter"/>
              </a:rPr>
              <a:t>PORT ACTIF</a:t>
            </a:r>
          </a:p>
          <a:p>
            <a:pPr algn="ctr">
              <a:lnSpc>
                <a:spcPct val="115000"/>
              </a:lnSpc>
            </a:pPr>
            <a:r>
              <a:rPr sz="1100" b="1" i="0">
                <a:solidFill>
                  <a:srgbClr val="FFFFFF"/>
                </a:solidFill>
                <a:latin typeface="Inter"/>
              </a:rPr>
              <a:t>ferries · pêche</a:t>
            </a:r>
          </a:p>
        </p:txBody>
      </p:sp>
      <p:cxnSp>
        <p:nvCxnSpPr>
          <p:cNvPr id="19" name="Connector 18"/>
          <p:cNvCxnSpPr/>
          <p:nvPr/>
        </p:nvCxnSpPr>
        <p:spPr>
          <a:xfrm>
            <a:off x="1333500" y="3206750"/>
            <a:ext cx="1460500" cy="127000"/>
          </a:xfrm>
          <a:prstGeom prst="line">
            <a:avLst/>
          </a:prstGeom>
          <a:ln w="19050">
            <a:solidFill>
              <a:srgbClr val="C8462B"/>
            </a:solidFill>
            <a:prstDash val="dash"/>
          </a:ln>
        </p:spPr>
      </p:cxnSp>
      <p:sp>
        <p:nvSpPr>
          <p:cNvPr id="20" name="TextBox 19"/>
          <p:cNvSpPr txBox="1"/>
          <p:nvPr/>
        </p:nvSpPr>
        <p:spPr>
          <a:xfrm>
            <a:off x="2794000" y="2921000"/>
            <a:ext cx="1270000" cy="254000"/>
          </a:xfrm>
          <a:prstGeom prst="rect">
            <a:avLst/>
          </a:prstGeom>
          <a:noFill/>
        </p:spPr>
        <p:txBody>
          <a:bodyPr wrap="square" lIns="0" rIns="0" tIns="0" bIns="0" anchor="t">
            <a:spAutoFit/>
          </a:bodyPr>
          <a:lstStyle/>
          <a:p>
            <a:pPr algn="l">
              <a:lnSpc>
                <a:spcPct val="115000"/>
              </a:lnSpc>
            </a:pPr>
            <a:r>
              <a:rPr sz="1000" b="1" i="0">
                <a:solidFill>
                  <a:srgbClr val="C8462B"/>
                </a:solidFill>
                <a:latin typeface="Inter"/>
              </a:rPr>
              <a:t>clôture portuaire</a:t>
            </a:r>
          </a:p>
        </p:txBody>
      </p:sp>
      <p:sp>
        <p:nvSpPr>
          <p:cNvPr id="21" name="Oval 20"/>
          <p:cNvSpPr/>
          <p:nvPr/>
        </p:nvSpPr>
        <p:spPr>
          <a:xfrm>
            <a:off x="3117850" y="2355850"/>
            <a:ext cx="114300" cy="114300"/>
          </a:xfrm>
          <a:prstGeom prst="ellipse">
            <a:avLst/>
          </a:prstGeom>
          <a:solidFill>
            <a:srgbClr val="1C1C1C"/>
          </a:solidFill>
          <a:ln>
            <a:noFill/>
          </a:ln>
          <a:effectLst/>
        </p:spPr>
        <p:txBody>
          <a:bodyPr rtlCol="0" anchor="ctr"/>
          <a:lstStyle/>
          <a:p>
            <a:pPr algn="ctr"/>
          </a:p>
        </p:txBody>
      </p:sp>
      <p:sp>
        <p:nvSpPr>
          <p:cNvPr id="22" name="Oval 21"/>
          <p:cNvSpPr/>
          <p:nvPr/>
        </p:nvSpPr>
        <p:spPr>
          <a:xfrm>
            <a:off x="3308350" y="2355850"/>
            <a:ext cx="114300" cy="114300"/>
          </a:xfrm>
          <a:prstGeom prst="ellipse">
            <a:avLst/>
          </a:prstGeom>
          <a:solidFill>
            <a:srgbClr val="1C1C1C"/>
          </a:solidFill>
          <a:ln>
            <a:noFill/>
          </a:ln>
          <a:effectLst/>
        </p:spPr>
        <p:txBody>
          <a:bodyPr rtlCol="0" anchor="ctr"/>
          <a:lstStyle/>
          <a:p>
            <a:pPr algn="ctr"/>
          </a:p>
        </p:txBody>
      </p:sp>
      <p:sp>
        <p:nvSpPr>
          <p:cNvPr id="23" name="Oval 22"/>
          <p:cNvSpPr/>
          <p:nvPr/>
        </p:nvSpPr>
        <p:spPr>
          <a:xfrm>
            <a:off x="3498850" y="2355850"/>
            <a:ext cx="114300" cy="114300"/>
          </a:xfrm>
          <a:prstGeom prst="ellipse">
            <a:avLst/>
          </a:prstGeom>
          <a:solidFill>
            <a:srgbClr val="1C1C1C"/>
          </a:solidFill>
          <a:ln>
            <a:noFill/>
          </a:ln>
          <a:effectLst/>
        </p:spPr>
        <p:txBody>
          <a:bodyPr rtlCol="0" anchor="ctr"/>
          <a:lstStyle/>
          <a:p>
            <a:pPr algn="ctr"/>
          </a:p>
        </p:txBody>
      </p:sp>
      <p:sp>
        <p:nvSpPr>
          <p:cNvPr id="24" name="Oval 23"/>
          <p:cNvSpPr/>
          <p:nvPr/>
        </p:nvSpPr>
        <p:spPr>
          <a:xfrm>
            <a:off x="3689350" y="2355850"/>
            <a:ext cx="114300" cy="114300"/>
          </a:xfrm>
          <a:prstGeom prst="ellipse">
            <a:avLst/>
          </a:prstGeom>
          <a:solidFill>
            <a:srgbClr val="1C1C1C"/>
          </a:solidFill>
          <a:ln>
            <a:noFill/>
          </a:ln>
          <a:effectLst/>
        </p:spPr>
        <p:txBody>
          <a:bodyPr rtlCol="0" anchor="ctr"/>
          <a:lstStyle/>
          <a:p>
            <a:pPr algn="ctr"/>
          </a:p>
        </p:txBody>
      </p:sp>
      <p:sp>
        <p:nvSpPr>
          <p:cNvPr id="25" name="TextBox 24"/>
          <p:cNvSpPr txBox="1"/>
          <p:nvPr/>
        </p:nvSpPr>
        <p:spPr>
          <a:xfrm>
            <a:off x="3016250" y="2540000"/>
            <a:ext cx="1016000" cy="254000"/>
          </a:xfrm>
          <a:prstGeom prst="rect">
            <a:avLst/>
          </a:prstGeom>
          <a:noFill/>
        </p:spPr>
        <p:txBody>
          <a:bodyPr wrap="square" lIns="0" rIns="0" tIns="0" bIns="0" anchor="t">
            <a:spAutoFit/>
          </a:bodyPr>
          <a:lstStyle/>
          <a:p>
            <a:pPr algn="l">
              <a:lnSpc>
                <a:spcPct val="115000"/>
              </a:lnSpc>
            </a:pPr>
            <a:r>
              <a:rPr sz="950" b="0" i="0">
                <a:solidFill>
                  <a:srgbClr val="1C1C1C"/>
                </a:solidFill>
                <a:latin typeface="Inter"/>
              </a:rPr>
              <a:t>bateaux de pêche</a:t>
            </a:r>
          </a:p>
        </p:txBody>
      </p:sp>
      <p:sp>
        <p:nvSpPr>
          <p:cNvPr id="26" name="TextBox 25"/>
          <p:cNvSpPr txBox="1"/>
          <p:nvPr/>
        </p:nvSpPr>
        <p:spPr>
          <a:xfrm>
            <a:off x="4381500" y="14605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APRÈS  (INAUGURATION LE 7 JUIN 2018)</a:t>
            </a:r>
          </a:p>
        </p:txBody>
      </p:sp>
      <p:sp>
        <p:nvSpPr>
          <p:cNvPr id="27" name="Rectangle 26"/>
          <p:cNvSpPr/>
          <p:nvPr/>
        </p:nvSpPr>
        <p:spPr>
          <a:xfrm>
            <a:off x="4381500" y="1651000"/>
            <a:ext cx="3556000" cy="2413000"/>
          </a:xfrm>
          <a:prstGeom prst="rect">
            <a:avLst/>
          </a:prstGeom>
          <a:solidFill>
            <a:srgbClr val="D3E3EA"/>
          </a:solidFill>
          <a:ln>
            <a:noFill/>
          </a:ln>
          <a:effectLst/>
        </p:spPr>
        <p:txBody>
          <a:bodyPr rtlCol="0" anchor="ctr"/>
          <a:lstStyle/>
          <a:p>
            <a:pPr algn="ctr"/>
          </a:p>
        </p:txBody>
      </p:sp>
      <p:sp>
        <p:nvSpPr>
          <p:cNvPr id="28" name="Freeform 27"/>
          <p:cNvSpPr/>
          <p:nvPr/>
        </p:nvSpPr>
        <p:spPr>
          <a:xfrm>
            <a:off x="4381500" y="3111500"/>
            <a:ext cx="3556000" cy="952500"/>
          </a:xfrm>
          <a:custGeom>
            <a:avLst/>
            <a:gdLst/>
            <a:ahLst/>
            <a:cxnLst/>
            <a:rect l="l" t="t" r="r" b="b"/>
            <a:pathLst>
              <a:path w="3556000" h="952500">
                <a:moveTo>
                  <a:pt x="0" y="127000"/>
                </a:moveTo>
                <a:lnTo>
                  <a:pt x="762000" y="0"/>
                </a:lnTo>
                <a:lnTo>
                  <a:pt x="1587500" y="158750"/>
                </a:lnTo>
                <a:lnTo>
                  <a:pt x="2540000" y="381000"/>
                </a:lnTo>
                <a:lnTo>
                  <a:pt x="3556000" y="444500"/>
                </a:lnTo>
                <a:lnTo>
                  <a:pt x="3556000" y="952500"/>
                </a:lnTo>
                <a:lnTo>
                  <a:pt x="0" y="952500"/>
                </a:lnTo>
                <a:close/>
              </a:path>
            </a:pathLst>
          </a:custGeom>
          <a:solidFill>
            <a:srgbClr val="EFE9DE"/>
          </a:solidFill>
          <a:ln w="12700">
            <a:solidFill>
              <a:srgbClr val="8C9AA0"/>
            </a:solidFill>
          </a:ln>
          <a:effectLst/>
        </p:spPr>
        <p:txBody>
          <a:bodyPr rtlCol="0" anchor="ctr"/>
          <a:lstStyle/>
          <a:p>
            <a:pPr algn="ctr"/>
          </a:p>
        </p:txBody>
      </p:sp>
      <p:sp>
        <p:nvSpPr>
          <p:cNvPr id="29" name="Freeform 28"/>
          <p:cNvSpPr/>
          <p:nvPr/>
        </p:nvSpPr>
        <p:spPr>
          <a:xfrm>
            <a:off x="4445000" y="3175000"/>
            <a:ext cx="825500" cy="698500"/>
          </a:xfrm>
          <a:custGeom>
            <a:avLst/>
            <a:gdLst/>
            <a:ahLst/>
            <a:cxnLst/>
            <a:rect l="l" t="t" r="r" b="b"/>
            <a:pathLst>
              <a:path w="825500" h="698500">
                <a:moveTo>
                  <a:pt x="0" y="95250"/>
                </a:moveTo>
                <a:lnTo>
                  <a:pt x="635000" y="0"/>
                </a:lnTo>
                <a:lnTo>
                  <a:pt x="825500" y="571500"/>
                </a:lnTo>
                <a:lnTo>
                  <a:pt x="127000" y="698500"/>
                </a:lnTo>
                <a:close/>
              </a:path>
            </a:pathLst>
          </a:custGeom>
          <a:solidFill>
            <a:srgbClr val="C8462B">
              <a:alpha val="80000"/>
            </a:srgbClr>
          </a:solidFill>
          <a:ln>
            <a:noFill/>
          </a:ln>
          <a:effectLst/>
        </p:spPr>
        <p:txBody>
          <a:bodyPr rtlCol="0" anchor="ctr"/>
          <a:lstStyle/>
          <a:p>
            <a:pPr algn="ctr"/>
          </a:p>
        </p:txBody>
      </p:sp>
      <p:sp>
        <p:nvSpPr>
          <p:cNvPr id="30" name="TextBox 29"/>
          <p:cNvSpPr txBox="1"/>
          <p:nvPr/>
        </p:nvSpPr>
        <p:spPr>
          <a:xfrm>
            <a:off x="4572000" y="3460750"/>
            <a:ext cx="635000" cy="152400"/>
          </a:xfrm>
          <a:prstGeom prst="rect">
            <a:avLst/>
          </a:prstGeom>
          <a:noFill/>
        </p:spPr>
        <p:txBody>
          <a:bodyPr wrap="square" lIns="0" rIns="0" tIns="0" bIns="0" anchor="t">
            <a:spAutoFit/>
          </a:bodyPr>
          <a:lstStyle/>
          <a:p>
            <a:pPr algn="l">
              <a:lnSpc>
                <a:spcPct val="115000"/>
              </a:lnSpc>
            </a:pPr>
            <a:r>
              <a:rPr sz="1100" b="1" i="0">
                <a:solidFill>
                  <a:srgbClr val="FFFFFF"/>
                </a:solidFill>
                <a:latin typeface="Inter"/>
              </a:rPr>
              <a:t>Médina</a:t>
            </a:r>
          </a:p>
        </p:txBody>
      </p:sp>
      <p:sp>
        <p:nvSpPr>
          <p:cNvPr id="31" name="Freeform 30"/>
          <p:cNvSpPr/>
          <p:nvPr/>
        </p:nvSpPr>
        <p:spPr>
          <a:xfrm>
            <a:off x="5334000" y="2222500"/>
            <a:ext cx="1016000" cy="952500"/>
          </a:xfrm>
          <a:custGeom>
            <a:avLst/>
            <a:gdLst/>
            <a:ahLst/>
            <a:cxnLst/>
            <a:rect l="l" t="t" r="r" b="b"/>
            <a:pathLst>
              <a:path w="1016000" h="952500">
                <a:moveTo>
                  <a:pt x="0" y="952500"/>
                </a:moveTo>
                <a:lnTo>
                  <a:pt x="254000" y="127000"/>
                </a:lnTo>
                <a:lnTo>
                  <a:pt x="952500" y="0"/>
                </a:lnTo>
                <a:lnTo>
                  <a:pt x="1016000" y="952500"/>
                </a:lnTo>
                <a:close/>
              </a:path>
            </a:pathLst>
          </a:custGeom>
          <a:solidFill>
            <a:srgbClr val="C8462B"/>
          </a:solidFill>
          <a:ln>
            <a:noFill/>
          </a:ln>
          <a:effectLst/>
        </p:spPr>
        <p:txBody>
          <a:bodyPr rtlCol="0" anchor="ctr"/>
          <a:lstStyle/>
          <a:p>
            <a:pPr algn="ctr"/>
          </a:p>
        </p:txBody>
      </p:sp>
      <p:cxnSp>
        <p:nvCxnSpPr>
          <p:cNvPr id="32" name="Connector 31"/>
          <p:cNvCxnSpPr/>
          <p:nvPr/>
        </p:nvCxnSpPr>
        <p:spPr>
          <a:xfrm flipV="1">
            <a:off x="5143500" y="1905000"/>
            <a:ext cx="1524000" cy="127000"/>
          </a:xfrm>
          <a:prstGeom prst="line">
            <a:avLst/>
          </a:prstGeom>
          <a:ln w="31750">
            <a:solidFill>
              <a:srgbClr val="1C1C1C"/>
            </a:solidFill>
          </a:ln>
        </p:spPr>
      </p:cxnSp>
      <p:sp>
        <p:nvSpPr>
          <p:cNvPr id="33" name="TextBox 32"/>
          <p:cNvSpPr txBox="1"/>
          <p:nvPr/>
        </p:nvSpPr>
        <p:spPr>
          <a:xfrm>
            <a:off x="5524500" y="2603500"/>
            <a:ext cx="762000" cy="317500"/>
          </a:xfrm>
          <a:prstGeom prst="rect">
            <a:avLst/>
          </a:prstGeom>
          <a:noFill/>
        </p:spPr>
        <p:txBody>
          <a:bodyPr wrap="square" lIns="0" rIns="0" tIns="0" bIns="0" anchor="t">
            <a:spAutoFit/>
          </a:bodyPr>
          <a:lstStyle/>
          <a:p>
            <a:pPr algn="ctr">
              <a:lnSpc>
                <a:spcPct val="115000"/>
              </a:lnSpc>
            </a:pPr>
            <a:r>
              <a:rPr sz="1050" b="1" i="0">
                <a:solidFill>
                  <a:srgbClr val="FFFFFF"/>
                </a:solidFill>
                <a:latin typeface="Inter"/>
              </a:rPr>
              <a:t>MARINA</a:t>
            </a:r>
          </a:p>
          <a:p>
            <a:pPr algn="ctr">
              <a:lnSpc>
                <a:spcPct val="115000"/>
              </a:lnSpc>
            </a:pPr>
            <a:r>
              <a:rPr sz="1050" b="1" i="0">
                <a:solidFill>
                  <a:srgbClr val="FFFFFF"/>
                </a:solidFill>
                <a:latin typeface="Inter"/>
              </a:rPr>
              <a:t>1 400 anneaux</a:t>
            </a:r>
          </a:p>
        </p:txBody>
      </p:sp>
      <p:sp>
        <p:nvSpPr>
          <p:cNvPr id="34" name="Freeform 33"/>
          <p:cNvSpPr/>
          <p:nvPr/>
        </p:nvSpPr>
        <p:spPr>
          <a:xfrm>
            <a:off x="6477000" y="2603500"/>
            <a:ext cx="698500" cy="635000"/>
          </a:xfrm>
          <a:custGeom>
            <a:avLst/>
            <a:gdLst/>
            <a:ahLst/>
            <a:cxnLst/>
            <a:rect l="l" t="t" r="r" b="b"/>
            <a:pathLst>
              <a:path w="698500" h="635000">
                <a:moveTo>
                  <a:pt x="0" y="571500"/>
                </a:moveTo>
                <a:lnTo>
                  <a:pt x="63500" y="0"/>
                </a:lnTo>
                <a:lnTo>
                  <a:pt x="635000" y="0"/>
                </a:lnTo>
                <a:lnTo>
                  <a:pt x="698500" y="635000"/>
                </a:lnTo>
                <a:close/>
              </a:path>
            </a:pathLst>
          </a:custGeom>
          <a:solidFill>
            <a:srgbClr val="D9A441"/>
          </a:solidFill>
          <a:ln>
            <a:noFill/>
          </a:ln>
          <a:effectLst/>
        </p:spPr>
        <p:txBody>
          <a:bodyPr rtlCol="0" anchor="ctr"/>
          <a:lstStyle/>
          <a:p>
            <a:pPr algn="ctr"/>
          </a:p>
        </p:txBody>
      </p:sp>
      <p:sp>
        <p:nvSpPr>
          <p:cNvPr id="35" name="TextBox 34"/>
          <p:cNvSpPr txBox="1"/>
          <p:nvPr/>
        </p:nvSpPr>
        <p:spPr>
          <a:xfrm>
            <a:off x="6477000" y="2762250"/>
            <a:ext cx="762000" cy="317500"/>
          </a:xfrm>
          <a:prstGeom prst="rect">
            <a:avLst/>
          </a:prstGeom>
          <a:noFill/>
        </p:spPr>
        <p:txBody>
          <a:bodyPr wrap="square" lIns="0" rIns="0" tIns="0" bIns="0" anchor="t">
            <a:spAutoFit/>
          </a:bodyPr>
          <a:lstStyle/>
          <a:p>
            <a:pPr algn="ctr">
              <a:lnSpc>
                <a:spcPct val="115000"/>
              </a:lnSpc>
            </a:pPr>
            <a:r>
              <a:rPr sz="1000" b="1" i="0">
                <a:solidFill>
                  <a:srgbClr val="1C1C1C"/>
                </a:solidFill>
                <a:latin typeface="Inter"/>
              </a:rPr>
              <a:t>terminal</a:t>
            </a:r>
          </a:p>
          <a:p>
            <a:pPr algn="ctr">
              <a:lnSpc>
                <a:spcPct val="115000"/>
              </a:lnSpc>
            </a:pPr>
            <a:r>
              <a:rPr sz="1000" b="1" i="0">
                <a:solidFill>
                  <a:srgbClr val="1C1C1C"/>
                </a:solidFill>
                <a:latin typeface="Inter"/>
              </a:rPr>
              <a:t>croisière</a:t>
            </a:r>
          </a:p>
        </p:txBody>
      </p:sp>
      <p:sp>
        <p:nvSpPr>
          <p:cNvPr id="36" name="Freeform 35"/>
          <p:cNvSpPr/>
          <p:nvPr/>
        </p:nvSpPr>
        <p:spPr>
          <a:xfrm>
            <a:off x="6477000" y="1905000"/>
            <a:ext cx="444500" cy="254000"/>
          </a:xfrm>
          <a:custGeom>
            <a:avLst/>
            <a:gdLst/>
            <a:ahLst/>
            <a:cxnLst/>
            <a:rect l="l" t="t" r="r" b="b"/>
            <a:pathLst>
              <a:path w="444500" h="254000">
                <a:moveTo>
                  <a:pt x="0" y="190500"/>
                </a:moveTo>
                <a:lnTo>
                  <a:pt x="190500" y="0"/>
                </a:lnTo>
                <a:lnTo>
                  <a:pt x="444500" y="0"/>
                </a:lnTo>
                <a:lnTo>
                  <a:pt x="317500" y="254000"/>
                </a:lnTo>
                <a:close/>
              </a:path>
            </a:pathLst>
          </a:custGeom>
          <a:solidFill>
            <a:srgbClr val="8A8A8A"/>
          </a:solidFill>
          <a:ln>
            <a:noFill/>
          </a:ln>
          <a:effectLst/>
        </p:spPr>
        <p:txBody>
          <a:bodyPr rtlCol="0" anchor="ctr"/>
          <a:lstStyle/>
          <a:p>
            <a:pPr algn="ctr"/>
          </a:p>
        </p:txBody>
      </p:sp>
      <p:sp>
        <p:nvSpPr>
          <p:cNvPr id="37" name="TextBox 36"/>
          <p:cNvSpPr txBox="1"/>
          <p:nvPr/>
        </p:nvSpPr>
        <p:spPr>
          <a:xfrm>
            <a:off x="6921500" y="1905000"/>
            <a:ext cx="1016000" cy="254000"/>
          </a:xfrm>
          <a:prstGeom prst="rect">
            <a:avLst/>
          </a:prstGeom>
          <a:noFill/>
        </p:spPr>
        <p:txBody>
          <a:bodyPr wrap="square" lIns="0" rIns="0" tIns="0" bIns="0" anchor="t">
            <a:spAutoFit/>
          </a:bodyPr>
          <a:lstStyle/>
          <a:p>
            <a:pPr algn="l">
              <a:lnSpc>
                <a:spcPct val="115000"/>
              </a:lnSpc>
            </a:pPr>
            <a:r>
              <a:rPr sz="950" b="1" i="0">
                <a:solidFill>
                  <a:srgbClr val="1C1C1C"/>
                </a:solidFill>
                <a:latin typeface="Inter"/>
              </a:rPr>
              <a:t>port de pêche</a:t>
            </a:r>
          </a:p>
          <a:p>
            <a:pPr algn="l">
              <a:lnSpc>
                <a:spcPct val="115000"/>
              </a:lnSpc>
            </a:pPr>
            <a:r>
              <a:rPr sz="950" b="1" i="0">
                <a:solidFill>
                  <a:srgbClr val="1C1C1C"/>
                </a:solidFill>
                <a:latin typeface="Inter"/>
              </a:rPr>
              <a:t>repoussé au large</a:t>
            </a:r>
          </a:p>
        </p:txBody>
      </p:sp>
      <p:cxnSp>
        <p:nvCxnSpPr>
          <p:cNvPr id="38" name="Connector 37"/>
          <p:cNvCxnSpPr/>
          <p:nvPr/>
        </p:nvCxnSpPr>
        <p:spPr>
          <a:xfrm>
            <a:off x="5207000" y="3314700"/>
            <a:ext cx="2730500" cy="304800"/>
          </a:xfrm>
          <a:prstGeom prst="line">
            <a:avLst/>
          </a:prstGeom>
          <a:ln w="63500">
            <a:solidFill>
              <a:srgbClr val="6E7F86"/>
            </a:solidFill>
          </a:ln>
        </p:spPr>
      </p:cxnSp>
      <p:cxnSp>
        <p:nvCxnSpPr>
          <p:cNvPr id="39" name="Connector 38"/>
          <p:cNvCxnSpPr/>
          <p:nvPr/>
        </p:nvCxnSpPr>
        <p:spPr>
          <a:xfrm>
            <a:off x="5207000" y="3238500"/>
            <a:ext cx="2730500" cy="298450"/>
          </a:xfrm>
          <a:prstGeom prst="line">
            <a:avLst/>
          </a:prstGeom>
          <a:ln w="25400">
            <a:solidFill>
              <a:srgbClr val="8FAE82"/>
            </a:solidFill>
          </a:ln>
        </p:spPr>
      </p:cxnSp>
      <p:sp>
        <p:nvSpPr>
          <p:cNvPr id="40" name="TextBox 39"/>
          <p:cNvSpPr txBox="1"/>
          <p:nvPr/>
        </p:nvSpPr>
        <p:spPr>
          <a:xfrm>
            <a:off x="6921500" y="3670300"/>
            <a:ext cx="1016000" cy="152400"/>
          </a:xfrm>
          <a:prstGeom prst="rect">
            <a:avLst/>
          </a:prstGeom>
          <a:noFill/>
        </p:spPr>
        <p:txBody>
          <a:bodyPr wrap="square" lIns="0" rIns="0" tIns="0" bIns="0" anchor="t">
            <a:spAutoFit/>
          </a:bodyPr>
          <a:lstStyle/>
          <a:p>
            <a:pPr algn="l">
              <a:lnSpc>
                <a:spcPct val="115000"/>
              </a:lnSpc>
            </a:pPr>
            <a:r>
              <a:rPr sz="950" b="1" i="0">
                <a:solidFill>
                  <a:srgbClr val="FFFFFF"/>
                </a:solidFill>
                <a:latin typeface="Inter"/>
              </a:rPr>
              <a:t>route littorale</a:t>
            </a:r>
          </a:p>
        </p:txBody>
      </p:sp>
      <p:sp>
        <p:nvSpPr>
          <p:cNvPr id="41" name="TextBox 40"/>
          <p:cNvSpPr txBox="1"/>
          <p:nvPr/>
        </p:nvSpPr>
        <p:spPr>
          <a:xfrm>
            <a:off x="5334000" y="3746500"/>
            <a:ext cx="889000" cy="127000"/>
          </a:xfrm>
          <a:prstGeom prst="rect">
            <a:avLst/>
          </a:prstGeom>
          <a:noFill/>
        </p:spPr>
        <p:txBody>
          <a:bodyPr wrap="square" lIns="0" rIns="0" tIns="0" bIns="0" anchor="t">
            <a:spAutoFit/>
          </a:bodyPr>
          <a:lstStyle/>
          <a:p>
            <a:pPr algn="l">
              <a:lnSpc>
                <a:spcPct val="115000"/>
              </a:lnSpc>
            </a:pPr>
            <a:r>
              <a:rPr sz="950" b="1" i="0">
                <a:solidFill>
                  <a:srgbClr val="8FAE82"/>
                </a:solidFill>
                <a:latin typeface="Inter"/>
              </a:rPr>
              <a:t>promenade</a:t>
            </a:r>
          </a:p>
        </p:txBody>
      </p:sp>
      <p:cxnSp>
        <p:nvCxnSpPr>
          <p:cNvPr id="42" name="Connector 41"/>
          <p:cNvCxnSpPr/>
          <p:nvPr/>
        </p:nvCxnSpPr>
        <p:spPr>
          <a:xfrm>
            <a:off x="4102100" y="2857500"/>
            <a:ext cx="241300" cy="0"/>
          </a:xfrm>
          <a:prstGeom prst="line">
            <a:avLst/>
          </a:prstGeom>
          <a:ln w="25400">
            <a:solidFill>
              <a:srgbClr val="1C1C1C"/>
            </a:solidFill>
            <a:tailEnd type="triangle" w="med" len="med"/>
          </a:ln>
        </p:spPr>
      </p:cxnSp>
      <p:sp>
        <p:nvSpPr>
          <p:cNvPr id="43" name="TextBox 42"/>
          <p:cNvSpPr txBox="1"/>
          <p:nvPr/>
        </p:nvSpPr>
        <p:spPr>
          <a:xfrm>
            <a:off x="508000" y="4127500"/>
            <a:ext cx="7429500" cy="152400"/>
          </a:xfrm>
          <a:prstGeom prst="rect">
            <a:avLst/>
          </a:prstGeom>
          <a:noFill/>
        </p:spPr>
        <p:txBody>
          <a:bodyPr wrap="square" lIns="0" rIns="0" tIns="0" bIns="0" anchor="t">
            <a:spAutoFit/>
          </a:bodyPr>
          <a:lstStyle/>
          <a:p>
            <a:pPr algn="l">
              <a:lnSpc>
                <a:spcPct val="115000"/>
              </a:lnSpc>
            </a:pPr>
            <a:r>
              <a:rPr sz="900" b="0" i="1">
                <a:solidFill>
                  <a:srgbClr val="6E6A64"/>
                </a:solidFill>
                <a:latin typeface="Inter"/>
              </a:rPr>
              <a:t>Plans schématiques de l'auteur, positions indicatives.</a:t>
            </a:r>
          </a:p>
        </p:txBody>
      </p:sp>
      <p:sp>
        <p:nvSpPr>
          <p:cNvPr id="44" name="TextBox 43"/>
          <p:cNvSpPr txBox="1"/>
          <p:nvPr/>
        </p:nvSpPr>
        <p:spPr>
          <a:xfrm>
            <a:off x="508000" y="44450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GLISSEMENT DES USAGES DU FRONT D'EAU</a:t>
            </a:r>
          </a:p>
        </p:txBody>
      </p:sp>
      <p:sp>
        <p:nvSpPr>
          <p:cNvPr id="45" name="Rounded Rectangle 44"/>
          <p:cNvSpPr/>
          <p:nvPr/>
        </p:nvSpPr>
        <p:spPr>
          <a:xfrm>
            <a:off x="508000" y="4699000"/>
            <a:ext cx="1905000" cy="254000"/>
          </a:xfrm>
          <a:prstGeom prst="roundRect">
            <a:avLst>
              <a:gd name="adj" fmla="val 20000"/>
            </a:avLst>
          </a:prstGeom>
          <a:solidFill>
            <a:srgbClr val="E3DED4"/>
          </a:solidFill>
          <a:ln>
            <a:noFill/>
          </a:ln>
          <a:effectLst/>
        </p:spPr>
        <p:txBody>
          <a:bodyPr rtlCol="0" anchor="ctr"/>
          <a:lstStyle/>
          <a:p>
            <a:pPr algn="ctr"/>
          </a:p>
        </p:txBody>
      </p:sp>
      <p:sp>
        <p:nvSpPr>
          <p:cNvPr id="46" name="TextBox 45"/>
          <p:cNvSpPr txBox="1"/>
          <p:nvPr/>
        </p:nvSpPr>
        <p:spPr>
          <a:xfrm>
            <a:off x="508000" y="4699000"/>
            <a:ext cx="1905000" cy="254000"/>
          </a:xfrm>
          <a:prstGeom prst="rect">
            <a:avLst/>
          </a:prstGeom>
          <a:noFill/>
        </p:spPr>
        <p:txBody>
          <a:bodyPr wrap="square" lIns="0" rIns="0" tIns="0" bIns="0" anchor="ctr">
            <a:spAutoFit/>
          </a:bodyPr>
          <a:lstStyle/>
          <a:p>
            <a:pPr algn="ctr">
              <a:lnSpc>
                <a:spcPct val="115000"/>
              </a:lnSpc>
            </a:pPr>
            <a:r>
              <a:rPr sz="1200" b="1" i="0">
                <a:solidFill>
                  <a:srgbClr val="1C1C1C"/>
                </a:solidFill>
                <a:latin typeface="Inter"/>
              </a:rPr>
              <a:t>pêche</a:t>
            </a:r>
          </a:p>
        </p:txBody>
      </p:sp>
      <p:sp>
        <p:nvSpPr>
          <p:cNvPr id="47" name="Rounded Rectangle 46"/>
          <p:cNvSpPr/>
          <p:nvPr/>
        </p:nvSpPr>
        <p:spPr>
          <a:xfrm>
            <a:off x="508000" y="5016500"/>
            <a:ext cx="1905000" cy="254000"/>
          </a:xfrm>
          <a:prstGeom prst="roundRect">
            <a:avLst>
              <a:gd name="adj" fmla="val 20000"/>
            </a:avLst>
          </a:prstGeom>
          <a:solidFill>
            <a:srgbClr val="E3DED4"/>
          </a:solidFill>
          <a:ln>
            <a:noFill/>
          </a:ln>
          <a:effectLst/>
        </p:spPr>
        <p:txBody>
          <a:bodyPr rtlCol="0" anchor="ctr"/>
          <a:lstStyle/>
          <a:p>
            <a:pPr algn="ctr"/>
          </a:p>
        </p:txBody>
      </p:sp>
      <p:sp>
        <p:nvSpPr>
          <p:cNvPr id="48" name="TextBox 47"/>
          <p:cNvSpPr txBox="1"/>
          <p:nvPr/>
        </p:nvSpPr>
        <p:spPr>
          <a:xfrm>
            <a:off x="508000" y="5016500"/>
            <a:ext cx="1905000" cy="254000"/>
          </a:xfrm>
          <a:prstGeom prst="rect">
            <a:avLst/>
          </a:prstGeom>
          <a:noFill/>
        </p:spPr>
        <p:txBody>
          <a:bodyPr wrap="square" lIns="0" rIns="0" tIns="0" bIns="0" anchor="ctr">
            <a:spAutoFit/>
          </a:bodyPr>
          <a:lstStyle/>
          <a:p>
            <a:pPr algn="ctr">
              <a:lnSpc>
                <a:spcPct val="115000"/>
              </a:lnSpc>
            </a:pPr>
            <a:r>
              <a:rPr sz="1200" b="1" i="0">
                <a:solidFill>
                  <a:srgbClr val="1C1C1C"/>
                </a:solidFill>
                <a:latin typeface="Inter"/>
              </a:rPr>
              <a:t>ferries</a:t>
            </a:r>
          </a:p>
        </p:txBody>
      </p:sp>
      <p:sp>
        <p:nvSpPr>
          <p:cNvPr id="49" name="Rounded Rectangle 48"/>
          <p:cNvSpPr/>
          <p:nvPr/>
        </p:nvSpPr>
        <p:spPr>
          <a:xfrm>
            <a:off x="508000" y="5334000"/>
            <a:ext cx="1905000" cy="254000"/>
          </a:xfrm>
          <a:prstGeom prst="roundRect">
            <a:avLst>
              <a:gd name="adj" fmla="val 20000"/>
            </a:avLst>
          </a:prstGeom>
          <a:solidFill>
            <a:srgbClr val="E3DED4"/>
          </a:solidFill>
          <a:ln>
            <a:noFill/>
          </a:ln>
          <a:effectLst/>
        </p:spPr>
        <p:txBody>
          <a:bodyPr rtlCol="0" anchor="ctr"/>
          <a:lstStyle/>
          <a:p>
            <a:pPr algn="ctr"/>
          </a:p>
        </p:txBody>
      </p:sp>
      <p:sp>
        <p:nvSpPr>
          <p:cNvPr id="50" name="TextBox 49"/>
          <p:cNvSpPr txBox="1"/>
          <p:nvPr/>
        </p:nvSpPr>
        <p:spPr>
          <a:xfrm>
            <a:off x="508000" y="5334000"/>
            <a:ext cx="1905000" cy="254000"/>
          </a:xfrm>
          <a:prstGeom prst="rect">
            <a:avLst/>
          </a:prstGeom>
          <a:noFill/>
        </p:spPr>
        <p:txBody>
          <a:bodyPr wrap="square" lIns="0" rIns="0" tIns="0" bIns="0" anchor="ctr">
            <a:spAutoFit/>
          </a:bodyPr>
          <a:lstStyle/>
          <a:p>
            <a:pPr algn="ctr">
              <a:lnSpc>
                <a:spcPct val="115000"/>
              </a:lnSpc>
            </a:pPr>
            <a:r>
              <a:rPr sz="1200" b="1" i="0">
                <a:solidFill>
                  <a:srgbClr val="1C1C1C"/>
                </a:solidFill>
                <a:latin typeface="Inter"/>
              </a:rPr>
              <a:t>réparation navale</a:t>
            </a:r>
          </a:p>
        </p:txBody>
      </p:sp>
      <p:sp>
        <p:nvSpPr>
          <p:cNvPr id="51" name="Rounded Rectangle 50"/>
          <p:cNvSpPr/>
          <p:nvPr/>
        </p:nvSpPr>
        <p:spPr>
          <a:xfrm>
            <a:off x="508000" y="5651500"/>
            <a:ext cx="1905000" cy="254000"/>
          </a:xfrm>
          <a:prstGeom prst="roundRect">
            <a:avLst>
              <a:gd name="adj" fmla="val 20000"/>
            </a:avLst>
          </a:prstGeom>
          <a:solidFill>
            <a:srgbClr val="E3DED4"/>
          </a:solidFill>
          <a:ln>
            <a:noFill/>
          </a:ln>
          <a:effectLst/>
        </p:spPr>
        <p:txBody>
          <a:bodyPr rtlCol="0" anchor="ctr"/>
          <a:lstStyle/>
          <a:p>
            <a:pPr algn="ctr"/>
          </a:p>
        </p:txBody>
      </p:sp>
      <p:sp>
        <p:nvSpPr>
          <p:cNvPr id="52" name="TextBox 51"/>
          <p:cNvSpPr txBox="1"/>
          <p:nvPr/>
        </p:nvSpPr>
        <p:spPr>
          <a:xfrm>
            <a:off x="508000" y="5651500"/>
            <a:ext cx="1905000" cy="254000"/>
          </a:xfrm>
          <a:prstGeom prst="rect">
            <a:avLst/>
          </a:prstGeom>
          <a:noFill/>
        </p:spPr>
        <p:txBody>
          <a:bodyPr wrap="square" lIns="0" rIns="0" tIns="0" bIns="0" anchor="ctr">
            <a:spAutoFit/>
          </a:bodyPr>
          <a:lstStyle/>
          <a:p>
            <a:pPr algn="ctr">
              <a:lnSpc>
                <a:spcPct val="115000"/>
              </a:lnSpc>
            </a:pPr>
            <a:r>
              <a:rPr sz="1200" b="1" i="0">
                <a:solidFill>
                  <a:srgbClr val="1C1C1C"/>
                </a:solidFill>
                <a:latin typeface="Inter"/>
              </a:rPr>
              <a:t>dockers</a:t>
            </a:r>
          </a:p>
        </p:txBody>
      </p:sp>
      <p:sp>
        <p:nvSpPr>
          <p:cNvPr id="53" name="Rounded Rectangle 52"/>
          <p:cNvSpPr/>
          <p:nvPr/>
        </p:nvSpPr>
        <p:spPr>
          <a:xfrm>
            <a:off x="6032500" y="4699000"/>
            <a:ext cx="1905000" cy="254000"/>
          </a:xfrm>
          <a:prstGeom prst="roundRect">
            <a:avLst>
              <a:gd name="adj" fmla="val 20000"/>
            </a:avLst>
          </a:prstGeom>
          <a:solidFill>
            <a:srgbClr val="C8462B"/>
          </a:solidFill>
          <a:ln>
            <a:noFill/>
          </a:ln>
          <a:effectLst/>
        </p:spPr>
        <p:txBody>
          <a:bodyPr rtlCol="0" anchor="ctr"/>
          <a:lstStyle/>
          <a:p>
            <a:pPr algn="ctr"/>
          </a:p>
        </p:txBody>
      </p:sp>
      <p:sp>
        <p:nvSpPr>
          <p:cNvPr id="54" name="TextBox 53"/>
          <p:cNvSpPr txBox="1"/>
          <p:nvPr/>
        </p:nvSpPr>
        <p:spPr>
          <a:xfrm>
            <a:off x="6032500" y="4699000"/>
            <a:ext cx="1905000" cy="2540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plaisance</a:t>
            </a:r>
          </a:p>
        </p:txBody>
      </p:sp>
      <p:sp>
        <p:nvSpPr>
          <p:cNvPr id="55" name="Rounded Rectangle 54"/>
          <p:cNvSpPr/>
          <p:nvPr/>
        </p:nvSpPr>
        <p:spPr>
          <a:xfrm>
            <a:off x="6032500" y="5016500"/>
            <a:ext cx="1905000" cy="254000"/>
          </a:xfrm>
          <a:prstGeom prst="roundRect">
            <a:avLst>
              <a:gd name="adj" fmla="val 20000"/>
            </a:avLst>
          </a:prstGeom>
          <a:solidFill>
            <a:srgbClr val="C8462B"/>
          </a:solidFill>
          <a:ln>
            <a:noFill/>
          </a:ln>
          <a:effectLst/>
        </p:spPr>
        <p:txBody>
          <a:bodyPr rtlCol="0" anchor="ctr"/>
          <a:lstStyle/>
          <a:p>
            <a:pPr algn="ctr"/>
          </a:p>
        </p:txBody>
      </p:sp>
      <p:sp>
        <p:nvSpPr>
          <p:cNvPr id="56" name="TextBox 55"/>
          <p:cNvSpPr txBox="1"/>
          <p:nvPr/>
        </p:nvSpPr>
        <p:spPr>
          <a:xfrm>
            <a:off x="6032500" y="5016500"/>
            <a:ext cx="1905000" cy="2540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croisières</a:t>
            </a:r>
          </a:p>
        </p:txBody>
      </p:sp>
      <p:sp>
        <p:nvSpPr>
          <p:cNvPr id="57" name="Rounded Rectangle 56"/>
          <p:cNvSpPr/>
          <p:nvPr/>
        </p:nvSpPr>
        <p:spPr>
          <a:xfrm>
            <a:off x="6032500" y="5334000"/>
            <a:ext cx="1905000" cy="254000"/>
          </a:xfrm>
          <a:prstGeom prst="roundRect">
            <a:avLst>
              <a:gd name="adj" fmla="val 20000"/>
            </a:avLst>
          </a:prstGeom>
          <a:solidFill>
            <a:srgbClr val="C8462B"/>
          </a:solidFill>
          <a:ln>
            <a:noFill/>
          </a:ln>
          <a:effectLst/>
        </p:spPr>
        <p:txBody>
          <a:bodyPr rtlCol="0" anchor="ctr"/>
          <a:lstStyle/>
          <a:p>
            <a:pPr algn="ctr"/>
          </a:p>
        </p:txBody>
      </p:sp>
      <p:sp>
        <p:nvSpPr>
          <p:cNvPr id="58" name="TextBox 57"/>
          <p:cNvSpPr txBox="1"/>
          <p:nvPr/>
        </p:nvSpPr>
        <p:spPr>
          <a:xfrm>
            <a:off x="6032500" y="5334000"/>
            <a:ext cx="1905000" cy="2540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cafés et enseignes</a:t>
            </a:r>
          </a:p>
        </p:txBody>
      </p:sp>
      <p:sp>
        <p:nvSpPr>
          <p:cNvPr id="59" name="Rounded Rectangle 58"/>
          <p:cNvSpPr/>
          <p:nvPr/>
        </p:nvSpPr>
        <p:spPr>
          <a:xfrm>
            <a:off x="6032500" y="5651500"/>
            <a:ext cx="1905000" cy="254000"/>
          </a:xfrm>
          <a:prstGeom prst="roundRect">
            <a:avLst>
              <a:gd name="adj" fmla="val 20000"/>
            </a:avLst>
          </a:prstGeom>
          <a:solidFill>
            <a:srgbClr val="8FAE82"/>
          </a:solidFill>
          <a:ln>
            <a:noFill/>
          </a:ln>
          <a:effectLst/>
        </p:spPr>
        <p:txBody>
          <a:bodyPr rtlCol="0" anchor="ctr"/>
          <a:lstStyle/>
          <a:p>
            <a:pPr algn="ctr"/>
          </a:p>
        </p:txBody>
      </p:sp>
      <p:sp>
        <p:nvSpPr>
          <p:cNvPr id="60" name="TextBox 59"/>
          <p:cNvSpPr txBox="1"/>
          <p:nvPr/>
        </p:nvSpPr>
        <p:spPr>
          <a:xfrm>
            <a:off x="6032500" y="5651500"/>
            <a:ext cx="1905000" cy="2540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promenade</a:t>
            </a:r>
          </a:p>
        </p:txBody>
      </p:sp>
      <p:cxnSp>
        <p:nvCxnSpPr>
          <p:cNvPr id="61" name="Connector 60"/>
          <p:cNvCxnSpPr/>
          <p:nvPr/>
        </p:nvCxnSpPr>
        <p:spPr>
          <a:xfrm>
            <a:off x="2508250" y="4826000"/>
            <a:ext cx="3429000" cy="0"/>
          </a:xfrm>
          <a:prstGeom prst="line">
            <a:avLst/>
          </a:prstGeom>
          <a:ln w="12700">
            <a:solidFill>
              <a:srgbClr val="6E6A64"/>
            </a:solidFill>
            <a:prstDash val="dash"/>
            <a:tailEnd type="triangle" w="med" len="med"/>
          </a:ln>
        </p:spPr>
      </p:cxnSp>
      <p:cxnSp>
        <p:nvCxnSpPr>
          <p:cNvPr id="62" name="Connector 61"/>
          <p:cNvCxnSpPr/>
          <p:nvPr/>
        </p:nvCxnSpPr>
        <p:spPr>
          <a:xfrm>
            <a:off x="2508250" y="5143500"/>
            <a:ext cx="3429000" cy="0"/>
          </a:xfrm>
          <a:prstGeom prst="line">
            <a:avLst/>
          </a:prstGeom>
          <a:ln w="12700">
            <a:solidFill>
              <a:srgbClr val="6E6A64"/>
            </a:solidFill>
            <a:prstDash val="dash"/>
            <a:tailEnd type="triangle" w="med" len="med"/>
          </a:ln>
        </p:spPr>
      </p:cxnSp>
      <p:cxnSp>
        <p:nvCxnSpPr>
          <p:cNvPr id="63" name="Connector 62"/>
          <p:cNvCxnSpPr/>
          <p:nvPr/>
        </p:nvCxnSpPr>
        <p:spPr>
          <a:xfrm>
            <a:off x="2508250" y="5461000"/>
            <a:ext cx="3429000" cy="0"/>
          </a:xfrm>
          <a:prstGeom prst="line">
            <a:avLst/>
          </a:prstGeom>
          <a:ln w="12700">
            <a:solidFill>
              <a:srgbClr val="6E6A64"/>
            </a:solidFill>
            <a:prstDash val="dash"/>
            <a:tailEnd type="triangle" w="med" len="med"/>
          </a:ln>
        </p:spPr>
      </p:cxnSp>
      <p:cxnSp>
        <p:nvCxnSpPr>
          <p:cNvPr id="64" name="Connector 63"/>
          <p:cNvCxnSpPr/>
          <p:nvPr/>
        </p:nvCxnSpPr>
        <p:spPr>
          <a:xfrm>
            <a:off x="2508250" y="5778500"/>
            <a:ext cx="3429000" cy="0"/>
          </a:xfrm>
          <a:prstGeom prst="line">
            <a:avLst/>
          </a:prstGeom>
          <a:ln w="12700">
            <a:solidFill>
              <a:srgbClr val="6E6A64"/>
            </a:solidFill>
            <a:prstDash val="dash"/>
            <a:tailEnd type="triangle" w="med" len="med"/>
          </a:ln>
        </p:spPr>
      </p:cxnSp>
      <p:sp>
        <p:nvSpPr>
          <p:cNvPr id="65" name="TextBox 64"/>
          <p:cNvSpPr txBox="1"/>
          <p:nvPr/>
        </p:nvSpPr>
        <p:spPr>
          <a:xfrm>
            <a:off x="2540000" y="4445000"/>
            <a:ext cx="3429000" cy="165100"/>
          </a:xfrm>
          <a:prstGeom prst="rect">
            <a:avLst/>
          </a:prstGeom>
          <a:noFill/>
        </p:spPr>
        <p:txBody>
          <a:bodyPr wrap="square" lIns="0" rIns="0" tIns="0" bIns="0" anchor="t">
            <a:spAutoFit/>
          </a:bodyPr>
          <a:lstStyle/>
          <a:p>
            <a:pPr algn="r">
              <a:lnSpc>
                <a:spcPct val="115000"/>
              </a:lnSpc>
            </a:pPr>
            <a:r>
              <a:rPr sz="1100" b="0" i="1">
                <a:solidFill>
                  <a:srgbClr val="6E6A64"/>
                </a:solidFill>
                <a:latin typeface="Inter"/>
              </a:rPr>
              <a:t>le travail sort, le loisir entre  →</a:t>
            </a:r>
          </a:p>
        </p:txBody>
      </p:sp>
      <p:sp>
        <p:nvSpPr>
          <p:cNvPr id="66" name="TextBox 65"/>
          <p:cNvSpPr txBox="1"/>
          <p:nvPr/>
        </p:nvSpPr>
        <p:spPr>
          <a:xfrm>
            <a:off x="8318500" y="14605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CHIFFRES CLÉS</a:t>
            </a:r>
          </a:p>
        </p:txBody>
      </p:sp>
      <p:sp>
        <p:nvSpPr>
          <p:cNvPr id="67" name="TextBox 66"/>
          <p:cNvSpPr txBox="1"/>
          <p:nvPr/>
        </p:nvSpPr>
        <p:spPr>
          <a:xfrm>
            <a:off x="8318500" y="1663700"/>
            <a:ext cx="3302000" cy="279400"/>
          </a:xfrm>
          <a:prstGeom prst="rect">
            <a:avLst/>
          </a:prstGeom>
          <a:noFill/>
        </p:spPr>
        <p:txBody>
          <a:bodyPr wrap="square" lIns="0" rIns="0" tIns="0" bIns="0" anchor="t">
            <a:spAutoFit/>
          </a:bodyPr>
          <a:lstStyle/>
          <a:p>
            <a:pPr algn="l">
              <a:lnSpc>
                <a:spcPct val="115000"/>
              </a:lnSpc>
            </a:pPr>
            <a:r>
              <a:rPr sz="2000" b="1" i="0">
                <a:solidFill>
                  <a:srgbClr val="C8462B"/>
                </a:solidFill>
                <a:latin typeface="Inter"/>
              </a:rPr>
              <a:t>6,2 Md MAD</a:t>
            </a:r>
          </a:p>
        </p:txBody>
      </p:sp>
      <p:sp>
        <p:nvSpPr>
          <p:cNvPr id="68" name="TextBox 67"/>
          <p:cNvSpPr txBox="1"/>
          <p:nvPr/>
        </p:nvSpPr>
        <p:spPr>
          <a:xfrm>
            <a:off x="8318500" y="1968500"/>
            <a:ext cx="3302000" cy="165100"/>
          </a:xfrm>
          <a:prstGeom prst="rect">
            <a:avLst/>
          </a:prstGeom>
          <a:noFill/>
        </p:spPr>
        <p:txBody>
          <a:bodyPr wrap="square" lIns="0" rIns="0" tIns="0" bIns="0" anchor="t">
            <a:spAutoFit/>
          </a:bodyPr>
          <a:lstStyle/>
          <a:p>
            <a:pPr algn="l">
              <a:lnSpc>
                <a:spcPct val="115000"/>
              </a:lnSpc>
            </a:pPr>
            <a:r>
              <a:rPr sz="1050" b="0" i="0">
                <a:solidFill>
                  <a:srgbClr val="6E6A64"/>
                </a:solidFill>
                <a:latin typeface="Inter"/>
              </a:rPr>
              <a:t>programme de reconversion du port</a:t>
            </a:r>
          </a:p>
        </p:txBody>
      </p:sp>
      <p:sp>
        <p:nvSpPr>
          <p:cNvPr id="69" name="TextBox 68"/>
          <p:cNvSpPr txBox="1"/>
          <p:nvPr/>
        </p:nvSpPr>
        <p:spPr>
          <a:xfrm>
            <a:off x="8318500" y="2197100"/>
            <a:ext cx="3302000" cy="279400"/>
          </a:xfrm>
          <a:prstGeom prst="rect">
            <a:avLst/>
          </a:prstGeom>
          <a:noFill/>
        </p:spPr>
        <p:txBody>
          <a:bodyPr wrap="square" lIns="0" rIns="0" tIns="0" bIns="0" anchor="t">
            <a:spAutoFit/>
          </a:bodyPr>
          <a:lstStyle/>
          <a:p>
            <a:pPr algn="l">
              <a:lnSpc>
                <a:spcPct val="115000"/>
              </a:lnSpc>
            </a:pPr>
            <a:r>
              <a:rPr sz="2000" b="1" i="0">
                <a:solidFill>
                  <a:srgbClr val="C8462B"/>
                </a:solidFill>
                <a:latin typeface="Inter"/>
              </a:rPr>
              <a:t>1 400</a:t>
            </a:r>
          </a:p>
        </p:txBody>
      </p:sp>
      <p:sp>
        <p:nvSpPr>
          <p:cNvPr id="70" name="TextBox 69"/>
          <p:cNvSpPr txBox="1"/>
          <p:nvPr/>
        </p:nvSpPr>
        <p:spPr>
          <a:xfrm>
            <a:off x="8318500" y="2501900"/>
            <a:ext cx="3302000" cy="165100"/>
          </a:xfrm>
          <a:prstGeom prst="rect">
            <a:avLst/>
          </a:prstGeom>
          <a:noFill/>
        </p:spPr>
        <p:txBody>
          <a:bodyPr wrap="square" lIns="0" rIns="0" tIns="0" bIns="0" anchor="t">
            <a:spAutoFit/>
          </a:bodyPr>
          <a:lstStyle/>
          <a:p>
            <a:pPr algn="l">
              <a:lnSpc>
                <a:spcPct val="115000"/>
              </a:lnSpc>
            </a:pPr>
            <a:r>
              <a:rPr sz="1050" b="0" i="0">
                <a:solidFill>
                  <a:srgbClr val="6E6A64"/>
                </a:solidFill>
                <a:latin typeface="Inter"/>
              </a:rPr>
              <a:t>anneaux prévus, plus grande marina du Maroc</a:t>
            </a:r>
          </a:p>
        </p:txBody>
      </p:sp>
      <p:sp>
        <p:nvSpPr>
          <p:cNvPr id="71" name="TextBox 70"/>
          <p:cNvSpPr txBox="1"/>
          <p:nvPr/>
        </p:nvSpPr>
        <p:spPr>
          <a:xfrm>
            <a:off x="8318500" y="2730500"/>
            <a:ext cx="3302000" cy="279400"/>
          </a:xfrm>
          <a:prstGeom prst="rect">
            <a:avLst/>
          </a:prstGeom>
          <a:noFill/>
        </p:spPr>
        <p:txBody>
          <a:bodyPr wrap="square" lIns="0" rIns="0" tIns="0" bIns="0" anchor="t">
            <a:spAutoFit/>
          </a:bodyPr>
          <a:lstStyle/>
          <a:p>
            <a:pPr algn="l">
              <a:lnSpc>
                <a:spcPct val="115000"/>
              </a:lnSpc>
            </a:pPr>
            <a:r>
              <a:rPr sz="2000" b="1" i="0">
                <a:solidFill>
                  <a:srgbClr val="C8462B"/>
                </a:solidFill>
                <a:latin typeface="Inter"/>
              </a:rPr>
              <a:t>635 M MAD</a:t>
            </a:r>
          </a:p>
        </p:txBody>
      </p:sp>
      <p:sp>
        <p:nvSpPr>
          <p:cNvPr id="72" name="TextBox 71"/>
          <p:cNvSpPr txBox="1"/>
          <p:nvPr/>
        </p:nvSpPr>
        <p:spPr>
          <a:xfrm>
            <a:off x="8318500" y="3035300"/>
            <a:ext cx="3302000" cy="165100"/>
          </a:xfrm>
          <a:prstGeom prst="rect">
            <a:avLst/>
          </a:prstGeom>
          <a:noFill/>
        </p:spPr>
        <p:txBody>
          <a:bodyPr wrap="square" lIns="0" rIns="0" tIns="0" bIns="0" anchor="t">
            <a:spAutoFit/>
          </a:bodyPr>
          <a:lstStyle/>
          <a:p>
            <a:pPr algn="l">
              <a:lnSpc>
                <a:spcPct val="115000"/>
              </a:lnSpc>
            </a:pPr>
            <a:r>
              <a:rPr sz="1050" b="0" i="0">
                <a:solidFill>
                  <a:srgbClr val="6E6A64"/>
                </a:solidFill>
                <a:latin typeface="Inter"/>
              </a:rPr>
              <a:t>coût de la marina</a:t>
            </a:r>
          </a:p>
        </p:txBody>
      </p:sp>
      <p:sp>
        <p:nvSpPr>
          <p:cNvPr id="73" name="TextBox 72"/>
          <p:cNvSpPr txBox="1"/>
          <p:nvPr/>
        </p:nvSpPr>
        <p:spPr>
          <a:xfrm>
            <a:off x="8318500" y="3263900"/>
            <a:ext cx="3302000" cy="279400"/>
          </a:xfrm>
          <a:prstGeom prst="rect">
            <a:avLst/>
          </a:prstGeom>
          <a:noFill/>
        </p:spPr>
        <p:txBody>
          <a:bodyPr wrap="square" lIns="0" rIns="0" tIns="0" bIns="0" anchor="t">
            <a:spAutoFit/>
          </a:bodyPr>
          <a:lstStyle/>
          <a:p>
            <a:pPr algn="l">
              <a:lnSpc>
                <a:spcPct val="115000"/>
              </a:lnSpc>
            </a:pPr>
            <a:r>
              <a:rPr sz="2000" b="1" i="0">
                <a:solidFill>
                  <a:srgbClr val="1F3A5F"/>
                </a:solidFill>
                <a:latin typeface="Inter"/>
              </a:rPr>
              <a:t>1,19 Md MAD</a:t>
            </a:r>
          </a:p>
        </p:txBody>
      </p:sp>
      <p:sp>
        <p:nvSpPr>
          <p:cNvPr id="74" name="TextBox 73"/>
          <p:cNvSpPr txBox="1"/>
          <p:nvPr/>
        </p:nvSpPr>
        <p:spPr>
          <a:xfrm>
            <a:off x="8318500" y="3568700"/>
            <a:ext cx="3302000" cy="165100"/>
          </a:xfrm>
          <a:prstGeom prst="rect">
            <a:avLst/>
          </a:prstGeom>
          <a:noFill/>
        </p:spPr>
        <p:txBody>
          <a:bodyPr wrap="square" lIns="0" rIns="0" tIns="0" bIns="0" anchor="t">
            <a:spAutoFit/>
          </a:bodyPr>
          <a:lstStyle/>
          <a:p>
            <a:pPr algn="l">
              <a:lnSpc>
                <a:spcPct val="115000"/>
              </a:lnSpc>
            </a:pPr>
            <a:r>
              <a:rPr sz="1050" b="0" i="0">
                <a:solidFill>
                  <a:srgbClr val="6E6A64"/>
                </a:solidFill>
                <a:latin typeface="Inter"/>
              </a:rPr>
              <a:t>coût du nouveau port de pêche</a:t>
            </a:r>
          </a:p>
        </p:txBody>
      </p:sp>
      <p:cxnSp>
        <p:nvCxnSpPr>
          <p:cNvPr id="75" name="Connector 74"/>
          <p:cNvCxnSpPr/>
          <p:nvPr/>
        </p:nvCxnSpPr>
        <p:spPr>
          <a:xfrm>
            <a:off x="8318500" y="3873500"/>
            <a:ext cx="3365500" cy="0"/>
          </a:xfrm>
          <a:prstGeom prst="line">
            <a:avLst/>
          </a:prstGeom>
          <a:ln w="9525">
            <a:solidFill>
              <a:srgbClr val="CFC8BC"/>
            </a:solidFill>
          </a:ln>
        </p:spPr>
      </p:cxnSp>
      <p:sp>
        <p:nvSpPr>
          <p:cNvPr id="76" name="TextBox 75"/>
          <p:cNvSpPr txBox="1"/>
          <p:nvPr/>
        </p:nvSpPr>
        <p:spPr>
          <a:xfrm>
            <a:off x="8318500" y="396875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BILAN</a:t>
            </a:r>
          </a:p>
        </p:txBody>
      </p:sp>
      <p:sp>
        <p:nvSpPr>
          <p:cNvPr id="77" name="Oval 76"/>
          <p:cNvSpPr/>
          <p:nvPr/>
        </p:nvSpPr>
        <p:spPr>
          <a:xfrm>
            <a:off x="8324850" y="4210050"/>
            <a:ext cx="190500" cy="190500"/>
          </a:xfrm>
          <a:prstGeom prst="ellipse">
            <a:avLst/>
          </a:prstGeom>
          <a:solidFill>
            <a:srgbClr val="8FAE82"/>
          </a:solidFill>
          <a:ln w="19050">
            <a:solidFill>
              <a:srgbClr val="FFFFFF"/>
            </a:solidFill>
          </a:ln>
          <a:effectLst/>
        </p:spPr>
        <p:txBody>
          <a:bodyPr rtlCol="0" anchor="ctr"/>
          <a:lstStyle/>
          <a:p>
            <a:pPr algn="ctr"/>
          </a:p>
        </p:txBody>
      </p:sp>
      <p:sp>
        <p:nvSpPr>
          <p:cNvPr id="78" name="TextBox 77"/>
          <p:cNvSpPr txBox="1"/>
          <p:nvPr/>
        </p:nvSpPr>
        <p:spPr>
          <a:xfrm>
            <a:off x="8324850" y="4210050"/>
            <a:ext cx="190500" cy="190500"/>
          </a:xfrm>
          <a:prstGeom prst="rect">
            <a:avLst/>
          </a:prstGeom>
          <a:noFill/>
        </p:spPr>
        <p:txBody>
          <a:bodyPr wrap="square" lIns="0" rIns="0" tIns="0" bIns="0" anchor="ctr">
            <a:spAutoFit/>
          </a:bodyPr>
          <a:lstStyle/>
          <a:p>
            <a:pPr algn="ctr">
              <a:lnSpc>
                <a:spcPct val="115000"/>
              </a:lnSpc>
            </a:pPr>
            <a:r>
              <a:rPr sz="1400" b="1" i="0">
                <a:solidFill>
                  <a:srgbClr val="FFFFFF"/>
                </a:solidFill>
                <a:latin typeface="Inter"/>
              </a:rPr>
              <a:t>+</a:t>
            </a:r>
          </a:p>
        </p:txBody>
      </p:sp>
      <p:sp>
        <p:nvSpPr>
          <p:cNvPr id="79" name="TextBox 78"/>
          <p:cNvSpPr txBox="1"/>
          <p:nvPr/>
        </p:nvSpPr>
        <p:spPr>
          <a:xfrm>
            <a:off x="8610600" y="4216400"/>
            <a:ext cx="3175000" cy="1905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Promenade publique continue sur la baie</a:t>
            </a:r>
          </a:p>
        </p:txBody>
      </p:sp>
      <p:sp>
        <p:nvSpPr>
          <p:cNvPr id="80" name="Oval 79"/>
          <p:cNvSpPr/>
          <p:nvPr/>
        </p:nvSpPr>
        <p:spPr>
          <a:xfrm>
            <a:off x="8324850" y="4565650"/>
            <a:ext cx="190500" cy="190500"/>
          </a:xfrm>
          <a:prstGeom prst="ellipse">
            <a:avLst/>
          </a:prstGeom>
          <a:solidFill>
            <a:srgbClr val="C8462B"/>
          </a:solidFill>
          <a:ln w="19050">
            <a:solidFill>
              <a:srgbClr val="FFFFFF"/>
            </a:solidFill>
          </a:ln>
          <a:effectLst/>
        </p:spPr>
        <p:txBody>
          <a:bodyPr rtlCol="0" anchor="ctr"/>
          <a:lstStyle/>
          <a:p>
            <a:pPr algn="ctr"/>
          </a:p>
        </p:txBody>
      </p:sp>
      <p:sp>
        <p:nvSpPr>
          <p:cNvPr id="81" name="TextBox 80"/>
          <p:cNvSpPr txBox="1"/>
          <p:nvPr/>
        </p:nvSpPr>
        <p:spPr>
          <a:xfrm>
            <a:off x="8324850" y="4565650"/>
            <a:ext cx="190500" cy="190500"/>
          </a:xfrm>
          <a:prstGeom prst="rect">
            <a:avLst/>
          </a:prstGeom>
          <a:noFill/>
        </p:spPr>
        <p:txBody>
          <a:bodyPr wrap="square" lIns="0" rIns="0" tIns="0" bIns="0" anchor="ctr">
            <a:spAutoFit/>
          </a:bodyPr>
          <a:lstStyle/>
          <a:p>
            <a:pPr algn="ctr">
              <a:lnSpc>
                <a:spcPct val="115000"/>
              </a:lnSpc>
            </a:pPr>
            <a:r>
              <a:rPr sz="1400" b="1" i="0">
                <a:solidFill>
                  <a:srgbClr val="FFFFFF"/>
                </a:solidFill>
                <a:latin typeface="Inter"/>
              </a:rPr>
              <a:t>−</a:t>
            </a:r>
          </a:p>
        </p:txBody>
      </p:sp>
      <p:sp>
        <p:nvSpPr>
          <p:cNvPr id="82" name="TextBox 81"/>
          <p:cNvSpPr txBox="1"/>
          <p:nvPr/>
        </p:nvSpPr>
        <p:spPr>
          <a:xfrm>
            <a:off x="8610600" y="4572000"/>
            <a:ext cx="3175000" cy="1905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Port de travail rejeté hors du regard</a:t>
            </a:r>
          </a:p>
        </p:txBody>
      </p:sp>
      <p:sp>
        <p:nvSpPr>
          <p:cNvPr id="83" name="Oval 82"/>
          <p:cNvSpPr/>
          <p:nvPr/>
        </p:nvSpPr>
        <p:spPr>
          <a:xfrm>
            <a:off x="8324850" y="4921250"/>
            <a:ext cx="190500" cy="190500"/>
          </a:xfrm>
          <a:prstGeom prst="ellipse">
            <a:avLst/>
          </a:prstGeom>
          <a:solidFill>
            <a:srgbClr val="C8462B"/>
          </a:solidFill>
          <a:ln w="19050">
            <a:solidFill>
              <a:srgbClr val="FFFFFF"/>
            </a:solidFill>
          </a:ln>
          <a:effectLst/>
        </p:spPr>
        <p:txBody>
          <a:bodyPr rtlCol="0" anchor="ctr"/>
          <a:lstStyle/>
          <a:p>
            <a:pPr algn="ctr"/>
          </a:p>
        </p:txBody>
      </p:sp>
      <p:sp>
        <p:nvSpPr>
          <p:cNvPr id="84" name="TextBox 83"/>
          <p:cNvSpPr txBox="1"/>
          <p:nvPr/>
        </p:nvSpPr>
        <p:spPr>
          <a:xfrm>
            <a:off x="8324850" y="4921250"/>
            <a:ext cx="190500" cy="190500"/>
          </a:xfrm>
          <a:prstGeom prst="rect">
            <a:avLst/>
          </a:prstGeom>
          <a:noFill/>
        </p:spPr>
        <p:txBody>
          <a:bodyPr wrap="square" lIns="0" rIns="0" tIns="0" bIns="0" anchor="ctr">
            <a:spAutoFit/>
          </a:bodyPr>
          <a:lstStyle/>
          <a:p>
            <a:pPr algn="ctr">
              <a:lnSpc>
                <a:spcPct val="115000"/>
              </a:lnSpc>
            </a:pPr>
            <a:r>
              <a:rPr sz="1400" b="1" i="0">
                <a:solidFill>
                  <a:srgbClr val="FFFFFF"/>
                </a:solidFill>
                <a:latin typeface="Inter"/>
              </a:rPr>
              <a:t>−</a:t>
            </a:r>
          </a:p>
        </p:txBody>
      </p:sp>
      <p:sp>
        <p:nvSpPr>
          <p:cNvPr id="85" name="TextBox 84"/>
          <p:cNvSpPr txBox="1"/>
          <p:nvPr/>
        </p:nvSpPr>
        <p:spPr>
          <a:xfrm>
            <a:off x="8610600" y="4927600"/>
            <a:ext cx="3175000" cy="1905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Route littorale : ville et plage séparées</a:t>
            </a:r>
          </a:p>
        </p:txBody>
      </p:sp>
      <p:sp>
        <p:nvSpPr>
          <p:cNvPr id="86" name="Oval 85"/>
          <p:cNvSpPr/>
          <p:nvPr/>
        </p:nvSpPr>
        <p:spPr>
          <a:xfrm>
            <a:off x="8324850" y="5276850"/>
            <a:ext cx="190500" cy="190500"/>
          </a:xfrm>
          <a:prstGeom prst="ellipse">
            <a:avLst/>
          </a:prstGeom>
          <a:solidFill>
            <a:srgbClr val="C8462B"/>
          </a:solidFill>
          <a:ln w="19050">
            <a:solidFill>
              <a:srgbClr val="FFFFFF"/>
            </a:solidFill>
          </a:ln>
          <a:effectLst/>
        </p:spPr>
        <p:txBody>
          <a:bodyPr rtlCol="0" anchor="ctr"/>
          <a:lstStyle/>
          <a:p>
            <a:pPr algn="ctr"/>
          </a:p>
        </p:txBody>
      </p:sp>
      <p:sp>
        <p:nvSpPr>
          <p:cNvPr id="87" name="TextBox 86"/>
          <p:cNvSpPr txBox="1"/>
          <p:nvPr/>
        </p:nvSpPr>
        <p:spPr>
          <a:xfrm>
            <a:off x="8324850" y="5276850"/>
            <a:ext cx="190500" cy="190500"/>
          </a:xfrm>
          <a:prstGeom prst="rect">
            <a:avLst/>
          </a:prstGeom>
          <a:noFill/>
        </p:spPr>
        <p:txBody>
          <a:bodyPr wrap="square" lIns="0" rIns="0" tIns="0" bIns="0" anchor="ctr">
            <a:spAutoFit/>
          </a:bodyPr>
          <a:lstStyle/>
          <a:p>
            <a:pPr algn="ctr">
              <a:lnSpc>
                <a:spcPct val="115000"/>
              </a:lnSpc>
            </a:pPr>
            <a:r>
              <a:rPr sz="1400" b="1" i="0">
                <a:solidFill>
                  <a:srgbClr val="FFFFFF"/>
                </a:solidFill>
                <a:latin typeface="Inter"/>
              </a:rPr>
              <a:t>−</a:t>
            </a:r>
          </a:p>
        </p:txBody>
      </p:sp>
      <p:sp>
        <p:nvSpPr>
          <p:cNvPr id="88" name="TextBox 87"/>
          <p:cNvSpPr txBox="1"/>
          <p:nvPr/>
        </p:nvSpPr>
        <p:spPr>
          <a:xfrm>
            <a:off x="8610600" y="5283200"/>
            <a:ext cx="3175000" cy="190500"/>
          </a:xfrm>
          <a:prstGeom prst="rect">
            <a:avLst/>
          </a:prstGeom>
          <a:noFill/>
        </p:spPr>
        <p:txBody>
          <a:bodyPr wrap="square" lIns="0" rIns="0" tIns="0" bIns="0" anchor="t">
            <a:spAutoFit/>
          </a:bodyPr>
          <a:lstStyle/>
          <a:p>
            <a:pPr algn="l">
              <a:lnSpc>
                <a:spcPct val="115000"/>
              </a:lnSpc>
            </a:pPr>
            <a:r>
              <a:rPr sz="1150" b="0" i="0">
                <a:solidFill>
                  <a:srgbClr val="1C1C1C"/>
                </a:solidFill>
                <a:latin typeface="Inter"/>
              </a:rPr>
              <a:t>Usages payants : visiteurs et plaisanciers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COUPE A-A</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De la Kasbah à la mer : si près, si loin</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La coupe montre ce que le plan cache : remparts, dénivelé et route à plusieurs voies séparent la médina de l'eau.</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08 / 17</a:t>
            </a:r>
          </a:p>
        </p:txBody>
      </p:sp>
      <p:sp>
        <p:nvSpPr>
          <p:cNvPr id="11" name="Freeform 10"/>
          <p:cNvSpPr/>
          <p:nvPr/>
        </p:nvSpPr>
        <p:spPr>
          <a:xfrm>
            <a:off x="508000" y="2921000"/>
            <a:ext cx="9017000" cy="2540000"/>
          </a:xfrm>
          <a:custGeom>
            <a:avLst/>
            <a:gdLst/>
            <a:ahLst/>
            <a:cxnLst/>
            <a:rect l="l" t="t" r="r" b="b"/>
            <a:pathLst>
              <a:path w="9017000" h="2540000">
                <a:moveTo>
                  <a:pt x="0" y="0"/>
                </a:moveTo>
                <a:lnTo>
                  <a:pt x="635000" y="31750"/>
                </a:lnTo>
                <a:lnTo>
                  <a:pt x="1397000" y="190500"/>
                </a:lnTo>
                <a:lnTo>
                  <a:pt x="2159000" y="444500"/>
                </a:lnTo>
                <a:lnTo>
                  <a:pt x="2921000" y="825500"/>
                </a:lnTo>
                <a:lnTo>
                  <a:pt x="3556000" y="1270000"/>
                </a:lnTo>
                <a:lnTo>
                  <a:pt x="4064000" y="1714500"/>
                </a:lnTo>
                <a:lnTo>
                  <a:pt x="4508500" y="2095500"/>
                </a:lnTo>
                <a:lnTo>
                  <a:pt x="4826000" y="2286000"/>
                </a:lnTo>
                <a:lnTo>
                  <a:pt x="9017000" y="2286000"/>
                </a:lnTo>
                <a:lnTo>
                  <a:pt x="9017000" y="2540000"/>
                </a:lnTo>
                <a:lnTo>
                  <a:pt x="0" y="2540000"/>
                </a:lnTo>
                <a:close/>
              </a:path>
            </a:pathLst>
          </a:custGeom>
          <a:solidFill>
            <a:srgbClr val="E3D9C6"/>
          </a:solidFill>
          <a:ln w="15875">
            <a:solidFill>
              <a:srgbClr val="1C1C1C"/>
            </a:solidFill>
          </a:ln>
          <a:effectLst/>
        </p:spPr>
        <p:txBody>
          <a:bodyPr rtlCol="0" anchor="ctr"/>
          <a:lstStyle/>
          <a:p>
            <a:pPr algn="ctr"/>
          </a:p>
        </p:txBody>
      </p:sp>
      <p:sp>
        <p:nvSpPr>
          <p:cNvPr id="12" name="Rectangle 11"/>
          <p:cNvSpPr/>
          <p:nvPr/>
        </p:nvSpPr>
        <p:spPr>
          <a:xfrm>
            <a:off x="698500" y="2489200"/>
            <a:ext cx="317500" cy="444500"/>
          </a:xfrm>
          <a:prstGeom prst="rect">
            <a:avLst/>
          </a:prstGeom>
          <a:solidFill>
            <a:srgbClr val="FFFFFF"/>
          </a:solidFill>
          <a:ln w="12700">
            <a:solidFill>
              <a:srgbClr val="1C1C1C"/>
            </a:solidFill>
          </a:ln>
          <a:effectLst/>
        </p:spPr>
        <p:txBody>
          <a:bodyPr rtlCol="0" anchor="ctr"/>
          <a:lstStyle/>
          <a:p>
            <a:pPr algn="ctr"/>
          </a:p>
        </p:txBody>
      </p:sp>
      <p:sp>
        <p:nvSpPr>
          <p:cNvPr id="13" name="Rectangle 12"/>
          <p:cNvSpPr/>
          <p:nvPr/>
        </p:nvSpPr>
        <p:spPr>
          <a:xfrm>
            <a:off x="1079500" y="2406650"/>
            <a:ext cx="317500" cy="539750"/>
          </a:xfrm>
          <a:prstGeom prst="rect">
            <a:avLst/>
          </a:prstGeom>
          <a:solidFill>
            <a:srgbClr val="FFFFFF"/>
          </a:solidFill>
          <a:ln w="12700">
            <a:solidFill>
              <a:srgbClr val="1C1C1C"/>
            </a:solidFill>
          </a:ln>
          <a:effectLst/>
        </p:spPr>
        <p:txBody>
          <a:bodyPr rtlCol="0" anchor="ctr"/>
          <a:lstStyle/>
          <a:p>
            <a:pPr algn="ctr"/>
          </a:p>
        </p:txBody>
      </p:sp>
      <p:sp>
        <p:nvSpPr>
          <p:cNvPr id="14" name="Rectangle 13"/>
          <p:cNvSpPr/>
          <p:nvPr/>
        </p:nvSpPr>
        <p:spPr>
          <a:xfrm>
            <a:off x="1460500" y="2381250"/>
            <a:ext cx="317500" cy="635000"/>
          </a:xfrm>
          <a:prstGeom prst="rect">
            <a:avLst/>
          </a:prstGeom>
          <a:solidFill>
            <a:srgbClr val="FFFFFF"/>
          </a:solidFill>
          <a:ln w="12700">
            <a:solidFill>
              <a:srgbClr val="1C1C1C"/>
            </a:solidFill>
          </a:ln>
          <a:effectLst/>
        </p:spPr>
        <p:txBody>
          <a:bodyPr rtlCol="0" anchor="ctr"/>
          <a:lstStyle/>
          <a:p>
            <a:pPr algn="ctr"/>
          </a:p>
        </p:txBody>
      </p:sp>
      <p:sp>
        <p:nvSpPr>
          <p:cNvPr id="15" name="Rectangle 14"/>
          <p:cNvSpPr/>
          <p:nvPr/>
        </p:nvSpPr>
        <p:spPr>
          <a:xfrm>
            <a:off x="1841500" y="2654300"/>
            <a:ext cx="317500" cy="444500"/>
          </a:xfrm>
          <a:prstGeom prst="rect">
            <a:avLst/>
          </a:prstGeom>
          <a:solidFill>
            <a:srgbClr val="FFFFFF"/>
          </a:solidFill>
          <a:ln w="12700">
            <a:solidFill>
              <a:srgbClr val="1C1C1C"/>
            </a:solidFill>
          </a:ln>
          <a:effectLst/>
        </p:spPr>
        <p:txBody>
          <a:bodyPr rtlCol="0" anchor="ctr"/>
          <a:lstStyle/>
          <a:p>
            <a:pPr algn="ctr"/>
          </a:p>
        </p:txBody>
      </p:sp>
      <p:sp>
        <p:nvSpPr>
          <p:cNvPr id="16" name="Rectangle 15"/>
          <p:cNvSpPr/>
          <p:nvPr/>
        </p:nvSpPr>
        <p:spPr>
          <a:xfrm>
            <a:off x="2222500" y="2686050"/>
            <a:ext cx="317500" cy="539750"/>
          </a:xfrm>
          <a:prstGeom prst="rect">
            <a:avLst/>
          </a:prstGeom>
          <a:solidFill>
            <a:srgbClr val="FFFFFF"/>
          </a:solidFill>
          <a:ln w="12700">
            <a:solidFill>
              <a:srgbClr val="1C1C1C"/>
            </a:solidFill>
          </a:ln>
          <a:effectLst/>
        </p:spPr>
        <p:txBody>
          <a:bodyPr rtlCol="0" anchor="ctr"/>
          <a:lstStyle/>
          <a:p>
            <a:pPr algn="ctr"/>
          </a:p>
        </p:txBody>
      </p:sp>
      <p:sp>
        <p:nvSpPr>
          <p:cNvPr id="17" name="Rectangle 16"/>
          <p:cNvSpPr/>
          <p:nvPr/>
        </p:nvSpPr>
        <p:spPr>
          <a:xfrm>
            <a:off x="2603500" y="2711450"/>
            <a:ext cx="317500" cy="635000"/>
          </a:xfrm>
          <a:prstGeom prst="rect">
            <a:avLst/>
          </a:prstGeom>
          <a:solidFill>
            <a:srgbClr val="FFFFFF"/>
          </a:solidFill>
          <a:ln w="12700">
            <a:solidFill>
              <a:srgbClr val="1C1C1C"/>
            </a:solidFill>
          </a:ln>
          <a:effectLst/>
        </p:spPr>
        <p:txBody>
          <a:bodyPr rtlCol="0" anchor="ctr"/>
          <a:lstStyle/>
          <a:p>
            <a:pPr algn="ctr"/>
          </a:p>
        </p:txBody>
      </p:sp>
      <p:sp>
        <p:nvSpPr>
          <p:cNvPr id="18" name="Rectangle 17"/>
          <p:cNvSpPr/>
          <p:nvPr/>
        </p:nvSpPr>
        <p:spPr>
          <a:xfrm>
            <a:off x="2984500" y="3079750"/>
            <a:ext cx="317500" cy="444500"/>
          </a:xfrm>
          <a:prstGeom prst="rect">
            <a:avLst/>
          </a:prstGeom>
          <a:solidFill>
            <a:srgbClr val="FFFFFF"/>
          </a:solidFill>
          <a:ln w="12700">
            <a:solidFill>
              <a:srgbClr val="1C1C1C"/>
            </a:solidFill>
          </a:ln>
          <a:effectLst/>
        </p:spPr>
        <p:txBody>
          <a:bodyPr rtlCol="0" anchor="ctr"/>
          <a:lstStyle/>
          <a:p>
            <a:pPr algn="ctr"/>
          </a:p>
        </p:txBody>
      </p:sp>
      <p:sp>
        <p:nvSpPr>
          <p:cNvPr id="19" name="Rectangle 18"/>
          <p:cNvSpPr/>
          <p:nvPr/>
        </p:nvSpPr>
        <p:spPr>
          <a:xfrm>
            <a:off x="3365500" y="3175000"/>
            <a:ext cx="317500" cy="539750"/>
          </a:xfrm>
          <a:prstGeom prst="rect">
            <a:avLst/>
          </a:prstGeom>
          <a:solidFill>
            <a:srgbClr val="FFFFFF"/>
          </a:solidFill>
          <a:ln w="12700">
            <a:solidFill>
              <a:srgbClr val="1C1C1C"/>
            </a:solidFill>
          </a:ln>
          <a:effectLst/>
        </p:spPr>
        <p:txBody>
          <a:bodyPr rtlCol="0" anchor="ctr"/>
          <a:lstStyle/>
          <a:p>
            <a:pPr algn="ctr"/>
          </a:p>
        </p:txBody>
      </p:sp>
      <p:sp>
        <p:nvSpPr>
          <p:cNvPr id="20" name="Rectangle 19"/>
          <p:cNvSpPr/>
          <p:nvPr/>
        </p:nvSpPr>
        <p:spPr>
          <a:xfrm>
            <a:off x="3746500" y="3302000"/>
            <a:ext cx="317500" cy="635000"/>
          </a:xfrm>
          <a:prstGeom prst="rect">
            <a:avLst/>
          </a:prstGeom>
          <a:solidFill>
            <a:srgbClr val="FFFFFF"/>
          </a:solidFill>
          <a:ln w="12700">
            <a:solidFill>
              <a:srgbClr val="1C1C1C"/>
            </a:solidFill>
          </a:ln>
          <a:effectLst/>
        </p:spPr>
        <p:txBody>
          <a:bodyPr rtlCol="0" anchor="ctr"/>
          <a:lstStyle/>
          <a:p>
            <a:pPr algn="ctr"/>
          </a:p>
        </p:txBody>
      </p:sp>
      <p:sp>
        <p:nvSpPr>
          <p:cNvPr id="21" name="Rectangle 20"/>
          <p:cNvSpPr/>
          <p:nvPr/>
        </p:nvSpPr>
        <p:spPr>
          <a:xfrm>
            <a:off x="4127500" y="3778250"/>
            <a:ext cx="317500" cy="444500"/>
          </a:xfrm>
          <a:prstGeom prst="rect">
            <a:avLst/>
          </a:prstGeom>
          <a:solidFill>
            <a:srgbClr val="FFFFFF"/>
          </a:solidFill>
          <a:ln w="12700">
            <a:solidFill>
              <a:srgbClr val="1C1C1C"/>
            </a:solidFill>
          </a:ln>
          <a:effectLst/>
        </p:spPr>
        <p:txBody>
          <a:bodyPr rtlCol="0" anchor="ctr"/>
          <a:lstStyle/>
          <a:p>
            <a:pPr algn="ctr"/>
          </a:p>
        </p:txBody>
      </p:sp>
      <p:sp>
        <p:nvSpPr>
          <p:cNvPr id="22" name="Rectangle 21"/>
          <p:cNvSpPr/>
          <p:nvPr/>
        </p:nvSpPr>
        <p:spPr>
          <a:xfrm>
            <a:off x="4445000" y="3873500"/>
            <a:ext cx="215900" cy="952500"/>
          </a:xfrm>
          <a:prstGeom prst="rect">
            <a:avLst/>
          </a:prstGeom>
          <a:solidFill>
            <a:srgbClr val="C8462B"/>
          </a:solidFill>
          <a:ln w="12700">
            <a:solidFill>
              <a:srgbClr val="1C1C1C"/>
            </a:solidFill>
          </a:ln>
          <a:effectLst/>
        </p:spPr>
        <p:txBody>
          <a:bodyPr rtlCol="0" anchor="ctr"/>
          <a:lstStyle/>
          <a:p>
            <a:pPr algn="ctr"/>
          </a:p>
        </p:txBody>
      </p:sp>
      <p:sp>
        <p:nvSpPr>
          <p:cNvPr id="23" name="Rectangle 22"/>
          <p:cNvSpPr/>
          <p:nvPr/>
        </p:nvSpPr>
        <p:spPr>
          <a:xfrm>
            <a:off x="5461000" y="5105400"/>
            <a:ext cx="1651000" cy="101600"/>
          </a:xfrm>
          <a:prstGeom prst="rect">
            <a:avLst/>
          </a:prstGeom>
          <a:solidFill>
            <a:srgbClr val="5B5B5B"/>
          </a:solidFill>
          <a:ln>
            <a:noFill/>
          </a:ln>
          <a:effectLst/>
        </p:spPr>
        <p:txBody>
          <a:bodyPr rtlCol="0" anchor="ctr"/>
          <a:lstStyle/>
          <a:p>
            <a:pPr algn="ctr"/>
          </a:p>
        </p:txBody>
      </p:sp>
      <p:sp>
        <p:nvSpPr>
          <p:cNvPr id="24" name="Rectangle 23"/>
          <p:cNvSpPr/>
          <p:nvPr/>
        </p:nvSpPr>
        <p:spPr>
          <a:xfrm>
            <a:off x="5588000" y="5143500"/>
            <a:ext cx="165100" cy="25400"/>
          </a:xfrm>
          <a:prstGeom prst="rect">
            <a:avLst/>
          </a:prstGeom>
          <a:solidFill>
            <a:srgbClr val="FFFFFF"/>
          </a:solidFill>
          <a:ln>
            <a:noFill/>
          </a:ln>
          <a:effectLst/>
        </p:spPr>
        <p:txBody>
          <a:bodyPr rtlCol="0" anchor="ctr"/>
          <a:lstStyle/>
          <a:p>
            <a:pPr algn="ctr"/>
          </a:p>
        </p:txBody>
      </p:sp>
      <p:sp>
        <p:nvSpPr>
          <p:cNvPr id="25" name="Rectangle 24"/>
          <p:cNvSpPr/>
          <p:nvPr/>
        </p:nvSpPr>
        <p:spPr>
          <a:xfrm>
            <a:off x="5905500" y="5143500"/>
            <a:ext cx="165100" cy="25400"/>
          </a:xfrm>
          <a:prstGeom prst="rect">
            <a:avLst/>
          </a:prstGeom>
          <a:solidFill>
            <a:srgbClr val="FFFFFF"/>
          </a:solidFill>
          <a:ln>
            <a:noFill/>
          </a:ln>
          <a:effectLst/>
        </p:spPr>
        <p:txBody>
          <a:bodyPr rtlCol="0" anchor="ctr"/>
          <a:lstStyle/>
          <a:p>
            <a:pPr algn="ctr"/>
          </a:p>
        </p:txBody>
      </p:sp>
      <p:sp>
        <p:nvSpPr>
          <p:cNvPr id="26" name="Rectangle 25"/>
          <p:cNvSpPr/>
          <p:nvPr/>
        </p:nvSpPr>
        <p:spPr>
          <a:xfrm>
            <a:off x="6223000" y="5143500"/>
            <a:ext cx="165100" cy="25400"/>
          </a:xfrm>
          <a:prstGeom prst="rect">
            <a:avLst/>
          </a:prstGeom>
          <a:solidFill>
            <a:srgbClr val="FFFFFF"/>
          </a:solidFill>
          <a:ln>
            <a:noFill/>
          </a:ln>
          <a:effectLst/>
        </p:spPr>
        <p:txBody>
          <a:bodyPr rtlCol="0" anchor="ctr"/>
          <a:lstStyle/>
          <a:p>
            <a:pPr algn="ctr"/>
          </a:p>
        </p:txBody>
      </p:sp>
      <p:sp>
        <p:nvSpPr>
          <p:cNvPr id="27" name="Rectangle 26"/>
          <p:cNvSpPr/>
          <p:nvPr/>
        </p:nvSpPr>
        <p:spPr>
          <a:xfrm>
            <a:off x="6540500" y="5143500"/>
            <a:ext cx="165100" cy="25400"/>
          </a:xfrm>
          <a:prstGeom prst="rect">
            <a:avLst/>
          </a:prstGeom>
          <a:solidFill>
            <a:srgbClr val="FFFFFF"/>
          </a:solidFill>
          <a:ln>
            <a:noFill/>
          </a:ln>
          <a:effectLst/>
        </p:spPr>
        <p:txBody>
          <a:bodyPr rtlCol="0" anchor="ctr"/>
          <a:lstStyle/>
          <a:p>
            <a:pPr algn="ctr"/>
          </a:p>
        </p:txBody>
      </p:sp>
      <p:sp>
        <p:nvSpPr>
          <p:cNvPr id="28" name="Rectangle 27"/>
          <p:cNvSpPr/>
          <p:nvPr/>
        </p:nvSpPr>
        <p:spPr>
          <a:xfrm>
            <a:off x="6858000" y="5143500"/>
            <a:ext cx="165100" cy="25400"/>
          </a:xfrm>
          <a:prstGeom prst="rect">
            <a:avLst/>
          </a:prstGeom>
          <a:solidFill>
            <a:srgbClr val="FFFFFF"/>
          </a:solidFill>
          <a:ln>
            <a:noFill/>
          </a:ln>
          <a:effectLst/>
        </p:spPr>
        <p:txBody>
          <a:bodyPr rtlCol="0" anchor="ctr"/>
          <a:lstStyle/>
          <a:p>
            <a:pPr algn="ctr"/>
          </a:p>
        </p:txBody>
      </p:sp>
      <p:sp>
        <p:nvSpPr>
          <p:cNvPr id="29" name="Rectangle 28"/>
          <p:cNvSpPr/>
          <p:nvPr/>
        </p:nvSpPr>
        <p:spPr>
          <a:xfrm>
            <a:off x="5588000" y="4991100"/>
            <a:ext cx="317500" cy="114300"/>
          </a:xfrm>
          <a:prstGeom prst="rect">
            <a:avLst/>
          </a:prstGeom>
          <a:solidFill>
            <a:srgbClr val="9AA3A8"/>
          </a:solidFill>
          <a:ln w="9525">
            <a:solidFill>
              <a:srgbClr val="1C1C1C"/>
            </a:solidFill>
          </a:ln>
          <a:effectLst/>
        </p:spPr>
        <p:txBody>
          <a:bodyPr rtlCol="0" anchor="ctr"/>
          <a:lstStyle/>
          <a:p>
            <a:pPr algn="ctr"/>
          </a:p>
        </p:txBody>
      </p:sp>
      <p:sp>
        <p:nvSpPr>
          <p:cNvPr id="30" name="Rectangle 29"/>
          <p:cNvSpPr/>
          <p:nvPr/>
        </p:nvSpPr>
        <p:spPr>
          <a:xfrm>
            <a:off x="6096000" y="4991100"/>
            <a:ext cx="317500" cy="114300"/>
          </a:xfrm>
          <a:prstGeom prst="rect">
            <a:avLst/>
          </a:prstGeom>
          <a:solidFill>
            <a:srgbClr val="9AA3A8"/>
          </a:solidFill>
          <a:ln w="9525">
            <a:solidFill>
              <a:srgbClr val="1C1C1C"/>
            </a:solidFill>
          </a:ln>
          <a:effectLst/>
        </p:spPr>
        <p:txBody>
          <a:bodyPr rtlCol="0" anchor="ctr"/>
          <a:lstStyle/>
          <a:p>
            <a:pPr algn="ctr"/>
          </a:p>
        </p:txBody>
      </p:sp>
      <p:sp>
        <p:nvSpPr>
          <p:cNvPr id="31" name="Rectangle 30"/>
          <p:cNvSpPr/>
          <p:nvPr/>
        </p:nvSpPr>
        <p:spPr>
          <a:xfrm>
            <a:off x="6604000" y="4991100"/>
            <a:ext cx="317500" cy="114300"/>
          </a:xfrm>
          <a:prstGeom prst="rect">
            <a:avLst/>
          </a:prstGeom>
          <a:solidFill>
            <a:srgbClr val="9AA3A8"/>
          </a:solidFill>
          <a:ln w="9525">
            <a:solidFill>
              <a:srgbClr val="1C1C1C"/>
            </a:solidFill>
          </a:ln>
          <a:effectLst/>
        </p:spPr>
        <p:txBody>
          <a:bodyPr rtlCol="0" anchor="ctr"/>
          <a:lstStyle/>
          <a:p>
            <a:pPr algn="ctr"/>
          </a:p>
        </p:txBody>
      </p:sp>
      <p:cxnSp>
        <p:nvCxnSpPr>
          <p:cNvPr id="32" name="Connector 31"/>
          <p:cNvCxnSpPr/>
          <p:nvPr/>
        </p:nvCxnSpPr>
        <p:spPr>
          <a:xfrm flipV="1">
            <a:off x="7429500" y="4889500"/>
            <a:ext cx="0" cy="317500"/>
          </a:xfrm>
          <a:prstGeom prst="line">
            <a:avLst/>
          </a:prstGeom>
          <a:ln w="19050">
            <a:solidFill>
              <a:srgbClr val="1C1C1C"/>
            </a:solidFill>
          </a:ln>
        </p:spPr>
      </p:cxnSp>
      <p:sp>
        <p:nvSpPr>
          <p:cNvPr id="33" name="Oval 32"/>
          <p:cNvSpPr/>
          <p:nvPr/>
        </p:nvSpPr>
        <p:spPr>
          <a:xfrm>
            <a:off x="7315200" y="4699000"/>
            <a:ext cx="228600" cy="228600"/>
          </a:xfrm>
          <a:prstGeom prst="ellipse">
            <a:avLst/>
          </a:prstGeom>
          <a:solidFill>
            <a:srgbClr val="8FAE82"/>
          </a:solidFill>
          <a:ln>
            <a:noFill/>
          </a:ln>
          <a:effectLst/>
        </p:spPr>
        <p:txBody>
          <a:bodyPr rtlCol="0" anchor="ctr"/>
          <a:lstStyle/>
          <a:p>
            <a:pPr algn="ctr"/>
          </a:p>
        </p:txBody>
      </p:sp>
      <p:cxnSp>
        <p:nvCxnSpPr>
          <p:cNvPr id="34" name="Connector 33"/>
          <p:cNvCxnSpPr/>
          <p:nvPr/>
        </p:nvCxnSpPr>
        <p:spPr>
          <a:xfrm flipV="1">
            <a:off x="7747000" y="4889500"/>
            <a:ext cx="0" cy="317500"/>
          </a:xfrm>
          <a:prstGeom prst="line">
            <a:avLst/>
          </a:prstGeom>
          <a:ln w="19050">
            <a:solidFill>
              <a:srgbClr val="1C1C1C"/>
            </a:solidFill>
          </a:ln>
        </p:spPr>
      </p:cxnSp>
      <p:sp>
        <p:nvSpPr>
          <p:cNvPr id="35" name="Oval 34"/>
          <p:cNvSpPr/>
          <p:nvPr/>
        </p:nvSpPr>
        <p:spPr>
          <a:xfrm>
            <a:off x="7632700" y="4699000"/>
            <a:ext cx="228600" cy="228600"/>
          </a:xfrm>
          <a:prstGeom prst="ellipse">
            <a:avLst/>
          </a:prstGeom>
          <a:solidFill>
            <a:srgbClr val="8FAE82"/>
          </a:solidFill>
          <a:ln>
            <a:noFill/>
          </a:ln>
          <a:effectLst/>
        </p:spPr>
        <p:txBody>
          <a:bodyPr rtlCol="0" anchor="ctr"/>
          <a:lstStyle/>
          <a:p>
            <a:pPr algn="ctr"/>
          </a:p>
        </p:txBody>
      </p:sp>
      <p:sp>
        <p:nvSpPr>
          <p:cNvPr id="36" name="Rectangle 35"/>
          <p:cNvSpPr/>
          <p:nvPr/>
        </p:nvSpPr>
        <p:spPr>
          <a:xfrm>
            <a:off x="8001000" y="4826000"/>
            <a:ext cx="635000" cy="381000"/>
          </a:xfrm>
          <a:prstGeom prst="rect">
            <a:avLst/>
          </a:prstGeom>
          <a:solidFill>
            <a:srgbClr val="F2CDBF"/>
          </a:solidFill>
          <a:ln w="12700">
            <a:solidFill>
              <a:srgbClr val="C8462B"/>
            </a:solidFill>
          </a:ln>
          <a:effectLst/>
        </p:spPr>
        <p:txBody>
          <a:bodyPr rtlCol="0" anchor="ctr"/>
          <a:lstStyle/>
          <a:p>
            <a:pPr algn="ctr"/>
          </a:p>
        </p:txBody>
      </p:sp>
      <p:sp>
        <p:nvSpPr>
          <p:cNvPr id="37" name="TextBox 36"/>
          <p:cNvSpPr txBox="1"/>
          <p:nvPr/>
        </p:nvSpPr>
        <p:spPr>
          <a:xfrm>
            <a:off x="8001000" y="4826000"/>
            <a:ext cx="635000" cy="381000"/>
          </a:xfrm>
          <a:prstGeom prst="rect">
            <a:avLst/>
          </a:prstGeom>
          <a:noFill/>
        </p:spPr>
        <p:txBody>
          <a:bodyPr wrap="square" lIns="0" rIns="0" tIns="0" bIns="0" anchor="ctr">
            <a:spAutoFit/>
          </a:bodyPr>
          <a:lstStyle/>
          <a:p>
            <a:pPr algn="ctr">
              <a:lnSpc>
                <a:spcPct val="115000"/>
              </a:lnSpc>
            </a:pPr>
            <a:r>
              <a:rPr sz="950" b="1" i="0">
                <a:solidFill>
                  <a:srgbClr val="C8462B"/>
                </a:solidFill>
                <a:latin typeface="Inter"/>
              </a:rPr>
              <a:t>cafés</a:t>
            </a:r>
          </a:p>
          <a:p>
            <a:pPr algn="ctr">
              <a:lnSpc>
                <a:spcPct val="115000"/>
              </a:lnSpc>
            </a:pPr>
            <a:r>
              <a:rPr sz="950" b="1" i="0">
                <a:solidFill>
                  <a:srgbClr val="C8462B"/>
                </a:solidFill>
                <a:latin typeface="Inter"/>
              </a:rPr>
              <a:t>enseignes</a:t>
            </a:r>
          </a:p>
        </p:txBody>
      </p:sp>
      <p:sp>
        <p:nvSpPr>
          <p:cNvPr id="38" name="Rectangle 37"/>
          <p:cNvSpPr/>
          <p:nvPr/>
        </p:nvSpPr>
        <p:spPr>
          <a:xfrm>
            <a:off x="9525000" y="5143500"/>
            <a:ext cx="2159000" cy="317500"/>
          </a:xfrm>
          <a:prstGeom prst="rect">
            <a:avLst/>
          </a:prstGeom>
          <a:solidFill>
            <a:srgbClr val="D3E3EA"/>
          </a:solidFill>
          <a:ln>
            <a:noFill/>
          </a:ln>
          <a:effectLst/>
        </p:spPr>
        <p:txBody>
          <a:bodyPr rtlCol="0" anchor="ctr"/>
          <a:lstStyle/>
          <a:p>
            <a:pPr algn="ctr"/>
          </a:p>
        </p:txBody>
      </p:sp>
      <p:sp>
        <p:nvSpPr>
          <p:cNvPr id="39" name="Freeform 38"/>
          <p:cNvSpPr/>
          <p:nvPr/>
        </p:nvSpPr>
        <p:spPr>
          <a:xfrm>
            <a:off x="9779000" y="5080000"/>
            <a:ext cx="381000" cy="88900"/>
          </a:xfrm>
          <a:custGeom>
            <a:avLst/>
            <a:gdLst/>
            <a:ahLst/>
            <a:cxnLst/>
            <a:rect l="l" t="t" r="r" b="b"/>
            <a:pathLst>
              <a:path w="381000" h="88900">
                <a:moveTo>
                  <a:pt x="0" y="0"/>
                </a:moveTo>
                <a:lnTo>
                  <a:pt x="381000" y="0"/>
                </a:lnTo>
                <a:lnTo>
                  <a:pt x="317500" y="88900"/>
                </a:lnTo>
                <a:lnTo>
                  <a:pt x="63500" y="88900"/>
                </a:lnTo>
                <a:close/>
              </a:path>
            </a:pathLst>
          </a:custGeom>
          <a:solidFill>
            <a:srgbClr val="FFFFFF"/>
          </a:solidFill>
          <a:ln w="12700">
            <a:solidFill>
              <a:srgbClr val="1C1C1C"/>
            </a:solidFill>
          </a:ln>
          <a:effectLst/>
        </p:spPr>
        <p:txBody>
          <a:bodyPr rtlCol="0" anchor="ctr"/>
          <a:lstStyle/>
          <a:p>
            <a:pPr algn="ctr"/>
          </a:p>
        </p:txBody>
      </p:sp>
      <p:cxnSp>
        <p:nvCxnSpPr>
          <p:cNvPr id="40" name="Connector 39"/>
          <p:cNvCxnSpPr/>
          <p:nvPr/>
        </p:nvCxnSpPr>
        <p:spPr>
          <a:xfrm flipV="1">
            <a:off x="9969500" y="4699000"/>
            <a:ext cx="0" cy="381000"/>
          </a:xfrm>
          <a:prstGeom prst="line">
            <a:avLst/>
          </a:prstGeom>
          <a:ln w="12700">
            <a:solidFill>
              <a:srgbClr val="1C1C1C"/>
            </a:solidFill>
          </a:ln>
        </p:spPr>
      </p:cxnSp>
      <p:sp>
        <p:nvSpPr>
          <p:cNvPr id="41" name="Freeform 40"/>
          <p:cNvSpPr/>
          <p:nvPr/>
        </p:nvSpPr>
        <p:spPr>
          <a:xfrm>
            <a:off x="10414000" y="5080000"/>
            <a:ext cx="381000" cy="88900"/>
          </a:xfrm>
          <a:custGeom>
            <a:avLst/>
            <a:gdLst/>
            <a:ahLst/>
            <a:cxnLst/>
            <a:rect l="l" t="t" r="r" b="b"/>
            <a:pathLst>
              <a:path w="381000" h="88900">
                <a:moveTo>
                  <a:pt x="0" y="0"/>
                </a:moveTo>
                <a:lnTo>
                  <a:pt x="381000" y="0"/>
                </a:lnTo>
                <a:lnTo>
                  <a:pt x="317500" y="88900"/>
                </a:lnTo>
                <a:lnTo>
                  <a:pt x="63500" y="88900"/>
                </a:lnTo>
                <a:close/>
              </a:path>
            </a:pathLst>
          </a:custGeom>
          <a:solidFill>
            <a:srgbClr val="FFFFFF"/>
          </a:solidFill>
          <a:ln w="12700">
            <a:solidFill>
              <a:srgbClr val="1C1C1C"/>
            </a:solidFill>
          </a:ln>
          <a:effectLst/>
        </p:spPr>
        <p:txBody>
          <a:bodyPr rtlCol="0" anchor="ctr"/>
          <a:lstStyle/>
          <a:p>
            <a:pPr algn="ctr"/>
          </a:p>
        </p:txBody>
      </p:sp>
      <p:cxnSp>
        <p:nvCxnSpPr>
          <p:cNvPr id="42" name="Connector 41"/>
          <p:cNvCxnSpPr/>
          <p:nvPr/>
        </p:nvCxnSpPr>
        <p:spPr>
          <a:xfrm flipV="1">
            <a:off x="10604500" y="4699000"/>
            <a:ext cx="0" cy="381000"/>
          </a:xfrm>
          <a:prstGeom prst="line">
            <a:avLst/>
          </a:prstGeom>
          <a:ln w="12700">
            <a:solidFill>
              <a:srgbClr val="1C1C1C"/>
            </a:solidFill>
          </a:ln>
        </p:spPr>
      </p:cxnSp>
      <p:sp>
        <p:nvSpPr>
          <p:cNvPr id="43" name="Freeform 42"/>
          <p:cNvSpPr/>
          <p:nvPr/>
        </p:nvSpPr>
        <p:spPr>
          <a:xfrm>
            <a:off x="11049000" y="5080000"/>
            <a:ext cx="381000" cy="88900"/>
          </a:xfrm>
          <a:custGeom>
            <a:avLst/>
            <a:gdLst/>
            <a:ahLst/>
            <a:cxnLst/>
            <a:rect l="l" t="t" r="r" b="b"/>
            <a:pathLst>
              <a:path w="381000" h="88900">
                <a:moveTo>
                  <a:pt x="0" y="0"/>
                </a:moveTo>
                <a:lnTo>
                  <a:pt x="381000" y="0"/>
                </a:lnTo>
                <a:lnTo>
                  <a:pt x="317500" y="88900"/>
                </a:lnTo>
                <a:lnTo>
                  <a:pt x="63500" y="88900"/>
                </a:lnTo>
                <a:close/>
              </a:path>
            </a:pathLst>
          </a:custGeom>
          <a:solidFill>
            <a:srgbClr val="FFFFFF"/>
          </a:solidFill>
          <a:ln w="12700">
            <a:solidFill>
              <a:srgbClr val="1C1C1C"/>
            </a:solidFill>
          </a:ln>
          <a:effectLst/>
        </p:spPr>
        <p:txBody>
          <a:bodyPr rtlCol="0" anchor="ctr"/>
          <a:lstStyle/>
          <a:p>
            <a:pPr algn="ctr"/>
          </a:p>
        </p:txBody>
      </p:sp>
      <p:cxnSp>
        <p:nvCxnSpPr>
          <p:cNvPr id="44" name="Connector 43"/>
          <p:cNvCxnSpPr/>
          <p:nvPr/>
        </p:nvCxnSpPr>
        <p:spPr>
          <a:xfrm flipV="1">
            <a:off x="11239500" y="4699000"/>
            <a:ext cx="0" cy="381000"/>
          </a:xfrm>
          <a:prstGeom prst="line">
            <a:avLst/>
          </a:prstGeom>
          <a:ln w="12700">
            <a:solidFill>
              <a:srgbClr val="1C1C1C"/>
            </a:solidFill>
          </a:ln>
        </p:spPr>
      </p:cxnSp>
      <p:sp>
        <p:nvSpPr>
          <p:cNvPr id="45" name="Freeform 44"/>
          <p:cNvSpPr/>
          <p:nvPr/>
        </p:nvSpPr>
        <p:spPr>
          <a:xfrm>
            <a:off x="952500" y="2825750"/>
            <a:ext cx="8445500" cy="2286000"/>
          </a:xfrm>
          <a:custGeom>
            <a:avLst/>
            <a:gdLst/>
            <a:ahLst/>
            <a:cxnLst/>
            <a:rect l="l" t="t" r="r" b="b"/>
            <a:pathLst>
              <a:path w="8445500" h="2286000">
                <a:moveTo>
                  <a:pt x="0" y="0"/>
                </a:moveTo>
                <a:lnTo>
                  <a:pt x="1587500" y="381000"/>
                </a:lnTo>
                <a:lnTo>
                  <a:pt x="2857500" y="1079500"/>
                </a:lnTo>
                <a:lnTo>
                  <a:pt x="3492500" y="1619250"/>
                </a:lnTo>
                <a:lnTo>
                  <a:pt x="3873500" y="1936750"/>
                </a:lnTo>
                <a:lnTo>
                  <a:pt x="4445000" y="2127250"/>
                </a:lnTo>
                <a:lnTo>
                  <a:pt x="6159500" y="2127250"/>
                </a:lnTo>
                <a:lnTo>
                  <a:pt x="6540500" y="2286000"/>
                </a:lnTo>
                <a:lnTo>
                  <a:pt x="8445500" y="2286000"/>
                </a:lnTo>
              </a:path>
            </a:pathLst>
          </a:custGeom>
          <a:noFill/>
          <a:ln w="25400">
            <a:solidFill>
              <a:srgbClr val="C8462B"/>
            </a:solidFill>
            <a:prstDash val="dash"/>
          </a:ln>
          <a:effectLst/>
        </p:spPr>
        <p:txBody>
          <a:bodyPr rtlCol="0" anchor="ctr"/>
          <a:lstStyle/>
          <a:p>
            <a:pPr algn="ctr"/>
          </a:p>
        </p:txBody>
      </p:sp>
      <p:sp>
        <p:nvSpPr>
          <p:cNvPr id="46" name="Oval 45"/>
          <p:cNvSpPr/>
          <p:nvPr/>
        </p:nvSpPr>
        <p:spPr>
          <a:xfrm>
            <a:off x="6172200" y="4648200"/>
            <a:ext cx="228600" cy="228600"/>
          </a:xfrm>
          <a:prstGeom prst="ellipse">
            <a:avLst/>
          </a:prstGeom>
          <a:solidFill>
            <a:srgbClr val="C8462B"/>
          </a:solidFill>
          <a:ln w="19050">
            <a:solidFill>
              <a:srgbClr val="FFFFFF"/>
            </a:solidFill>
          </a:ln>
          <a:effectLst/>
        </p:spPr>
        <p:txBody>
          <a:bodyPr rtlCol="0" anchor="ctr"/>
          <a:lstStyle/>
          <a:p>
            <a:pPr algn="ctr"/>
          </a:p>
        </p:txBody>
      </p:sp>
      <p:sp>
        <p:nvSpPr>
          <p:cNvPr id="47" name="TextBox 46"/>
          <p:cNvSpPr txBox="1"/>
          <p:nvPr/>
        </p:nvSpPr>
        <p:spPr>
          <a:xfrm>
            <a:off x="6172200" y="4648200"/>
            <a:ext cx="228600" cy="228600"/>
          </a:xfrm>
          <a:prstGeom prst="rect">
            <a:avLst/>
          </a:prstGeom>
          <a:noFill/>
        </p:spPr>
        <p:txBody>
          <a:bodyPr wrap="square" lIns="0" rIns="0" tIns="0" bIns="0" anchor="ctr">
            <a:spAutoFit/>
          </a:bodyPr>
          <a:lstStyle/>
          <a:p>
            <a:pPr algn="ctr">
              <a:lnSpc>
                <a:spcPct val="115000"/>
              </a:lnSpc>
            </a:pPr>
            <a:r>
              <a:rPr sz="1400" b="1" i="0">
                <a:solidFill>
                  <a:srgbClr val="FFFFFF"/>
                </a:solidFill>
                <a:latin typeface="Inter"/>
              </a:rPr>
              <a:t>!</a:t>
            </a:r>
          </a:p>
        </p:txBody>
      </p:sp>
      <p:sp>
        <p:nvSpPr>
          <p:cNvPr id="48" name="Rectangle 47"/>
          <p:cNvSpPr/>
          <p:nvPr/>
        </p:nvSpPr>
        <p:spPr>
          <a:xfrm>
            <a:off x="2095500" y="1651000"/>
            <a:ext cx="2159000" cy="533400"/>
          </a:xfrm>
          <a:prstGeom prst="rect">
            <a:avLst/>
          </a:prstGeom>
          <a:solidFill>
            <a:srgbClr val="FFFFFF"/>
          </a:solidFill>
          <a:ln w="12700">
            <a:solidFill>
              <a:srgbClr val="C8462B"/>
            </a:solidFill>
          </a:ln>
          <a:effectLst/>
        </p:spPr>
        <p:txBody>
          <a:bodyPr rtlCol="0" anchor="ctr"/>
          <a:lstStyle/>
          <a:p>
            <a:pPr algn="ctr"/>
          </a:p>
        </p:txBody>
      </p:sp>
      <p:sp>
        <p:nvSpPr>
          <p:cNvPr id="49" name="TextBox 48"/>
          <p:cNvSpPr txBox="1"/>
          <p:nvPr/>
        </p:nvSpPr>
        <p:spPr>
          <a:xfrm>
            <a:off x="2159000" y="1701800"/>
            <a:ext cx="2032000" cy="444500"/>
          </a:xfrm>
          <a:prstGeom prst="rect">
            <a:avLst/>
          </a:prstGeom>
          <a:noFill/>
        </p:spPr>
        <p:txBody>
          <a:bodyPr wrap="square" lIns="0" rIns="0" tIns="0" bIns="0" anchor="ctr">
            <a:spAutoFit/>
          </a:bodyPr>
          <a:lstStyle/>
          <a:p>
            <a:pPr algn="ctr">
              <a:lnSpc>
                <a:spcPct val="115000"/>
              </a:lnSpc>
            </a:pPr>
            <a:r>
              <a:rPr sz="1050" b="1" i="0">
                <a:solidFill>
                  <a:srgbClr val="C8462B"/>
                </a:solidFill>
                <a:latin typeface="Inter"/>
              </a:rPr>
              <a:t>Dénivelé et remparts : la vieille</a:t>
            </a:r>
          </a:p>
          <a:p>
            <a:pPr algn="ctr">
              <a:lnSpc>
                <a:spcPct val="115000"/>
              </a:lnSpc>
            </a:pPr>
            <a:r>
              <a:rPr sz="1050" b="1" i="0">
                <a:solidFill>
                  <a:srgbClr val="C8462B"/>
                </a:solidFill>
                <a:latin typeface="Inter"/>
              </a:rPr>
              <a:t>ville regarde la mer de haut</a:t>
            </a:r>
          </a:p>
        </p:txBody>
      </p:sp>
      <p:cxnSp>
        <p:nvCxnSpPr>
          <p:cNvPr id="50" name="Connector 49"/>
          <p:cNvCxnSpPr/>
          <p:nvPr/>
        </p:nvCxnSpPr>
        <p:spPr>
          <a:xfrm>
            <a:off x="3175000" y="2184400"/>
            <a:ext cx="381000" cy="1498600"/>
          </a:xfrm>
          <a:prstGeom prst="line">
            <a:avLst/>
          </a:prstGeom>
          <a:ln w="12700">
            <a:solidFill>
              <a:srgbClr val="C8462B"/>
            </a:solidFill>
            <a:tailEnd type="triangle" w="med" len="med"/>
          </a:ln>
        </p:spPr>
      </p:cxnSp>
      <p:sp>
        <p:nvSpPr>
          <p:cNvPr id="51" name="Rectangle 50"/>
          <p:cNvSpPr/>
          <p:nvPr/>
        </p:nvSpPr>
        <p:spPr>
          <a:xfrm>
            <a:off x="4826000" y="1651000"/>
            <a:ext cx="2159000" cy="533400"/>
          </a:xfrm>
          <a:prstGeom prst="rect">
            <a:avLst/>
          </a:prstGeom>
          <a:solidFill>
            <a:srgbClr val="FFFFFF"/>
          </a:solidFill>
          <a:ln w="12700">
            <a:solidFill>
              <a:srgbClr val="1C1C1C"/>
            </a:solidFill>
          </a:ln>
          <a:effectLst/>
        </p:spPr>
        <p:txBody>
          <a:bodyPr rtlCol="0" anchor="ctr"/>
          <a:lstStyle/>
          <a:p>
            <a:pPr algn="ctr"/>
          </a:p>
        </p:txBody>
      </p:sp>
      <p:sp>
        <p:nvSpPr>
          <p:cNvPr id="52" name="TextBox 51"/>
          <p:cNvSpPr txBox="1"/>
          <p:nvPr/>
        </p:nvSpPr>
        <p:spPr>
          <a:xfrm>
            <a:off x="4889500" y="1701800"/>
            <a:ext cx="2032000" cy="444500"/>
          </a:xfrm>
          <a:prstGeom prst="rect">
            <a:avLst/>
          </a:prstGeom>
          <a:noFill/>
        </p:spPr>
        <p:txBody>
          <a:bodyPr wrap="square" lIns="0" rIns="0" tIns="0" bIns="0" anchor="ctr">
            <a:spAutoFit/>
          </a:bodyPr>
          <a:lstStyle/>
          <a:p>
            <a:pPr algn="ctr">
              <a:lnSpc>
                <a:spcPct val="115000"/>
              </a:lnSpc>
            </a:pPr>
            <a:r>
              <a:rPr sz="1050" b="1" i="0">
                <a:solidFill>
                  <a:srgbClr val="1C1C1C"/>
                </a:solidFill>
                <a:latin typeface="Inter"/>
              </a:rPr>
              <a:t>Route à plusieurs voies :</a:t>
            </a:r>
          </a:p>
          <a:p>
            <a:pPr algn="ctr">
              <a:lnSpc>
                <a:spcPct val="115000"/>
              </a:lnSpc>
            </a:pPr>
            <a:r>
              <a:rPr sz="1050" b="1" i="0">
                <a:solidFill>
                  <a:srgbClr val="1C1C1C"/>
                </a:solidFill>
                <a:latin typeface="Inter"/>
              </a:rPr>
              <a:t>la vraie frontière</a:t>
            </a:r>
          </a:p>
        </p:txBody>
      </p:sp>
      <p:cxnSp>
        <p:nvCxnSpPr>
          <p:cNvPr id="53" name="Connector 52"/>
          <p:cNvCxnSpPr/>
          <p:nvPr/>
        </p:nvCxnSpPr>
        <p:spPr>
          <a:xfrm>
            <a:off x="5905500" y="2184400"/>
            <a:ext cx="381000" cy="2419350"/>
          </a:xfrm>
          <a:prstGeom prst="line">
            <a:avLst/>
          </a:prstGeom>
          <a:ln w="12700">
            <a:solidFill>
              <a:srgbClr val="1C1C1C"/>
            </a:solidFill>
            <a:tailEnd type="triangle" w="med" len="med"/>
          </a:ln>
        </p:spPr>
      </p:cxnSp>
      <p:sp>
        <p:nvSpPr>
          <p:cNvPr id="54" name="Rectangle 53"/>
          <p:cNvSpPr/>
          <p:nvPr/>
        </p:nvSpPr>
        <p:spPr>
          <a:xfrm>
            <a:off x="7302500" y="2794000"/>
            <a:ext cx="2159000" cy="533400"/>
          </a:xfrm>
          <a:prstGeom prst="rect">
            <a:avLst/>
          </a:prstGeom>
          <a:solidFill>
            <a:srgbClr val="FFFFFF"/>
          </a:solidFill>
          <a:ln w="12700">
            <a:solidFill>
              <a:srgbClr val="C8462B"/>
            </a:solidFill>
          </a:ln>
          <a:effectLst/>
        </p:spPr>
        <p:txBody>
          <a:bodyPr rtlCol="0" anchor="ctr"/>
          <a:lstStyle/>
          <a:p>
            <a:pPr algn="ctr"/>
          </a:p>
        </p:txBody>
      </p:sp>
      <p:sp>
        <p:nvSpPr>
          <p:cNvPr id="55" name="TextBox 54"/>
          <p:cNvSpPr txBox="1"/>
          <p:nvPr/>
        </p:nvSpPr>
        <p:spPr>
          <a:xfrm>
            <a:off x="7366000" y="2844800"/>
            <a:ext cx="2032000" cy="444500"/>
          </a:xfrm>
          <a:prstGeom prst="rect">
            <a:avLst/>
          </a:prstGeom>
          <a:noFill/>
        </p:spPr>
        <p:txBody>
          <a:bodyPr wrap="square" lIns="0" rIns="0" tIns="0" bIns="0" anchor="ctr">
            <a:spAutoFit/>
          </a:bodyPr>
          <a:lstStyle/>
          <a:p>
            <a:pPr algn="ctr">
              <a:lnSpc>
                <a:spcPct val="115000"/>
              </a:lnSpc>
            </a:pPr>
            <a:r>
              <a:rPr sz="1050" b="1" i="0">
                <a:solidFill>
                  <a:srgbClr val="C8462B"/>
                </a:solidFill>
                <a:latin typeface="Inter"/>
              </a:rPr>
              <a:t>Espace public organisé</a:t>
            </a:r>
          </a:p>
          <a:p>
            <a:pPr algn="ctr">
              <a:lnSpc>
                <a:spcPct val="115000"/>
              </a:lnSpc>
            </a:pPr>
            <a:r>
              <a:rPr sz="1050" b="1" i="0">
                <a:solidFill>
                  <a:srgbClr val="C8462B"/>
                </a:solidFill>
                <a:latin typeface="Inter"/>
              </a:rPr>
              <a:t>autour de la consommation</a:t>
            </a:r>
          </a:p>
        </p:txBody>
      </p:sp>
      <p:cxnSp>
        <p:nvCxnSpPr>
          <p:cNvPr id="56" name="Connector 55"/>
          <p:cNvCxnSpPr/>
          <p:nvPr/>
        </p:nvCxnSpPr>
        <p:spPr>
          <a:xfrm flipH="1">
            <a:off x="8318500" y="3327400"/>
            <a:ext cx="63500" cy="1460500"/>
          </a:xfrm>
          <a:prstGeom prst="line">
            <a:avLst/>
          </a:prstGeom>
          <a:ln w="12700">
            <a:solidFill>
              <a:srgbClr val="C8462B"/>
            </a:solidFill>
            <a:tailEnd type="triangle" w="med" len="med"/>
          </a:ln>
        </p:spPr>
      </p:cxnSp>
      <p:sp>
        <p:nvSpPr>
          <p:cNvPr id="57" name="Rectangle 56"/>
          <p:cNvSpPr/>
          <p:nvPr/>
        </p:nvSpPr>
        <p:spPr>
          <a:xfrm>
            <a:off x="9461500" y="1651000"/>
            <a:ext cx="2159000" cy="533400"/>
          </a:xfrm>
          <a:prstGeom prst="rect">
            <a:avLst/>
          </a:prstGeom>
          <a:solidFill>
            <a:srgbClr val="FFFFFF"/>
          </a:solidFill>
          <a:ln w="12700">
            <a:solidFill>
              <a:srgbClr val="1F3A5F"/>
            </a:solidFill>
          </a:ln>
          <a:effectLst/>
        </p:spPr>
        <p:txBody>
          <a:bodyPr rtlCol="0" anchor="ctr"/>
          <a:lstStyle/>
          <a:p>
            <a:pPr algn="ctr"/>
          </a:p>
        </p:txBody>
      </p:sp>
      <p:sp>
        <p:nvSpPr>
          <p:cNvPr id="58" name="TextBox 57"/>
          <p:cNvSpPr txBox="1"/>
          <p:nvPr/>
        </p:nvSpPr>
        <p:spPr>
          <a:xfrm>
            <a:off x="9525000" y="1701800"/>
            <a:ext cx="2032000" cy="444500"/>
          </a:xfrm>
          <a:prstGeom prst="rect">
            <a:avLst/>
          </a:prstGeom>
          <a:noFill/>
        </p:spPr>
        <p:txBody>
          <a:bodyPr wrap="square" lIns="0" rIns="0" tIns="0" bIns="0" anchor="ctr">
            <a:spAutoFit/>
          </a:bodyPr>
          <a:lstStyle/>
          <a:p>
            <a:pPr algn="ctr">
              <a:lnSpc>
                <a:spcPct val="115000"/>
              </a:lnSpc>
            </a:pPr>
            <a:r>
              <a:rPr sz="1050" b="1" i="0">
                <a:solidFill>
                  <a:srgbClr val="1F3A5F"/>
                </a:solidFill>
                <a:latin typeface="Inter"/>
              </a:rPr>
              <a:t>Anneaux privés :</a:t>
            </a:r>
          </a:p>
          <a:p>
            <a:pPr algn="ctr">
              <a:lnSpc>
                <a:spcPct val="115000"/>
              </a:lnSpc>
            </a:pPr>
            <a:r>
              <a:rPr sz="1050" b="1" i="0">
                <a:solidFill>
                  <a:srgbClr val="1F3A5F"/>
                </a:solidFill>
                <a:latin typeface="Inter"/>
              </a:rPr>
              <a:t>l'eau est aux plaisanciers</a:t>
            </a:r>
          </a:p>
        </p:txBody>
      </p:sp>
      <p:cxnSp>
        <p:nvCxnSpPr>
          <p:cNvPr id="59" name="Connector 58"/>
          <p:cNvCxnSpPr/>
          <p:nvPr/>
        </p:nvCxnSpPr>
        <p:spPr>
          <a:xfrm>
            <a:off x="10541000" y="2184400"/>
            <a:ext cx="63500" cy="2482850"/>
          </a:xfrm>
          <a:prstGeom prst="line">
            <a:avLst/>
          </a:prstGeom>
          <a:ln w="12700">
            <a:solidFill>
              <a:srgbClr val="1F3A5F"/>
            </a:solidFill>
            <a:tailEnd type="triangle" w="med" len="med"/>
          </a:ln>
        </p:spPr>
      </p:cxnSp>
      <p:cxnSp>
        <p:nvCxnSpPr>
          <p:cNvPr id="60" name="Connector 59"/>
          <p:cNvCxnSpPr/>
          <p:nvPr/>
        </p:nvCxnSpPr>
        <p:spPr>
          <a:xfrm>
            <a:off x="508000" y="5715000"/>
            <a:ext cx="3873500" cy="0"/>
          </a:xfrm>
          <a:prstGeom prst="line">
            <a:avLst/>
          </a:prstGeom>
          <a:ln w="25400">
            <a:solidFill>
              <a:srgbClr val="C8462B"/>
            </a:solidFill>
          </a:ln>
        </p:spPr>
      </p:cxnSp>
      <p:sp>
        <p:nvSpPr>
          <p:cNvPr id="61" name="TextBox 60"/>
          <p:cNvSpPr txBox="1"/>
          <p:nvPr/>
        </p:nvSpPr>
        <p:spPr>
          <a:xfrm>
            <a:off x="508000" y="5791200"/>
            <a:ext cx="3873500" cy="152400"/>
          </a:xfrm>
          <a:prstGeom prst="rect">
            <a:avLst/>
          </a:prstGeom>
          <a:noFill/>
        </p:spPr>
        <p:txBody>
          <a:bodyPr wrap="square" lIns="0" rIns="0" tIns="0" bIns="0" anchor="t">
            <a:spAutoFit/>
          </a:bodyPr>
          <a:lstStyle/>
          <a:p>
            <a:pPr algn="ctr">
              <a:lnSpc>
                <a:spcPct val="115000"/>
              </a:lnSpc>
            </a:pPr>
            <a:r>
              <a:rPr sz="1050" b="1" i="0">
                <a:solidFill>
                  <a:srgbClr val="C8462B"/>
                </a:solidFill>
                <a:latin typeface="Inter"/>
              </a:rPr>
              <a:t>KASBAH ET MÉDINA</a:t>
            </a:r>
          </a:p>
        </p:txBody>
      </p:sp>
      <p:cxnSp>
        <p:nvCxnSpPr>
          <p:cNvPr id="62" name="Connector 61"/>
          <p:cNvCxnSpPr/>
          <p:nvPr/>
        </p:nvCxnSpPr>
        <p:spPr>
          <a:xfrm>
            <a:off x="4413250" y="5715000"/>
            <a:ext cx="952500" cy="0"/>
          </a:xfrm>
          <a:prstGeom prst="line">
            <a:avLst/>
          </a:prstGeom>
          <a:ln w="25400">
            <a:solidFill>
              <a:srgbClr val="C8462B"/>
            </a:solidFill>
          </a:ln>
        </p:spPr>
      </p:cxnSp>
      <p:sp>
        <p:nvSpPr>
          <p:cNvPr id="63" name="TextBox 62"/>
          <p:cNvSpPr txBox="1"/>
          <p:nvPr/>
        </p:nvSpPr>
        <p:spPr>
          <a:xfrm>
            <a:off x="4413250" y="5791200"/>
            <a:ext cx="952500" cy="152400"/>
          </a:xfrm>
          <a:prstGeom prst="rect">
            <a:avLst/>
          </a:prstGeom>
          <a:noFill/>
        </p:spPr>
        <p:txBody>
          <a:bodyPr wrap="square" lIns="0" rIns="0" tIns="0" bIns="0" anchor="t">
            <a:spAutoFit/>
          </a:bodyPr>
          <a:lstStyle/>
          <a:p>
            <a:pPr algn="ctr">
              <a:lnSpc>
                <a:spcPct val="115000"/>
              </a:lnSpc>
            </a:pPr>
            <a:r>
              <a:rPr sz="1050" b="1" i="0">
                <a:solidFill>
                  <a:srgbClr val="C8462B"/>
                </a:solidFill>
                <a:latin typeface="Inter"/>
              </a:rPr>
              <a:t>REMPART</a:t>
            </a:r>
          </a:p>
        </p:txBody>
      </p:sp>
      <p:cxnSp>
        <p:nvCxnSpPr>
          <p:cNvPr id="64" name="Connector 63"/>
          <p:cNvCxnSpPr/>
          <p:nvPr/>
        </p:nvCxnSpPr>
        <p:spPr>
          <a:xfrm>
            <a:off x="5397500" y="5715000"/>
            <a:ext cx="1778000" cy="0"/>
          </a:xfrm>
          <a:prstGeom prst="line">
            <a:avLst/>
          </a:prstGeom>
          <a:ln w="25400">
            <a:solidFill>
              <a:srgbClr val="1C1C1C"/>
            </a:solidFill>
          </a:ln>
        </p:spPr>
      </p:cxnSp>
      <p:sp>
        <p:nvSpPr>
          <p:cNvPr id="65" name="TextBox 64"/>
          <p:cNvSpPr txBox="1"/>
          <p:nvPr/>
        </p:nvSpPr>
        <p:spPr>
          <a:xfrm>
            <a:off x="5397500" y="5791200"/>
            <a:ext cx="1778000" cy="1524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ROUTE LITTORALE</a:t>
            </a:r>
          </a:p>
        </p:txBody>
      </p:sp>
      <p:cxnSp>
        <p:nvCxnSpPr>
          <p:cNvPr id="66" name="Connector 65"/>
          <p:cNvCxnSpPr/>
          <p:nvPr/>
        </p:nvCxnSpPr>
        <p:spPr>
          <a:xfrm>
            <a:off x="7207250" y="5715000"/>
            <a:ext cx="2254250" cy="0"/>
          </a:xfrm>
          <a:prstGeom prst="line">
            <a:avLst/>
          </a:prstGeom>
          <a:ln w="25400">
            <a:solidFill>
              <a:srgbClr val="1F3A5F"/>
            </a:solidFill>
          </a:ln>
        </p:spPr>
      </p:cxnSp>
      <p:sp>
        <p:nvSpPr>
          <p:cNvPr id="67" name="TextBox 66"/>
          <p:cNvSpPr txBox="1"/>
          <p:nvPr/>
        </p:nvSpPr>
        <p:spPr>
          <a:xfrm>
            <a:off x="7207250" y="5791200"/>
            <a:ext cx="2254250" cy="152400"/>
          </a:xfrm>
          <a:prstGeom prst="rect">
            <a:avLst/>
          </a:prstGeom>
          <a:noFill/>
        </p:spPr>
        <p:txBody>
          <a:bodyPr wrap="square" lIns="0" rIns="0" tIns="0" bIns="0" anchor="t">
            <a:spAutoFit/>
          </a:bodyPr>
          <a:lstStyle/>
          <a:p>
            <a:pPr algn="ctr">
              <a:lnSpc>
                <a:spcPct val="115000"/>
              </a:lnSpc>
            </a:pPr>
            <a:r>
              <a:rPr sz="1050" b="1" i="0">
                <a:solidFill>
                  <a:srgbClr val="1F3A5F"/>
                </a:solidFill>
                <a:latin typeface="Inter"/>
              </a:rPr>
              <a:t>CORNICHE</a:t>
            </a:r>
          </a:p>
        </p:txBody>
      </p:sp>
      <p:cxnSp>
        <p:nvCxnSpPr>
          <p:cNvPr id="68" name="Connector 67"/>
          <p:cNvCxnSpPr/>
          <p:nvPr/>
        </p:nvCxnSpPr>
        <p:spPr>
          <a:xfrm>
            <a:off x="9493250" y="5715000"/>
            <a:ext cx="2190750" cy="0"/>
          </a:xfrm>
          <a:prstGeom prst="line">
            <a:avLst/>
          </a:prstGeom>
          <a:ln w="25400">
            <a:solidFill>
              <a:srgbClr val="1F3A5F"/>
            </a:solidFill>
          </a:ln>
        </p:spPr>
      </p:cxnSp>
      <p:sp>
        <p:nvSpPr>
          <p:cNvPr id="69" name="TextBox 68"/>
          <p:cNvSpPr txBox="1"/>
          <p:nvPr/>
        </p:nvSpPr>
        <p:spPr>
          <a:xfrm>
            <a:off x="9493250" y="5791200"/>
            <a:ext cx="2190750" cy="152400"/>
          </a:xfrm>
          <a:prstGeom prst="rect">
            <a:avLst/>
          </a:prstGeom>
          <a:noFill/>
        </p:spPr>
        <p:txBody>
          <a:bodyPr wrap="square" lIns="0" rIns="0" tIns="0" bIns="0" anchor="t">
            <a:spAutoFit/>
          </a:bodyPr>
          <a:lstStyle/>
          <a:p>
            <a:pPr algn="ctr">
              <a:lnSpc>
                <a:spcPct val="115000"/>
              </a:lnSpc>
            </a:pPr>
            <a:r>
              <a:rPr sz="1050" b="1" i="0">
                <a:solidFill>
                  <a:srgbClr val="1F3A5F"/>
                </a:solidFill>
                <a:latin typeface="Inter"/>
              </a:rPr>
              <a:t>MARINA ET MER</a:t>
            </a:r>
          </a:p>
        </p:txBody>
      </p:sp>
      <p:cxnSp>
        <p:nvCxnSpPr>
          <p:cNvPr id="70" name="Connector 69"/>
          <p:cNvCxnSpPr/>
          <p:nvPr/>
        </p:nvCxnSpPr>
        <p:spPr>
          <a:xfrm>
            <a:off x="508000" y="6115050"/>
            <a:ext cx="190500" cy="0"/>
          </a:xfrm>
          <a:prstGeom prst="line">
            <a:avLst/>
          </a:prstGeom>
          <a:ln w="25400">
            <a:solidFill>
              <a:srgbClr val="C8462B"/>
            </a:solidFill>
            <a:prstDash val="dash"/>
          </a:ln>
        </p:spPr>
      </p:cxnSp>
      <p:sp>
        <p:nvSpPr>
          <p:cNvPr id="71" name="TextBox 70"/>
          <p:cNvSpPr txBox="1"/>
          <p:nvPr/>
        </p:nvSpPr>
        <p:spPr>
          <a:xfrm>
            <a:off x="787400" y="6032500"/>
            <a:ext cx="5715000" cy="165100"/>
          </a:xfrm>
          <a:prstGeom prst="rect">
            <a:avLst/>
          </a:prstGeom>
          <a:noFill/>
        </p:spPr>
        <p:txBody>
          <a:bodyPr wrap="square" lIns="0" rIns="0" tIns="0" bIns="0" anchor="t">
            <a:spAutoFit/>
          </a:bodyPr>
          <a:lstStyle/>
          <a:p>
            <a:pPr algn="l">
              <a:lnSpc>
                <a:spcPct val="115000"/>
              </a:lnSpc>
            </a:pPr>
            <a:r>
              <a:rPr sz="1100" b="0" i="0">
                <a:solidFill>
                  <a:srgbClr val="1C1C1C"/>
                </a:solidFill>
                <a:latin typeface="Inter"/>
              </a:rPr>
              <a:t>parcours piéton depuis la médina : escaliers, portes, traversée dangereuse</a:t>
            </a:r>
          </a:p>
        </p:txBody>
      </p:sp>
      <p:sp>
        <p:nvSpPr>
          <p:cNvPr id="72" name="TextBox 71"/>
          <p:cNvSpPr txBox="1"/>
          <p:nvPr/>
        </p:nvSpPr>
        <p:spPr>
          <a:xfrm>
            <a:off x="6985000" y="6083300"/>
            <a:ext cx="4699000" cy="152400"/>
          </a:xfrm>
          <a:prstGeom prst="rect">
            <a:avLst/>
          </a:prstGeom>
          <a:noFill/>
        </p:spPr>
        <p:txBody>
          <a:bodyPr wrap="square" lIns="0" rIns="0" tIns="0" bIns="0" anchor="t">
            <a:spAutoFit/>
          </a:bodyPr>
          <a:lstStyle/>
          <a:p>
            <a:pPr algn="l">
              <a:lnSpc>
                <a:spcPct val="115000"/>
              </a:lnSpc>
            </a:pPr>
            <a:r>
              <a:rPr sz="900" b="0" i="1">
                <a:solidFill>
                  <a:srgbClr val="6E6A64"/>
                </a:solidFill>
                <a:latin typeface="Inter"/>
              </a:rPr>
              <a:t>Coupe schématique de l'auteur, sans échelle.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CAS 2 : LA MÉDINA</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Réhabiliter, ou repeindre le décor ?</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Le programme 2020-2024 suit les parcours des visiteurs ; l'habitat qui menace ruine relève d'un budget séparé, près de neuf fois plus petit.</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09 / 17</a:t>
            </a:r>
          </a:p>
        </p:txBody>
      </p:sp>
      <p:sp>
        <p:nvSpPr>
          <p:cNvPr id="11" name="Rectangle 10"/>
          <p:cNvSpPr/>
          <p:nvPr/>
        </p:nvSpPr>
        <p:spPr>
          <a:xfrm>
            <a:off x="508000" y="1524000"/>
            <a:ext cx="6858000" cy="4318000"/>
          </a:xfrm>
          <a:prstGeom prst="rect">
            <a:avLst/>
          </a:prstGeom>
          <a:solidFill>
            <a:srgbClr val="EFE9DE"/>
          </a:solidFill>
          <a:ln w="9525">
            <a:solidFill>
              <a:srgbClr val="CFC8BC"/>
            </a:solidFill>
          </a:ln>
          <a:effectLst/>
        </p:spPr>
        <p:txBody>
          <a:bodyPr rtlCol="0" anchor="ctr"/>
          <a:lstStyle/>
          <a:p>
            <a:pPr algn="ctr"/>
          </a:p>
        </p:txBody>
      </p:sp>
      <p:sp>
        <p:nvSpPr>
          <p:cNvPr id="12" name="Freeform 11"/>
          <p:cNvSpPr/>
          <p:nvPr/>
        </p:nvSpPr>
        <p:spPr>
          <a:xfrm>
            <a:off x="508000" y="1524000"/>
            <a:ext cx="6858000" cy="762000"/>
          </a:xfrm>
          <a:custGeom>
            <a:avLst/>
            <a:gdLst/>
            <a:ahLst/>
            <a:cxnLst/>
            <a:rect l="l" t="t" r="r" b="b"/>
            <a:pathLst>
              <a:path w="6858000" h="762000">
                <a:moveTo>
                  <a:pt x="0" y="0"/>
                </a:moveTo>
                <a:lnTo>
                  <a:pt x="6858000" y="0"/>
                </a:lnTo>
                <a:lnTo>
                  <a:pt x="6858000" y="762000"/>
                </a:lnTo>
                <a:lnTo>
                  <a:pt x="4445000" y="571500"/>
                </a:lnTo>
                <a:lnTo>
                  <a:pt x="2540000" y="381000"/>
                </a:lnTo>
                <a:lnTo>
                  <a:pt x="0" y="508000"/>
                </a:lnTo>
                <a:close/>
              </a:path>
            </a:pathLst>
          </a:custGeom>
          <a:solidFill>
            <a:srgbClr val="D3E3EA"/>
          </a:solidFill>
          <a:ln>
            <a:noFill/>
          </a:ln>
          <a:effectLst/>
        </p:spPr>
        <p:txBody>
          <a:bodyPr rtlCol="0" anchor="ctr"/>
          <a:lstStyle/>
          <a:p>
            <a:pPr algn="ctr"/>
          </a:p>
        </p:txBody>
      </p:sp>
      <p:sp>
        <p:nvSpPr>
          <p:cNvPr id="13" name="TextBox 12"/>
          <p:cNvSpPr txBox="1"/>
          <p:nvPr/>
        </p:nvSpPr>
        <p:spPr>
          <a:xfrm>
            <a:off x="3175000" y="1625600"/>
            <a:ext cx="1905000" cy="152400"/>
          </a:xfrm>
          <a:prstGeom prst="rect">
            <a:avLst/>
          </a:prstGeom>
          <a:noFill/>
        </p:spPr>
        <p:txBody>
          <a:bodyPr wrap="square" lIns="0" rIns="0" tIns="0" bIns="0" anchor="t">
            <a:spAutoFit/>
          </a:bodyPr>
          <a:lstStyle/>
          <a:p>
            <a:pPr algn="l">
              <a:lnSpc>
                <a:spcPct val="115000"/>
              </a:lnSpc>
            </a:pPr>
            <a:r>
              <a:rPr sz="1000" b="1" i="1">
                <a:solidFill>
                  <a:srgbClr val="5C7884"/>
                </a:solidFill>
                <a:latin typeface="Inter"/>
              </a:rPr>
              <a:t>BAIE ET PORT</a:t>
            </a:r>
          </a:p>
        </p:txBody>
      </p:sp>
      <p:sp>
        <p:nvSpPr>
          <p:cNvPr id="14" name="Freeform 13"/>
          <p:cNvSpPr/>
          <p:nvPr/>
        </p:nvSpPr>
        <p:spPr>
          <a:xfrm>
            <a:off x="670719" y="2022740"/>
            <a:ext cx="6060281" cy="3539390"/>
          </a:xfrm>
          <a:custGeom>
            <a:avLst/>
            <a:gdLst/>
            <a:ahLst/>
            <a:cxnLst/>
            <a:rect l="l" t="t" r="r" b="b"/>
            <a:pathLst>
              <a:path w="6060281" h="3539390">
                <a:moveTo>
                  <a:pt x="154781" y="263260"/>
                </a:moveTo>
                <a:lnTo>
                  <a:pt x="294422" y="129057"/>
                </a:lnTo>
                <a:lnTo>
                  <a:pt x="481688" y="53945"/>
                </a:lnTo>
                <a:lnTo>
                  <a:pt x="702469" y="21166"/>
                </a:lnTo>
                <a:lnTo>
                  <a:pt x="942651" y="13964"/>
                </a:lnTo>
                <a:lnTo>
                  <a:pt x="1188126" y="15581"/>
                </a:lnTo>
                <a:lnTo>
                  <a:pt x="1424781" y="9260"/>
                </a:lnTo>
                <a:lnTo>
                  <a:pt x="1656438" y="0"/>
                </a:lnTo>
                <a:lnTo>
                  <a:pt x="1895151" y="2204"/>
                </a:lnTo>
                <a:lnTo>
                  <a:pt x="2139156" y="13229"/>
                </a:lnTo>
                <a:lnTo>
                  <a:pt x="2386688" y="30427"/>
                </a:lnTo>
                <a:lnTo>
                  <a:pt x="2635985" y="51152"/>
                </a:lnTo>
                <a:lnTo>
                  <a:pt x="2885281" y="72760"/>
                </a:lnTo>
                <a:lnTo>
                  <a:pt x="3140016" y="94221"/>
                </a:lnTo>
                <a:lnTo>
                  <a:pt x="3402688" y="117445"/>
                </a:lnTo>
                <a:lnTo>
                  <a:pt x="3667125" y="144198"/>
                </a:lnTo>
                <a:lnTo>
                  <a:pt x="3927151" y="176241"/>
                </a:lnTo>
                <a:lnTo>
                  <a:pt x="4176595" y="215341"/>
                </a:lnTo>
                <a:lnTo>
                  <a:pt x="4409281" y="263260"/>
                </a:lnTo>
                <a:lnTo>
                  <a:pt x="4629179" y="316765"/>
                </a:lnTo>
                <a:lnTo>
                  <a:pt x="4842022" y="373797"/>
                </a:lnTo>
                <a:lnTo>
                  <a:pt x="5044281" y="437885"/>
                </a:lnTo>
                <a:lnTo>
                  <a:pt x="5232429" y="512556"/>
                </a:lnTo>
                <a:lnTo>
                  <a:pt x="5402938" y="601339"/>
                </a:lnTo>
                <a:lnTo>
                  <a:pt x="5552281" y="707760"/>
                </a:lnTo>
                <a:lnTo>
                  <a:pt x="5685455" y="834907"/>
                </a:lnTo>
                <a:lnTo>
                  <a:pt x="5806281" y="980575"/>
                </a:lnTo>
                <a:lnTo>
                  <a:pt x="5909469" y="1140354"/>
                </a:lnTo>
                <a:lnTo>
                  <a:pt x="5989725" y="1309834"/>
                </a:lnTo>
                <a:lnTo>
                  <a:pt x="6041760" y="1484606"/>
                </a:lnTo>
                <a:lnTo>
                  <a:pt x="6060281" y="1660260"/>
                </a:lnTo>
                <a:lnTo>
                  <a:pt x="6044700" y="1845615"/>
                </a:lnTo>
                <a:lnTo>
                  <a:pt x="5999133" y="2045964"/>
                </a:lnTo>
                <a:lnTo>
                  <a:pt x="5925343" y="2251604"/>
                </a:lnTo>
                <a:lnTo>
                  <a:pt x="5825096" y="2452834"/>
                </a:lnTo>
                <a:lnTo>
                  <a:pt x="5700154" y="2639953"/>
                </a:lnTo>
                <a:lnTo>
                  <a:pt x="5552281" y="2803260"/>
                </a:lnTo>
                <a:lnTo>
                  <a:pt x="5375304" y="2945106"/>
                </a:lnTo>
                <a:lnTo>
                  <a:pt x="5166577" y="3073723"/>
                </a:lnTo>
                <a:lnTo>
                  <a:pt x="4933156" y="3188229"/>
                </a:lnTo>
                <a:lnTo>
                  <a:pt x="4682096" y="3287741"/>
                </a:lnTo>
                <a:lnTo>
                  <a:pt x="4420452" y="3371379"/>
                </a:lnTo>
                <a:lnTo>
                  <a:pt x="4155281" y="3438260"/>
                </a:lnTo>
                <a:lnTo>
                  <a:pt x="3878791" y="3487796"/>
                </a:lnTo>
                <a:lnTo>
                  <a:pt x="3583781" y="3520575"/>
                </a:lnTo>
                <a:lnTo>
                  <a:pt x="3278187" y="3537479"/>
                </a:lnTo>
                <a:lnTo>
                  <a:pt x="2969948" y="3539390"/>
                </a:lnTo>
                <a:lnTo>
                  <a:pt x="2667000" y="3527189"/>
                </a:lnTo>
                <a:lnTo>
                  <a:pt x="2377281" y="3501760"/>
                </a:lnTo>
                <a:lnTo>
                  <a:pt x="2091384" y="3463689"/>
                </a:lnTo>
                <a:lnTo>
                  <a:pt x="1801077" y="3412390"/>
                </a:lnTo>
                <a:lnTo>
                  <a:pt x="1516062" y="3346979"/>
                </a:lnTo>
                <a:lnTo>
                  <a:pt x="1246040" y="3266575"/>
                </a:lnTo>
                <a:lnTo>
                  <a:pt x="1000713" y="3170296"/>
                </a:lnTo>
                <a:lnTo>
                  <a:pt x="789781" y="3057260"/>
                </a:lnTo>
                <a:lnTo>
                  <a:pt x="613098" y="2929819"/>
                </a:lnTo>
                <a:lnTo>
                  <a:pt x="462874" y="2789149"/>
                </a:lnTo>
                <a:lnTo>
                  <a:pt x="337343" y="2632604"/>
                </a:lnTo>
                <a:lnTo>
                  <a:pt x="234744" y="2457538"/>
                </a:lnTo>
                <a:lnTo>
                  <a:pt x="153311" y="2261305"/>
                </a:lnTo>
                <a:lnTo>
                  <a:pt x="91281" y="2041260"/>
                </a:lnTo>
                <a:lnTo>
                  <a:pt x="43803" y="1771385"/>
                </a:lnTo>
                <a:lnTo>
                  <a:pt x="11318" y="1448593"/>
                </a:lnTo>
                <a:lnTo>
                  <a:pt x="0" y="1104635"/>
                </a:lnTo>
                <a:lnTo>
                  <a:pt x="16022" y="771260"/>
                </a:lnTo>
                <a:lnTo>
                  <a:pt x="65558" y="480218"/>
                </a:lnTo>
                <a:close/>
              </a:path>
            </a:pathLst>
          </a:custGeom>
          <a:solidFill>
            <a:srgbClr val="E8DFCF"/>
          </a:solidFill>
          <a:ln w="38100">
            <a:solidFill>
              <a:srgbClr val="1C1C1C"/>
            </a:solidFill>
          </a:ln>
          <a:effectLst/>
        </p:spPr>
        <p:txBody>
          <a:bodyPr rtlCol="0" anchor="ctr"/>
          <a:lstStyle/>
          <a:p>
            <a:pPr algn="ctr"/>
          </a:p>
        </p:txBody>
      </p:sp>
      <p:sp>
        <p:nvSpPr>
          <p:cNvPr id="15" name="Freeform 14"/>
          <p:cNvSpPr/>
          <p:nvPr/>
        </p:nvSpPr>
        <p:spPr>
          <a:xfrm>
            <a:off x="1175986" y="2877506"/>
            <a:ext cx="1879482" cy="1412892"/>
          </a:xfrm>
          <a:custGeom>
            <a:avLst/>
            <a:gdLst/>
            <a:ahLst/>
            <a:cxnLst/>
            <a:rect l="l" t="t" r="r" b="b"/>
            <a:pathLst>
              <a:path w="1879482" h="1412892">
                <a:moveTo>
                  <a:pt x="1872014" y="678494"/>
                </a:moveTo>
                <a:lnTo>
                  <a:pt x="1879482" y="783864"/>
                </a:lnTo>
                <a:lnTo>
                  <a:pt x="1866617" y="888377"/>
                </a:lnTo>
                <a:lnTo>
                  <a:pt x="1828489" y="986319"/>
                </a:lnTo>
                <a:lnTo>
                  <a:pt x="1760172" y="1071976"/>
                </a:lnTo>
                <a:lnTo>
                  <a:pt x="1649895" y="1143323"/>
                </a:lnTo>
                <a:lnTo>
                  <a:pt x="1503771" y="1203573"/>
                </a:lnTo>
                <a:lnTo>
                  <a:pt x="1343698" y="1254876"/>
                </a:lnTo>
                <a:lnTo>
                  <a:pt x="1191577" y="1299385"/>
                </a:lnTo>
                <a:lnTo>
                  <a:pt x="1051360" y="1344733"/>
                </a:lnTo>
                <a:lnTo>
                  <a:pt x="911996" y="1387420"/>
                </a:lnTo>
                <a:lnTo>
                  <a:pt x="772878" y="1412892"/>
                </a:lnTo>
                <a:lnTo>
                  <a:pt x="633400" y="1406592"/>
                </a:lnTo>
                <a:lnTo>
                  <a:pt x="481520" y="1357901"/>
                </a:lnTo>
                <a:lnTo>
                  <a:pt x="321523" y="1276828"/>
                </a:lnTo>
                <a:lnTo>
                  <a:pt x="177286" y="1179761"/>
                </a:lnTo>
                <a:lnTo>
                  <a:pt x="72686" y="1083088"/>
                </a:lnTo>
                <a:lnTo>
                  <a:pt x="18304" y="988593"/>
                </a:lnTo>
                <a:lnTo>
                  <a:pt x="0" y="888398"/>
                </a:lnTo>
                <a:lnTo>
                  <a:pt x="4575" y="784399"/>
                </a:lnTo>
                <a:lnTo>
                  <a:pt x="18832" y="678494"/>
                </a:lnTo>
                <a:lnTo>
                  <a:pt x="40360" y="564960"/>
                </a:lnTo>
                <a:lnTo>
                  <a:pt x="75828" y="444861"/>
                </a:lnTo>
                <a:lnTo>
                  <a:pt x="125658" y="330276"/>
                </a:lnTo>
                <a:lnTo>
                  <a:pt x="190273" y="233280"/>
                </a:lnTo>
                <a:lnTo>
                  <a:pt x="270463" y="153922"/>
                </a:lnTo>
                <a:lnTo>
                  <a:pt x="365775" y="86819"/>
                </a:lnTo>
                <a:lnTo>
                  <a:pt x="474773" y="35900"/>
                </a:lnTo>
                <a:lnTo>
                  <a:pt x="596018" y="5097"/>
                </a:lnTo>
                <a:lnTo>
                  <a:pt x="738319" y="0"/>
                </a:lnTo>
                <a:lnTo>
                  <a:pt x="899379" y="16999"/>
                </a:lnTo>
                <a:lnTo>
                  <a:pt x="1061099" y="46222"/>
                </a:lnTo>
                <a:lnTo>
                  <a:pt x="1205379" y="77800"/>
                </a:lnTo>
                <a:lnTo>
                  <a:pt x="1329309" y="105766"/>
                </a:lnTo>
                <a:lnTo>
                  <a:pt x="1441904" y="136497"/>
                </a:lnTo>
                <a:lnTo>
                  <a:pt x="1542950" y="178633"/>
                </a:lnTo>
                <a:lnTo>
                  <a:pt x="1632232" y="240816"/>
                </a:lnTo>
                <a:lnTo>
                  <a:pt x="1713573" y="331959"/>
                </a:lnTo>
                <a:lnTo>
                  <a:pt x="1785792" y="445251"/>
                </a:lnTo>
                <a:lnTo>
                  <a:pt x="1841177" y="565745"/>
                </a:lnTo>
                <a:close/>
              </a:path>
            </a:pathLst>
          </a:custGeom>
          <a:solidFill>
            <a:srgbClr val="C9D5E3"/>
          </a:solidFill>
          <a:ln w="9525">
            <a:solidFill>
              <a:srgbClr val="1F3A5F"/>
            </a:solidFill>
            <a:prstDash val="dash"/>
          </a:ln>
          <a:effectLst/>
        </p:spPr>
        <p:txBody>
          <a:bodyPr rtlCol="0" anchor="ctr"/>
          <a:lstStyle/>
          <a:p>
            <a:pPr algn="ctr"/>
          </a:p>
        </p:txBody>
      </p:sp>
      <p:sp>
        <p:nvSpPr>
          <p:cNvPr id="16" name="Freeform 15"/>
          <p:cNvSpPr/>
          <p:nvPr/>
        </p:nvSpPr>
        <p:spPr>
          <a:xfrm>
            <a:off x="2787301" y="3995589"/>
            <a:ext cx="2233233" cy="1175114"/>
          </a:xfrm>
          <a:custGeom>
            <a:avLst/>
            <a:gdLst/>
            <a:ahLst/>
            <a:cxnLst/>
            <a:rect l="l" t="t" r="r" b="b"/>
            <a:pathLst>
              <a:path w="2233233" h="1175114">
                <a:moveTo>
                  <a:pt x="2229199" y="576411"/>
                </a:moveTo>
                <a:lnTo>
                  <a:pt x="2211606" y="653950"/>
                </a:lnTo>
                <a:lnTo>
                  <a:pt x="2175031" y="729809"/>
                </a:lnTo>
                <a:lnTo>
                  <a:pt x="2117079" y="804634"/>
                </a:lnTo>
                <a:lnTo>
                  <a:pt x="2035357" y="879075"/>
                </a:lnTo>
                <a:lnTo>
                  <a:pt x="1923435" y="962266"/>
                </a:lnTo>
                <a:lnTo>
                  <a:pt x="1784519" y="1050875"/>
                </a:lnTo>
                <a:lnTo>
                  <a:pt x="1630674" y="1126847"/>
                </a:lnTo>
                <a:lnTo>
                  <a:pt x="1473962" y="1172128"/>
                </a:lnTo>
                <a:lnTo>
                  <a:pt x="1309301" y="1175114"/>
                </a:lnTo>
                <a:lnTo>
                  <a:pt x="1133024" y="1147697"/>
                </a:lnTo>
                <a:lnTo>
                  <a:pt x="959317" y="1107068"/>
                </a:lnTo>
                <a:lnTo>
                  <a:pt x="802368" y="1070417"/>
                </a:lnTo>
                <a:lnTo>
                  <a:pt x="665396" y="1045450"/>
                </a:lnTo>
                <a:lnTo>
                  <a:pt x="541024" y="1021957"/>
                </a:lnTo>
                <a:lnTo>
                  <a:pt x="427538" y="990259"/>
                </a:lnTo>
                <a:lnTo>
                  <a:pt x="323226" y="940677"/>
                </a:lnTo>
                <a:lnTo>
                  <a:pt x="215867" y="865956"/>
                </a:lnTo>
                <a:lnTo>
                  <a:pt x="110295" y="772816"/>
                </a:lnTo>
                <a:lnTo>
                  <a:pt x="30382" y="672541"/>
                </a:lnTo>
                <a:lnTo>
                  <a:pt x="0" y="576411"/>
                </a:lnTo>
                <a:lnTo>
                  <a:pt x="36273" y="481708"/>
                </a:lnTo>
                <a:lnTo>
                  <a:pt x="122883" y="384323"/>
                </a:lnTo>
                <a:lnTo>
                  <a:pt x="233540" y="293457"/>
                </a:lnTo>
                <a:lnTo>
                  <a:pt x="341951" y="218310"/>
                </a:lnTo>
                <a:lnTo>
                  <a:pt x="441057" y="162752"/>
                </a:lnTo>
                <a:lnTo>
                  <a:pt x="544896" y="121402"/>
                </a:lnTo>
                <a:lnTo>
                  <a:pt x="658826" y="89592"/>
                </a:lnTo>
                <a:lnTo>
                  <a:pt x="788206" y="62653"/>
                </a:lnTo>
                <a:lnTo>
                  <a:pt x="939318" y="35342"/>
                </a:lnTo>
                <a:lnTo>
                  <a:pt x="1107688" y="11481"/>
                </a:lnTo>
                <a:lnTo>
                  <a:pt x="1282534" y="0"/>
                </a:lnTo>
                <a:lnTo>
                  <a:pt x="1453074" y="9827"/>
                </a:lnTo>
                <a:lnTo>
                  <a:pt x="1629687" y="47317"/>
                </a:lnTo>
                <a:lnTo>
                  <a:pt x="1813704" y="106383"/>
                </a:lnTo>
                <a:lnTo>
                  <a:pt x="1980777" y="177291"/>
                </a:lnTo>
                <a:lnTo>
                  <a:pt x="2106556" y="250305"/>
                </a:lnTo>
                <a:lnTo>
                  <a:pt x="2181959" y="326360"/>
                </a:lnTo>
                <a:lnTo>
                  <a:pt x="2220835" y="409472"/>
                </a:lnTo>
                <a:lnTo>
                  <a:pt x="2233233" y="494526"/>
                </a:lnTo>
                <a:close/>
              </a:path>
            </a:pathLst>
          </a:custGeom>
          <a:solidFill>
            <a:srgbClr val="C9D5E3"/>
          </a:solidFill>
          <a:ln w="9525">
            <a:solidFill>
              <a:srgbClr val="1F3A5F"/>
            </a:solidFill>
            <a:prstDash val="dash"/>
          </a:ln>
          <a:effectLst/>
        </p:spPr>
        <p:txBody>
          <a:bodyPr rtlCol="0" anchor="ctr"/>
          <a:lstStyle/>
          <a:p>
            <a:pPr algn="ctr"/>
          </a:p>
        </p:txBody>
      </p:sp>
      <p:sp>
        <p:nvSpPr>
          <p:cNvPr id="17" name="Freeform 16"/>
          <p:cNvSpPr/>
          <p:nvPr/>
        </p:nvSpPr>
        <p:spPr>
          <a:xfrm>
            <a:off x="4698731" y="2768764"/>
            <a:ext cx="1460769" cy="1592238"/>
          </a:xfrm>
          <a:custGeom>
            <a:avLst/>
            <a:gdLst/>
            <a:ahLst/>
            <a:cxnLst/>
            <a:rect l="l" t="t" r="r" b="b"/>
            <a:pathLst>
              <a:path w="1460769" h="1592238">
                <a:moveTo>
                  <a:pt x="1460769" y="787236"/>
                </a:moveTo>
                <a:lnTo>
                  <a:pt x="1444988" y="896430"/>
                </a:lnTo>
                <a:lnTo>
                  <a:pt x="1402346" y="1005708"/>
                </a:lnTo>
                <a:lnTo>
                  <a:pt x="1344873" y="1110403"/>
                </a:lnTo>
                <a:lnTo>
                  <a:pt x="1284601" y="1205852"/>
                </a:lnTo>
                <a:lnTo>
                  <a:pt x="1224644" y="1293638"/>
                </a:lnTo>
                <a:lnTo>
                  <a:pt x="1158618" y="1375307"/>
                </a:lnTo>
                <a:lnTo>
                  <a:pt x="1084301" y="1446134"/>
                </a:lnTo>
                <a:lnTo>
                  <a:pt x="999473" y="1501397"/>
                </a:lnTo>
                <a:lnTo>
                  <a:pt x="897827" y="1545667"/>
                </a:lnTo>
                <a:lnTo>
                  <a:pt x="782452" y="1579521"/>
                </a:lnTo>
                <a:lnTo>
                  <a:pt x="665220" y="1592238"/>
                </a:lnTo>
                <a:lnTo>
                  <a:pt x="558002" y="1573096"/>
                </a:lnTo>
                <a:lnTo>
                  <a:pt x="461975" y="1510267"/>
                </a:lnTo>
                <a:lnTo>
                  <a:pt x="371469" y="1412459"/>
                </a:lnTo>
                <a:lnTo>
                  <a:pt x="288090" y="1299755"/>
                </a:lnTo>
                <a:lnTo>
                  <a:pt x="213440" y="1192236"/>
                </a:lnTo>
                <a:lnTo>
                  <a:pt x="140037" y="1094134"/>
                </a:lnTo>
                <a:lnTo>
                  <a:pt x="69663" y="995113"/>
                </a:lnTo>
                <a:lnTo>
                  <a:pt x="17817" y="893403"/>
                </a:lnTo>
                <a:lnTo>
                  <a:pt x="0" y="787236"/>
                </a:lnTo>
                <a:lnTo>
                  <a:pt x="28588" y="668330"/>
                </a:lnTo>
                <a:lnTo>
                  <a:pt x="92568" y="540231"/>
                </a:lnTo>
                <a:lnTo>
                  <a:pt x="172350" y="418913"/>
                </a:lnTo>
                <a:lnTo>
                  <a:pt x="248345" y="320345"/>
                </a:lnTo>
                <a:lnTo>
                  <a:pt x="314631" y="252370"/>
                </a:lnTo>
                <a:lnTo>
                  <a:pt x="381890" y="205276"/>
                </a:lnTo>
                <a:lnTo>
                  <a:pt x="455433" y="168703"/>
                </a:lnTo>
                <a:lnTo>
                  <a:pt x="540573" y="132291"/>
                </a:lnTo>
                <a:lnTo>
                  <a:pt x="645821" y="84580"/>
                </a:lnTo>
                <a:lnTo>
                  <a:pt x="765979" y="33992"/>
                </a:lnTo>
                <a:lnTo>
                  <a:pt x="885796" y="0"/>
                </a:lnTo>
                <a:lnTo>
                  <a:pt x="990020" y="2074"/>
                </a:lnTo>
                <a:lnTo>
                  <a:pt x="1074321" y="52227"/>
                </a:lnTo>
                <a:lnTo>
                  <a:pt x="1146921" y="137801"/>
                </a:lnTo>
                <a:lnTo>
                  <a:pt x="1211396" y="241262"/>
                </a:lnTo>
                <a:lnTo>
                  <a:pt x="1271322" y="345075"/>
                </a:lnTo>
                <a:lnTo>
                  <a:pt x="1333712" y="449195"/>
                </a:lnTo>
                <a:lnTo>
                  <a:pt x="1394637" y="561430"/>
                </a:lnTo>
                <a:lnTo>
                  <a:pt x="1441267" y="676027"/>
                </a:lnTo>
                <a:close/>
              </a:path>
            </a:pathLst>
          </a:custGeom>
          <a:solidFill>
            <a:srgbClr val="C9D5E3"/>
          </a:solidFill>
          <a:ln w="9525">
            <a:solidFill>
              <a:srgbClr val="1F3A5F"/>
            </a:solidFill>
            <a:prstDash val="dash"/>
          </a:ln>
          <a:effectLst/>
        </p:spPr>
        <p:txBody>
          <a:bodyPr rtlCol="0" anchor="ctr"/>
          <a:lstStyle/>
          <a:p>
            <a:pPr algn="ctr"/>
          </a:p>
        </p:txBody>
      </p:sp>
      <p:sp>
        <p:nvSpPr>
          <p:cNvPr id="18" name="Freeform 17"/>
          <p:cNvSpPr/>
          <p:nvPr/>
        </p:nvSpPr>
        <p:spPr>
          <a:xfrm>
            <a:off x="2224558" y="2441592"/>
            <a:ext cx="1272302" cy="577324"/>
          </a:xfrm>
          <a:custGeom>
            <a:avLst/>
            <a:gdLst/>
            <a:ahLst/>
            <a:cxnLst/>
            <a:rect l="l" t="t" r="r" b="b"/>
            <a:pathLst>
              <a:path w="1272302" h="577324">
                <a:moveTo>
                  <a:pt x="1267942" y="288908"/>
                </a:moveTo>
                <a:lnTo>
                  <a:pt x="1245292" y="339717"/>
                </a:lnTo>
                <a:lnTo>
                  <a:pt x="1204953" y="391848"/>
                </a:lnTo>
                <a:lnTo>
                  <a:pt x="1153475" y="440488"/>
                </a:lnTo>
                <a:lnTo>
                  <a:pt x="1097405" y="480824"/>
                </a:lnTo>
                <a:lnTo>
                  <a:pt x="1038007" y="511468"/>
                </a:lnTo>
                <a:lnTo>
                  <a:pt x="971949" y="535023"/>
                </a:lnTo>
                <a:lnTo>
                  <a:pt x="898891" y="552655"/>
                </a:lnTo>
                <a:lnTo>
                  <a:pt x="818493" y="565532"/>
                </a:lnTo>
                <a:lnTo>
                  <a:pt x="726983" y="573962"/>
                </a:lnTo>
                <a:lnTo>
                  <a:pt x="625770" y="577324"/>
                </a:lnTo>
                <a:lnTo>
                  <a:pt x="522284" y="575389"/>
                </a:lnTo>
                <a:lnTo>
                  <a:pt x="423956" y="567929"/>
                </a:lnTo>
                <a:lnTo>
                  <a:pt x="326334" y="555428"/>
                </a:lnTo>
                <a:lnTo>
                  <a:pt x="227600" y="537827"/>
                </a:lnTo>
                <a:lnTo>
                  <a:pt x="139134" y="514081"/>
                </a:lnTo>
                <a:lnTo>
                  <a:pt x="72316" y="483146"/>
                </a:lnTo>
                <a:lnTo>
                  <a:pt x="30356" y="442171"/>
                </a:lnTo>
                <a:lnTo>
                  <a:pt x="7127" y="392572"/>
                </a:lnTo>
                <a:lnTo>
                  <a:pt x="0" y="339700"/>
                </a:lnTo>
                <a:lnTo>
                  <a:pt x="6346" y="288908"/>
                </a:lnTo>
                <a:lnTo>
                  <a:pt x="28496" y="238755"/>
                </a:lnTo>
                <a:lnTo>
                  <a:pt x="66841" y="187341"/>
                </a:lnTo>
                <a:lnTo>
                  <a:pt x="115845" y="139336"/>
                </a:lnTo>
                <a:lnTo>
                  <a:pt x="169974" y="99408"/>
                </a:lnTo>
                <a:lnTo>
                  <a:pt x="228024" y="68950"/>
                </a:lnTo>
                <a:lnTo>
                  <a:pt x="292856" y="45425"/>
                </a:lnTo>
                <a:lnTo>
                  <a:pt x="365033" y="27597"/>
                </a:lnTo>
                <a:lnTo>
                  <a:pt x="445118" y="14235"/>
                </a:lnTo>
                <a:lnTo>
                  <a:pt x="537321" y="4793"/>
                </a:lnTo>
                <a:lnTo>
                  <a:pt x="639988" y="0"/>
                </a:lnTo>
                <a:lnTo>
                  <a:pt x="744888" y="538"/>
                </a:lnTo>
                <a:lnTo>
                  <a:pt x="843789" y="7086"/>
                </a:lnTo>
                <a:lnTo>
                  <a:pt x="940404" y="19326"/>
                </a:lnTo>
                <a:lnTo>
                  <a:pt x="1037154" y="37061"/>
                </a:lnTo>
                <a:lnTo>
                  <a:pt x="1123870" y="61158"/>
                </a:lnTo>
                <a:lnTo>
                  <a:pt x="1190381" y="92483"/>
                </a:lnTo>
                <a:lnTo>
                  <a:pt x="1234502" y="133888"/>
                </a:lnTo>
                <a:lnTo>
                  <a:pt x="1261482" y="184038"/>
                </a:lnTo>
                <a:lnTo>
                  <a:pt x="1272302" y="237516"/>
                </a:lnTo>
                <a:close/>
              </a:path>
            </a:pathLst>
          </a:custGeom>
          <a:solidFill>
            <a:srgbClr val="C9D5E3"/>
          </a:solidFill>
          <a:ln w="9525">
            <a:solidFill>
              <a:srgbClr val="1F3A5F"/>
            </a:solidFill>
            <a:prstDash val="dash"/>
          </a:ln>
          <a:effectLst/>
        </p:spPr>
        <p:txBody>
          <a:bodyPr rtlCol="0" anchor="ctr"/>
          <a:lstStyle/>
          <a:p>
            <a:pPr algn="ctr"/>
          </a:p>
        </p:txBody>
      </p:sp>
      <p:sp>
        <p:nvSpPr>
          <p:cNvPr id="19" name="Freeform 18"/>
          <p:cNvSpPr/>
          <p:nvPr/>
        </p:nvSpPr>
        <p:spPr>
          <a:xfrm>
            <a:off x="2061564" y="3681708"/>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20" name="Freeform 19"/>
          <p:cNvSpPr/>
          <p:nvPr/>
        </p:nvSpPr>
        <p:spPr>
          <a:xfrm>
            <a:off x="1780254" y="3635557"/>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21" name="Freeform 20"/>
          <p:cNvSpPr/>
          <p:nvPr/>
        </p:nvSpPr>
        <p:spPr>
          <a:xfrm>
            <a:off x="2516455" y="3645841"/>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22" name="Freeform 21"/>
          <p:cNvSpPr/>
          <p:nvPr/>
        </p:nvSpPr>
        <p:spPr>
          <a:xfrm>
            <a:off x="2680929" y="3246788"/>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23" name="Freeform 22"/>
          <p:cNvSpPr/>
          <p:nvPr/>
        </p:nvSpPr>
        <p:spPr>
          <a:xfrm>
            <a:off x="2075343" y="3230841"/>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24" name="Freeform 23"/>
          <p:cNvSpPr/>
          <p:nvPr/>
        </p:nvSpPr>
        <p:spPr>
          <a:xfrm>
            <a:off x="1615613" y="3430180"/>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25" name="Freeform 24"/>
          <p:cNvSpPr/>
          <p:nvPr/>
        </p:nvSpPr>
        <p:spPr>
          <a:xfrm>
            <a:off x="4024802" y="4642928"/>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26" name="Freeform 25"/>
          <p:cNvSpPr/>
          <p:nvPr/>
        </p:nvSpPr>
        <p:spPr>
          <a:xfrm>
            <a:off x="4083326" y="4932264"/>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27" name="Freeform 26"/>
          <p:cNvSpPr/>
          <p:nvPr/>
        </p:nvSpPr>
        <p:spPr>
          <a:xfrm>
            <a:off x="4286883" y="4163712"/>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28" name="Freeform 27"/>
          <p:cNvSpPr/>
          <p:nvPr/>
        </p:nvSpPr>
        <p:spPr>
          <a:xfrm>
            <a:off x="4010425" y="4329092"/>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29" name="Freeform 28"/>
          <p:cNvSpPr/>
          <p:nvPr/>
        </p:nvSpPr>
        <p:spPr>
          <a:xfrm>
            <a:off x="3602869" y="4842219"/>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30" name="Freeform 29"/>
          <p:cNvSpPr/>
          <p:nvPr/>
        </p:nvSpPr>
        <p:spPr>
          <a:xfrm>
            <a:off x="3779894" y="4106578"/>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31" name="Freeform 30"/>
          <p:cNvSpPr/>
          <p:nvPr/>
        </p:nvSpPr>
        <p:spPr>
          <a:xfrm>
            <a:off x="5526569" y="3370887"/>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32" name="Freeform 31"/>
          <p:cNvSpPr/>
          <p:nvPr/>
        </p:nvSpPr>
        <p:spPr>
          <a:xfrm>
            <a:off x="5035294" y="3177679"/>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33" name="Freeform 32"/>
          <p:cNvSpPr/>
          <p:nvPr/>
        </p:nvSpPr>
        <p:spPr>
          <a:xfrm>
            <a:off x="5163045" y="3488836"/>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34" name="Freeform 33"/>
          <p:cNvSpPr/>
          <p:nvPr/>
        </p:nvSpPr>
        <p:spPr>
          <a:xfrm>
            <a:off x="5235371" y="3530204"/>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35" name="Freeform 34"/>
          <p:cNvSpPr/>
          <p:nvPr/>
        </p:nvSpPr>
        <p:spPr>
          <a:xfrm>
            <a:off x="5891249" y="3262834"/>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36" name="Freeform 35"/>
          <p:cNvSpPr/>
          <p:nvPr/>
        </p:nvSpPr>
        <p:spPr>
          <a:xfrm>
            <a:off x="5104622" y="3396250"/>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37" name="Freeform 36"/>
          <p:cNvSpPr/>
          <p:nvPr/>
        </p:nvSpPr>
        <p:spPr>
          <a:xfrm>
            <a:off x="3123378" y="2582249"/>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38" name="Freeform 37"/>
          <p:cNvSpPr/>
          <p:nvPr/>
        </p:nvSpPr>
        <p:spPr>
          <a:xfrm>
            <a:off x="3145998" y="2535432"/>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39" name="Freeform 38"/>
          <p:cNvSpPr/>
          <p:nvPr/>
        </p:nvSpPr>
        <p:spPr>
          <a:xfrm>
            <a:off x="2473962" y="2665831"/>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40" name="Freeform 39"/>
          <p:cNvSpPr/>
          <p:nvPr/>
        </p:nvSpPr>
        <p:spPr>
          <a:xfrm>
            <a:off x="2529192" y="2588392"/>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41" name="Freeform 40"/>
          <p:cNvSpPr/>
          <p:nvPr/>
        </p:nvSpPr>
        <p:spPr>
          <a:xfrm>
            <a:off x="2948734" y="2777545"/>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42" name="Freeform 41"/>
          <p:cNvSpPr/>
          <p:nvPr/>
        </p:nvSpPr>
        <p:spPr>
          <a:xfrm>
            <a:off x="2840831" y="2630664"/>
            <a:ext cx="114300" cy="101600"/>
          </a:xfrm>
          <a:custGeom>
            <a:avLst/>
            <a:gdLst/>
            <a:ahLst/>
            <a:cxnLst/>
            <a:rect l="l" t="t" r="r" b="b"/>
            <a:pathLst>
              <a:path w="114300" h="101600">
                <a:moveTo>
                  <a:pt x="57150" y="0"/>
                </a:moveTo>
                <a:lnTo>
                  <a:pt x="114300" y="101600"/>
                </a:lnTo>
                <a:lnTo>
                  <a:pt x="0" y="101600"/>
                </a:lnTo>
                <a:close/>
              </a:path>
            </a:pathLst>
          </a:custGeom>
          <a:solidFill>
            <a:srgbClr val="1F3A5F"/>
          </a:solidFill>
          <a:ln>
            <a:noFill/>
          </a:ln>
          <a:effectLst/>
        </p:spPr>
        <p:txBody>
          <a:bodyPr rtlCol="0" anchor="ctr"/>
          <a:lstStyle/>
          <a:p>
            <a:pPr algn="ctr"/>
          </a:p>
        </p:txBody>
      </p:sp>
      <p:sp>
        <p:nvSpPr>
          <p:cNvPr id="43" name="Freeform 42"/>
          <p:cNvSpPr/>
          <p:nvPr/>
        </p:nvSpPr>
        <p:spPr>
          <a:xfrm>
            <a:off x="3302000" y="2590124"/>
            <a:ext cx="2730500" cy="2997876"/>
          </a:xfrm>
          <a:custGeom>
            <a:avLst/>
            <a:gdLst/>
            <a:ahLst/>
            <a:cxnLst/>
            <a:rect l="l" t="t" r="r" b="b"/>
            <a:pathLst>
              <a:path w="2730500" h="2997876">
                <a:moveTo>
                  <a:pt x="254000" y="2997876"/>
                </a:moveTo>
                <a:lnTo>
                  <a:pt x="290454" y="2940109"/>
                </a:lnTo>
                <a:lnTo>
                  <a:pt x="348074" y="2863820"/>
                </a:lnTo>
                <a:lnTo>
                  <a:pt x="412750" y="2771657"/>
                </a:lnTo>
                <a:lnTo>
                  <a:pt x="470370" y="2666265"/>
                </a:lnTo>
                <a:lnTo>
                  <a:pt x="506824" y="2550289"/>
                </a:lnTo>
                <a:lnTo>
                  <a:pt x="508000" y="2426376"/>
                </a:lnTo>
                <a:lnTo>
                  <a:pt x="455671" y="2287470"/>
                </a:lnTo>
                <a:lnTo>
                  <a:pt x="357481" y="2130043"/>
                </a:lnTo>
                <a:lnTo>
                  <a:pt x="238125" y="1962032"/>
                </a:lnTo>
                <a:lnTo>
                  <a:pt x="122296" y="1791376"/>
                </a:lnTo>
                <a:lnTo>
                  <a:pt x="34690" y="1626011"/>
                </a:lnTo>
                <a:lnTo>
                  <a:pt x="0" y="1473876"/>
                </a:lnTo>
                <a:lnTo>
                  <a:pt x="22931" y="1333647"/>
                </a:lnTo>
                <a:lnTo>
                  <a:pt x="84667" y="1198709"/>
                </a:lnTo>
                <a:lnTo>
                  <a:pt x="174625" y="1069064"/>
                </a:lnTo>
                <a:lnTo>
                  <a:pt x="282222" y="944709"/>
                </a:lnTo>
                <a:lnTo>
                  <a:pt x="396875" y="825647"/>
                </a:lnTo>
                <a:lnTo>
                  <a:pt x="508000" y="711876"/>
                </a:lnTo>
                <a:lnTo>
                  <a:pt x="620301" y="600457"/>
                </a:lnTo>
                <a:lnTo>
                  <a:pt x="743185" y="490802"/>
                </a:lnTo>
                <a:lnTo>
                  <a:pt x="873125" y="386438"/>
                </a:lnTo>
                <a:lnTo>
                  <a:pt x="1006593" y="290895"/>
                </a:lnTo>
                <a:lnTo>
                  <a:pt x="1140060" y="207698"/>
                </a:lnTo>
                <a:lnTo>
                  <a:pt x="1270000" y="140376"/>
                </a:lnTo>
                <a:lnTo>
                  <a:pt x="1397735" y="87606"/>
                </a:lnTo>
                <a:lnTo>
                  <a:pt x="1526352" y="46302"/>
                </a:lnTo>
                <a:lnTo>
                  <a:pt x="1654969" y="17345"/>
                </a:lnTo>
                <a:lnTo>
                  <a:pt x="1782704" y="1617"/>
                </a:lnTo>
                <a:lnTo>
                  <a:pt x="1908675" y="0"/>
                </a:lnTo>
                <a:lnTo>
                  <a:pt x="2032000" y="13376"/>
                </a:lnTo>
                <a:lnTo>
                  <a:pt x="2160176" y="51888"/>
                </a:lnTo>
                <a:lnTo>
                  <a:pt x="2295407" y="116857"/>
                </a:lnTo>
                <a:lnTo>
                  <a:pt x="2428875" y="195938"/>
                </a:lnTo>
                <a:lnTo>
                  <a:pt x="2551759" y="276783"/>
                </a:lnTo>
                <a:lnTo>
                  <a:pt x="2655241" y="347045"/>
                </a:lnTo>
                <a:lnTo>
                  <a:pt x="2730500" y="394376"/>
                </a:lnTo>
              </a:path>
            </a:pathLst>
          </a:custGeom>
          <a:noFill/>
          <a:ln w="76200">
            <a:solidFill>
              <a:srgbClr val="C8462B"/>
            </a:solidFill>
          </a:ln>
          <a:effectLst/>
        </p:spPr>
        <p:txBody>
          <a:bodyPr rtlCol="0" anchor="ctr"/>
          <a:lstStyle/>
          <a:p>
            <a:pPr algn="ctr"/>
          </a:p>
        </p:txBody>
      </p:sp>
      <p:sp>
        <p:nvSpPr>
          <p:cNvPr id="44" name="Freeform 43"/>
          <p:cNvSpPr/>
          <p:nvPr/>
        </p:nvSpPr>
        <p:spPr>
          <a:xfrm>
            <a:off x="1143000" y="2413000"/>
            <a:ext cx="2667000" cy="889000"/>
          </a:xfrm>
          <a:custGeom>
            <a:avLst/>
            <a:gdLst/>
            <a:ahLst/>
            <a:cxnLst/>
            <a:rect l="l" t="t" r="r" b="b"/>
            <a:pathLst>
              <a:path w="2667000" h="889000">
                <a:moveTo>
                  <a:pt x="2667000" y="889000"/>
                </a:moveTo>
                <a:lnTo>
                  <a:pt x="2616141" y="815505"/>
                </a:lnTo>
                <a:lnTo>
                  <a:pt x="2549407" y="710259"/>
                </a:lnTo>
                <a:lnTo>
                  <a:pt x="2468562" y="587375"/>
                </a:lnTo>
                <a:lnTo>
                  <a:pt x="2375370" y="460963"/>
                </a:lnTo>
                <a:lnTo>
                  <a:pt x="2271595" y="345134"/>
                </a:lnTo>
                <a:lnTo>
                  <a:pt x="2159000" y="254000"/>
                </a:lnTo>
                <a:lnTo>
                  <a:pt x="2032882" y="184473"/>
                </a:lnTo>
                <a:lnTo>
                  <a:pt x="1890889" y="124648"/>
                </a:lnTo>
                <a:lnTo>
                  <a:pt x="1738312" y="75406"/>
                </a:lnTo>
                <a:lnTo>
                  <a:pt x="1580444" y="37630"/>
                </a:lnTo>
                <a:lnTo>
                  <a:pt x="1422576" y="12200"/>
                </a:lnTo>
                <a:lnTo>
                  <a:pt x="1270000" y="0"/>
                </a:lnTo>
                <a:lnTo>
                  <a:pt x="1115954" y="3822"/>
                </a:lnTo>
                <a:lnTo>
                  <a:pt x="954852" y="23519"/>
                </a:lnTo>
                <a:lnTo>
                  <a:pt x="793750" y="55562"/>
                </a:lnTo>
                <a:lnTo>
                  <a:pt x="639704" y="96426"/>
                </a:lnTo>
                <a:lnTo>
                  <a:pt x="499769" y="142581"/>
                </a:lnTo>
                <a:lnTo>
                  <a:pt x="381000" y="190500"/>
                </a:lnTo>
                <a:lnTo>
                  <a:pt x="283692" y="247385"/>
                </a:lnTo>
                <a:lnTo>
                  <a:pt x="202259" y="317500"/>
                </a:lnTo>
                <a:lnTo>
                  <a:pt x="134938" y="392906"/>
                </a:lnTo>
                <a:lnTo>
                  <a:pt x="79963" y="465667"/>
                </a:lnTo>
                <a:lnTo>
                  <a:pt x="35572" y="527844"/>
                </a:lnTo>
                <a:lnTo>
                  <a:pt x="0" y="571500"/>
                </a:lnTo>
              </a:path>
            </a:pathLst>
          </a:custGeom>
          <a:noFill/>
          <a:ln w="76200">
            <a:solidFill>
              <a:srgbClr val="C8462B"/>
            </a:solidFill>
          </a:ln>
          <a:effectLst/>
        </p:spPr>
        <p:txBody>
          <a:bodyPr rtlCol="0" anchor="ctr"/>
          <a:lstStyle/>
          <a:p>
            <a:pPr algn="ctr"/>
          </a:p>
        </p:txBody>
      </p:sp>
      <p:sp>
        <p:nvSpPr>
          <p:cNvPr id="45" name="Oval 44"/>
          <p:cNvSpPr/>
          <p:nvPr/>
        </p:nvSpPr>
        <p:spPr>
          <a:xfrm>
            <a:off x="3454400" y="5486400"/>
            <a:ext cx="203200" cy="203200"/>
          </a:xfrm>
          <a:prstGeom prst="ellipse">
            <a:avLst/>
          </a:prstGeom>
          <a:solidFill>
            <a:srgbClr val="FFFFFF"/>
          </a:solidFill>
          <a:ln w="31750">
            <a:solidFill>
              <a:srgbClr val="C8462B"/>
            </a:solidFill>
          </a:ln>
          <a:effectLst/>
        </p:spPr>
        <p:txBody>
          <a:bodyPr rtlCol="0" anchor="ctr"/>
          <a:lstStyle/>
          <a:p>
            <a:pPr algn="ctr"/>
          </a:p>
        </p:txBody>
      </p:sp>
      <p:sp>
        <p:nvSpPr>
          <p:cNvPr id="46" name="TextBox 45"/>
          <p:cNvSpPr txBox="1"/>
          <p:nvPr/>
        </p:nvSpPr>
        <p:spPr>
          <a:xfrm>
            <a:off x="3695700" y="5334000"/>
            <a:ext cx="1270000" cy="165100"/>
          </a:xfrm>
          <a:prstGeom prst="rect">
            <a:avLst/>
          </a:prstGeom>
          <a:noFill/>
        </p:spPr>
        <p:txBody>
          <a:bodyPr wrap="square" lIns="0" rIns="0" tIns="0" bIns="0" anchor="t">
            <a:spAutoFit/>
          </a:bodyPr>
          <a:lstStyle/>
          <a:p>
            <a:pPr algn="l">
              <a:lnSpc>
                <a:spcPct val="115000"/>
              </a:lnSpc>
            </a:pPr>
            <a:r>
              <a:rPr sz="1150" b="1" i="0">
                <a:solidFill>
                  <a:srgbClr val="C8462B"/>
                </a:solidFill>
                <a:latin typeface="Inter"/>
              </a:rPr>
              <a:t>Grand Socco</a:t>
            </a:r>
          </a:p>
        </p:txBody>
      </p:sp>
      <p:sp>
        <p:nvSpPr>
          <p:cNvPr id="47" name="Oval 46"/>
          <p:cNvSpPr/>
          <p:nvPr/>
        </p:nvSpPr>
        <p:spPr>
          <a:xfrm>
            <a:off x="3708400" y="3200400"/>
            <a:ext cx="203200" cy="203200"/>
          </a:xfrm>
          <a:prstGeom prst="ellipse">
            <a:avLst/>
          </a:prstGeom>
          <a:solidFill>
            <a:srgbClr val="FFFFFF"/>
          </a:solidFill>
          <a:ln w="31750">
            <a:solidFill>
              <a:srgbClr val="C8462B"/>
            </a:solidFill>
          </a:ln>
          <a:effectLst/>
        </p:spPr>
        <p:txBody>
          <a:bodyPr rtlCol="0" anchor="ctr"/>
          <a:lstStyle/>
          <a:p>
            <a:pPr algn="ctr"/>
          </a:p>
        </p:txBody>
      </p:sp>
      <p:sp>
        <p:nvSpPr>
          <p:cNvPr id="48" name="TextBox 47"/>
          <p:cNvSpPr txBox="1"/>
          <p:nvPr/>
        </p:nvSpPr>
        <p:spPr>
          <a:xfrm>
            <a:off x="3949700" y="3048000"/>
            <a:ext cx="1270000" cy="165100"/>
          </a:xfrm>
          <a:prstGeom prst="rect">
            <a:avLst/>
          </a:prstGeom>
          <a:noFill/>
        </p:spPr>
        <p:txBody>
          <a:bodyPr wrap="square" lIns="0" rIns="0" tIns="0" bIns="0" anchor="t">
            <a:spAutoFit/>
          </a:bodyPr>
          <a:lstStyle/>
          <a:p>
            <a:pPr algn="l">
              <a:lnSpc>
                <a:spcPct val="115000"/>
              </a:lnSpc>
            </a:pPr>
            <a:r>
              <a:rPr sz="1150" b="1" i="0">
                <a:solidFill>
                  <a:srgbClr val="C8462B"/>
                </a:solidFill>
                <a:latin typeface="Inter"/>
              </a:rPr>
              <a:t>Petit Socco</a:t>
            </a:r>
          </a:p>
        </p:txBody>
      </p:sp>
      <p:sp>
        <p:nvSpPr>
          <p:cNvPr id="49" name="Oval 48"/>
          <p:cNvSpPr/>
          <p:nvPr/>
        </p:nvSpPr>
        <p:spPr>
          <a:xfrm>
            <a:off x="1041400" y="2882900"/>
            <a:ext cx="203200" cy="203200"/>
          </a:xfrm>
          <a:prstGeom prst="ellipse">
            <a:avLst/>
          </a:prstGeom>
          <a:solidFill>
            <a:srgbClr val="FFFFFF"/>
          </a:solidFill>
          <a:ln w="31750">
            <a:solidFill>
              <a:srgbClr val="C8462B"/>
            </a:solidFill>
          </a:ln>
          <a:effectLst/>
        </p:spPr>
        <p:txBody>
          <a:bodyPr rtlCol="0" anchor="ctr"/>
          <a:lstStyle/>
          <a:p>
            <a:pPr algn="ctr"/>
          </a:p>
        </p:txBody>
      </p:sp>
      <p:sp>
        <p:nvSpPr>
          <p:cNvPr id="50" name="TextBox 49"/>
          <p:cNvSpPr txBox="1"/>
          <p:nvPr/>
        </p:nvSpPr>
        <p:spPr>
          <a:xfrm>
            <a:off x="1282700" y="2730500"/>
            <a:ext cx="1270000" cy="165100"/>
          </a:xfrm>
          <a:prstGeom prst="rect">
            <a:avLst/>
          </a:prstGeom>
          <a:noFill/>
        </p:spPr>
        <p:txBody>
          <a:bodyPr wrap="square" lIns="0" rIns="0" tIns="0" bIns="0" anchor="t">
            <a:spAutoFit/>
          </a:bodyPr>
          <a:lstStyle/>
          <a:p>
            <a:pPr algn="l">
              <a:lnSpc>
                <a:spcPct val="115000"/>
              </a:lnSpc>
            </a:pPr>
            <a:r>
              <a:rPr sz="1150" b="1" i="0">
                <a:solidFill>
                  <a:srgbClr val="C8462B"/>
                </a:solidFill>
                <a:latin typeface="Inter"/>
              </a:rPr>
              <a:t>Kasbah</a:t>
            </a:r>
          </a:p>
        </p:txBody>
      </p:sp>
      <p:sp>
        <p:nvSpPr>
          <p:cNvPr id="51" name="Oval 50"/>
          <p:cNvSpPr/>
          <p:nvPr/>
        </p:nvSpPr>
        <p:spPr>
          <a:xfrm>
            <a:off x="5930900" y="2882900"/>
            <a:ext cx="203200" cy="203200"/>
          </a:xfrm>
          <a:prstGeom prst="ellipse">
            <a:avLst/>
          </a:prstGeom>
          <a:solidFill>
            <a:srgbClr val="FFFFFF"/>
          </a:solidFill>
          <a:ln w="31750">
            <a:solidFill>
              <a:srgbClr val="C8462B"/>
            </a:solidFill>
          </a:ln>
          <a:effectLst/>
        </p:spPr>
        <p:txBody>
          <a:bodyPr rtlCol="0" anchor="ctr"/>
          <a:lstStyle/>
          <a:p>
            <a:pPr algn="ctr"/>
          </a:p>
        </p:txBody>
      </p:sp>
      <p:sp>
        <p:nvSpPr>
          <p:cNvPr id="52" name="TextBox 51"/>
          <p:cNvSpPr txBox="1"/>
          <p:nvPr/>
        </p:nvSpPr>
        <p:spPr>
          <a:xfrm>
            <a:off x="6172200" y="2730500"/>
            <a:ext cx="1270000" cy="165100"/>
          </a:xfrm>
          <a:prstGeom prst="rect">
            <a:avLst/>
          </a:prstGeom>
          <a:noFill/>
        </p:spPr>
        <p:txBody>
          <a:bodyPr wrap="square" lIns="0" rIns="0" tIns="0" bIns="0" anchor="t">
            <a:spAutoFit/>
          </a:bodyPr>
          <a:lstStyle/>
          <a:p>
            <a:pPr algn="l">
              <a:lnSpc>
                <a:spcPct val="115000"/>
              </a:lnSpc>
            </a:pPr>
            <a:r>
              <a:rPr sz="1150" b="1" i="0">
                <a:solidFill>
                  <a:srgbClr val="C8462B"/>
                </a:solidFill>
                <a:latin typeface="Inter"/>
              </a:rPr>
              <a:t>Porte du port</a:t>
            </a:r>
          </a:p>
        </p:txBody>
      </p:sp>
      <p:sp>
        <p:nvSpPr>
          <p:cNvPr id="53" name="TextBox 52"/>
          <p:cNvSpPr txBox="1"/>
          <p:nvPr/>
        </p:nvSpPr>
        <p:spPr>
          <a:xfrm>
            <a:off x="508000" y="5937250"/>
            <a:ext cx="6858000" cy="152400"/>
          </a:xfrm>
          <a:prstGeom prst="rect">
            <a:avLst/>
          </a:prstGeom>
          <a:noFill/>
        </p:spPr>
        <p:txBody>
          <a:bodyPr wrap="square" lIns="0" rIns="0" tIns="0" bIns="0" anchor="t">
            <a:spAutoFit/>
          </a:bodyPr>
          <a:lstStyle/>
          <a:p>
            <a:pPr algn="l">
              <a:lnSpc>
                <a:spcPct val="115000"/>
              </a:lnSpc>
            </a:pPr>
            <a:r>
              <a:rPr sz="900" b="0" i="1">
                <a:solidFill>
                  <a:srgbClr val="6E6A64"/>
                </a:solidFill>
                <a:latin typeface="Inter"/>
              </a:rPr>
              <a:t>Plan conceptuel de l'auteur : parcours indicatifs, non relevés ; triangles illustratifs.</a:t>
            </a:r>
          </a:p>
        </p:txBody>
      </p:sp>
      <p:sp>
        <p:nvSpPr>
          <p:cNvPr id="54" name="TextBox 53"/>
          <p:cNvSpPr txBox="1"/>
          <p:nvPr/>
        </p:nvSpPr>
        <p:spPr>
          <a:xfrm>
            <a:off x="7747000" y="155575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LÉGENDE</a:t>
            </a:r>
          </a:p>
        </p:txBody>
      </p:sp>
      <p:cxnSp>
        <p:nvCxnSpPr>
          <p:cNvPr id="55" name="Connector 54"/>
          <p:cNvCxnSpPr/>
          <p:nvPr/>
        </p:nvCxnSpPr>
        <p:spPr>
          <a:xfrm>
            <a:off x="7747000" y="1847850"/>
            <a:ext cx="190500" cy="0"/>
          </a:xfrm>
          <a:prstGeom prst="line">
            <a:avLst/>
          </a:prstGeom>
          <a:ln w="31750">
            <a:solidFill>
              <a:srgbClr val="C8462B"/>
            </a:solidFill>
          </a:ln>
        </p:spPr>
      </p:cxnSp>
      <p:sp>
        <p:nvSpPr>
          <p:cNvPr id="56" name="TextBox 55"/>
          <p:cNvSpPr txBox="1"/>
          <p:nvPr/>
        </p:nvSpPr>
        <p:spPr>
          <a:xfrm>
            <a:off x="8026400" y="1765300"/>
            <a:ext cx="3556000" cy="165100"/>
          </a:xfrm>
          <a:prstGeom prst="rect">
            <a:avLst/>
          </a:prstGeom>
          <a:noFill/>
        </p:spPr>
        <p:txBody>
          <a:bodyPr wrap="square" lIns="0" rIns="0" tIns="0" bIns="0" anchor="t">
            <a:spAutoFit/>
          </a:bodyPr>
          <a:lstStyle/>
          <a:p>
            <a:pPr algn="l">
              <a:lnSpc>
                <a:spcPct val="115000"/>
              </a:lnSpc>
            </a:pPr>
            <a:r>
              <a:rPr sz="1100" b="0" i="0">
                <a:solidFill>
                  <a:srgbClr val="1C1C1C"/>
                </a:solidFill>
                <a:latin typeface="Inter"/>
              </a:rPr>
              <a:t>Circuit des visiteurs, restauré en priorité</a:t>
            </a:r>
          </a:p>
        </p:txBody>
      </p:sp>
      <p:sp>
        <p:nvSpPr>
          <p:cNvPr id="57" name="Rectangle 56"/>
          <p:cNvSpPr/>
          <p:nvPr/>
        </p:nvSpPr>
        <p:spPr>
          <a:xfrm>
            <a:off x="7747000" y="2006600"/>
            <a:ext cx="190500" cy="127000"/>
          </a:xfrm>
          <a:prstGeom prst="rect">
            <a:avLst/>
          </a:prstGeom>
          <a:solidFill>
            <a:srgbClr val="C9D5E3"/>
          </a:solidFill>
          <a:ln w="12700">
            <a:solidFill>
              <a:srgbClr val="1F3A5F"/>
            </a:solidFill>
          </a:ln>
          <a:effectLst/>
        </p:spPr>
        <p:txBody>
          <a:bodyPr rtlCol="0" anchor="ctr"/>
          <a:lstStyle/>
          <a:p>
            <a:pPr algn="ctr"/>
          </a:p>
        </p:txBody>
      </p:sp>
      <p:sp>
        <p:nvSpPr>
          <p:cNvPr id="58" name="TextBox 57"/>
          <p:cNvSpPr txBox="1"/>
          <p:nvPr/>
        </p:nvSpPr>
        <p:spPr>
          <a:xfrm>
            <a:off x="8026400" y="1987550"/>
            <a:ext cx="3556000" cy="165100"/>
          </a:xfrm>
          <a:prstGeom prst="rect">
            <a:avLst/>
          </a:prstGeom>
          <a:noFill/>
        </p:spPr>
        <p:txBody>
          <a:bodyPr wrap="square" lIns="0" rIns="0" tIns="0" bIns="0" anchor="t">
            <a:spAutoFit/>
          </a:bodyPr>
          <a:lstStyle/>
          <a:p>
            <a:pPr algn="l">
              <a:lnSpc>
                <a:spcPct val="115000"/>
              </a:lnSpc>
            </a:pPr>
            <a:r>
              <a:rPr sz="1100" b="0" i="0">
                <a:solidFill>
                  <a:srgbClr val="1C1C1C"/>
                </a:solidFill>
                <a:latin typeface="Inter"/>
              </a:rPr>
              <a:t>Tissu résidentiel dense et vieillissant</a:t>
            </a:r>
          </a:p>
        </p:txBody>
      </p:sp>
      <p:sp>
        <p:nvSpPr>
          <p:cNvPr id="59" name="Freeform 58"/>
          <p:cNvSpPr/>
          <p:nvPr/>
        </p:nvSpPr>
        <p:spPr>
          <a:xfrm>
            <a:off x="7766050" y="2222500"/>
            <a:ext cx="152400" cy="127000"/>
          </a:xfrm>
          <a:custGeom>
            <a:avLst/>
            <a:gdLst/>
            <a:ahLst/>
            <a:cxnLst/>
            <a:rect l="l" t="t" r="r" b="b"/>
            <a:pathLst>
              <a:path w="152400" h="127000">
                <a:moveTo>
                  <a:pt x="76200" y="0"/>
                </a:moveTo>
                <a:lnTo>
                  <a:pt x="152400" y="127000"/>
                </a:lnTo>
                <a:lnTo>
                  <a:pt x="0" y="127000"/>
                </a:lnTo>
                <a:close/>
              </a:path>
            </a:pathLst>
          </a:custGeom>
          <a:solidFill>
            <a:srgbClr val="1F3A5F"/>
          </a:solidFill>
          <a:ln>
            <a:noFill/>
          </a:ln>
          <a:effectLst/>
        </p:spPr>
        <p:txBody>
          <a:bodyPr rtlCol="0" anchor="ctr"/>
          <a:lstStyle/>
          <a:p>
            <a:pPr algn="ctr"/>
          </a:p>
        </p:txBody>
      </p:sp>
      <p:sp>
        <p:nvSpPr>
          <p:cNvPr id="60" name="TextBox 59"/>
          <p:cNvSpPr txBox="1"/>
          <p:nvPr/>
        </p:nvSpPr>
        <p:spPr>
          <a:xfrm>
            <a:off x="8026400" y="2209800"/>
            <a:ext cx="3556000" cy="165100"/>
          </a:xfrm>
          <a:prstGeom prst="rect">
            <a:avLst/>
          </a:prstGeom>
          <a:noFill/>
        </p:spPr>
        <p:txBody>
          <a:bodyPr wrap="square" lIns="0" rIns="0" tIns="0" bIns="0" anchor="t">
            <a:spAutoFit/>
          </a:bodyPr>
          <a:lstStyle/>
          <a:p>
            <a:pPr algn="l">
              <a:lnSpc>
                <a:spcPct val="115000"/>
              </a:lnSpc>
            </a:pPr>
            <a:r>
              <a:rPr sz="1100" b="0" i="0">
                <a:solidFill>
                  <a:srgbClr val="1C1C1C"/>
                </a:solidFill>
                <a:latin typeface="Inter"/>
              </a:rPr>
              <a:t>Bâtiment menaçant ruine</a:t>
            </a:r>
          </a:p>
        </p:txBody>
      </p:sp>
      <p:cxnSp>
        <p:nvCxnSpPr>
          <p:cNvPr id="61" name="Connector 60"/>
          <p:cNvCxnSpPr/>
          <p:nvPr/>
        </p:nvCxnSpPr>
        <p:spPr>
          <a:xfrm>
            <a:off x="7747000" y="2508250"/>
            <a:ext cx="3937000" cy="0"/>
          </a:xfrm>
          <a:prstGeom prst="line">
            <a:avLst/>
          </a:prstGeom>
          <a:ln w="9525">
            <a:solidFill>
              <a:srgbClr val="CFC8BC"/>
            </a:solidFill>
          </a:ln>
        </p:spPr>
      </p:cxnSp>
      <p:sp>
        <p:nvSpPr>
          <p:cNvPr id="62" name="TextBox 61"/>
          <p:cNvSpPr txBox="1"/>
          <p:nvPr/>
        </p:nvSpPr>
        <p:spPr>
          <a:xfrm>
            <a:off x="7747000" y="26035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OÙ VA L'ARGENT ?</a:t>
            </a:r>
          </a:p>
        </p:txBody>
      </p:sp>
      <p:sp>
        <p:nvSpPr>
          <p:cNvPr id="63" name="TextBox 62"/>
          <p:cNvSpPr txBox="1"/>
          <p:nvPr/>
        </p:nvSpPr>
        <p:spPr>
          <a:xfrm>
            <a:off x="7747000" y="2825750"/>
            <a:ext cx="3810000" cy="165100"/>
          </a:xfrm>
          <a:prstGeom prst="rect">
            <a:avLst/>
          </a:prstGeom>
          <a:noFill/>
        </p:spPr>
        <p:txBody>
          <a:bodyPr wrap="square" lIns="0" rIns="0" tIns="0" bIns="0" anchor="t">
            <a:spAutoFit/>
          </a:bodyPr>
          <a:lstStyle/>
          <a:p>
            <a:pPr algn="l">
              <a:lnSpc>
                <a:spcPct val="115000"/>
              </a:lnSpc>
            </a:pPr>
            <a:r>
              <a:rPr sz="1150" b="1" i="0">
                <a:solidFill>
                  <a:srgbClr val="1C1C1C"/>
                </a:solidFill>
                <a:latin typeface="Inter"/>
              </a:rPr>
              <a:t>Programme médina 2020-2024</a:t>
            </a:r>
          </a:p>
        </p:txBody>
      </p:sp>
      <p:sp>
        <p:nvSpPr>
          <p:cNvPr id="64" name="Rectangle 63"/>
          <p:cNvSpPr/>
          <p:nvPr/>
        </p:nvSpPr>
        <p:spPr>
          <a:xfrm>
            <a:off x="7747000" y="3028950"/>
            <a:ext cx="2794000" cy="254000"/>
          </a:xfrm>
          <a:prstGeom prst="rect">
            <a:avLst/>
          </a:prstGeom>
          <a:solidFill>
            <a:srgbClr val="C8462B"/>
          </a:solidFill>
          <a:ln>
            <a:noFill/>
          </a:ln>
          <a:effectLst/>
        </p:spPr>
        <p:txBody>
          <a:bodyPr rtlCol="0" anchor="ctr"/>
          <a:lstStyle/>
          <a:p>
            <a:pPr algn="ctr"/>
          </a:p>
        </p:txBody>
      </p:sp>
      <p:sp>
        <p:nvSpPr>
          <p:cNvPr id="65" name="TextBox 64"/>
          <p:cNvSpPr txBox="1"/>
          <p:nvPr/>
        </p:nvSpPr>
        <p:spPr>
          <a:xfrm>
            <a:off x="10617200" y="3028950"/>
            <a:ext cx="1270000" cy="254000"/>
          </a:xfrm>
          <a:prstGeom prst="rect">
            <a:avLst/>
          </a:prstGeom>
          <a:noFill/>
        </p:spPr>
        <p:txBody>
          <a:bodyPr wrap="square" lIns="0" rIns="0" tIns="0" bIns="0" anchor="ctr">
            <a:spAutoFit/>
          </a:bodyPr>
          <a:lstStyle/>
          <a:p>
            <a:pPr algn="l">
              <a:lnSpc>
                <a:spcPct val="115000"/>
              </a:lnSpc>
            </a:pPr>
            <a:r>
              <a:rPr sz="1300" b="1" i="0">
                <a:solidFill>
                  <a:srgbClr val="C8462B"/>
                </a:solidFill>
                <a:latin typeface="Inter"/>
              </a:rPr>
              <a:t>850 M MAD</a:t>
            </a:r>
          </a:p>
        </p:txBody>
      </p:sp>
      <p:sp>
        <p:nvSpPr>
          <p:cNvPr id="66" name="TextBox 65"/>
          <p:cNvSpPr txBox="1"/>
          <p:nvPr/>
        </p:nvSpPr>
        <p:spPr>
          <a:xfrm>
            <a:off x="7747000" y="3409950"/>
            <a:ext cx="3810000" cy="165100"/>
          </a:xfrm>
          <a:prstGeom prst="rect">
            <a:avLst/>
          </a:prstGeom>
          <a:noFill/>
        </p:spPr>
        <p:txBody>
          <a:bodyPr wrap="square" lIns="0" rIns="0" tIns="0" bIns="0" anchor="t">
            <a:spAutoFit/>
          </a:bodyPr>
          <a:lstStyle/>
          <a:p>
            <a:pPr algn="l">
              <a:lnSpc>
                <a:spcPct val="115000"/>
              </a:lnSpc>
            </a:pPr>
            <a:r>
              <a:rPr sz="1150" b="1" i="0">
                <a:solidFill>
                  <a:srgbClr val="1C1C1C"/>
                </a:solidFill>
                <a:latin typeface="Inter"/>
              </a:rPr>
              <a:t>Bâtiments menaçant ruine 2024-2027</a:t>
            </a:r>
          </a:p>
        </p:txBody>
      </p:sp>
      <p:sp>
        <p:nvSpPr>
          <p:cNvPr id="67" name="Rectangle 66"/>
          <p:cNvSpPr/>
          <p:nvPr/>
        </p:nvSpPr>
        <p:spPr>
          <a:xfrm>
            <a:off x="7747000" y="3613150"/>
            <a:ext cx="322132" cy="254000"/>
          </a:xfrm>
          <a:prstGeom prst="rect">
            <a:avLst/>
          </a:prstGeom>
          <a:solidFill>
            <a:srgbClr val="1F3A5F"/>
          </a:solidFill>
          <a:ln>
            <a:noFill/>
          </a:ln>
          <a:effectLst/>
        </p:spPr>
        <p:txBody>
          <a:bodyPr rtlCol="0" anchor="ctr"/>
          <a:lstStyle/>
          <a:p>
            <a:pPr algn="ctr"/>
          </a:p>
        </p:txBody>
      </p:sp>
      <p:sp>
        <p:nvSpPr>
          <p:cNvPr id="68" name="TextBox 67"/>
          <p:cNvSpPr txBox="1"/>
          <p:nvPr/>
        </p:nvSpPr>
        <p:spPr>
          <a:xfrm>
            <a:off x="8145332" y="3613150"/>
            <a:ext cx="1270000" cy="254000"/>
          </a:xfrm>
          <a:prstGeom prst="rect">
            <a:avLst/>
          </a:prstGeom>
          <a:noFill/>
        </p:spPr>
        <p:txBody>
          <a:bodyPr wrap="square" lIns="0" rIns="0" tIns="0" bIns="0" anchor="ctr">
            <a:spAutoFit/>
          </a:bodyPr>
          <a:lstStyle/>
          <a:p>
            <a:pPr algn="l">
              <a:lnSpc>
                <a:spcPct val="115000"/>
              </a:lnSpc>
            </a:pPr>
            <a:r>
              <a:rPr sz="1300" b="1" i="0">
                <a:solidFill>
                  <a:srgbClr val="1F3A5F"/>
                </a:solidFill>
                <a:latin typeface="Inter"/>
              </a:rPr>
              <a:t>≈ 98 M MAD</a:t>
            </a:r>
          </a:p>
        </p:txBody>
      </p:sp>
      <p:sp>
        <p:nvSpPr>
          <p:cNvPr id="69" name="TextBox 68"/>
          <p:cNvSpPr txBox="1"/>
          <p:nvPr/>
        </p:nvSpPr>
        <p:spPr>
          <a:xfrm>
            <a:off x="7747000" y="4064000"/>
            <a:ext cx="3937000" cy="317500"/>
          </a:xfrm>
          <a:prstGeom prst="rect">
            <a:avLst/>
          </a:prstGeom>
          <a:noFill/>
        </p:spPr>
        <p:txBody>
          <a:bodyPr wrap="square" lIns="0" rIns="0" tIns="0" bIns="0" anchor="t">
            <a:spAutoFit/>
          </a:bodyPr>
          <a:lstStyle/>
          <a:p>
            <a:pPr algn="l">
              <a:lnSpc>
                <a:spcPct val="115000"/>
              </a:lnSpc>
            </a:pPr>
            <a:r>
              <a:rPr sz="2600" b="1" i="0">
                <a:solidFill>
                  <a:srgbClr val="C8462B"/>
                </a:solidFill>
                <a:latin typeface="Inter"/>
              </a:rPr>
              <a:t>× 8,7</a:t>
            </a:r>
          </a:p>
        </p:txBody>
      </p:sp>
      <p:sp>
        <p:nvSpPr>
          <p:cNvPr id="70" name="TextBox 69"/>
          <p:cNvSpPr txBox="1"/>
          <p:nvPr/>
        </p:nvSpPr>
        <p:spPr>
          <a:xfrm>
            <a:off x="8699500" y="4102100"/>
            <a:ext cx="2984500" cy="3810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plus d'argent pour le décor que pour la sécurité des logements</a:t>
            </a:r>
          </a:p>
        </p:txBody>
      </p:sp>
      <p:cxnSp>
        <p:nvCxnSpPr>
          <p:cNvPr id="71" name="Connector 70"/>
          <p:cNvCxnSpPr/>
          <p:nvPr/>
        </p:nvCxnSpPr>
        <p:spPr>
          <a:xfrm>
            <a:off x="7747000" y="4603750"/>
            <a:ext cx="3937000" cy="0"/>
          </a:xfrm>
          <a:prstGeom prst="line">
            <a:avLst/>
          </a:prstGeom>
          <a:ln w="9525">
            <a:solidFill>
              <a:srgbClr val="CFC8BC"/>
            </a:solidFill>
          </a:ln>
        </p:spPr>
      </p:cxnSp>
      <p:sp>
        <p:nvSpPr>
          <p:cNvPr id="72" name="TextBox 71"/>
          <p:cNvSpPr txBox="1"/>
          <p:nvPr/>
        </p:nvSpPr>
        <p:spPr>
          <a:xfrm>
            <a:off x="7747000" y="4711700"/>
            <a:ext cx="1079500" cy="317500"/>
          </a:xfrm>
          <a:prstGeom prst="rect">
            <a:avLst/>
          </a:prstGeom>
          <a:noFill/>
        </p:spPr>
        <p:txBody>
          <a:bodyPr wrap="square" lIns="0" rIns="0" tIns="0" bIns="0" anchor="t">
            <a:spAutoFit/>
          </a:bodyPr>
          <a:lstStyle/>
          <a:p>
            <a:pPr algn="l">
              <a:lnSpc>
                <a:spcPct val="115000"/>
              </a:lnSpc>
            </a:pPr>
            <a:r>
              <a:rPr sz="2000" b="1" i="0">
                <a:solidFill>
                  <a:srgbClr val="1C1C1C"/>
                </a:solidFill>
                <a:latin typeface="Inter"/>
              </a:rPr>
              <a:t>26 ha</a:t>
            </a:r>
          </a:p>
        </p:txBody>
      </p:sp>
      <p:sp>
        <p:nvSpPr>
          <p:cNvPr id="73" name="TextBox 72"/>
          <p:cNvSpPr txBox="1"/>
          <p:nvPr/>
        </p:nvSpPr>
        <p:spPr>
          <a:xfrm>
            <a:off x="8826500" y="4749800"/>
            <a:ext cx="2857500" cy="381000"/>
          </a:xfrm>
          <a:prstGeom prst="rect">
            <a:avLst/>
          </a:prstGeom>
          <a:noFill/>
        </p:spPr>
        <p:txBody>
          <a:bodyPr wrap="square" lIns="0" rIns="0" tIns="0" bIns="0" anchor="t">
            <a:spAutoFit/>
          </a:bodyPr>
          <a:lstStyle/>
          <a:p>
            <a:pPr algn="l">
              <a:lnSpc>
                <a:spcPct val="110000"/>
              </a:lnSpc>
            </a:pPr>
            <a:r>
              <a:rPr sz="1050" b="0" i="0">
                <a:solidFill>
                  <a:srgbClr val="6E6A64"/>
                </a:solidFill>
                <a:latin typeface="Inter"/>
              </a:rPr>
              <a:t>surface de la médina</a:t>
            </a:r>
          </a:p>
        </p:txBody>
      </p:sp>
      <p:sp>
        <p:nvSpPr>
          <p:cNvPr id="74" name="TextBox 73"/>
          <p:cNvSpPr txBox="1"/>
          <p:nvPr/>
        </p:nvSpPr>
        <p:spPr>
          <a:xfrm>
            <a:off x="7747000" y="5156200"/>
            <a:ext cx="1079500" cy="317500"/>
          </a:xfrm>
          <a:prstGeom prst="rect">
            <a:avLst/>
          </a:prstGeom>
          <a:noFill/>
        </p:spPr>
        <p:txBody>
          <a:bodyPr wrap="square" lIns="0" rIns="0" tIns="0" bIns="0" anchor="t">
            <a:spAutoFit/>
          </a:bodyPr>
          <a:lstStyle/>
          <a:p>
            <a:pPr algn="l">
              <a:lnSpc>
                <a:spcPct val="115000"/>
              </a:lnSpc>
            </a:pPr>
            <a:r>
              <a:rPr sz="2000" b="1" i="0">
                <a:solidFill>
                  <a:srgbClr val="1F3A5F"/>
                </a:solidFill>
                <a:latin typeface="Inter"/>
              </a:rPr>
              <a:t>328</a:t>
            </a:r>
          </a:p>
        </p:txBody>
      </p:sp>
      <p:sp>
        <p:nvSpPr>
          <p:cNvPr id="75" name="TextBox 74"/>
          <p:cNvSpPr txBox="1"/>
          <p:nvPr/>
        </p:nvSpPr>
        <p:spPr>
          <a:xfrm>
            <a:off x="8826500" y="5194300"/>
            <a:ext cx="2857500" cy="381000"/>
          </a:xfrm>
          <a:prstGeom prst="rect">
            <a:avLst/>
          </a:prstGeom>
          <a:noFill/>
        </p:spPr>
        <p:txBody>
          <a:bodyPr wrap="square" lIns="0" rIns="0" tIns="0" bIns="0" anchor="t">
            <a:spAutoFit/>
          </a:bodyPr>
          <a:lstStyle/>
          <a:p>
            <a:pPr algn="l">
              <a:lnSpc>
                <a:spcPct val="110000"/>
              </a:lnSpc>
            </a:pPr>
            <a:r>
              <a:rPr sz="1050" b="0" i="0">
                <a:solidFill>
                  <a:srgbClr val="6E6A64"/>
                </a:solidFill>
                <a:latin typeface="Inter"/>
              </a:rPr>
              <a:t>bâtiments résidentiels menaçant ruine</a:t>
            </a:r>
          </a:p>
        </p:txBody>
      </p:sp>
      <p:sp>
        <p:nvSpPr>
          <p:cNvPr id="76" name="TextBox 75"/>
          <p:cNvSpPr txBox="1"/>
          <p:nvPr/>
        </p:nvSpPr>
        <p:spPr>
          <a:xfrm>
            <a:off x="7747000" y="5600700"/>
            <a:ext cx="1079500" cy="317500"/>
          </a:xfrm>
          <a:prstGeom prst="rect">
            <a:avLst/>
          </a:prstGeom>
          <a:noFill/>
        </p:spPr>
        <p:txBody>
          <a:bodyPr wrap="square" lIns="0" rIns="0" tIns="0" bIns="0" anchor="t">
            <a:spAutoFit/>
          </a:bodyPr>
          <a:lstStyle/>
          <a:p>
            <a:pPr algn="l">
              <a:lnSpc>
                <a:spcPct val="115000"/>
              </a:lnSpc>
            </a:pPr>
            <a:r>
              <a:rPr sz="2000" b="1" i="0">
                <a:solidFill>
                  <a:srgbClr val="1C1C1C"/>
                </a:solidFill>
                <a:latin typeface="Inter"/>
              </a:rPr>
              <a:t>4 axes</a:t>
            </a:r>
          </a:p>
        </p:txBody>
      </p:sp>
      <p:sp>
        <p:nvSpPr>
          <p:cNvPr id="77" name="TextBox 76"/>
          <p:cNvSpPr txBox="1"/>
          <p:nvPr/>
        </p:nvSpPr>
        <p:spPr>
          <a:xfrm>
            <a:off x="8826500" y="5638800"/>
            <a:ext cx="2857500" cy="381000"/>
          </a:xfrm>
          <a:prstGeom prst="rect">
            <a:avLst/>
          </a:prstGeom>
          <a:noFill/>
        </p:spPr>
        <p:txBody>
          <a:bodyPr wrap="square" lIns="0" rIns="0" tIns="0" bIns="0" anchor="t">
            <a:spAutoFit/>
          </a:bodyPr>
          <a:lstStyle/>
          <a:p>
            <a:pPr algn="l">
              <a:lnSpc>
                <a:spcPct val="110000"/>
              </a:lnSpc>
            </a:pPr>
            <a:r>
              <a:rPr sz="1050" b="0" i="0">
                <a:solidFill>
                  <a:srgbClr val="6E6A64"/>
                </a:solidFill>
                <a:latin typeface="Inter"/>
              </a:rPr>
              <a:t>espace urbain, patrimoine, lieux de culte, attractivité touristique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SCHÉMA 2 : LA TOURISTIFICATION</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De la médina habitée à la médina-décor</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Un processus en cinq étapes, documenté dans d'autres médinas marocaines. À Tanger, chaque étape reste une hypothèse à vérifier sur le terrain.</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10 / 17</a:t>
            </a:r>
          </a:p>
        </p:txBody>
      </p:sp>
      <p:sp>
        <p:nvSpPr>
          <p:cNvPr id="11" name="Rounded Rectangle 10"/>
          <p:cNvSpPr/>
          <p:nvPr/>
        </p:nvSpPr>
        <p:spPr>
          <a:xfrm>
            <a:off x="508000" y="3873500"/>
            <a:ext cx="2032000" cy="762000"/>
          </a:xfrm>
          <a:prstGeom prst="roundRect">
            <a:avLst>
              <a:gd name="adj" fmla="val 10000"/>
            </a:avLst>
          </a:prstGeom>
          <a:solidFill>
            <a:srgbClr val="C8462B"/>
          </a:solidFill>
          <a:ln>
            <a:noFill/>
          </a:ln>
          <a:effectLst/>
        </p:spPr>
        <p:txBody>
          <a:bodyPr rtlCol="0" anchor="ctr"/>
          <a:lstStyle/>
          <a:p>
            <a:pPr algn="ctr"/>
          </a:p>
        </p:txBody>
      </p:sp>
      <p:sp>
        <p:nvSpPr>
          <p:cNvPr id="12" name="TextBox 11"/>
          <p:cNvSpPr txBox="1"/>
          <p:nvPr/>
        </p:nvSpPr>
        <p:spPr>
          <a:xfrm>
            <a:off x="647700" y="4013200"/>
            <a:ext cx="381000" cy="444500"/>
          </a:xfrm>
          <a:prstGeom prst="rect">
            <a:avLst/>
          </a:prstGeom>
          <a:noFill/>
        </p:spPr>
        <p:txBody>
          <a:bodyPr wrap="square" lIns="0" rIns="0" tIns="0" bIns="0" anchor="t">
            <a:spAutoFit/>
          </a:bodyPr>
          <a:lstStyle/>
          <a:p>
            <a:pPr algn="l">
              <a:lnSpc>
                <a:spcPct val="115000"/>
              </a:lnSpc>
            </a:pPr>
            <a:r>
              <a:rPr sz="3200" b="1" i="0">
                <a:solidFill>
                  <a:srgbClr val="FFFFFF"/>
                </a:solidFill>
                <a:latin typeface="Inter"/>
              </a:rPr>
              <a:t>1</a:t>
            </a:r>
          </a:p>
        </p:txBody>
      </p:sp>
      <p:sp>
        <p:nvSpPr>
          <p:cNvPr id="13" name="TextBox 12"/>
          <p:cNvSpPr txBox="1"/>
          <p:nvPr/>
        </p:nvSpPr>
        <p:spPr>
          <a:xfrm>
            <a:off x="1028700" y="4025900"/>
            <a:ext cx="1460500" cy="215900"/>
          </a:xfrm>
          <a:prstGeom prst="rect">
            <a:avLst/>
          </a:prstGeom>
          <a:noFill/>
        </p:spPr>
        <p:txBody>
          <a:bodyPr wrap="square" lIns="0" rIns="0" tIns="0" bIns="0" anchor="t">
            <a:spAutoFit/>
          </a:bodyPr>
          <a:lstStyle/>
          <a:p>
            <a:pPr algn="l">
              <a:lnSpc>
                <a:spcPct val="115000"/>
              </a:lnSpc>
            </a:pPr>
            <a:r>
              <a:rPr sz="1700" b="1" i="0">
                <a:solidFill>
                  <a:srgbClr val="FFFFFF"/>
                </a:solidFill>
                <a:latin typeface="Inter"/>
              </a:rPr>
              <a:t>Restaurer</a:t>
            </a:r>
          </a:p>
        </p:txBody>
      </p:sp>
      <p:sp>
        <p:nvSpPr>
          <p:cNvPr id="14" name="TextBox 13"/>
          <p:cNvSpPr txBox="1"/>
          <p:nvPr/>
        </p:nvSpPr>
        <p:spPr>
          <a:xfrm>
            <a:off x="1028700" y="4267200"/>
            <a:ext cx="1460500" cy="215900"/>
          </a:xfrm>
          <a:prstGeom prst="rect">
            <a:avLst/>
          </a:prstGeom>
          <a:noFill/>
        </p:spPr>
        <p:txBody>
          <a:bodyPr wrap="square" lIns="0" rIns="0" tIns="0" bIns="0" anchor="t">
            <a:spAutoFit/>
          </a:bodyPr>
          <a:lstStyle/>
          <a:p>
            <a:pPr algn="l">
              <a:lnSpc>
                <a:spcPct val="115000"/>
              </a:lnSpc>
            </a:pPr>
            <a:r>
              <a:rPr sz="1300" b="0" i="0">
                <a:solidFill>
                  <a:srgbClr val="FFFFFF"/>
                </a:solidFill>
                <a:latin typeface="Inter"/>
              </a:rPr>
              <a:t>les façades</a:t>
            </a:r>
          </a:p>
        </p:txBody>
      </p:sp>
      <p:sp>
        <p:nvSpPr>
          <p:cNvPr id="15" name="TextBox 14"/>
          <p:cNvSpPr txBox="1"/>
          <p:nvPr/>
        </p:nvSpPr>
        <p:spPr>
          <a:xfrm>
            <a:off x="508000" y="4724400"/>
            <a:ext cx="2032000" cy="5080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portes, places et parcours visibles sont refaits en premier</a:t>
            </a:r>
          </a:p>
        </p:txBody>
      </p:sp>
      <p:sp>
        <p:nvSpPr>
          <p:cNvPr id="16" name="Rectangle 15"/>
          <p:cNvSpPr/>
          <p:nvPr/>
        </p:nvSpPr>
        <p:spPr>
          <a:xfrm>
            <a:off x="508000" y="5524500"/>
            <a:ext cx="2032000" cy="584200"/>
          </a:xfrm>
          <a:prstGeom prst="rect">
            <a:avLst/>
          </a:prstGeom>
          <a:solidFill>
            <a:srgbClr val="FFFFFF"/>
          </a:solidFill>
          <a:ln w="12700">
            <a:solidFill>
              <a:srgbClr val="C8462B"/>
            </a:solidFill>
          </a:ln>
          <a:effectLst/>
        </p:spPr>
        <p:txBody>
          <a:bodyPr rtlCol="0" anchor="ctr"/>
          <a:lstStyle/>
          <a:p>
            <a:pPr algn="ctr"/>
          </a:p>
        </p:txBody>
      </p:sp>
      <p:sp>
        <p:nvSpPr>
          <p:cNvPr id="17" name="TextBox 16"/>
          <p:cNvSpPr txBox="1"/>
          <p:nvPr/>
        </p:nvSpPr>
        <p:spPr>
          <a:xfrm>
            <a:off x="609600" y="5588000"/>
            <a:ext cx="1841500" cy="127000"/>
          </a:xfrm>
          <a:prstGeom prst="rect">
            <a:avLst/>
          </a:prstGeom>
          <a:noFill/>
        </p:spPr>
        <p:txBody>
          <a:bodyPr wrap="square" lIns="0" rIns="0" tIns="0" bIns="0" anchor="t">
            <a:spAutoFit/>
          </a:bodyPr>
          <a:lstStyle/>
          <a:p>
            <a:pPr algn="l">
              <a:lnSpc>
                <a:spcPct val="115000"/>
              </a:lnSpc>
            </a:pPr>
            <a:r>
              <a:rPr sz="850" b="1" i="0">
                <a:solidFill>
                  <a:srgbClr val="C8462B"/>
                </a:solidFill>
                <a:latin typeface="Inter"/>
              </a:rPr>
              <a:t>À OBSERVER</a:t>
            </a:r>
          </a:p>
        </p:txBody>
      </p:sp>
      <p:sp>
        <p:nvSpPr>
          <p:cNvPr id="18" name="TextBox 17"/>
          <p:cNvSpPr txBox="1"/>
          <p:nvPr/>
        </p:nvSpPr>
        <p:spPr>
          <a:xfrm>
            <a:off x="609600" y="5740400"/>
            <a:ext cx="1841500" cy="342900"/>
          </a:xfrm>
          <a:prstGeom prst="rect">
            <a:avLst/>
          </a:prstGeom>
          <a:noFill/>
        </p:spPr>
        <p:txBody>
          <a:bodyPr wrap="square" lIns="0" rIns="0" tIns="0" bIns="0" anchor="t">
            <a:spAutoFit/>
          </a:bodyPr>
          <a:lstStyle/>
          <a:p>
            <a:pPr algn="l">
              <a:lnSpc>
                <a:spcPct val="110000"/>
              </a:lnSpc>
            </a:pPr>
            <a:r>
              <a:rPr sz="1050" b="0" i="0">
                <a:solidFill>
                  <a:srgbClr val="1C1C1C"/>
                </a:solidFill>
                <a:latin typeface="Inter"/>
              </a:rPr>
              <a:t>façades restaurées vs ruelles résidentielles</a:t>
            </a:r>
          </a:p>
        </p:txBody>
      </p:sp>
      <p:cxnSp>
        <p:nvCxnSpPr>
          <p:cNvPr id="19" name="Connector 18"/>
          <p:cNvCxnSpPr/>
          <p:nvPr/>
        </p:nvCxnSpPr>
        <p:spPr>
          <a:xfrm flipV="1">
            <a:off x="2565400" y="3746500"/>
            <a:ext cx="177800" cy="317500"/>
          </a:xfrm>
          <a:prstGeom prst="line">
            <a:avLst/>
          </a:prstGeom>
          <a:ln w="19050">
            <a:solidFill>
              <a:srgbClr val="1C1C1C"/>
            </a:solidFill>
            <a:tailEnd type="triangle" w="med" len="med"/>
          </a:ln>
        </p:spPr>
      </p:cxnSp>
      <p:sp>
        <p:nvSpPr>
          <p:cNvPr id="20" name="Rounded Rectangle 19"/>
          <p:cNvSpPr/>
          <p:nvPr/>
        </p:nvSpPr>
        <p:spPr>
          <a:xfrm>
            <a:off x="2768600" y="3416300"/>
            <a:ext cx="2032000" cy="762000"/>
          </a:xfrm>
          <a:prstGeom prst="roundRect">
            <a:avLst>
              <a:gd name="adj" fmla="val 10000"/>
            </a:avLst>
          </a:prstGeom>
          <a:solidFill>
            <a:srgbClr val="C8462B"/>
          </a:solidFill>
          <a:ln>
            <a:noFill/>
          </a:ln>
          <a:effectLst/>
        </p:spPr>
        <p:txBody>
          <a:bodyPr rtlCol="0" anchor="ctr"/>
          <a:lstStyle/>
          <a:p>
            <a:pPr algn="ctr"/>
          </a:p>
        </p:txBody>
      </p:sp>
      <p:sp>
        <p:nvSpPr>
          <p:cNvPr id="21" name="TextBox 20"/>
          <p:cNvSpPr txBox="1"/>
          <p:nvPr/>
        </p:nvSpPr>
        <p:spPr>
          <a:xfrm>
            <a:off x="2908300" y="3556000"/>
            <a:ext cx="381000" cy="444500"/>
          </a:xfrm>
          <a:prstGeom prst="rect">
            <a:avLst/>
          </a:prstGeom>
          <a:noFill/>
        </p:spPr>
        <p:txBody>
          <a:bodyPr wrap="square" lIns="0" rIns="0" tIns="0" bIns="0" anchor="t">
            <a:spAutoFit/>
          </a:bodyPr>
          <a:lstStyle/>
          <a:p>
            <a:pPr algn="l">
              <a:lnSpc>
                <a:spcPct val="115000"/>
              </a:lnSpc>
            </a:pPr>
            <a:r>
              <a:rPr sz="3200" b="1" i="0">
                <a:solidFill>
                  <a:srgbClr val="FFFFFF"/>
                </a:solidFill>
                <a:latin typeface="Inter"/>
              </a:rPr>
              <a:t>2</a:t>
            </a:r>
          </a:p>
        </p:txBody>
      </p:sp>
      <p:sp>
        <p:nvSpPr>
          <p:cNvPr id="22" name="TextBox 21"/>
          <p:cNvSpPr txBox="1"/>
          <p:nvPr/>
        </p:nvSpPr>
        <p:spPr>
          <a:xfrm>
            <a:off x="3289300" y="3568700"/>
            <a:ext cx="1460500" cy="215900"/>
          </a:xfrm>
          <a:prstGeom prst="rect">
            <a:avLst/>
          </a:prstGeom>
          <a:noFill/>
        </p:spPr>
        <p:txBody>
          <a:bodyPr wrap="square" lIns="0" rIns="0" tIns="0" bIns="0" anchor="t">
            <a:spAutoFit/>
          </a:bodyPr>
          <a:lstStyle/>
          <a:p>
            <a:pPr algn="l">
              <a:lnSpc>
                <a:spcPct val="115000"/>
              </a:lnSpc>
            </a:pPr>
            <a:r>
              <a:rPr sz="1700" b="1" i="0">
                <a:solidFill>
                  <a:srgbClr val="FFFFFF"/>
                </a:solidFill>
                <a:latin typeface="Inter"/>
              </a:rPr>
              <a:t>Acheter</a:t>
            </a:r>
          </a:p>
        </p:txBody>
      </p:sp>
      <p:sp>
        <p:nvSpPr>
          <p:cNvPr id="23" name="TextBox 22"/>
          <p:cNvSpPr txBox="1"/>
          <p:nvPr/>
        </p:nvSpPr>
        <p:spPr>
          <a:xfrm>
            <a:off x="3289300" y="3810000"/>
            <a:ext cx="1460500" cy="215900"/>
          </a:xfrm>
          <a:prstGeom prst="rect">
            <a:avLst/>
          </a:prstGeom>
          <a:noFill/>
        </p:spPr>
        <p:txBody>
          <a:bodyPr wrap="square" lIns="0" rIns="0" tIns="0" bIns="0" anchor="t">
            <a:spAutoFit/>
          </a:bodyPr>
          <a:lstStyle/>
          <a:p>
            <a:pPr algn="l">
              <a:lnSpc>
                <a:spcPct val="115000"/>
              </a:lnSpc>
            </a:pPr>
            <a:r>
              <a:rPr sz="1300" b="0" i="0">
                <a:solidFill>
                  <a:srgbClr val="FFFFFF"/>
                </a:solidFill>
                <a:latin typeface="Inter"/>
              </a:rPr>
              <a:t>les maisons</a:t>
            </a:r>
          </a:p>
        </p:txBody>
      </p:sp>
      <p:sp>
        <p:nvSpPr>
          <p:cNvPr id="24" name="TextBox 23"/>
          <p:cNvSpPr txBox="1"/>
          <p:nvPr/>
        </p:nvSpPr>
        <p:spPr>
          <a:xfrm>
            <a:off x="2768600" y="4267200"/>
            <a:ext cx="2032000" cy="5080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des investisseurs achètent dar et riads</a:t>
            </a:r>
          </a:p>
        </p:txBody>
      </p:sp>
      <p:sp>
        <p:nvSpPr>
          <p:cNvPr id="25" name="Rectangle 24"/>
          <p:cNvSpPr/>
          <p:nvPr/>
        </p:nvSpPr>
        <p:spPr>
          <a:xfrm>
            <a:off x="2768600" y="5524500"/>
            <a:ext cx="2032000" cy="584200"/>
          </a:xfrm>
          <a:prstGeom prst="rect">
            <a:avLst/>
          </a:prstGeom>
          <a:solidFill>
            <a:srgbClr val="FFFFFF"/>
          </a:solidFill>
          <a:ln w="12700">
            <a:solidFill>
              <a:srgbClr val="C8462B"/>
            </a:solidFill>
          </a:ln>
          <a:effectLst/>
        </p:spPr>
        <p:txBody>
          <a:bodyPr rtlCol="0" anchor="ctr"/>
          <a:lstStyle/>
          <a:p>
            <a:pPr algn="ctr"/>
          </a:p>
        </p:txBody>
      </p:sp>
      <p:sp>
        <p:nvSpPr>
          <p:cNvPr id="26" name="TextBox 25"/>
          <p:cNvSpPr txBox="1"/>
          <p:nvPr/>
        </p:nvSpPr>
        <p:spPr>
          <a:xfrm>
            <a:off x="2870200" y="5588000"/>
            <a:ext cx="1841500" cy="127000"/>
          </a:xfrm>
          <a:prstGeom prst="rect">
            <a:avLst/>
          </a:prstGeom>
          <a:noFill/>
        </p:spPr>
        <p:txBody>
          <a:bodyPr wrap="square" lIns="0" rIns="0" tIns="0" bIns="0" anchor="t">
            <a:spAutoFit/>
          </a:bodyPr>
          <a:lstStyle/>
          <a:p>
            <a:pPr algn="l">
              <a:lnSpc>
                <a:spcPct val="115000"/>
              </a:lnSpc>
            </a:pPr>
            <a:r>
              <a:rPr sz="850" b="1" i="0">
                <a:solidFill>
                  <a:srgbClr val="C8462B"/>
                </a:solidFill>
                <a:latin typeface="Inter"/>
              </a:rPr>
              <a:t>À OBSERVER</a:t>
            </a:r>
          </a:p>
        </p:txBody>
      </p:sp>
      <p:sp>
        <p:nvSpPr>
          <p:cNvPr id="27" name="TextBox 26"/>
          <p:cNvSpPr txBox="1"/>
          <p:nvPr/>
        </p:nvSpPr>
        <p:spPr>
          <a:xfrm>
            <a:off x="2870200" y="5740400"/>
            <a:ext cx="1841500" cy="342900"/>
          </a:xfrm>
          <a:prstGeom prst="rect">
            <a:avLst/>
          </a:prstGeom>
          <a:noFill/>
        </p:spPr>
        <p:txBody>
          <a:bodyPr wrap="square" lIns="0" rIns="0" tIns="0" bIns="0" anchor="t">
            <a:spAutoFit/>
          </a:bodyPr>
          <a:lstStyle/>
          <a:p>
            <a:pPr algn="l">
              <a:lnSpc>
                <a:spcPct val="110000"/>
              </a:lnSpc>
            </a:pPr>
            <a:r>
              <a:rPr sz="1050" b="0" i="0">
                <a:solidFill>
                  <a:srgbClr val="1C1C1C"/>
                </a:solidFill>
                <a:latin typeface="Inter"/>
              </a:rPr>
              <a:t>annonces « projet maison d'hôtes »</a:t>
            </a:r>
          </a:p>
        </p:txBody>
      </p:sp>
      <p:cxnSp>
        <p:nvCxnSpPr>
          <p:cNvPr id="28" name="Connector 27"/>
          <p:cNvCxnSpPr/>
          <p:nvPr/>
        </p:nvCxnSpPr>
        <p:spPr>
          <a:xfrm flipV="1">
            <a:off x="4826000" y="3289300"/>
            <a:ext cx="177800" cy="317500"/>
          </a:xfrm>
          <a:prstGeom prst="line">
            <a:avLst/>
          </a:prstGeom>
          <a:ln w="19050">
            <a:solidFill>
              <a:srgbClr val="1C1C1C"/>
            </a:solidFill>
            <a:tailEnd type="triangle" w="med" len="med"/>
          </a:ln>
        </p:spPr>
      </p:cxnSp>
      <p:sp>
        <p:nvSpPr>
          <p:cNvPr id="29" name="Rounded Rectangle 28"/>
          <p:cNvSpPr/>
          <p:nvPr/>
        </p:nvSpPr>
        <p:spPr>
          <a:xfrm>
            <a:off x="5029200" y="2959100"/>
            <a:ext cx="2032000" cy="762000"/>
          </a:xfrm>
          <a:prstGeom prst="roundRect">
            <a:avLst>
              <a:gd name="adj" fmla="val 10000"/>
            </a:avLst>
          </a:prstGeom>
          <a:solidFill>
            <a:srgbClr val="D9A441"/>
          </a:solidFill>
          <a:ln>
            <a:noFill/>
          </a:ln>
          <a:effectLst/>
        </p:spPr>
        <p:txBody>
          <a:bodyPr rtlCol="0" anchor="ctr"/>
          <a:lstStyle/>
          <a:p>
            <a:pPr algn="ctr"/>
          </a:p>
        </p:txBody>
      </p:sp>
      <p:sp>
        <p:nvSpPr>
          <p:cNvPr id="30" name="TextBox 29"/>
          <p:cNvSpPr txBox="1"/>
          <p:nvPr/>
        </p:nvSpPr>
        <p:spPr>
          <a:xfrm>
            <a:off x="5168900" y="3098800"/>
            <a:ext cx="381000" cy="444500"/>
          </a:xfrm>
          <a:prstGeom prst="rect">
            <a:avLst/>
          </a:prstGeom>
          <a:noFill/>
        </p:spPr>
        <p:txBody>
          <a:bodyPr wrap="square" lIns="0" rIns="0" tIns="0" bIns="0" anchor="t">
            <a:spAutoFit/>
          </a:bodyPr>
          <a:lstStyle/>
          <a:p>
            <a:pPr algn="l">
              <a:lnSpc>
                <a:spcPct val="115000"/>
              </a:lnSpc>
            </a:pPr>
            <a:r>
              <a:rPr sz="3200" b="1" i="0">
                <a:solidFill>
                  <a:srgbClr val="FFFFFF"/>
                </a:solidFill>
                <a:latin typeface="Inter"/>
              </a:rPr>
              <a:t>3</a:t>
            </a:r>
          </a:p>
        </p:txBody>
      </p:sp>
      <p:sp>
        <p:nvSpPr>
          <p:cNvPr id="31" name="TextBox 30"/>
          <p:cNvSpPr txBox="1"/>
          <p:nvPr/>
        </p:nvSpPr>
        <p:spPr>
          <a:xfrm>
            <a:off x="5549900" y="3111500"/>
            <a:ext cx="1460500" cy="215900"/>
          </a:xfrm>
          <a:prstGeom prst="rect">
            <a:avLst/>
          </a:prstGeom>
          <a:noFill/>
        </p:spPr>
        <p:txBody>
          <a:bodyPr wrap="square" lIns="0" rIns="0" tIns="0" bIns="0" anchor="t">
            <a:spAutoFit/>
          </a:bodyPr>
          <a:lstStyle/>
          <a:p>
            <a:pPr algn="l">
              <a:lnSpc>
                <a:spcPct val="115000"/>
              </a:lnSpc>
            </a:pPr>
            <a:r>
              <a:rPr sz="1700" b="1" i="0">
                <a:solidFill>
                  <a:srgbClr val="FFFFFF"/>
                </a:solidFill>
                <a:latin typeface="Inter"/>
              </a:rPr>
              <a:t>Convertir</a:t>
            </a:r>
          </a:p>
        </p:txBody>
      </p:sp>
      <p:sp>
        <p:nvSpPr>
          <p:cNvPr id="32" name="TextBox 31"/>
          <p:cNvSpPr txBox="1"/>
          <p:nvPr/>
        </p:nvSpPr>
        <p:spPr>
          <a:xfrm>
            <a:off x="5549900" y="3352800"/>
            <a:ext cx="1460500" cy="215900"/>
          </a:xfrm>
          <a:prstGeom prst="rect">
            <a:avLst/>
          </a:prstGeom>
          <a:noFill/>
        </p:spPr>
        <p:txBody>
          <a:bodyPr wrap="square" lIns="0" rIns="0" tIns="0" bIns="0" anchor="t">
            <a:spAutoFit/>
          </a:bodyPr>
          <a:lstStyle/>
          <a:p>
            <a:pPr algn="l">
              <a:lnSpc>
                <a:spcPct val="115000"/>
              </a:lnSpc>
            </a:pPr>
            <a:r>
              <a:rPr sz="1300" b="0" i="0">
                <a:solidFill>
                  <a:srgbClr val="FFFFFF"/>
                </a:solidFill>
                <a:latin typeface="Inter"/>
              </a:rPr>
              <a:t>en hébergement</a:t>
            </a:r>
          </a:p>
        </p:txBody>
      </p:sp>
      <p:sp>
        <p:nvSpPr>
          <p:cNvPr id="33" name="TextBox 32"/>
          <p:cNvSpPr txBox="1"/>
          <p:nvPr/>
        </p:nvSpPr>
        <p:spPr>
          <a:xfrm>
            <a:off x="5029200" y="3810000"/>
            <a:ext cx="2032000" cy="5080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maisons d'hôtes et locations de courte durée</a:t>
            </a:r>
          </a:p>
        </p:txBody>
      </p:sp>
      <p:sp>
        <p:nvSpPr>
          <p:cNvPr id="34" name="Rectangle 33"/>
          <p:cNvSpPr/>
          <p:nvPr/>
        </p:nvSpPr>
        <p:spPr>
          <a:xfrm>
            <a:off x="5029200" y="5524500"/>
            <a:ext cx="2032000" cy="584200"/>
          </a:xfrm>
          <a:prstGeom prst="rect">
            <a:avLst/>
          </a:prstGeom>
          <a:solidFill>
            <a:srgbClr val="FFFFFF"/>
          </a:solidFill>
          <a:ln w="12700">
            <a:solidFill>
              <a:srgbClr val="D9A441"/>
            </a:solidFill>
          </a:ln>
          <a:effectLst/>
        </p:spPr>
        <p:txBody>
          <a:bodyPr rtlCol="0" anchor="ctr"/>
          <a:lstStyle/>
          <a:p>
            <a:pPr algn="ctr"/>
          </a:p>
        </p:txBody>
      </p:sp>
      <p:sp>
        <p:nvSpPr>
          <p:cNvPr id="35" name="TextBox 34"/>
          <p:cNvSpPr txBox="1"/>
          <p:nvPr/>
        </p:nvSpPr>
        <p:spPr>
          <a:xfrm>
            <a:off x="5130800" y="5588000"/>
            <a:ext cx="1841500" cy="127000"/>
          </a:xfrm>
          <a:prstGeom prst="rect">
            <a:avLst/>
          </a:prstGeom>
          <a:noFill/>
        </p:spPr>
        <p:txBody>
          <a:bodyPr wrap="square" lIns="0" rIns="0" tIns="0" bIns="0" anchor="t">
            <a:spAutoFit/>
          </a:bodyPr>
          <a:lstStyle/>
          <a:p>
            <a:pPr algn="l">
              <a:lnSpc>
                <a:spcPct val="115000"/>
              </a:lnSpc>
            </a:pPr>
            <a:r>
              <a:rPr sz="850" b="1" i="0">
                <a:solidFill>
                  <a:srgbClr val="D9A441"/>
                </a:solidFill>
                <a:latin typeface="Inter"/>
              </a:rPr>
              <a:t>À OBSERVER</a:t>
            </a:r>
          </a:p>
        </p:txBody>
      </p:sp>
      <p:sp>
        <p:nvSpPr>
          <p:cNvPr id="36" name="TextBox 35"/>
          <p:cNvSpPr txBox="1"/>
          <p:nvPr/>
        </p:nvSpPr>
        <p:spPr>
          <a:xfrm>
            <a:off x="5130800" y="5740400"/>
            <a:ext cx="1841500" cy="342900"/>
          </a:xfrm>
          <a:prstGeom prst="rect">
            <a:avLst/>
          </a:prstGeom>
          <a:noFill/>
        </p:spPr>
        <p:txBody>
          <a:bodyPr wrap="square" lIns="0" rIns="0" tIns="0" bIns="0" anchor="t">
            <a:spAutoFit/>
          </a:bodyPr>
          <a:lstStyle/>
          <a:p>
            <a:pPr algn="l">
              <a:lnSpc>
                <a:spcPct val="110000"/>
              </a:lnSpc>
            </a:pPr>
            <a:r>
              <a:rPr sz="1050" b="0" i="0">
                <a:solidFill>
                  <a:srgbClr val="1C1C1C"/>
                </a:solidFill>
                <a:latin typeface="Inter"/>
              </a:rPr>
              <a:t>nombre d'hébergements par rue</a:t>
            </a:r>
          </a:p>
        </p:txBody>
      </p:sp>
      <p:cxnSp>
        <p:nvCxnSpPr>
          <p:cNvPr id="37" name="Connector 36"/>
          <p:cNvCxnSpPr/>
          <p:nvPr/>
        </p:nvCxnSpPr>
        <p:spPr>
          <a:xfrm flipV="1">
            <a:off x="7086600" y="2832100"/>
            <a:ext cx="177800" cy="317500"/>
          </a:xfrm>
          <a:prstGeom prst="line">
            <a:avLst/>
          </a:prstGeom>
          <a:ln w="19050">
            <a:solidFill>
              <a:srgbClr val="1C1C1C"/>
            </a:solidFill>
            <a:tailEnd type="triangle" w="med" len="med"/>
          </a:ln>
        </p:spPr>
      </p:cxnSp>
      <p:sp>
        <p:nvSpPr>
          <p:cNvPr id="38" name="Rounded Rectangle 37"/>
          <p:cNvSpPr/>
          <p:nvPr/>
        </p:nvSpPr>
        <p:spPr>
          <a:xfrm>
            <a:off x="7289800" y="2501900"/>
            <a:ext cx="2032000" cy="762000"/>
          </a:xfrm>
          <a:prstGeom prst="roundRect">
            <a:avLst>
              <a:gd name="adj" fmla="val 10000"/>
            </a:avLst>
          </a:prstGeom>
          <a:solidFill>
            <a:srgbClr val="1F3A5F"/>
          </a:solidFill>
          <a:ln>
            <a:noFill/>
          </a:ln>
          <a:effectLst/>
        </p:spPr>
        <p:txBody>
          <a:bodyPr rtlCol="0" anchor="ctr"/>
          <a:lstStyle/>
          <a:p>
            <a:pPr algn="ctr"/>
          </a:p>
        </p:txBody>
      </p:sp>
      <p:sp>
        <p:nvSpPr>
          <p:cNvPr id="39" name="TextBox 38"/>
          <p:cNvSpPr txBox="1"/>
          <p:nvPr/>
        </p:nvSpPr>
        <p:spPr>
          <a:xfrm>
            <a:off x="7429500" y="2641600"/>
            <a:ext cx="381000" cy="444500"/>
          </a:xfrm>
          <a:prstGeom prst="rect">
            <a:avLst/>
          </a:prstGeom>
          <a:noFill/>
        </p:spPr>
        <p:txBody>
          <a:bodyPr wrap="square" lIns="0" rIns="0" tIns="0" bIns="0" anchor="t">
            <a:spAutoFit/>
          </a:bodyPr>
          <a:lstStyle/>
          <a:p>
            <a:pPr algn="l">
              <a:lnSpc>
                <a:spcPct val="115000"/>
              </a:lnSpc>
            </a:pPr>
            <a:r>
              <a:rPr sz="3200" b="1" i="0">
                <a:solidFill>
                  <a:srgbClr val="FFFFFF"/>
                </a:solidFill>
                <a:latin typeface="Inter"/>
              </a:rPr>
              <a:t>4</a:t>
            </a:r>
          </a:p>
        </p:txBody>
      </p:sp>
      <p:sp>
        <p:nvSpPr>
          <p:cNvPr id="40" name="TextBox 39"/>
          <p:cNvSpPr txBox="1"/>
          <p:nvPr/>
        </p:nvSpPr>
        <p:spPr>
          <a:xfrm>
            <a:off x="7810500" y="2654300"/>
            <a:ext cx="1460500" cy="215900"/>
          </a:xfrm>
          <a:prstGeom prst="rect">
            <a:avLst/>
          </a:prstGeom>
          <a:noFill/>
        </p:spPr>
        <p:txBody>
          <a:bodyPr wrap="square" lIns="0" rIns="0" tIns="0" bIns="0" anchor="t">
            <a:spAutoFit/>
          </a:bodyPr>
          <a:lstStyle/>
          <a:p>
            <a:pPr algn="l">
              <a:lnSpc>
                <a:spcPct val="115000"/>
              </a:lnSpc>
            </a:pPr>
            <a:r>
              <a:rPr sz="1700" b="1" i="0">
                <a:solidFill>
                  <a:srgbClr val="FFFFFF"/>
                </a:solidFill>
                <a:latin typeface="Inter"/>
              </a:rPr>
              <a:t>Monter</a:t>
            </a:r>
          </a:p>
        </p:txBody>
      </p:sp>
      <p:sp>
        <p:nvSpPr>
          <p:cNvPr id="41" name="TextBox 40"/>
          <p:cNvSpPr txBox="1"/>
          <p:nvPr/>
        </p:nvSpPr>
        <p:spPr>
          <a:xfrm>
            <a:off x="7810500" y="2895600"/>
            <a:ext cx="1460500" cy="215900"/>
          </a:xfrm>
          <a:prstGeom prst="rect">
            <a:avLst/>
          </a:prstGeom>
          <a:noFill/>
        </p:spPr>
        <p:txBody>
          <a:bodyPr wrap="square" lIns="0" rIns="0" tIns="0" bIns="0" anchor="t">
            <a:spAutoFit/>
          </a:bodyPr>
          <a:lstStyle/>
          <a:p>
            <a:pPr algn="l">
              <a:lnSpc>
                <a:spcPct val="115000"/>
              </a:lnSpc>
            </a:pPr>
            <a:r>
              <a:rPr sz="1300" b="0" i="0">
                <a:solidFill>
                  <a:srgbClr val="FFFFFF"/>
                </a:solidFill>
                <a:latin typeface="Inter"/>
              </a:rPr>
              <a:t>les prix</a:t>
            </a:r>
          </a:p>
        </p:txBody>
      </p:sp>
      <p:sp>
        <p:nvSpPr>
          <p:cNvPr id="42" name="TextBox 41"/>
          <p:cNvSpPr txBox="1"/>
          <p:nvPr/>
        </p:nvSpPr>
        <p:spPr>
          <a:xfrm>
            <a:off x="7289800" y="3352800"/>
            <a:ext cx="2032000" cy="5080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loyers et prix hors de portée des familles, qui partent</a:t>
            </a:r>
          </a:p>
        </p:txBody>
      </p:sp>
      <p:sp>
        <p:nvSpPr>
          <p:cNvPr id="43" name="Rectangle 42"/>
          <p:cNvSpPr/>
          <p:nvPr/>
        </p:nvSpPr>
        <p:spPr>
          <a:xfrm>
            <a:off x="7289800" y="5524500"/>
            <a:ext cx="2032000" cy="584200"/>
          </a:xfrm>
          <a:prstGeom prst="rect">
            <a:avLst/>
          </a:prstGeom>
          <a:solidFill>
            <a:srgbClr val="FFFFFF"/>
          </a:solidFill>
          <a:ln w="12700">
            <a:solidFill>
              <a:srgbClr val="1F3A5F"/>
            </a:solidFill>
          </a:ln>
          <a:effectLst/>
        </p:spPr>
        <p:txBody>
          <a:bodyPr rtlCol="0" anchor="ctr"/>
          <a:lstStyle/>
          <a:p>
            <a:pPr algn="ctr"/>
          </a:p>
        </p:txBody>
      </p:sp>
      <p:sp>
        <p:nvSpPr>
          <p:cNvPr id="44" name="TextBox 43"/>
          <p:cNvSpPr txBox="1"/>
          <p:nvPr/>
        </p:nvSpPr>
        <p:spPr>
          <a:xfrm>
            <a:off x="7391400" y="5588000"/>
            <a:ext cx="1841500" cy="127000"/>
          </a:xfrm>
          <a:prstGeom prst="rect">
            <a:avLst/>
          </a:prstGeom>
          <a:noFill/>
        </p:spPr>
        <p:txBody>
          <a:bodyPr wrap="square" lIns="0" rIns="0" tIns="0" bIns="0" anchor="t">
            <a:spAutoFit/>
          </a:bodyPr>
          <a:lstStyle/>
          <a:p>
            <a:pPr algn="l">
              <a:lnSpc>
                <a:spcPct val="115000"/>
              </a:lnSpc>
            </a:pPr>
            <a:r>
              <a:rPr sz="850" b="1" i="0">
                <a:solidFill>
                  <a:srgbClr val="1F3A5F"/>
                </a:solidFill>
                <a:latin typeface="Inter"/>
              </a:rPr>
              <a:t>À OBSERVER</a:t>
            </a:r>
          </a:p>
        </p:txBody>
      </p:sp>
      <p:sp>
        <p:nvSpPr>
          <p:cNvPr id="45" name="TextBox 44"/>
          <p:cNvSpPr txBox="1"/>
          <p:nvPr/>
        </p:nvSpPr>
        <p:spPr>
          <a:xfrm>
            <a:off x="7391400" y="5740400"/>
            <a:ext cx="1841500" cy="342900"/>
          </a:xfrm>
          <a:prstGeom prst="rect">
            <a:avLst/>
          </a:prstGeom>
          <a:noFill/>
        </p:spPr>
        <p:txBody>
          <a:bodyPr wrap="square" lIns="0" rIns="0" tIns="0" bIns="0" anchor="t">
            <a:spAutoFit/>
          </a:bodyPr>
          <a:lstStyle/>
          <a:p>
            <a:pPr algn="l">
              <a:lnSpc>
                <a:spcPct val="110000"/>
              </a:lnSpc>
            </a:pPr>
            <a:r>
              <a:rPr sz="1050" b="0" i="0">
                <a:solidFill>
                  <a:srgbClr val="1C1C1C"/>
                </a:solidFill>
                <a:latin typeface="Inter"/>
              </a:rPr>
              <a:t>loyers, prix au m², ménages partis</a:t>
            </a:r>
          </a:p>
        </p:txBody>
      </p:sp>
      <p:cxnSp>
        <p:nvCxnSpPr>
          <p:cNvPr id="46" name="Connector 45"/>
          <p:cNvCxnSpPr/>
          <p:nvPr/>
        </p:nvCxnSpPr>
        <p:spPr>
          <a:xfrm flipV="1">
            <a:off x="9347200" y="2374900"/>
            <a:ext cx="177800" cy="317500"/>
          </a:xfrm>
          <a:prstGeom prst="line">
            <a:avLst/>
          </a:prstGeom>
          <a:ln w="19050">
            <a:solidFill>
              <a:srgbClr val="1C1C1C"/>
            </a:solidFill>
            <a:tailEnd type="triangle" w="med" len="med"/>
          </a:ln>
        </p:spPr>
      </p:cxnSp>
      <p:sp>
        <p:nvSpPr>
          <p:cNvPr id="47" name="Rounded Rectangle 46"/>
          <p:cNvSpPr/>
          <p:nvPr/>
        </p:nvSpPr>
        <p:spPr>
          <a:xfrm>
            <a:off x="9550400" y="2044700"/>
            <a:ext cx="2032000" cy="762000"/>
          </a:xfrm>
          <a:prstGeom prst="roundRect">
            <a:avLst>
              <a:gd name="adj" fmla="val 10000"/>
            </a:avLst>
          </a:prstGeom>
          <a:solidFill>
            <a:srgbClr val="1C1C1C"/>
          </a:solidFill>
          <a:ln>
            <a:noFill/>
          </a:ln>
          <a:effectLst/>
        </p:spPr>
        <p:txBody>
          <a:bodyPr rtlCol="0" anchor="ctr"/>
          <a:lstStyle/>
          <a:p>
            <a:pPr algn="ctr"/>
          </a:p>
        </p:txBody>
      </p:sp>
      <p:sp>
        <p:nvSpPr>
          <p:cNvPr id="48" name="TextBox 47"/>
          <p:cNvSpPr txBox="1"/>
          <p:nvPr/>
        </p:nvSpPr>
        <p:spPr>
          <a:xfrm>
            <a:off x="9690100" y="2184400"/>
            <a:ext cx="381000" cy="444500"/>
          </a:xfrm>
          <a:prstGeom prst="rect">
            <a:avLst/>
          </a:prstGeom>
          <a:noFill/>
        </p:spPr>
        <p:txBody>
          <a:bodyPr wrap="square" lIns="0" rIns="0" tIns="0" bIns="0" anchor="t">
            <a:spAutoFit/>
          </a:bodyPr>
          <a:lstStyle/>
          <a:p>
            <a:pPr algn="l">
              <a:lnSpc>
                <a:spcPct val="115000"/>
              </a:lnSpc>
            </a:pPr>
            <a:r>
              <a:rPr sz="3200" b="1" i="0">
                <a:solidFill>
                  <a:srgbClr val="FFFFFF"/>
                </a:solidFill>
                <a:latin typeface="Inter"/>
              </a:rPr>
              <a:t>5</a:t>
            </a:r>
          </a:p>
        </p:txBody>
      </p:sp>
      <p:sp>
        <p:nvSpPr>
          <p:cNvPr id="49" name="TextBox 48"/>
          <p:cNvSpPr txBox="1"/>
          <p:nvPr/>
        </p:nvSpPr>
        <p:spPr>
          <a:xfrm>
            <a:off x="10071100" y="2197100"/>
            <a:ext cx="1460500" cy="215900"/>
          </a:xfrm>
          <a:prstGeom prst="rect">
            <a:avLst/>
          </a:prstGeom>
          <a:noFill/>
        </p:spPr>
        <p:txBody>
          <a:bodyPr wrap="square" lIns="0" rIns="0" tIns="0" bIns="0" anchor="t">
            <a:spAutoFit/>
          </a:bodyPr>
          <a:lstStyle/>
          <a:p>
            <a:pPr algn="l">
              <a:lnSpc>
                <a:spcPct val="115000"/>
              </a:lnSpc>
            </a:pPr>
            <a:r>
              <a:rPr sz="1700" b="1" i="0">
                <a:solidFill>
                  <a:srgbClr val="FFFFFF"/>
                </a:solidFill>
                <a:latin typeface="Inter"/>
              </a:rPr>
              <a:t>Exposer</a:t>
            </a:r>
          </a:p>
        </p:txBody>
      </p:sp>
      <p:sp>
        <p:nvSpPr>
          <p:cNvPr id="50" name="TextBox 49"/>
          <p:cNvSpPr txBox="1"/>
          <p:nvPr/>
        </p:nvSpPr>
        <p:spPr>
          <a:xfrm>
            <a:off x="10071100" y="2438400"/>
            <a:ext cx="1460500" cy="215900"/>
          </a:xfrm>
          <a:prstGeom prst="rect">
            <a:avLst/>
          </a:prstGeom>
          <a:noFill/>
        </p:spPr>
        <p:txBody>
          <a:bodyPr wrap="square" lIns="0" rIns="0" tIns="0" bIns="0" anchor="t">
            <a:spAutoFit/>
          </a:bodyPr>
          <a:lstStyle/>
          <a:p>
            <a:pPr algn="l">
              <a:lnSpc>
                <a:spcPct val="115000"/>
              </a:lnSpc>
            </a:pPr>
            <a:r>
              <a:rPr sz="1300" b="0" i="0">
                <a:solidFill>
                  <a:srgbClr val="FFFFFF"/>
                </a:solidFill>
                <a:latin typeface="Inter"/>
              </a:rPr>
              <a:t>la médina-décor</a:t>
            </a:r>
          </a:p>
        </p:txBody>
      </p:sp>
      <p:sp>
        <p:nvSpPr>
          <p:cNvPr id="51" name="TextBox 50"/>
          <p:cNvSpPr txBox="1"/>
          <p:nvPr/>
        </p:nvSpPr>
        <p:spPr>
          <a:xfrm>
            <a:off x="9550400" y="2895600"/>
            <a:ext cx="2032000" cy="5080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souvenirs et cafés remplacent épiceries, artisans, fours</a:t>
            </a:r>
          </a:p>
        </p:txBody>
      </p:sp>
      <p:sp>
        <p:nvSpPr>
          <p:cNvPr id="52" name="Rectangle 51"/>
          <p:cNvSpPr/>
          <p:nvPr/>
        </p:nvSpPr>
        <p:spPr>
          <a:xfrm>
            <a:off x="9550400" y="5524500"/>
            <a:ext cx="2032000" cy="584200"/>
          </a:xfrm>
          <a:prstGeom prst="rect">
            <a:avLst/>
          </a:prstGeom>
          <a:solidFill>
            <a:srgbClr val="FFFFFF"/>
          </a:solidFill>
          <a:ln w="12700">
            <a:solidFill>
              <a:srgbClr val="1C1C1C"/>
            </a:solidFill>
          </a:ln>
          <a:effectLst/>
        </p:spPr>
        <p:txBody>
          <a:bodyPr rtlCol="0" anchor="ctr"/>
          <a:lstStyle/>
          <a:p>
            <a:pPr algn="ctr"/>
          </a:p>
        </p:txBody>
      </p:sp>
      <p:sp>
        <p:nvSpPr>
          <p:cNvPr id="53" name="TextBox 52"/>
          <p:cNvSpPr txBox="1"/>
          <p:nvPr/>
        </p:nvSpPr>
        <p:spPr>
          <a:xfrm>
            <a:off x="9652000" y="5588000"/>
            <a:ext cx="1841500" cy="127000"/>
          </a:xfrm>
          <a:prstGeom prst="rect">
            <a:avLst/>
          </a:prstGeom>
          <a:noFill/>
        </p:spPr>
        <p:txBody>
          <a:bodyPr wrap="square" lIns="0" rIns="0" tIns="0" bIns="0" anchor="t">
            <a:spAutoFit/>
          </a:bodyPr>
          <a:lstStyle/>
          <a:p>
            <a:pPr algn="l">
              <a:lnSpc>
                <a:spcPct val="115000"/>
              </a:lnSpc>
            </a:pPr>
            <a:r>
              <a:rPr sz="850" b="1" i="0">
                <a:solidFill>
                  <a:srgbClr val="1C1C1C"/>
                </a:solidFill>
                <a:latin typeface="Inter"/>
              </a:rPr>
              <a:t>À OBSERVER</a:t>
            </a:r>
          </a:p>
        </p:txBody>
      </p:sp>
      <p:sp>
        <p:nvSpPr>
          <p:cNvPr id="54" name="TextBox 53"/>
          <p:cNvSpPr txBox="1"/>
          <p:nvPr/>
        </p:nvSpPr>
        <p:spPr>
          <a:xfrm>
            <a:off x="9652000" y="5740400"/>
            <a:ext cx="1841500" cy="342900"/>
          </a:xfrm>
          <a:prstGeom prst="rect">
            <a:avLst/>
          </a:prstGeom>
          <a:noFill/>
        </p:spPr>
        <p:txBody>
          <a:bodyPr wrap="square" lIns="0" rIns="0" tIns="0" bIns="0" anchor="t">
            <a:spAutoFit/>
          </a:bodyPr>
          <a:lstStyle/>
          <a:p>
            <a:pPr algn="l">
              <a:lnSpc>
                <a:spcPct val="110000"/>
              </a:lnSpc>
            </a:pPr>
            <a:r>
              <a:rPr sz="1050" b="0" i="0">
                <a:solidFill>
                  <a:srgbClr val="1C1C1C"/>
                </a:solidFill>
                <a:latin typeface="Inter"/>
              </a:rPr>
              <a:t>commerces de proximité vs souvenirs</a:t>
            </a:r>
          </a:p>
        </p:txBody>
      </p:sp>
      <p:sp>
        <p:nvSpPr>
          <p:cNvPr id="55" name="TextBox 54"/>
          <p:cNvSpPr txBox="1"/>
          <p:nvPr/>
        </p:nvSpPr>
        <p:spPr>
          <a:xfrm>
            <a:off x="508000" y="1574800"/>
            <a:ext cx="7620000" cy="165100"/>
          </a:xfrm>
          <a:prstGeom prst="rect">
            <a:avLst/>
          </a:prstGeom>
          <a:noFill/>
        </p:spPr>
        <p:txBody>
          <a:bodyPr wrap="square" lIns="0" rIns="0" tIns="0" bIns="0" anchor="t">
            <a:spAutoFit/>
          </a:bodyPr>
          <a:lstStyle/>
          <a:p>
            <a:pPr algn="l">
              <a:lnSpc>
                <a:spcPct val="115000"/>
              </a:lnSpc>
            </a:pPr>
            <a:r>
              <a:rPr sz="1050" b="1" i="0">
                <a:solidFill>
                  <a:srgbClr val="6E6A64"/>
                </a:solidFill>
                <a:latin typeface="Inter"/>
              </a:rPr>
              <a:t>TEMPS  →  la valeur touristique monte, la population résidente baisse</a:t>
            </a:r>
          </a:p>
        </p:txBody>
      </p:sp>
      <p:cxnSp>
        <p:nvCxnSpPr>
          <p:cNvPr id="56" name="Connector 55"/>
          <p:cNvCxnSpPr/>
          <p:nvPr/>
        </p:nvCxnSpPr>
        <p:spPr>
          <a:xfrm>
            <a:off x="508000" y="1841500"/>
            <a:ext cx="11176000" cy="0"/>
          </a:xfrm>
          <a:prstGeom prst="line">
            <a:avLst/>
          </a:prstGeom>
          <a:ln w="12700">
            <a:solidFill>
              <a:srgbClr val="6E6A64"/>
            </a:solidFill>
            <a:prstDash val="dash"/>
            <a:tailEnd type="triangle" w="med" len="med"/>
          </a:ln>
        </p:spPr>
      </p:cxnSp>
      <p:cxnSp>
        <p:nvCxnSpPr>
          <p:cNvPr id="57" name="Connector 56"/>
          <p:cNvCxnSpPr/>
          <p:nvPr/>
        </p:nvCxnSpPr>
        <p:spPr>
          <a:xfrm>
            <a:off x="508000" y="5397500"/>
            <a:ext cx="11176000" cy="0"/>
          </a:xfrm>
          <a:prstGeom prst="line">
            <a:avLst/>
          </a:prstGeom>
          <a:ln w="9525">
            <a:solidFill>
              <a:srgbClr val="CFC8BC"/>
            </a:solidFill>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CAS 3 : MONDIAL 2030</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Mondial 2030 : l'urbanisme d'exception</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Le stade est noté 4/5, les hôtels 2,2/5. La réponse annoncée : construire vite, par dérogation, pour une date fixée de l'extérieur.</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11 / 17</a:t>
            </a:r>
          </a:p>
        </p:txBody>
      </p:sp>
      <p:sp>
        <p:nvSpPr>
          <p:cNvPr id="11" name="TextBox 10"/>
          <p:cNvSpPr txBox="1"/>
          <p:nvPr/>
        </p:nvSpPr>
        <p:spPr>
          <a:xfrm>
            <a:off x="508000" y="15240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CAPACITÉ DU GRAND STADE IBN BATOUTA (PLACES)</a:t>
            </a:r>
          </a:p>
        </p:txBody>
      </p:sp>
      <p:sp>
        <p:nvSpPr>
          <p:cNvPr id="12" name="Rectangle 11"/>
          <p:cNvSpPr/>
          <p:nvPr/>
        </p:nvSpPr>
        <p:spPr>
          <a:xfrm>
            <a:off x="762000" y="3294529"/>
            <a:ext cx="825500" cy="1277471"/>
          </a:xfrm>
          <a:prstGeom prst="rect">
            <a:avLst/>
          </a:prstGeom>
          <a:solidFill>
            <a:srgbClr val="D4CCBE"/>
          </a:solidFill>
          <a:ln>
            <a:noFill/>
          </a:ln>
          <a:effectLst/>
        </p:spPr>
        <p:txBody>
          <a:bodyPr rtlCol="0" anchor="ctr"/>
          <a:lstStyle/>
          <a:p>
            <a:pPr algn="ctr"/>
          </a:p>
        </p:txBody>
      </p:sp>
      <p:sp>
        <p:nvSpPr>
          <p:cNvPr id="13" name="TextBox 12"/>
          <p:cNvSpPr txBox="1"/>
          <p:nvPr/>
        </p:nvSpPr>
        <p:spPr>
          <a:xfrm>
            <a:off x="635000" y="3078629"/>
            <a:ext cx="1079500" cy="190500"/>
          </a:xfrm>
          <a:prstGeom prst="rect">
            <a:avLst/>
          </a:prstGeom>
          <a:noFill/>
        </p:spPr>
        <p:txBody>
          <a:bodyPr wrap="square" lIns="0" rIns="0" tIns="0" bIns="0" anchor="t">
            <a:spAutoFit/>
          </a:bodyPr>
          <a:lstStyle/>
          <a:p>
            <a:pPr algn="ctr">
              <a:lnSpc>
                <a:spcPct val="115000"/>
              </a:lnSpc>
            </a:pPr>
            <a:r>
              <a:rPr sz="1400" b="1" i="0">
                <a:solidFill>
                  <a:srgbClr val="1C1C1C"/>
                </a:solidFill>
                <a:latin typeface="Inter"/>
              </a:rPr>
              <a:t>&gt;40 000</a:t>
            </a:r>
          </a:p>
        </p:txBody>
      </p:sp>
      <p:sp>
        <p:nvSpPr>
          <p:cNvPr id="14" name="TextBox 13"/>
          <p:cNvSpPr txBox="1"/>
          <p:nvPr/>
        </p:nvSpPr>
        <p:spPr>
          <a:xfrm>
            <a:off x="635000" y="4635500"/>
            <a:ext cx="1079500" cy="279400"/>
          </a:xfrm>
          <a:prstGeom prst="rect">
            <a:avLst/>
          </a:prstGeom>
          <a:noFill/>
        </p:spPr>
        <p:txBody>
          <a:bodyPr wrap="square" lIns="0" rIns="0" tIns="0" bIns="0" anchor="t">
            <a:spAutoFit/>
          </a:bodyPr>
          <a:lstStyle/>
          <a:p>
            <a:pPr algn="ctr">
              <a:lnSpc>
                <a:spcPct val="115000"/>
              </a:lnSpc>
            </a:pPr>
            <a:r>
              <a:rPr sz="1050" b="1" i="0">
                <a:solidFill>
                  <a:srgbClr val="6E6A64"/>
                </a:solidFill>
                <a:latin typeface="Inter"/>
              </a:rPr>
              <a:t>Origine</a:t>
            </a:r>
          </a:p>
        </p:txBody>
      </p:sp>
      <p:sp>
        <p:nvSpPr>
          <p:cNvPr id="15" name="Rectangle 14"/>
          <p:cNvSpPr/>
          <p:nvPr/>
        </p:nvSpPr>
        <p:spPr>
          <a:xfrm>
            <a:off x="1968500" y="2726765"/>
            <a:ext cx="825500" cy="1845235"/>
          </a:xfrm>
          <a:prstGeom prst="rect">
            <a:avLst/>
          </a:prstGeom>
          <a:solidFill>
            <a:srgbClr val="C8462B"/>
          </a:solidFill>
          <a:ln>
            <a:noFill/>
          </a:ln>
          <a:effectLst/>
        </p:spPr>
        <p:txBody>
          <a:bodyPr rtlCol="0" anchor="ctr"/>
          <a:lstStyle/>
          <a:p>
            <a:pPr algn="ctr"/>
          </a:p>
        </p:txBody>
      </p:sp>
      <p:sp>
        <p:nvSpPr>
          <p:cNvPr id="16" name="TextBox 15"/>
          <p:cNvSpPr txBox="1"/>
          <p:nvPr/>
        </p:nvSpPr>
        <p:spPr>
          <a:xfrm>
            <a:off x="1841500" y="2510865"/>
            <a:ext cx="1079500" cy="190500"/>
          </a:xfrm>
          <a:prstGeom prst="rect">
            <a:avLst/>
          </a:prstGeom>
          <a:noFill/>
        </p:spPr>
        <p:txBody>
          <a:bodyPr wrap="square" lIns="0" rIns="0" tIns="0" bIns="0" anchor="t">
            <a:spAutoFit/>
          </a:bodyPr>
          <a:lstStyle/>
          <a:p>
            <a:pPr algn="ctr">
              <a:lnSpc>
                <a:spcPct val="115000"/>
              </a:lnSpc>
            </a:pPr>
            <a:r>
              <a:rPr sz="1400" b="1" i="0">
                <a:solidFill>
                  <a:srgbClr val="1C1C1C"/>
                </a:solidFill>
                <a:latin typeface="Inter"/>
              </a:rPr>
              <a:t>65 000</a:t>
            </a:r>
          </a:p>
        </p:txBody>
      </p:sp>
      <p:sp>
        <p:nvSpPr>
          <p:cNvPr id="17" name="TextBox 16"/>
          <p:cNvSpPr txBox="1"/>
          <p:nvPr/>
        </p:nvSpPr>
        <p:spPr>
          <a:xfrm>
            <a:off x="1841500" y="4635500"/>
            <a:ext cx="1079500" cy="279400"/>
          </a:xfrm>
          <a:prstGeom prst="rect">
            <a:avLst/>
          </a:prstGeom>
          <a:noFill/>
        </p:spPr>
        <p:txBody>
          <a:bodyPr wrap="square" lIns="0" rIns="0" tIns="0" bIns="0" anchor="t">
            <a:spAutoFit/>
          </a:bodyPr>
          <a:lstStyle/>
          <a:p>
            <a:pPr algn="ctr">
              <a:lnSpc>
                <a:spcPct val="115000"/>
              </a:lnSpc>
            </a:pPr>
            <a:r>
              <a:rPr sz="1050" b="1" i="0">
                <a:solidFill>
                  <a:srgbClr val="6E6A64"/>
                </a:solidFill>
                <a:latin typeface="Inter"/>
              </a:rPr>
              <a:t>Après extension</a:t>
            </a:r>
          </a:p>
        </p:txBody>
      </p:sp>
      <p:sp>
        <p:nvSpPr>
          <p:cNvPr id="18" name="Rectangle 17"/>
          <p:cNvSpPr/>
          <p:nvPr/>
        </p:nvSpPr>
        <p:spPr>
          <a:xfrm>
            <a:off x="3175000" y="2159000"/>
            <a:ext cx="825500" cy="2413000"/>
          </a:xfrm>
          <a:prstGeom prst="rect">
            <a:avLst/>
          </a:prstGeom>
          <a:solidFill>
            <a:srgbClr val="C8462B">
              <a:alpha val="55000"/>
            </a:srgbClr>
          </a:solidFill>
          <a:ln w="12700">
            <a:solidFill>
              <a:srgbClr val="C8462B"/>
            </a:solidFill>
            <a:prstDash val="dash"/>
          </a:ln>
          <a:effectLst/>
        </p:spPr>
        <p:txBody>
          <a:bodyPr rtlCol="0" anchor="ctr"/>
          <a:lstStyle/>
          <a:p>
            <a:pPr algn="ctr"/>
          </a:p>
        </p:txBody>
      </p:sp>
      <p:sp>
        <p:nvSpPr>
          <p:cNvPr id="19" name="TextBox 18"/>
          <p:cNvSpPr txBox="1"/>
          <p:nvPr/>
        </p:nvSpPr>
        <p:spPr>
          <a:xfrm>
            <a:off x="3048000" y="1943100"/>
            <a:ext cx="1079500" cy="190500"/>
          </a:xfrm>
          <a:prstGeom prst="rect">
            <a:avLst/>
          </a:prstGeom>
          <a:noFill/>
        </p:spPr>
        <p:txBody>
          <a:bodyPr wrap="square" lIns="0" rIns="0" tIns="0" bIns="0" anchor="t">
            <a:spAutoFit/>
          </a:bodyPr>
          <a:lstStyle/>
          <a:p>
            <a:pPr algn="ctr">
              <a:lnSpc>
                <a:spcPct val="115000"/>
              </a:lnSpc>
            </a:pPr>
            <a:r>
              <a:rPr sz="1400" b="1" i="0">
                <a:solidFill>
                  <a:srgbClr val="1C1C1C"/>
                </a:solidFill>
                <a:latin typeface="Inter"/>
              </a:rPr>
              <a:t>≥85 000</a:t>
            </a:r>
          </a:p>
        </p:txBody>
      </p:sp>
      <p:sp>
        <p:nvSpPr>
          <p:cNvPr id="20" name="TextBox 19"/>
          <p:cNvSpPr txBox="1"/>
          <p:nvPr/>
        </p:nvSpPr>
        <p:spPr>
          <a:xfrm>
            <a:off x="3048000" y="4635500"/>
            <a:ext cx="1079500" cy="279400"/>
          </a:xfrm>
          <a:prstGeom prst="rect">
            <a:avLst/>
          </a:prstGeom>
          <a:noFill/>
        </p:spPr>
        <p:txBody>
          <a:bodyPr wrap="square" lIns="0" rIns="0" tIns="0" bIns="0" anchor="t">
            <a:spAutoFit/>
          </a:bodyPr>
          <a:lstStyle/>
          <a:p>
            <a:pPr algn="ctr">
              <a:lnSpc>
                <a:spcPct val="115000"/>
              </a:lnSpc>
            </a:pPr>
            <a:r>
              <a:rPr sz="1050" b="1" i="0">
                <a:solidFill>
                  <a:srgbClr val="6E6A64"/>
                </a:solidFill>
                <a:latin typeface="Inter"/>
              </a:rPr>
              <a:t>Objectif Mondial</a:t>
            </a:r>
          </a:p>
        </p:txBody>
      </p:sp>
      <p:sp>
        <p:nvSpPr>
          <p:cNvPr id="21" name="TextBox 20"/>
          <p:cNvSpPr txBox="1"/>
          <p:nvPr/>
        </p:nvSpPr>
        <p:spPr>
          <a:xfrm>
            <a:off x="508000" y="5016500"/>
            <a:ext cx="3937000" cy="889000"/>
          </a:xfrm>
          <a:prstGeom prst="rect">
            <a:avLst/>
          </a:prstGeom>
          <a:noFill/>
        </p:spPr>
        <p:txBody>
          <a:bodyPr wrap="square" lIns="0" rIns="0" tIns="0" bIns="0" anchor="t">
            <a:spAutoFit/>
          </a:bodyPr>
          <a:lstStyle/>
          <a:p>
            <a:pPr algn="l">
              <a:lnSpc>
                <a:spcPct val="125000"/>
              </a:lnSpc>
            </a:pPr>
            <a:r>
              <a:rPr sz="1200" b="1" i="0">
                <a:solidFill>
                  <a:srgbClr val="C8462B"/>
                </a:solidFill>
                <a:latin typeface="Inter"/>
              </a:rPr>
              <a:t>Lecture : </a:t>
            </a:r>
            <a:r>
              <a:rPr sz="1200" b="0" i="0">
                <a:solidFill>
                  <a:srgbClr val="1C1C1C"/>
                </a:solidFill>
                <a:latin typeface="Inter"/>
              </a:rPr>
              <a:t>deux agrandissements successifs pour quelques matchs, alors que la ville n'a toujours pas de transport en site propre.</a:t>
            </a:r>
          </a:p>
        </p:txBody>
      </p:sp>
      <p:sp>
        <p:nvSpPr>
          <p:cNvPr id="22" name="TextBox 21"/>
          <p:cNvSpPr txBox="1"/>
          <p:nvPr/>
        </p:nvSpPr>
        <p:spPr>
          <a:xfrm>
            <a:off x="4953000" y="15240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DEUX CHEMINS POUR CONSTRUIRE</a:t>
            </a:r>
          </a:p>
        </p:txBody>
      </p:sp>
      <p:sp>
        <p:nvSpPr>
          <p:cNvPr id="23" name="TextBox 22"/>
          <p:cNvSpPr txBox="1"/>
          <p:nvPr/>
        </p:nvSpPr>
        <p:spPr>
          <a:xfrm>
            <a:off x="4953000" y="1778000"/>
            <a:ext cx="1905000" cy="165100"/>
          </a:xfrm>
          <a:prstGeom prst="rect">
            <a:avLst/>
          </a:prstGeom>
          <a:noFill/>
        </p:spPr>
        <p:txBody>
          <a:bodyPr wrap="square" lIns="0" rIns="0" tIns="0" bIns="0" anchor="t">
            <a:spAutoFit/>
          </a:bodyPr>
          <a:lstStyle/>
          <a:p>
            <a:pPr algn="l">
              <a:lnSpc>
                <a:spcPct val="115000"/>
              </a:lnSpc>
            </a:pPr>
            <a:r>
              <a:rPr sz="1300" b="1" i="0">
                <a:solidFill>
                  <a:srgbClr val="1F3A5F"/>
                </a:solidFill>
                <a:latin typeface="Inter"/>
              </a:rPr>
              <a:t>LA RÈGLE</a:t>
            </a:r>
          </a:p>
        </p:txBody>
      </p:sp>
      <p:sp>
        <p:nvSpPr>
          <p:cNvPr id="24" name="Rounded Rectangle 23"/>
          <p:cNvSpPr/>
          <p:nvPr/>
        </p:nvSpPr>
        <p:spPr>
          <a:xfrm>
            <a:off x="4953000" y="2032000"/>
            <a:ext cx="1397000" cy="635000"/>
          </a:xfrm>
          <a:prstGeom prst="roundRect">
            <a:avLst>
              <a:gd name="adj" fmla="val 10000"/>
            </a:avLst>
          </a:prstGeom>
          <a:solidFill>
            <a:srgbClr val="FFFFFF"/>
          </a:solidFill>
          <a:ln w="15875">
            <a:solidFill>
              <a:srgbClr val="1F3A5F"/>
            </a:solidFill>
          </a:ln>
          <a:effectLst/>
        </p:spPr>
        <p:txBody>
          <a:bodyPr rtlCol="0" anchor="ctr"/>
          <a:lstStyle/>
          <a:p>
            <a:pPr algn="ctr"/>
          </a:p>
        </p:txBody>
      </p:sp>
      <p:sp>
        <p:nvSpPr>
          <p:cNvPr id="25" name="TextBox 24"/>
          <p:cNvSpPr txBox="1"/>
          <p:nvPr/>
        </p:nvSpPr>
        <p:spPr>
          <a:xfrm>
            <a:off x="4953000" y="2032000"/>
            <a:ext cx="1397000" cy="635000"/>
          </a:xfrm>
          <a:prstGeom prst="rect">
            <a:avLst/>
          </a:prstGeom>
          <a:noFill/>
        </p:spPr>
        <p:txBody>
          <a:bodyPr wrap="square" lIns="0" rIns="0" tIns="0" bIns="0" anchor="ctr">
            <a:spAutoFit/>
          </a:bodyPr>
          <a:lstStyle/>
          <a:p>
            <a:pPr algn="ctr">
              <a:lnSpc>
                <a:spcPct val="115000"/>
              </a:lnSpc>
            </a:pPr>
            <a:r>
              <a:rPr sz="1300" b="1" i="0">
                <a:solidFill>
                  <a:srgbClr val="1F3A5F"/>
                </a:solidFill>
                <a:latin typeface="Inter"/>
              </a:rPr>
              <a:t>Plan</a:t>
            </a:r>
          </a:p>
          <a:p>
            <a:pPr algn="ctr">
              <a:lnSpc>
                <a:spcPct val="115000"/>
              </a:lnSpc>
            </a:pPr>
            <a:r>
              <a:rPr sz="1300" b="1" i="0">
                <a:solidFill>
                  <a:srgbClr val="1F3A5F"/>
                </a:solidFill>
                <a:latin typeface="Inter"/>
              </a:rPr>
              <a:t>d'aménagement</a:t>
            </a:r>
          </a:p>
        </p:txBody>
      </p:sp>
      <p:cxnSp>
        <p:nvCxnSpPr>
          <p:cNvPr id="26" name="Connector 25"/>
          <p:cNvCxnSpPr/>
          <p:nvPr/>
        </p:nvCxnSpPr>
        <p:spPr>
          <a:xfrm>
            <a:off x="6375400" y="2349500"/>
            <a:ext cx="234950" cy="0"/>
          </a:xfrm>
          <a:prstGeom prst="line">
            <a:avLst/>
          </a:prstGeom>
          <a:ln w="19050">
            <a:solidFill>
              <a:srgbClr val="1F3A5F"/>
            </a:solidFill>
            <a:tailEnd type="triangle" w="med" len="med"/>
          </a:ln>
        </p:spPr>
      </p:cxnSp>
      <p:sp>
        <p:nvSpPr>
          <p:cNvPr id="27" name="Rounded Rectangle 26"/>
          <p:cNvSpPr/>
          <p:nvPr/>
        </p:nvSpPr>
        <p:spPr>
          <a:xfrm>
            <a:off x="6635750" y="2032000"/>
            <a:ext cx="1397000" cy="635000"/>
          </a:xfrm>
          <a:prstGeom prst="roundRect">
            <a:avLst>
              <a:gd name="adj" fmla="val 10000"/>
            </a:avLst>
          </a:prstGeom>
          <a:solidFill>
            <a:srgbClr val="FFFFFF"/>
          </a:solidFill>
          <a:ln w="15875">
            <a:solidFill>
              <a:srgbClr val="1F3A5F"/>
            </a:solidFill>
          </a:ln>
          <a:effectLst/>
        </p:spPr>
        <p:txBody>
          <a:bodyPr rtlCol="0" anchor="ctr"/>
          <a:lstStyle/>
          <a:p>
            <a:pPr algn="ctr"/>
          </a:p>
        </p:txBody>
      </p:sp>
      <p:sp>
        <p:nvSpPr>
          <p:cNvPr id="28" name="TextBox 27"/>
          <p:cNvSpPr txBox="1"/>
          <p:nvPr/>
        </p:nvSpPr>
        <p:spPr>
          <a:xfrm>
            <a:off x="6635750" y="2032000"/>
            <a:ext cx="1397000" cy="635000"/>
          </a:xfrm>
          <a:prstGeom prst="rect">
            <a:avLst/>
          </a:prstGeom>
          <a:noFill/>
        </p:spPr>
        <p:txBody>
          <a:bodyPr wrap="square" lIns="0" rIns="0" tIns="0" bIns="0" anchor="ctr">
            <a:spAutoFit/>
          </a:bodyPr>
          <a:lstStyle/>
          <a:p>
            <a:pPr algn="ctr">
              <a:lnSpc>
                <a:spcPct val="115000"/>
              </a:lnSpc>
            </a:pPr>
            <a:r>
              <a:rPr sz="1300" b="1" i="0">
                <a:solidFill>
                  <a:srgbClr val="1F3A5F"/>
                </a:solidFill>
                <a:latin typeface="Inter"/>
              </a:rPr>
              <a:t>Enquête</a:t>
            </a:r>
          </a:p>
          <a:p>
            <a:pPr algn="ctr">
              <a:lnSpc>
                <a:spcPct val="115000"/>
              </a:lnSpc>
            </a:pPr>
            <a:r>
              <a:rPr sz="1300" b="1" i="0">
                <a:solidFill>
                  <a:srgbClr val="1F3A5F"/>
                </a:solidFill>
                <a:latin typeface="Inter"/>
              </a:rPr>
              <a:t>publique</a:t>
            </a:r>
          </a:p>
        </p:txBody>
      </p:sp>
      <p:cxnSp>
        <p:nvCxnSpPr>
          <p:cNvPr id="29" name="Connector 28"/>
          <p:cNvCxnSpPr/>
          <p:nvPr/>
        </p:nvCxnSpPr>
        <p:spPr>
          <a:xfrm>
            <a:off x="8058150" y="2349500"/>
            <a:ext cx="234950" cy="0"/>
          </a:xfrm>
          <a:prstGeom prst="line">
            <a:avLst/>
          </a:prstGeom>
          <a:ln w="19050">
            <a:solidFill>
              <a:srgbClr val="1F3A5F"/>
            </a:solidFill>
            <a:tailEnd type="triangle" w="med" len="med"/>
          </a:ln>
        </p:spPr>
      </p:cxnSp>
      <p:sp>
        <p:nvSpPr>
          <p:cNvPr id="30" name="Rounded Rectangle 29"/>
          <p:cNvSpPr/>
          <p:nvPr/>
        </p:nvSpPr>
        <p:spPr>
          <a:xfrm>
            <a:off x="8318500" y="2032000"/>
            <a:ext cx="1397000" cy="635000"/>
          </a:xfrm>
          <a:prstGeom prst="roundRect">
            <a:avLst>
              <a:gd name="adj" fmla="val 10000"/>
            </a:avLst>
          </a:prstGeom>
          <a:solidFill>
            <a:srgbClr val="FFFFFF"/>
          </a:solidFill>
          <a:ln w="15875">
            <a:solidFill>
              <a:srgbClr val="1F3A5F"/>
            </a:solidFill>
          </a:ln>
          <a:effectLst/>
        </p:spPr>
        <p:txBody>
          <a:bodyPr rtlCol="0" anchor="ctr"/>
          <a:lstStyle/>
          <a:p>
            <a:pPr algn="ctr"/>
          </a:p>
        </p:txBody>
      </p:sp>
      <p:sp>
        <p:nvSpPr>
          <p:cNvPr id="31" name="TextBox 30"/>
          <p:cNvSpPr txBox="1"/>
          <p:nvPr/>
        </p:nvSpPr>
        <p:spPr>
          <a:xfrm>
            <a:off x="8318500" y="2032000"/>
            <a:ext cx="1397000" cy="635000"/>
          </a:xfrm>
          <a:prstGeom prst="rect">
            <a:avLst/>
          </a:prstGeom>
          <a:noFill/>
        </p:spPr>
        <p:txBody>
          <a:bodyPr wrap="square" lIns="0" rIns="0" tIns="0" bIns="0" anchor="ctr">
            <a:spAutoFit/>
          </a:bodyPr>
          <a:lstStyle/>
          <a:p>
            <a:pPr algn="ctr">
              <a:lnSpc>
                <a:spcPct val="115000"/>
              </a:lnSpc>
            </a:pPr>
            <a:r>
              <a:rPr sz="1300" b="1" i="0">
                <a:solidFill>
                  <a:srgbClr val="1F3A5F"/>
                </a:solidFill>
                <a:latin typeface="Inter"/>
              </a:rPr>
              <a:t>Avis des</a:t>
            </a:r>
          </a:p>
          <a:p>
            <a:pPr algn="ctr">
              <a:lnSpc>
                <a:spcPct val="115000"/>
              </a:lnSpc>
            </a:pPr>
            <a:r>
              <a:rPr sz="1300" b="1" i="0">
                <a:solidFill>
                  <a:srgbClr val="1F3A5F"/>
                </a:solidFill>
                <a:latin typeface="Inter"/>
              </a:rPr>
              <a:t>habitants</a:t>
            </a:r>
          </a:p>
        </p:txBody>
      </p:sp>
      <p:cxnSp>
        <p:nvCxnSpPr>
          <p:cNvPr id="32" name="Connector 31"/>
          <p:cNvCxnSpPr/>
          <p:nvPr/>
        </p:nvCxnSpPr>
        <p:spPr>
          <a:xfrm>
            <a:off x="9740900" y="2349500"/>
            <a:ext cx="234950" cy="0"/>
          </a:xfrm>
          <a:prstGeom prst="line">
            <a:avLst/>
          </a:prstGeom>
          <a:ln w="19050">
            <a:solidFill>
              <a:srgbClr val="1F3A5F"/>
            </a:solidFill>
            <a:tailEnd type="triangle" w="med" len="med"/>
          </a:ln>
        </p:spPr>
      </p:cxnSp>
      <p:sp>
        <p:nvSpPr>
          <p:cNvPr id="33" name="Rounded Rectangle 32"/>
          <p:cNvSpPr/>
          <p:nvPr/>
        </p:nvSpPr>
        <p:spPr>
          <a:xfrm>
            <a:off x="10001250" y="2032000"/>
            <a:ext cx="1397000" cy="635000"/>
          </a:xfrm>
          <a:prstGeom prst="roundRect">
            <a:avLst>
              <a:gd name="adj" fmla="val 10000"/>
            </a:avLst>
          </a:prstGeom>
          <a:solidFill>
            <a:srgbClr val="FFFFFF"/>
          </a:solidFill>
          <a:ln w="15875">
            <a:solidFill>
              <a:srgbClr val="1F3A5F"/>
            </a:solidFill>
          </a:ln>
          <a:effectLst/>
        </p:spPr>
        <p:txBody>
          <a:bodyPr rtlCol="0" anchor="ctr"/>
          <a:lstStyle/>
          <a:p>
            <a:pPr algn="ctr"/>
          </a:p>
        </p:txBody>
      </p:sp>
      <p:sp>
        <p:nvSpPr>
          <p:cNvPr id="34" name="TextBox 33"/>
          <p:cNvSpPr txBox="1"/>
          <p:nvPr/>
        </p:nvSpPr>
        <p:spPr>
          <a:xfrm>
            <a:off x="10001250" y="2032000"/>
            <a:ext cx="1397000" cy="635000"/>
          </a:xfrm>
          <a:prstGeom prst="rect">
            <a:avLst/>
          </a:prstGeom>
          <a:noFill/>
        </p:spPr>
        <p:txBody>
          <a:bodyPr wrap="square" lIns="0" rIns="0" tIns="0" bIns="0" anchor="ctr">
            <a:spAutoFit/>
          </a:bodyPr>
          <a:lstStyle/>
          <a:p>
            <a:pPr algn="ctr">
              <a:lnSpc>
                <a:spcPct val="115000"/>
              </a:lnSpc>
            </a:pPr>
            <a:r>
              <a:rPr sz="1300" b="1" i="0">
                <a:solidFill>
                  <a:srgbClr val="1F3A5F"/>
                </a:solidFill>
                <a:latin typeface="Inter"/>
              </a:rPr>
              <a:t>Permis de</a:t>
            </a:r>
          </a:p>
          <a:p>
            <a:pPr algn="ctr">
              <a:lnSpc>
                <a:spcPct val="115000"/>
              </a:lnSpc>
            </a:pPr>
            <a:r>
              <a:rPr sz="1300" b="1" i="0">
                <a:solidFill>
                  <a:srgbClr val="1F3A5F"/>
                </a:solidFill>
                <a:latin typeface="Inter"/>
              </a:rPr>
              <a:t>construire</a:t>
            </a:r>
          </a:p>
        </p:txBody>
      </p:sp>
      <p:sp>
        <p:nvSpPr>
          <p:cNvPr id="35" name="TextBox 34"/>
          <p:cNvSpPr txBox="1"/>
          <p:nvPr/>
        </p:nvSpPr>
        <p:spPr>
          <a:xfrm>
            <a:off x="4953000" y="2825750"/>
            <a:ext cx="6350000" cy="165100"/>
          </a:xfrm>
          <a:prstGeom prst="rect">
            <a:avLst/>
          </a:prstGeom>
          <a:noFill/>
        </p:spPr>
        <p:txBody>
          <a:bodyPr wrap="square" lIns="0" rIns="0" tIns="0" bIns="0" anchor="t">
            <a:spAutoFit/>
          </a:bodyPr>
          <a:lstStyle/>
          <a:p>
            <a:pPr algn="l">
              <a:lnSpc>
                <a:spcPct val="115000"/>
              </a:lnSpc>
            </a:pPr>
            <a:r>
              <a:rPr sz="1100" b="0" i="1">
                <a:solidFill>
                  <a:srgbClr val="6E6A64"/>
                </a:solidFill>
                <a:latin typeface="Inter"/>
              </a:rPr>
              <a:t>temps long, débat public, arbitrage entre usages</a:t>
            </a:r>
          </a:p>
        </p:txBody>
      </p:sp>
      <p:sp>
        <p:nvSpPr>
          <p:cNvPr id="36" name="TextBox 35"/>
          <p:cNvSpPr txBox="1"/>
          <p:nvPr/>
        </p:nvSpPr>
        <p:spPr>
          <a:xfrm>
            <a:off x="4953000" y="3302000"/>
            <a:ext cx="1905000" cy="165100"/>
          </a:xfrm>
          <a:prstGeom prst="rect">
            <a:avLst/>
          </a:prstGeom>
          <a:noFill/>
        </p:spPr>
        <p:txBody>
          <a:bodyPr wrap="square" lIns="0" rIns="0" tIns="0" bIns="0" anchor="t">
            <a:spAutoFit/>
          </a:bodyPr>
          <a:lstStyle/>
          <a:p>
            <a:pPr algn="l">
              <a:lnSpc>
                <a:spcPct val="115000"/>
              </a:lnSpc>
            </a:pPr>
            <a:r>
              <a:rPr sz="1300" b="1" i="0">
                <a:solidFill>
                  <a:srgbClr val="C8462B"/>
                </a:solidFill>
                <a:latin typeface="Inter"/>
              </a:rPr>
              <a:t>L'EXCEPTION</a:t>
            </a:r>
          </a:p>
        </p:txBody>
      </p:sp>
      <p:sp>
        <p:nvSpPr>
          <p:cNvPr id="37" name="Rounded Rectangle 36"/>
          <p:cNvSpPr/>
          <p:nvPr/>
        </p:nvSpPr>
        <p:spPr>
          <a:xfrm>
            <a:off x="4953000" y="3556000"/>
            <a:ext cx="1397000" cy="635000"/>
          </a:xfrm>
          <a:prstGeom prst="roundRect">
            <a:avLst>
              <a:gd name="adj" fmla="val 10000"/>
            </a:avLst>
          </a:prstGeom>
          <a:solidFill>
            <a:srgbClr val="C8462B"/>
          </a:solidFill>
          <a:ln>
            <a:noFill/>
          </a:ln>
          <a:effectLst/>
        </p:spPr>
        <p:txBody>
          <a:bodyPr rtlCol="0" anchor="ctr"/>
          <a:lstStyle/>
          <a:p>
            <a:pPr algn="ctr"/>
          </a:p>
        </p:txBody>
      </p:sp>
      <p:sp>
        <p:nvSpPr>
          <p:cNvPr id="38" name="TextBox 37"/>
          <p:cNvSpPr txBox="1"/>
          <p:nvPr/>
        </p:nvSpPr>
        <p:spPr>
          <a:xfrm>
            <a:off x="4953000" y="3556000"/>
            <a:ext cx="1397000" cy="635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Événement</a:t>
            </a:r>
          </a:p>
          <a:p>
            <a:pPr algn="ctr">
              <a:lnSpc>
                <a:spcPct val="115000"/>
              </a:lnSpc>
            </a:pPr>
            <a:r>
              <a:rPr sz="1300" b="1" i="0">
                <a:solidFill>
                  <a:srgbClr val="FFFFFF"/>
                </a:solidFill>
                <a:latin typeface="Inter"/>
              </a:rPr>
              <a:t>(Mondial 2030)</a:t>
            </a:r>
          </a:p>
        </p:txBody>
      </p:sp>
      <p:cxnSp>
        <p:nvCxnSpPr>
          <p:cNvPr id="39" name="Connector 38"/>
          <p:cNvCxnSpPr/>
          <p:nvPr/>
        </p:nvCxnSpPr>
        <p:spPr>
          <a:xfrm>
            <a:off x="6375400" y="3873500"/>
            <a:ext cx="234950" cy="0"/>
          </a:xfrm>
          <a:prstGeom prst="line">
            <a:avLst/>
          </a:prstGeom>
          <a:ln w="19050">
            <a:solidFill>
              <a:srgbClr val="C8462B"/>
            </a:solidFill>
            <a:tailEnd type="triangle" w="med" len="med"/>
          </a:ln>
        </p:spPr>
      </p:cxnSp>
      <p:sp>
        <p:nvSpPr>
          <p:cNvPr id="40" name="Rounded Rectangle 39"/>
          <p:cNvSpPr/>
          <p:nvPr/>
        </p:nvSpPr>
        <p:spPr>
          <a:xfrm>
            <a:off x="6635750" y="3556000"/>
            <a:ext cx="1397000" cy="635000"/>
          </a:xfrm>
          <a:prstGeom prst="roundRect">
            <a:avLst>
              <a:gd name="adj" fmla="val 10000"/>
            </a:avLst>
          </a:prstGeom>
          <a:solidFill>
            <a:srgbClr val="C8462B"/>
          </a:solidFill>
          <a:ln>
            <a:noFill/>
          </a:ln>
          <a:effectLst/>
        </p:spPr>
        <p:txBody>
          <a:bodyPr rtlCol="0" anchor="ctr"/>
          <a:lstStyle/>
          <a:p>
            <a:pPr algn="ctr"/>
          </a:p>
        </p:txBody>
      </p:sp>
      <p:sp>
        <p:nvSpPr>
          <p:cNvPr id="41" name="TextBox 40"/>
          <p:cNvSpPr txBox="1"/>
          <p:nvPr/>
        </p:nvSpPr>
        <p:spPr>
          <a:xfrm>
            <a:off x="6635750" y="3556000"/>
            <a:ext cx="1397000" cy="635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Urgence</a:t>
            </a:r>
          </a:p>
          <a:p>
            <a:pPr algn="ctr">
              <a:lnSpc>
                <a:spcPct val="115000"/>
              </a:lnSpc>
            </a:pPr>
            <a:r>
              <a:rPr sz="1300" b="1" i="0">
                <a:solidFill>
                  <a:srgbClr val="FFFFFF"/>
                </a:solidFill>
                <a:latin typeface="Inter"/>
              </a:rPr>
              <a:t>« date FIFA »</a:t>
            </a:r>
          </a:p>
        </p:txBody>
      </p:sp>
      <p:cxnSp>
        <p:nvCxnSpPr>
          <p:cNvPr id="42" name="Connector 41"/>
          <p:cNvCxnSpPr/>
          <p:nvPr/>
        </p:nvCxnSpPr>
        <p:spPr>
          <a:xfrm>
            <a:off x="8058150" y="3873500"/>
            <a:ext cx="234950" cy="0"/>
          </a:xfrm>
          <a:prstGeom prst="line">
            <a:avLst/>
          </a:prstGeom>
          <a:ln w="19050">
            <a:solidFill>
              <a:srgbClr val="C8462B"/>
            </a:solidFill>
            <a:tailEnd type="triangle" w="med" len="med"/>
          </a:ln>
        </p:spPr>
      </p:cxnSp>
      <p:sp>
        <p:nvSpPr>
          <p:cNvPr id="43" name="Rounded Rectangle 42"/>
          <p:cNvSpPr/>
          <p:nvPr/>
        </p:nvSpPr>
        <p:spPr>
          <a:xfrm>
            <a:off x="8318500" y="3556000"/>
            <a:ext cx="1397000" cy="635000"/>
          </a:xfrm>
          <a:prstGeom prst="roundRect">
            <a:avLst>
              <a:gd name="adj" fmla="val 10000"/>
            </a:avLst>
          </a:prstGeom>
          <a:solidFill>
            <a:srgbClr val="C8462B"/>
          </a:solidFill>
          <a:ln>
            <a:noFill/>
          </a:ln>
          <a:effectLst/>
        </p:spPr>
        <p:txBody>
          <a:bodyPr rtlCol="0" anchor="ctr"/>
          <a:lstStyle/>
          <a:p>
            <a:pPr algn="ctr"/>
          </a:p>
        </p:txBody>
      </p:sp>
      <p:sp>
        <p:nvSpPr>
          <p:cNvPr id="44" name="TextBox 43"/>
          <p:cNvSpPr txBox="1"/>
          <p:nvPr/>
        </p:nvSpPr>
        <p:spPr>
          <a:xfrm>
            <a:off x="8318500" y="3556000"/>
            <a:ext cx="1397000" cy="635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Autorisation</a:t>
            </a:r>
          </a:p>
          <a:p>
            <a:pPr algn="ctr">
              <a:lnSpc>
                <a:spcPct val="115000"/>
              </a:lnSpc>
            </a:pPr>
            <a:r>
              <a:rPr sz="1300" b="1" i="0">
                <a:solidFill>
                  <a:srgbClr val="FFFFFF"/>
                </a:solidFill>
                <a:latin typeface="Inter"/>
              </a:rPr>
              <a:t>exceptionnelle</a:t>
            </a:r>
          </a:p>
        </p:txBody>
      </p:sp>
      <p:cxnSp>
        <p:nvCxnSpPr>
          <p:cNvPr id="45" name="Connector 44"/>
          <p:cNvCxnSpPr/>
          <p:nvPr/>
        </p:nvCxnSpPr>
        <p:spPr>
          <a:xfrm>
            <a:off x="9740900" y="3873500"/>
            <a:ext cx="234950" cy="0"/>
          </a:xfrm>
          <a:prstGeom prst="line">
            <a:avLst/>
          </a:prstGeom>
          <a:ln w="19050">
            <a:solidFill>
              <a:srgbClr val="C8462B"/>
            </a:solidFill>
            <a:tailEnd type="triangle" w="med" len="med"/>
          </a:ln>
        </p:spPr>
      </p:cxnSp>
      <p:sp>
        <p:nvSpPr>
          <p:cNvPr id="46" name="Rounded Rectangle 45"/>
          <p:cNvSpPr/>
          <p:nvPr/>
        </p:nvSpPr>
        <p:spPr>
          <a:xfrm>
            <a:off x="10001250" y="3556000"/>
            <a:ext cx="1397000" cy="635000"/>
          </a:xfrm>
          <a:prstGeom prst="roundRect">
            <a:avLst>
              <a:gd name="adj" fmla="val 10000"/>
            </a:avLst>
          </a:prstGeom>
          <a:solidFill>
            <a:srgbClr val="C8462B"/>
          </a:solidFill>
          <a:ln>
            <a:noFill/>
          </a:ln>
          <a:effectLst/>
        </p:spPr>
        <p:txBody>
          <a:bodyPr rtlCol="0" anchor="ctr"/>
          <a:lstStyle/>
          <a:p>
            <a:pPr algn="ctr"/>
          </a:p>
        </p:txBody>
      </p:sp>
      <p:sp>
        <p:nvSpPr>
          <p:cNvPr id="47" name="TextBox 46"/>
          <p:cNvSpPr txBox="1"/>
          <p:nvPr/>
        </p:nvSpPr>
        <p:spPr>
          <a:xfrm>
            <a:off x="10001250" y="3556000"/>
            <a:ext cx="1397000" cy="635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Hôtels et</a:t>
            </a:r>
          </a:p>
          <a:p>
            <a:pPr algn="ctr">
              <a:lnSpc>
                <a:spcPct val="115000"/>
              </a:lnSpc>
            </a:pPr>
            <a:r>
              <a:rPr sz="1300" b="1" i="0">
                <a:solidFill>
                  <a:srgbClr val="FFFFFF"/>
                </a:solidFill>
                <a:latin typeface="Inter"/>
              </a:rPr>
              <a:t>résidences</a:t>
            </a:r>
          </a:p>
        </p:txBody>
      </p:sp>
      <p:sp>
        <p:nvSpPr>
          <p:cNvPr id="48" name="TextBox 47"/>
          <p:cNvSpPr txBox="1"/>
          <p:nvPr/>
        </p:nvSpPr>
        <p:spPr>
          <a:xfrm>
            <a:off x="4953000" y="4349750"/>
            <a:ext cx="6350000" cy="165100"/>
          </a:xfrm>
          <a:prstGeom prst="rect">
            <a:avLst/>
          </a:prstGeom>
          <a:noFill/>
        </p:spPr>
        <p:txBody>
          <a:bodyPr wrap="square" lIns="0" rIns="0" tIns="0" bIns="0" anchor="t">
            <a:spAutoFit/>
          </a:bodyPr>
          <a:lstStyle/>
          <a:p>
            <a:pPr algn="l">
              <a:lnSpc>
                <a:spcPct val="115000"/>
              </a:lnSpc>
            </a:pPr>
            <a:r>
              <a:rPr sz="1100" b="0" i="1">
                <a:solidFill>
                  <a:srgbClr val="6E6A64"/>
                </a:solidFill>
                <a:latin typeface="Inter"/>
              </a:rPr>
              <a:t>temps court, décision d'en haut, priorité au visiteur</a:t>
            </a:r>
          </a:p>
        </p:txBody>
      </p:sp>
      <p:cxnSp>
        <p:nvCxnSpPr>
          <p:cNvPr id="49" name="Connector 48"/>
          <p:cNvCxnSpPr/>
          <p:nvPr/>
        </p:nvCxnSpPr>
        <p:spPr>
          <a:xfrm flipV="1">
            <a:off x="7334250" y="2730500"/>
            <a:ext cx="0" cy="825500"/>
          </a:xfrm>
          <a:prstGeom prst="line">
            <a:avLst/>
          </a:prstGeom>
          <a:ln w="12700">
            <a:solidFill>
              <a:srgbClr val="C8462B"/>
            </a:solidFill>
            <a:prstDash val="dash"/>
          </a:ln>
        </p:spPr>
      </p:cxnSp>
      <p:cxnSp>
        <p:nvCxnSpPr>
          <p:cNvPr id="50" name="Connector 49"/>
          <p:cNvCxnSpPr/>
          <p:nvPr/>
        </p:nvCxnSpPr>
        <p:spPr>
          <a:xfrm flipV="1">
            <a:off x="9017000" y="2730500"/>
            <a:ext cx="0" cy="825500"/>
          </a:xfrm>
          <a:prstGeom prst="line">
            <a:avLst/>
          </a:prstGeom>
          <a:ln w="12700">
            <a:solidFill>
              <a:srgbClr val="C8462B"/>
            </a:solidFill>
            <a:prstDash val="dash"/>
          </a:ln>
        </p:spPr>
      </p:cxnSp>
      <p:sp>
        <p:nvSpPr>
          <p:cNvPr id="51" name="TextBox 50"/>
          <p:cNvSpPr txBox="1"/>
          <p:nvPr/>
        </p:nvSpPr>
        <p:spPr>
          <a:xfrm>
            <a:off x="7620000" y="3124200"/>
            <a:ext cx="1397000" cy="190500"/>
          </a:xfrm>
          <a:prstGeom prst="rect">
            <a:avLst/>
          </a:prstGeom>
          <a:noFill/>
        </p:spPr>
        <p:txBody>
          <a:bodyPr wrap="square" lIns="0" rIns="0" tIns="0" bIns="0" anchor="t">
            <a:spAutoFit/>
          </a:bodyPr>
          <a:lstStyle/>
          <a:p>
            <a:pPr algn="ctr">
              <a:lnSpc>
                <a:spcPct val="115000"/>
              </a:lnSpc>
            </a:pPr>
            <a:r>
              <a:rPr sz="1050" b="1" i="0">
                <a:solidFill>
                  <a:srgbClr val="C8462B"/>
                </a:solidFill>
                <a:latin typeface="Inter"/>
              </a:rPr>
              <a:t>étapes contournées</a:t>
            </a:r>
          </a:p>
        </p:txBody>
      </p:sp>
      <p:sp>
        <p:nvSpPr>
          <p:cNvPr id="52" name="Rectangle 51"/>
          <p:cNvSpPr/>
          <p:nvPr/>
        </p:nvSpPr>
        <p:spPr>
          <a:xfrm>
            <a:off x="4953000" y="4762500"/>
            <a:ext cx="6731000" cy="1206500"/>
          </a:xfrm>
          <a:prstGeom prst="rect">
            <a:avLst/>
          </a:prstGeom>
          <a:solidFill>
            <a:srgbClr val="FFFFFF"/>
          </a:solidFill>
          <a:ln w="9525">
            <a:solidFill>
              <a:srgbClr val="CFC8BC"/>
            </a:solidFill>
          </a:ln>
          <a:effectLst/>
        </p:spPr>
        <p:txBody>
          <a:bodyPr rtlCol="0" anchor="ctr"/>
          <a:lstStyle/>
          <a:p>
            <a:pPr algn="ctr"/>
          </a:p>
        </p:txBody>
      </p:sp>
      <p:sp>
        <p:nvSpPr>
          <p:cNvPr id="53" name="Rectangle 52"/>
          <p:cNvSpPr/>
          <p:nvPr/>
        </p:nvSpPr>
        <p:spPr>
          <a:xfrm>
            <a:off x="4953000" y="4762500"/>
            <a:ext cx="63500" cy="1206500"/>
          </a:xfrm>
          <a:prstGeom prst="rect">
            <a:avLst/>
          </a:prstGeom>
          <a:solidFill>
            <a:srgbClr val="C8462B"/>
          </a:solidFill>
          <a:ln>
            <a:noFill/>
          </a:ln>
          <a:effectLst/>
        </p:spPr>
        <p:txBody>
          <a:bodyPr rtlCol="0" anchor="ctr"/>
          <a:lstStyle/>
          <a:p>
            <a:pPr algn="ctr"/>
          </a:p>
        </p:txBody>
      </p:sp>
      <p:sp>
        <p:nvSpPr>
          <p:cNvPr id="54" name="TextBox 53"/>
          <p:cNvSpPr txBox="1"/>
          <p:nvPr/>
        </p:nvSpPr>
        <p:spPr>
          <a:xfrm>
            <a:off x="5181600" y="4876800"/>
            <a:ext cx="6350000" cy="1016000"/>
          </a:xfrm>
          <a:prstGeom prst="rect">
            <a:avLst/>
          </a:prstGeom>
          <a:noFill/>
        </p:spPr>
        <p:txBody>
          <a:bodyPr wrap="square" lIns="0" rIns="0" tIns="0" bIns="0" anchor="t">
            <a:spAutoFit/>
          </a:bodyPr>
          <a:lstStyle/>
          <a:p>
            <a:pPr algn="l">
              <a:lnSpc>
                <a:spcPct val="130000"/>
              </a:lnSpc>
            </a:pPr>
            <a:r>
              <a:rPr sz="1200" b="1" i="0">
                <a:solidFill>
                  <a:srgbClr val="C8462B"/>
                </a:solidFill>
                <a:latin typeface="Inter"/>
              </a:rPr>
              <a:t>La critique. </a:t>
            </a:r>
            <a:r>
              <a:rPr sz="1200" b="0" i="0">
                <a:solidFill>
                  <a:srgbClr val="1C1C1C"/>
                </a:solidFill>
                <a:latin typeface="Inter"/>
              </a:rPr>
              <a:t>Quand la date du tournoi devient l'horizon du projet urbain, ce qui peut être livré à temps (stade, hôtels, façades) passe devant ce qui demande du temps (logement social, transport, équipements). L'héritage du Mondial devra se mesurer dans les quartiers, pas dans les tribunes.</a:t>
            </a:r>
          </a:p>
        </p:txBody>
      </p:sp>
      <p:sp>
        <p:nvSpPr>
          <p:cNvPr id="55" name="TextBox 54"/>
          <p:cNvSpPr txBox="1"/>
          <p:nvPr/>
        </p:nvSpPr>
        <p:spPr>
          <a:xfrm>
            <a:off x="508000" y="6083300"/>
            <a:ext cx="4445000" cy="152400"/>
          </a:xfrm>
          <a:prstGeom prst="rect">
            <a:avLst/>
          </a:prstGeom>
          <a:noFill/>
        </p:spPr>
        <p:txBody>
          <a:bodyPr wrap="square" lIns="0" rIns="0" tIns="0" bIns="0" anchor="t">
            <a:spAutoFit/>
          </a:bodyPr>
          <a:lstStyle/>
          <a:p>
            <a:pPr algn="l">
              <a:lnSpc>
                <a:spcPct val="115000"/>
              </a:lnSpc>
            </a:pPr>
            <a:r>
              <a:rPr sz="900" b="0" i="1">
                <a:solidFill>
                  <a:srgbClr val="6E6A64"/>
                </a:solidFill>
                <a:latin typeface="Inter"/>
              </a:rPr>
              <a:t>Capacités : Medias24 (2024). Notes FIFA : presse (Bladi, 2024). Schéma de l'auteur.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CAS 4 : CHRAFATE</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La ville des ouvriers n'a pas été construite</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Pendant que la marina, la gare TGV et le stade sortaient de terre, la ville prévue pour les ouvriers de l'industrie restait presque vide.</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12 / 17</a:t>
            </a:r>
          </a:p>
        </p:txBody>
      </p:sp>
      <p:sp>
        <p:nvSpPr>
          <p:cNvPr id="11" name="Rectangle 10"/>
          <p:cNvSpPr/>
          <p:nvPr/>
        </p:nvSpPr>
        <p:spPr>
          <a:xfrm>
            <a:off x="508000" y="1524000"/>
            <a:ext cx="4826000" cy="3302000"/>
          </a:xfrm>
          <a:prstGeom prst="rect">
            <a:avLst/>
          </a:prstGeom>
          <a:solidFill>
            <a:srgbClr val="D3E3EA"/>
          </a:solidFill>
          <a:ln>
            <a:noFill/>
          </a:ln>
          <a:effectLst/>
        </p:spPr>
        <p:txBody>
          <a:bodyPr rtlCol="0" anchor="ctr"/>
          <a:lstStyle/>
          <a:p>
            <a:pPr algn="ctr"/>
          </a:p>
        </p:txBody>
      </p:sp>
      <p:sp>
        <p:nvSpPr>
          <p:cNvPr id="12" name="Freeform 11"/>
          <p:cNvSpPr/>
          <p:nvPr/>
        </p:nvSpPr>
        <p:spPr>
          <a:xfrm>
            <a:off x="508000" y="1962912"/>
            <a:ext cx="4826000" cy="2863088"/>
          </a:xfrm>
          <a:custGeom>
            <a:avLst/>
            <a:gdLst/>
            <a:ahLst/>
            <a:cxnLst/>
            <a:rect l="l" t="t" r="r" b="b"/>
            <a:pathLst>
              <a:path w="4826000" h="2863088">
                <a:moveTo>
                  <a:pt x="0" y="386588"/>
                </a:moveTo>
                <a:lnTo>
                  <a:pt x="105664" y="363220"/>
                </a:lnTo>
                <a:lnTo>
                  <a:pt x="256032" y="326644"/>
                </a:lnTo>
                <a:lnTo>
                  <a:pt x="429768" y="289052"/>
                </a:lnTo>
                <a:lnTo>
                  <a:pt x="605536" y="262636"/>
                </a:lnTo>
                <a:lnTo>
                  <a:pt x="762000" y="259588"/>
                </a:lnTo>
                <a:lnTo>
                  <a:pt x="899160" y="293116"/>
                </a:lnTo>
                <a:lnTo>
                  <a:pt x="1031240" y="355092"/>
                </a:lnTo>
                <a:lnTo>
                  <a:pt x="1158240" y="425704"/>
                </a:lnTo>
                <a:lnTo>
                  <a:pt x="1280160" y="485140"/>
                </a:lnTo>
                <a:lnTo>
                  <a:pt x="1397000" y="513588"/>
                </a:lnTo>
                <a:lnTo>
                  <a:pt x="1502664" y="502920"/>
                </a:lnTo>
                <a:lnTo>
                  <a:pt x="1597152" y="466344"/>
                </a:lnTo>
                <a:lnTo>
                  <a:pt x="1689608" y="416052"/>
                </a:lnTo>
                <a:lnTo>
                  <a:pt x="1789176" y="364236"/>
                </a:lnTo>
                <a:lnTo>
                  <a:pt x="1905000" y="323088"/>
                </a:lnTo>
                <a:lnTo>
                  <a:pt x="2039112" y="294640"/>
                </a:lnTo>
                <a:lnTo>
                  <a:pt x="2185416" y="270764"/>
                </a:lnTo>
                <a:lnTo>
                  <a:pt x="2340864" y="248412"/>
                </a:lnTo>
                <a:lnTo>
                  <a:pt x="2502408" y="224536"/>
                </a:lnTo>
                <a:lnTo>
                  <a:pt x="2667000" y="196088"/>
                </a:lnTo>
                <a:lnTo>
                  <a:pt x="2840736" y="157988"/>
                </a:lnTo>
                <a:lnTo>
                  <a:pt x="3025648" y="112268"/>
                </a:lnTo>
                <a:lnTo>
                  <a:pt x="3212592" y="66548"/>
                </a:lnTo>
                <a:lnTo>
                  <a:pt x="3392424" y="28448"/>
                </a:lnTo>
                <a:lnTo>
                  <a:pt x="3556000" y="5588"/>
                </a:lnTo>
                <a:lnTo>
                  <a:pt x="3699256" y="0"/>
                </a:lnTo>
                <a:lnTo>
                  <a:pt x="3828288" y="6604"/>
                </a:lnTo>
                <a:lnTo>
                  <a:pt x="3949192" y="22352"/>
                </a:lnTo>
                <a:lnTo>
                  <a:pt x="4068064" y="44196"/>
                </a:lnTo>
                <a:lnTo>
                  <a:pt x="4191000" y="69088"/>
                </a:lnTo>
                <a:lnTo>
                  <a:pt x="4328160" y="102108"/>
                </a:lnTo>
                <a:lnTo>
                  <a:pt x="4475480" y="145288"/>
                </a:lnTo>
                <a:lnTo>
                  <a:pt x="4617720" y="191008"/>
                </a:lnTo>
                <a:lnTo>
                  <a:pt x="4739640" y="231648"/>
                </a:lnTo>
                <a:lnTo>
                  <a:pt x="4826000" y="259588"/>
                </a:lnTo>
                <a:lnTo>
                  <a:pt x="4826000" y="2863088"/>
                </a:lnTo>
                <a:lnTo>
                  <a:pt x="0" y="2863088"/>
                </a:lnTo>
                <a:close/>
              </a:path>
            </a:pathLst>
          </a:custGeom>
          <a:solidFill>
            <a:srgbClr val="EFE9DE"/>
          </a:solidFill>
          <a:ln>
            <a:noFill/>
          </a:ln>
          <a:effectLst/>
        </p:spPr>
        <p:txBody>
          <a:bodyPr rtlCol="0" anchor="ctr"/>
          <a:lstStyle/>
          <a:p>
            <a:pPr algn="ctr"/>
          </a:p>
        </p:txBody>
      </p:sp>
      <p:sp>
        <p:nvSpPr>
          <p:cNvPr id="13" name="Freeform 12"/>
          <p:cNvSpPr/>
          <p:nvPr/>
        </p:nvSpPr>
        <p:spPr>
          <a:xfrm>
            <a:off x="508000" y="1962912"/>
            <a:ext cx="4826000" cy="513588"/>
          </a:xfrm>
          <a:custGeom>
            <a:avLst/>
            <a:gdLst/>
            <a:ahLst/>
            <a:cxnLst/>
            <a:rect l="l" t="t" r="r" b="b"/>
            <a:pathLst>
              <a:path w="4826000" h="513588">
                <a:moveTo>
                  <a:pt x="0" y="386588"/>
                </a:moveTo>
                <a:lnTo>
                  <a:pt x="105664" y="363220"/>
                </a:lnTo>
                <a:lnTo>
                  <a:pt x="256032" y="326644"/>
                </a:lnTo>
                <a:lnTo>
                  <a:pt x="429768" y="289052"/>
                </a:lnTo>
                <a:lnTo>
                  <a:pt x="605536" y="262636"/>
                </a:lnTo>
                <a:lnTo>
                  <a:pt x="762000" y="259588"/>
                </a:lnTo>
                <a:lnTo>
                  <a:pt x="899160" y="293116"/>
                </a:lnTo>
                <a:lnTo>
                  <a:pt x="1031240" y="355092"/>
                </a:lnTo>
                <a:lnTo>
                  <a:pt x="1158240" y="425704"/>
                </a:lnTo>
                <a:lnTo>
                  <a:pt x="1280160" y="485140"/>
                </a:lnTo>
                <a:lnTo>
                  <a:pt x="1397000" y="513588"/>
                </a:lnTo>
                <a:lnTo>
                  <a:pt x="1502664" y="502920"/>
                </a:lnTo>
                <a:lnTo>
                  <a:pt x="1597152" y="466344"/>
                </a:lnTo>
                <a:lnTo>
                  <a:pt x="1689608" y="416052"/>
                </a:lnTo>
                <a:lnTo>
                  <a:pt x="1789176" y="364236"/>
                </a:lnTo>
                <a:lnTo>
                  <a:pt x="1905000" y="323088"/>
                </a:lnTo>
                <a:lnTo>
                  <a:pt x="2039112" y="294640"/>
                </a:lnTo>
                <a:lnTo>
                  <a:pt x="2185416" y="270764"/>
                </a:lnTo>
                <a:lnTo>
                  <a:pt x="2340864" y="248412"/>
                </a:lnTo>
                <a:lnTo>
                  <a:pt x="2502408" y="224536"/>
                </a:lnTo>
                <a:lnTo>
                  <a:pt x="2667000" y="196088"/>
                </a:lnTo>
                <a:lnTo>
                  <a:pt x="2840736" y="157988"/>
                </a:lnTo>
                <a:lnTo>
                  <a:pt x="3025648" y="112268"/>
                </a:lnTo>
                <a:lnTo>
                  <a:pt x="3212592" y="66548"/>
                </a:lnTo>
                <a:lnTo>
                  <a:pt x="3392424" y="28448"/>
                </a:lnTo>
                <a:lnTo>
                  <a:pt x="3556000" y="5588"/>
                </a:lnTo>
                <a:lnTo>
                  <a:pt x="3699256" y="0"/>
                </a:lnTo>
                <a:lnTo>
                  <a:pt x="3828288" y="6604"/>
                </a:lnTo>
                <a:lnTo>
                  <a:pt x="3949192" y="22352"/>
                </a:lnTo>
                <a:lnTo>
                  <a:pt x="4068064" y="44196"/>
                </a:lnTo>
                <a:lnTo>
                  <a:pt x="4191000" y="69088"/>
                </a:lnTo>
                <a:lnTo>
                  <a:pt x="4328160" y="102108"/>
                </a:lnTo>
                <a:lnTo>
                  <a:pt x="4475480" y="145288"/>
                </a:lnTo>
                <a:lnTo>
                  <a:pt x="4617720" y="191008"/>
                </a:lnTo>
                <a:lnTo>
                  <a:pt x="4739640" y="231648"/>
                </a:lnTo>
                <a:lnTo>
                  <a:pt x="4826000" y="259588"/>
                </a:lnTo>
              </a:path>
            </a:pathLst>
          </a:custGeom>
          <a:noFill/>
          <a:ln w="12700">
            <a:solidFill>
              <a:srgbClr val="8C9AA0"/>
            </a:solidFill>
          </a:ln>
          <a:effectLst/>
        </p:spPr>
        <p:txBody>
          <a:bodyPr rtlCol="0" anchor="ctr"/>
          <a:lstStyle/>
          <a:p>
            <a:pPr algn="ctr"/>
          </a:p>
        </p:txBody>
      </p:sp>
      <p:sp>
        <p:nvSpPr>
          <p:cNvPr id="14" name="Rectangle 13"/>
          <p:cNvSpPr/>
          <p:nvPr/>
        </p:nvSpPr>
        <p:spPr>
          <a:xfrm>
            <a:off x="508000" y="1524000"/>
            <a:ext cx="4826000" cy="3302000"/>
          </a:xfrm>
          <a:prstGeom prst="rect">
            <a:avLst/>
          </a:prstGeom>
          <a:noFill/>
          <a:ln w="9525">
            <a:solidFill>
              <a:srgbClr val="CFC8BC"/>
            </a:solidFill>
          </a:ln>
          <a:effectLst/>
        </p:spPr>
        <p:txBody>
          <a:bodyPr rtlCol="0" anchor="ctr"/>
          <a:lstStyle/>
          <a:p>
            <a:pPr algn="ctr"/>
          </a:p>
        </p:txBody>
      </p:sp>
      <p:sp>
        <p:nvSpPr>
          <p:cNvPr id="15" name="TextBox 14"/>
          <p:cNvSpPr txBox="1"/>
          <p:nvPr/>
        </p:nvSpPr>
        <p:spPr>
          <a:xfrm>
            <a:off x="1905000" y="1714500"/>
            <a:ext cx="2286000" cy="152400"/>
          </a:xfrm>
          <a:prstGeom prst="rect">
            <a:avLst/>
          </a:prstGeom>
          <a:noFill/>
        </p:spPr>
        <p:txBody>
          <a:bodyPr wrap="square" lIns="0" rIns="0" tIns="0" bIns="0" anchor="t">
            <a:spAutoFit/>
          </a:bodyPr>
          <a:lstStyle/>
          <a:p>
            <a:pPr algn="l">
              <a:lnSpc>
                <a:spcPct val="115000"/>
              </a:lnSpc>
            </a:pPr>
            <a:r>
              <a:rPr sz="1000" b="1" i="1">
                <a:solidFill>
                  <a:srgbClr val="5C7884"/>
                </a:solidFill>
                <a:latin typeface="Inter"/>
              </a:rPr>
              <a:t>DÉTROIT DE GIBRALTAR</a:t>
            </a:r>
          </a:p>
        </p:txBody>
      </p:sp>
      <p:cxnSp>
        <p:nvCxnSpPr>
          <p:cNvPr id="16" name="Connector 15"/>
          <p:cNvCxnSpPr/>
          <p:nvPr/>
        </p:nvCxnSpPr>
        <p:spPr>
          <a:xfrm>
            <a:off x="1460500" y="2603500"/>
            <a:ext cx="2222500" cy="1016000"/>
          </a:xfrm>
          <a:prstGeom prst="line">
            <a:avLst/>
          </a:prstGeom>
          <a:ln w="31750">
            <a:solidFill>
              <a:srgbClr val="1C1C1C"/>
            </a:solidFill>
          </a:ln>
        </p:spPr>
      </p:cxnSp>
      <p:cxnSp>
        <p:nvCxnSpPr>
          <p:cNvPr id="17" name="Connector 16"/>
          <p:cNvCxnSpPr/>
          <p:nvPr/>
        </p:nvCxnSpPr>
        <p:spPr>
          <a:xfrm flipV="1">
            <a:off x="3683000" y="2286000"/>
            <a:ext cx="889000" cy="1333500"/>
          </a:xfrm>
          <a:prstGeom prst="line">
            <a:avLst/>
          </a:prstGeom>
          <a:ln w="31750">
            <a:solidFill>
              <a:srgbClr val="1C1C1C"/>
            </a:solidFill>
          </a:ln>
        </p:spPr>
      </p:cxnSp>
      <p:cxnSp>
        <p:nvCxnSpPr>
          <p:cNvPr id="18" name="Connector 17"/>
          <p:cNvCxnSpPr/>
          <p:nvPr/>
        </p:nvCxnSpPr>
        <p:spPr>
          <a:xfrm>
            <a:off x="1460500" y="2603500"/>
            <a:ext cx="1714500" cy="1333500"/>
          </a:xfrm>
          <a:prstGeom prst="line">
            <a:avLst/>
          </a:prstGeom>
          <a:ln w="19050">
            <a:solidFill>
              <a:srgbClr val="C8462B"/>
            </a:solidFill>
            <a:prstDash val="dash"/>
          </a:ln>
        </p:spPr>
      </p:cxnSp>
      <p:sp>
        <p:nvSpPr>
          <p:cNvPr id="19" name="TextBox 18"/>
          <p:cNvSpPr txBox="1"/>
          <p:nvPr/>
        </p:nvSpPr>
        <p:spPr>
          <a:xfrm>
            <a:off x="1778000" y="3429000"/>
            <a:ext cx="762000" cy="190500"/>
          </a:xfrm>
          <a:prstGeom prst="rect">
            <a:avLst/>
          </a:prstGeom>
          <a:noFill/>
        </p:spPr>
        <p:txBody>
          <a:bodyPr wrap="square" lIns="0" rIns="0" tIns="0" bIns="0" anchor="t">
            <a:spAutoFit/>
          </a:bodyPr>
          <a:lstStyle/>
          <a:p>
            <a:pPr algn="l">
              <a:lnSpc>
                <a:spcPct val="115000"/>
              </a:lnSpc>
            </a:pPr>
            <a:r>
              <a:rPr sz="1200" b="1" i="0">
                <a:solidFill>
                  <a:srgbClr val="C8462B"/>
                </a:solidFill>
                <a:latin typeface="Inter"/>
              </a:rPr>
              <a:t>≈ 18 km</a:t>
            </a:r>
          </a:p>
        </p:txBody>
      </p:sp>
      <p:sp>
        <p:nvSpPr>
          <p:cNvPr id="20" name="Oval 19"/>
          <p:cNvSpPr/>
          <p:nvPr/>
        </p:nvSpPr>
        <p:spPr>
          <a:xfrm>
            <a:off x="1244600" y="2387600"/>
            <a:ext cx="431800" cy="431800"/>
          </a:xfrm>
          <a:prstGeom prst="ellipse">
            <a:avLst/>
          </a:prstGeom>
          <a:solidFill>
            <a:srgbClr val="1C1C1C"/>
          </a:solidFill>
          <a:ln>
            <a:noFill/>
          </a:ln>
          <a:effectLst/>
        </p:spPr>
        <p:txBody>
          <a:bodyPr rtlCol="0" anchor="ctr"/>
          <a:lstStyle/>
          <a:p>
            <a:pPr algn="ctr"/>
          </a:p>
        </p:txBody>
      </p:sp>
      <p:sp>
        <p:nvSpPr>
          <p:cNvPr id="21" name="TextBox 20"/>
          <p:cNvSpPr txBox="1"/>
          <p:nvPr/>
        </p:nvSpPr>
        <p:spPr>
          <a:xfrm>
            <a:off x="952500" y="2127250"/>
            <a:ext cx="1016000" cy="190500"/>
          </a:xfrm>
          <a:prstGeom prst="rect">
            <a:avLst/>
          </a:prstGeom>
          <a:noFill/>
        </p:spPr>
        <p:txBody>
          <a:bodyPr wrap="square" lIns="0" rIns="0" tIns="0" bIns="0" anchor="t">
            <a:spAutoFit/>
          </a:bodyPr>
          <a:lstStyle/>
          <a:p>
            <a:pPr algn="ctr">
              <a:lnSpc>
                <a:spcPct val="115000"/>
              </a:lnSpc>
            </a:pPr>
            <a:r>
              <a:rPr sz="1200" b="1" i="0">
                <a:solidFill>
                  <a:srgbClr val="1C1C1C"/>
                </a:solidFill>
                <a:latin typeface="Inter"/>
              </a:rPr>
              <a:t>TANGER</a:t>
            </a:r>
          </a:p>
        </p:txBody>
      </p:sp>
      <p:sp>
        <p:nvSpPr>
          <p:cNvPr id="22" name="Oval 21"/>
          <p:cNvSpPr/>
          <p:nvPr/>
        </p:nvSpPr>
        <p:spPr>
          <a:xfrm>
            <a:off x="4470400" y="2184400"/>
            <a:ext cx="203200" cy="203200"/>
          </a:xfrm>
          <a:prstGeom prst="ellipse">
            <a:avLst/>
          </a:prstGeom>
          <a:solidFill>
            <a:srgbClr val="1F3A5F"/>
          </a:solidFill>
          <a:ln w="19050">
            <a:solidFill>
              <a:srgbClr val="FFFFFF"/>
            </a:solidFill>
          </a:ln>
          <a:effectLst/>
        </p:spPr>
        <p:txBody>
          <a:bodyPr rtlCol="0" anchor="ctr"/>
          <a:lstStyle/>
          <a:p>
            <a:pPr algn="ctr"/>
          </a:p>
        </p:txBody>
      </p:sp>
      <p:sp>
        <p:nvSpPr>
          <p:cNvPr id="23" name="TextBox 22"/>
          <p:cNvSpPr txBox="1"/>
          <p:nvPr/>
        </p:nvSpPr>
        <p:spPr>
          <a:xfrm>
            <a:off x="3937000" y="2425700"/>
            <a:ext cx="1270000" cy="1905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Port Tanger Med</a:t>
            </a:r>
          </a:p>
        </p:txBody>
      </p:sp>
      <p:sp>
        <p:nvSpPr>
          <p:cNvPr id="24" name="Rectangle 23"/>
          <p:cNvSpPr/>
          <p:nvPr/>
        </p:nvSpPr>
        <p:spPr>
          <a:xfrm>
            <a:off x="2514600" y="3340100"/>
            <a:ext cx="177800" cy="177800"/>
          </a:xfrm>
          <a:prstGeom prst="rect">
            <a:avLst/>
          </a:prstGeom>
          <a:solidFill>
            <a:srgbClr val="1F3A5F"/>
          </a:solidFill>
          <a:ln>
            <a:noFill/>
          </a:ln>
          <a:effectLst/>
        </p:spPr>
        <p:txBody>
          <a:bodyPr rtlCol="0" anchor="ctr"/>
          <a:lstStyle/>
          <a:p>
            <a:pPr algn="ctr"/>
          </a:p>
        </p:txBody>
      </p:sp>
      <p:sp>
        <p:nvSpPr>
          <p:cNvPr id="25" name="TextBox 24"/>
          <p:cNvSpPr txBox="1"/>
          <p:nvPr/>
        </p:nvSpPr>
        <p:spPr>
          <a:xfrm>
            <a:off x="2743200" y="3340100"/>
            <a:ext cx="1270000" cy="190500"/>
          </a:xfrm>
          <a:prstGeom prst="rect">
            <a:avLst/>
          </a:prstGeom>
          <a:noFill/>
        </p:spPr>
        <p:txBody>
          <a:bodyPr wrap="square" lIns="0" rIns="0" tIns="0" bIns="0" anchor="t">
            <a:spAutoFit/>
          </a:bodyPr>
          <a:lstStyle/>
          <a:p>
            <a:pPr algn="l">
              <a:lnSpc>
                <a:spcPct val="115000"/>
              </a:lnSpc>
            </a:pPr>
            <a:r>
              <a:rPr sz="1100" b="1" i="0">
                <a:solidFill>
                  <a:srgbClr val="1F3A5F"/>
                </a:solidFill>
                <a:latin typeface="Inter"/>
              </a:rPr>
              <a:t>Renault / TAC</a:t>
            </a:r>
          </a:p>
        </p:txBody>
      </p:sp>
      <p:sp>
        <p:nvSpPr>
          <p:cNvPr id="26" name="Oval 25"/>
          <p:cNvSpPr/>
          <p:nvPr/>
        </p:nvSpPr>
        <p:spPr>
          <a:xfrm>
            <a:off x="2882900" y="3644900"/>
            <a:ext cx="584200" cy="584200"/>
          </a:xfrm>
          <a:prstGeom prst="ellipse">
            <a:avLst/>
          </a:prstGeom>
          <a:noFill/>
          <a:ln w="19050">
            <a:solidFill>
              <a:srgbClr val="C8462B"/>
            </a:solidFill>
          </a:ln>
          <a:effectLst/>
        </p:spPr>
        <p:txBody>
          <a:bodyPr rtlCol="0" anchor="ctr"/>
          <a:lstStyle/>
          <a:p>
            <a:pPr algn="ctr"/>
          </a:p>
        </p:txBody>
      </p:sp>
      <p:sp>
        <p:nvSpPr>
          <p:cNvPr id="27" name="Oval 26"/>
          <p:cNvSpPr/>
          <p:nvPr/>
        </p:nvSpPr>
        <p:spPr>
          <a:xfrm>
            <a:off x="3136900" y="3898900"/>
            <a:ext cx="76200" cy="76200"/>
          </a:xfrm>
          <a:prstGeom prst="ellipse">
            <a:avLst/>
          </a:prstGeom>
          <a:solidFill>
            <a:srgbClr val="C8462B"/>
          </a:solidFill>
          <a:ln>
            <a:noFill/>
          </a:ln>
          <a:effectLst/>
        </p:spPr>
        <p:txBody>
          <a:bodyPr rtlCol="0" anchor="ctr"/>
          <a:lstStyle/>
          <a:p>
            <a:pPr algn="ctr"/>
          </a:p>
        </p:txBody>
      </p:sp>
      <p:sp>
        <p:nvSpPr>
          <p:cNvPr id="28" name="TextBox 27"/>
          <p:cNvSpPr txBox="1"/>
          <p:nvPr/>
        </p:nvSpPr>
        <p:spPr>
          <a:xfrm>
            <a:off x="2349500" y="4279900"/>
            <a:ext cx="1651000" cy="254000"/>
          </a:xfrm>
          <a:prstGeom prst="rect">
            <a:avLst/>
          </a:prstGeom>
          <a:noFill/>
        </p:spPr>
        <p:txBody>
          <a:bodyPr wrap="square" lIns="0" rIns="0" tIns="0" bIns="0" anchor="t">
            <a:spAutoFit/>
          </a:bodyPr>
          <a:lstStyle/>
          <a:p>
            <a:pPr algn="ctr">
              <a:lnSpc>
                <a:spcPct val="115000"/>
              </a:lnSpc>
            </a:pPr>
            <a:r>
              <a:rPr sz="1100" b="1" i="0">
                <a:solidFill>
                  <a:srgbClr val="C8462B"/>
                </a:solidFill>
                <a:latin typeface="Inter"/>
              </a:rPr>
              <a:t>CHRAFATE</a:t>
            </a:r>
          </a:p>
          <a:p>
            <a:pPr algn="ctr">
              <a:lnSpc>
                <a:spcPct val="115000"/>
              </a:lnSpc>
            </a:pPr>
            <a:r>
              <a:rPr sz="1100" b="1" i="0">
                <a:solidFill>
                  <a:srgbClr val="C8462B"/>
                </a:solidFill>
                <a:latin typeface="Inter"/>
              </a:rPr>
              <a:t>ville prévue, restée vide</a:t>
            </a:r>
          </a:p>
        </p:txBody>
      </p:sp>
      <p:sp>
        <p:nvSpPr>
          <p:cNvPr id="29" name="TextBox 28"/>
          <p:cNvSpPr txBox="1"/>
          <p:nvPr/>
        </p:nvSpPr>
        <p:spPr>
          <a:xfrm>
            <a:off x="508000" y="4889500"/>
            <a:ext cx="4826000" cy="152400"/>
          </a:xfrm>
          <a:prstGeom prst="rect">
            <a:avLst/>
          </a:prstGeom>
          <a:noFill/>
        </p:spPr>
        <p:txBody>
          <a:bodyPr wrap="square" lIns="0" rIns="0" tIns="0" bIns="0" anchor="t">
            <a:spAutoFit/>
          </a:bodyPr>
          <a:lstStyle/>
          <a:p>
            <a:pPr algn="l">
              <a:lnSpc>
                <a:spcPct val="115000"/>
              </a:lnSpc>
            </a:pPr>
            <a:r>
              <a:rPr sz="900" b="0" i="1">
                <a:solidFill>
                  <a:srgbClr val="6E6A64"/>
                </a:solidFill>
                <a:latin typeface="Inter"/>
              </a:rPr>
              <a:t>Carte schématique de l'auteur, positions approximatives.</a:t>
            </a:r>
          </a:p>
        </p:txBody>
      </p:sp>
      <p:sp>
        <p:nvSpPr>
          <p:cNvPr id="30" name="TextBox 29"/>
          <p:cNvSpPr txBox="1"/>
          <p:nvPr/>
        </p:nvSpPr>
        <p:spPr>
          <a:xfrm>
            <a:off x="5715000" y="15240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PRÉVU VS COMPTÉ</a:t>
            </a:r>
          </a:p>
        </p:txBody>
      </p:sp>
      <p:sp>
        <p:nvSpPr>
          <p:cNvPr id="31" name="TextBox 30"/>
          <p:cNvSpPr txBox="1"/>
          <p:nvPr/>
        </p:nvSpPr>
        <p:spPr>
          <a:xfrm>
            <a:off x="5715000" y="1689100"/>
            <a:ext cx="5715000" cy="139700"/>
          </a:xfrm>
          <a:prstGeom prst="rect">
            <a:avLst/>
          </a:prstGeom>
          <a:noFill/>
        </p:spPr>
        <p:txBody>
          <a:bodyPr wrap="square" lIns="0" rIns="0" tIns="0" bIns="0" anchor="t">
            <a:spAutoFit/>
          </a:bodyPr>
          <a:lstStyle/>
          <a:p>
            <a:pPr algn="l">
              <a:lnSpc>
                <a:spcPct val="115000"/>
              </a:lnSpc>
            </a:pPr>
            <a:r>
              <a:rPr sz="1050" b="0" i="0">
                <a:solidFill>
                  <a:srgbClr val="6E6A64"/>
                </a:solidFill>
                <a:latin typeface="Inter"/>
              </a:rPr>
              <a:t>chaque point = 1 500 habitants prévus</a:t>
            </a:r>
          </a:p>
        </p:txBody>
      </p:sp>
      <p:sp>
        <p:nvSpPr>
          <p:cNvPr id="32" name="Oval 31"/>
          <p:cNvSpPr/>
          <p:nvPr/>
        </p:nvSpPr>
        <p:spPr>
          <a:xfrm>
            <a:off x="5721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33" name="Oval 32"/>
          <p:cNvSpPr/>
          <p:nvPr/>
        </p:nvSpPr>
        <p:spPr>
          <a:xfrm>
            <a:off x="5975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34" name="Oval 33"/>
          <p:cNvSpPr/>
          <p:nvPr/>
        </p:nvSpPr>
        <p:spPr>
          <a:xfrm>
            <a:off x="6229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35" name="Oval 34"/>
          <p:cNvSpPr/>
          <p:nvPr/>
        </p:nvSpPr>
        <p:spPr>
          <a:xfrm>
            <a:off x="6483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36" name="Oval 35"/>
          <p:cNvSpPr/>
          <p:nvPr/>
        </p:nvSpPr>
        <p:spPr>
          <a:xfrm>
            <a:off x="6737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37" name="Oval 36"/>
          <p:cNvSpPr/>
          <p:nvPr/>
        </p:nvSpPr>
        <p:spPr>
          <a:xfrm>
            <a:off x="6991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38" name="Oval 37"/>
          <p:cNvSpPr/>
          <p:nvPr/>
        </p:nvSpPr>
        <p:spPr>
          <a:xfrm>
            <a:off x="7245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39" name="Oval 38"/>
          <p:cNvSpPr/>
          <p:nvPr/>
        </p:nvSpPr>
        <p:spPr>
          <a:xfrm>
            <a:off x="7499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40" name="Oval 39"/>
          <p:cNvSpPr/>
          <p:nvPr/>
        </p:nvSpPr>
        <p:spPr>
          <a:xfrm>
            <a:off x="7753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41" name="Oval 40"/>
          <p:cNvSpPr/>
          <p:nvPr/>
        </p:nvSpPr>
        <p:spPr>
          <a:xfrm>
            <a:off x="8007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42" name="Oval 41"/>
          <p:cNvSpPr/>
          <p:nvPr/>
        </p:nvSpPr>
        <p:spPr>
          <a:xfrm>
            <a:off x="8261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43" name="Oval 42"/>
          <p:cNvSpPr/>
          <p:nvPr/>
        </p:nvSpPr>
        <p:spPr>
          <a:xfrm>
            <a:off x="8515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44" name="Oval 43"/>
          <p:cNvSpPr/>
          <p:nvPr/>
        </p:nvSpPr>
        <p:spPr>
          <a:xfrm>
            <a:off x="8769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45" name="Oval 44"/>
          <p:cNvSpPr/>
          <p:nvPr/>
        </p:nvSpPr>
        <p:spPr>
          <a:xfrm>
            <a:off x="9023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46" name="Oval 45"/>
          <p:cNvSpPr/>
          <p:nvPr/>
        </p:nvSpPr>
        <p:spPr>
          <a:xfrm>
            <a:off x="9277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47" name="Oval 46"/>
          <p:cNvSpPr/>
          <p:nvPr/>
        </p:nvSpPr>
        <p:spPr>
          <a:xfrm>
            <a:off x="9531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48" name="Oval 47"/>
          <p:cNvSpPr/>
          <p:nvPr/>
        </p:nvSpPr>
        <p:spPr>
          <a:xfrm>
            <a:off x="9785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49" name="Oval 48"/>
          <p:cNvSpPr/>
          <p:nvPr/>
        </p:nvSpPr>
        <p:spPr>
          <a:xfrm>
            <a:off x="10039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50" name="Oval 49"/>
          <p:cNvSpPr/>
          <p:nvPr/>
        </p:nvSpPr>
        <p:spPr>
          <a:xfrm>
            <a:off x="10293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51" name="Oval 50"/>
          <p:cNvSpPr/>
          <p:nvPr/>
        </p:nvSpPr>
        <p:spPr>
          <a:xfrm>
            <a:off x="10547350" y="1924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52" name="Oval 51"/>
          <p:cNvSpPr/>
          <p:nvPr/>
        </p:nvSpPr>
        <p:spPr>
          <a:xfrm>
            <a:off x="5721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53" name="Oval 52"/>
          <p:cNvSpPr/>
          <p:nvPr/>
        </p:nvSpPr>
        <p:spPr>
          <a:xfrm>
            <a:off x="5975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54" name="Oval 53"/>
          <p:cNvSpPr/>
          <p:nvPr/>
        </p:nvSpPr>
        <p:spPr>
          <a:xfrm>
            <a:off x="6229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55" name="Oval 54"/>
          <p:cNvSpPr/>
          <p:nvPr/>
        </p:nvSpPr>
        <p:spPr>
          <a:xfrm>
            <a:off x="6483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56" name="Oval 55"/>
          <p:cNvSpPr/>
          <p:nvPr/>
        </p:nvSpPr>
        <p:spPr>
          <a:xfrm>
            <a:off x="6737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57" name="Oval 56"/>
          <p:cNvSpPr/>
          <p:nvPr/>
        </p:nvSpPr>
        <p:spPr>
          <a:xfrm>
            <a:off x="6991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58" name="Oval 57"/>
          <p:cNvSpPr/>
          <p:nvPr/>
        </p:nvSpPr>
        <p:spPr>
          <a:xfrm>
            <a:off x="7245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59" name="Oval 58"/>
          <p:cNvSpPr/>
          <p:nvPr/>
        </p:nvSpPr>
        <p:spPr>
          <a:xfrm>
            <a:off x="7499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60" name="Oval 59"/>
          <p:cNvSpPr/>
          <p:nvPr/>
        </p:nvSpPr>
        <p:spPr>
          <a:xfrm>
            <a:off x="7753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61" name="Oval 60"/>
          <p:cNvSpPr/>
          <p:nvPr/>
        </p:nvSpPr>
        <p:spPr>
          <a:xfrm>
            <a:off x="8007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62" name="Oval 61"/>
          <p:cNvSpPr/>
          <p:nvPr/>
        </p:nvSpPr>
        <p:spPr>
          <a:xfrm>
            <a:off x="8261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63" name="Oval 62"/>
          <p:cNvSpPr/>
          <p:nvPr/>
        </p:nvSpPr>
        <p:spPr>
          <a:xfrm>
            <a:off x="8515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64" name="Oval 63"/>
          <p:cNvSpPr/>
          <p:nvPr/>
        </p:nvSpPr>
        <p:spPr>
          <a:xfrm>
            <a:off x="8769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65" name="Oval 64"/>
          <p:cNvSpPr/>
          <p:nvPr/>
        </p:nvSpPr>
        <p:spPr>
          <a:xfrm>
            <a:off x="9023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66" name="Oval 65"/>
          <p:cNvSpPr/>
          <p:nvPr/>
        </p:nvSpPr>
        <p:spPr>
          <a:xfrm>
            <a:off x="9277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67" name="Oval 66"/>
          <p:cNvSpPr/>
          <p:nvPr/>
        </p:nvSpPr>
        <p:spPr>
          <a:xfrm>
            <a:off x="9531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68" name="Oval 67"/>
          <p:cNvSpPr/>
          <p:nvPr/>
        </p:nvSpPr>
        <p:spPr>
          <a:xfrm>
            <a:off x="9785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69" name="Oval 68"/>
          <p:cNvSpPr/>
          <p:nvPr/>
        </p:nvSpPr>
        <p:spPr>
          <a:xfrm>
            <a:off x="10039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70" name="Oval 69"/>
          <p:cNvSpPr/>
          <p:nvPr/>
        </p:nvSpPr>
        <p:spPr>
          <a:xfrm>
            <a:off x="10293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71" name="Oval 70"/>
          <p:cNvSpPr/>
          <p:nvPr/>
        </p:nvSpPr>
        <p:spPr>
          <a:xfrm>
            <a:off x="10547350" y="2178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72" name="Oval 71"/>
          <p:cNvSpPr/>
          <p:nvPr/>
        </p:nvSpPr>
        <p:spPr>
          <a:xfrm>
            <a:off x="5721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73" name="Oval 72"/>
          <p:cNvSpPr/>
          <p:nvPr/>
        </p:nvSpPr>
        <p:spPr>
          <a:xfrm>
            <a:off x="5975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74" name="Oval 73"/>
          <p:cNvSpPr/>
          <p:nvPr/>
        </p:nvSpPr>
        <p:spPr>
          <a:xfrm>
            <a:off x="6229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75" name="Oval 74"/>
          <p:cNvSpPr/>
          <p:nvPr/>
        </p:nvSpPr>
        <p:spPr>
          <a:xfrm>
            <a:off x="6483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76" name="Oval 75"/>
          <p:cNvSpPr/>
          <p:nvPr/>
        </p:nvSpPr>
        <p:spPr>
          <a:xfrm>
            <a:off x="6737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77" name="Oval 76"/>
          <p:cNvSpPr/>
          <p:nvPr/>
        </p:nvSpPr>
        <p:spPr>
          <a:xfrm>
            <a:off x="6991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78" name="Oval 77"/>
          <p:cNvSpPr/>
          <p:nvPr/>
        </p:nvSpPr>
        <p:spPr>
          <a:xfrm>
            <a:off x="7245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79" name="Oval 78"/>
          <p:cNvSpPr/>
          <p:nvPr/>
        </p:nvSpPr>
        <p:spPr>
          <a:xfrm>
            <a:off x="7499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80" name="Oval 79"/>
          <p:cNvSpPr/>
          <p:nvPr/>
        </p:nvSpPr>
        <p:spPr>
          <a:xfrm>
            <a:off x="7753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81" name="Oval 80"/>
          <p:cNvSpPr/>
          <p:nvPr/>
        </p:nvSpPr>
        <p:spPr>
          <a:xfrm>
            <a:off x="8007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82" name="Oval 81"/>
          <p:cNvSpPr/>
          <p:nvPr/>
        </p:nvSpPr>
        <p:spPr>
          <a:xfrm>
            <a:off x="8261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83" name="Oval 82"/>
          <p:cNvSpPr/>
          <p:nvPr/>
        </p:nvSpPr>
        <p:spPr>
          <a:xfrm>
            <a:off x="8515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84" name="Oval 83"/>
          <p:cNvSpPr/>
          <p:nvPr/>
        </p:nvSpPr>
        <p:spPr>
          <a:xfrm>
            <a:off x="8769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85" name="Oval 84"/>
          <p:cNvSpPr/>
          <p:nvPr/>
        </p:nvSpPr>
        <p:spPr>
          <a:xfrm>
            <a:off x="9023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86" name="Oval 85"/>
          <p:cNvSpPr/>
          <p:nvPr/>
        </p:nvSpPr>
        <p:spPr>
          <a:xfrm>
            <a:off x="9277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87" name="Oval 86"/>
          <p:cNvSpPr/>
          <p:nvPr/>
        </p:nvSpPr>
        <p:spPr>
          <a:xfrm>
            <a:off x="9531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88" name="Oval 87"/>
          <p:cNvSpPr/>
          <p:nvPr/>
        </p:nvSpPr>
        <p:spPr>
          <a:xfrm>
            <a:off x="9785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89" name="Oval 88"/>
          <p:cNvSpPr/>
          <p:nvPr/>
        </p:nvSpPr>
        <p:spPr>
          <a:xfrm>
            <a:off x="10039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90" name="Oval 89"/>
          <p:cNvSpPr/>
          <p:nvPr/>
        </p:nvSpPr>
        <p:spPr>
          <a:xfrm>
            <a:off x="10293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91" name="Oval 90"/>
          <p:cNvSpPr/>
          <p:nvPr/>
        </p:nvSpPr>
        <p:spPr>
          <a:xfrm>
            <a:off x="10547350" y="2432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92" name="Oval 91"/>
          <p:cNvSpPr/>
          <p:nvPr/>
        </p:nvSpPr>
        <p:spPr>
          <a:xfrm>
            <a:off x="5721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93" name="Oval 92"/>
          <p:cNvSpPr/>
          <p:nvPr/>
        </p:nvSpPr>
        <p:spPr>
          <a:xfrm>
            <a:off x="5975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94" name="Oval 93"/>
          <p:cNvSpPr/>
          <p:nvPr/>
        </p:nvSpPr>
        <p:spPr>
          <a:xfrm>
            <a:off x="6229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95" name="Oval 94"/>
          <p:cNvSpPr/>
          <p:nvPr/>
        </p:nvSpPr>
        <p:spPr>
          <a:xfrm>
            <a:off x="6483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96" name="Oval 95"/>
          <p:cNvSpPr/>
          <p:nvPr/>
        </p:nvSpPr>
        <p:spPr>
          <a:xfrm>
            <a:off x="6737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97" name="Oval 96"/>
          <p:cNvSpPr/>
          <p:nvPr/>
        </p:nvSpPr>
        <p:spPr>
          <a:xfrm>
            <a:off x="6991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98" name="Oval 97"/>
          <p:cNvSpPr/>
          <p:nvPr/>
        </p:nvSpPr>
        <p:spPr>
          <a:xfrm>
            <a:off x="7245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99" name="Oval 98"/>
          <p:cNvSpPr/>
          <p:nvPr/>
        </p:nvSpPr>
        <p:spPr>
          <a:xfrm>
            <a:off x="7499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00" name="Oval 99"/>
          <p:cNvSpPr/>
          <p:nvPr/>
        </p:nvSpPr>
        <p:spPr>
          <a:xfrm>
            <a:off x="7753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01" name="Oval 100"/>
          <p:cNvSpPr/>
          <p:nvPr/>
        </p:nvSpPr>
        <p:spPr>
          <a:xfrm>
            <a:off x="8007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02" name="Oval 101"/>
          <p:cNvSpPr/>
          <p:nvPr/>
        </p:nvSpPr>
        <p:spPr>
          <a:xfrm>
            <a:off x="8261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03" name="Oval 102"/>
          <p:cNvSpPr/>
          <p:nvPr/>
        </p:nvSpPr>
        <p:spPr>
          <a:xfrm>
            <a:off x="8515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04" name="Oval 103"/>
          <p:cNvSpPr/>
          <p:nvPr/>
        </p:nvSpPr>
        <p:spPr>
          <a:xfrm>
            <a:off x="8769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05" name="Oval 104"/>
          <p:cNvSpPr/>
          <p:nvPr/>
        </p:nvSpPr>
        <p:spPr>
          <a:xfrm>
            <a:off x="9023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06" name="Oval 105"/>
          <p:cNvSpPr/>
          <p:nvPr/>
        </p:nvSpPr>
        <p:spPr>
          <a:xfrm>
            <a:off x="9277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07" name="Oval 106"/>
          <p:cNvSpPr/>
          <p:nvPr/>
        </p:nvSpPr>
        <p:spPr>
          <a:xfrm>
            <a:off x="9531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08" name="Oval 107"/>
          <p:cNvSpPr/>
          <p:nvPr/>
        </p:nvSpPr>
        <p:spPr>
          <a:xfrm>
            <a:off x="9785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09" name="Oval 108"/>
          <p:cNvSpPr/>
          <p:nvPr/>
        </p:nvSpPr>
        <p:spPr>
          <a:xfrm>
            <a:off x="10039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10" name="Oval 109"/>
          <p:cNvSpPr/>
          <p:nvPr/>
        </p:nvSpPr>
        <p:spPr>
          <a:xfrm>
            <a:off x="10293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11" name="Oval 110"/>
          <p:cNvSpPr/>
          <p:nvPr/>
        </p:nvSpPr>
        <p:spPr>
          <a:xfrm>
            <a:off x="10547350" y="2686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12" name="Oval 111"/>
          <p:cNvSpPr/>
          <p:nvPr/>
        </p:nvSpPr>
        <p:spPr>
          <a:xfrm>
            <a:off x="5721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13" name="Oval 112"/>
          <p:cNvSpPr/>
          <p:nvPr/>
        </p:nvSpPr>
        <p:spPr>
          <a:xfrm>
            <a:off x="5975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14" name="Oval 113"/>
          <p:cNvSpPr/>
          <p:nvPr/>
        </p:nvSpPr>
        <p:spPr>
          <a:xfrm>
            <a:off x="6229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15" name="Oval 114"/>
          <p:cNvSpPr/>
          <p:nvPr/>
        </p:nvSpPr>
        <p:spPr>
          <a:xfrm>
            <a:off x="6483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16" name="Oval 115"/>
          <p:cNvSpPr/>
          <p:nvPr/>
        </p:nvSpPr>
        <p:spPr>
          <a:xfrm>
            <a:off x="6737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17" name="Oval 116"/>
          <p:cNvSpPr/>
          <p:nvPr/>
        </p:nvSpPr>
        <p:spPr>
          <a:xfrm>
            <a:off x="6991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18" name="Oval 117"/>
          <p:cNvSpPr/>
          <p:nvPr/>
        </p:nvSpPr>
        <p:spPr>
          <a:xfrm>
            <a:off x="7245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19" name="Oval 118"/>
          <p:cNvSpPr/>
          <p:nvPr/>
        </p:nvSpPr>
        <p:spPr>
          <a:xfrm>
            <a:off x="7499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20" name="Oval 119"/>
          <p:cNvSpPr/>
          <p:nvPr/>
        </p:nvSpPr>
        <p:spPr>
          <a:xfrm>
            <a:off x="7753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21" name="Oval 120"/>
          <p:cNvSpPr/>
          <p:nvPr/>
        </p:nvSpPr>
        <p:spPr>
          <a:xfrm>
            <a:off x="8007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22" name="Oval 121"/>
          <p:cNvSpPr/>
          <p:nvPr/>
        </p:nvSpPr>
        <p:spPr>
          <a:xfrm>
            <a:off x="8261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23" name="Oval 122"/>
          <p:cNvSpPr/>
          <p:nvPr/>
        </p:nvSpPr>
        <p:spPr>
          <a:xfrm>
            <a:off x="8515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24" name="Oval 123"/>
          <p:cNvSpPr/>
          <p:nvPr/>
        </p:nvSpPr>
        <p:spPr>
          <a:xfrm>
            <a:off x="8769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25" name="Oval 124"/>
          <p:cNvSpPr/>
          <p:nvPr/>
        </p:nvSpPr>
        <p:spPr>
          <a:xfrm>
            <a:off x="9023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26" name="Oval 125"/>
          <p:cNvSpPr/>
          <p:nvPr/>
        </p:nvSpPr>
        <p:spPr>
          <a:xfrm>
            <a:off x="9277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27" name="Oval 126"/>
          <p:cNvSpPr/>
          <p:nvPr/>
        </p:nvSpPr>
        <p:spPr>
          <a:xfrm>
            <a:off x="9531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28" name="Oval 127"/>
          <p:cNvSpPr/>
          <p:nvPr/>
        </p:nvSpPr>
        <p:spPr>
          <a:xfrm>
            <a:off x="9785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29" name="Oval 128"/>
          <p:cNvSpPr/>
          <p:nvPr/>
        </p:nvSpPr>
        <p:spPr>
          <a:xfrm>
            <a:off x="10039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30" name="Oval 129"/>
          <p:cNvSpPr/>
          <p:nvPr/>
        </p:nvSpPr>
        <p:spPr>
          <a:xfrm>
            <a:off x="10293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31" name="Oval 130"/>
          <p:cNvSpPr/>
          <p:nvPr/>
        </p:nvSpPr>
        <p:spPr>
          <a:xfrm>
            <a:off x="10547350" y="2940050"/>
            <a:ext cx="165100" cy="165100"/>
          </a:xfrm>
          <a:prstGeom prst="ellipse">
            <a:avLst/>
          </a:prstGeom>
          <a:solidFill>
            <a:srgbClr val="C9D5E3"/>
          </a:solidFill>
          <a:ln w="9525">
            <a:solidFill>
              <a:srgbClr val="1F3A5F"/>
            </a:solidFill>
          </a:ln>
          <a:effectLst/>
        </p:spPr>
        <p:txBody>
          <a:bodyPr rtlCol="0" anchor="ctr"/>
          <a:lstStyle/>
          <a:p>
            <a:pPr algn="ctr"/>
          </a:p>
        </p:txBody>
      </p:sp>
      <p:sp>
        <p:nvSpPr>
          <p:cNvPr id="132" name="TextBox 131"/>
          <p:cNvSpPr txBox="1"/>
          <p:nvPr/>
        </p:nvSpPr>
        <p:spPr>
          <a:xfrm>
            <a:off x="5715000" y="3238500"/>
            <a:ext cx="2667000" cy="381000"/>
          </a:xfrm>
          <a:prstGeom prst="rect">
            <a:avLst/>
          </a:prstGeom>
          <a:noFill/>
        </p:spPr>
        <p:txBody>
          <a:bodyPr wrap="square" lIns="0" rIns="0" tIns="0" bIns="0" anchor="t">
            <a:spAutoFit/>
          </a:bodyPr>
          <a:lstStyle/>
          <a:p>
            <a:pPr algn="l">
              <a:lnSpc>
                <a:spcPct val="115000"/>
              </a:lnSpc>
            </a:pPr>
            <a:r>
              <a:rPr sz="3000" b="1" i="0">
                <a:solidFill>
                  <a:srgbClr val="1F3A5F"/>
                </a:solidFill>
                <a:latin typeface="Inter"/>
              </a:rPr>
              <a:t>150 000</a:t>
            </a:r>
          </a:p>
        </p:txBody>
      </p:sp>
      <p:sp>
        <p:nvSpPr>
          <p:cNvPr id="133" name="TextBox 132"/>
          <p:cNvSpPr txBox="1"/>
          <p:nvPr/>
        </p:nvSpPr>
        <p:spPr>
          <a:xfrm>
            <a:off x="5715000" y="3670300"/>
            <a:ext cx="2667000" cy="190500"/>
          </a:xfrm>
          <a:prstGeom prst="rect">
            <a:avLst/>
          </a:prstGeom>
          <a:noFill/>
        </p:spPr>
        <p:txBody>
          <a:bodyPr wrap="square" lIns="0" rIns="0" tIns="0" bIns="0" anchor="t">
            <a:spAutoFit/>
          </a:bodyPr>
          <a:lstStyle/>
          <a:p>
            <a:pPr algn="l">
              <a:lnSpc>
                <a:spcPct val="115000"/>
              </a:lnSpc>
            </a:pPr>
            <a:r>
              <a:rPr sz="1100" b="0" i="0">
                <a:solidFill>
                  <a:srgbClr val="6E6A64"/>
                </a:solidFill>
                <a:latin typeface="Inter"/>
              </a:rPr>
              <a:t>habitants prévus (Al Omrane, 2009)</a:t>
            </a:r>
          </a:p>
        </p:txBody>
      </p:sp>
      <p:sp>
        <p:nvSpPr>
          <p:cNvPr id="134" name="Oval 133"/>
          <p:cNvSpPr/>
          <p:nvPr/>
        </p:nvSpPr>
        <p:spPr>
          <a:xfrm>
            <a:off x="8731250" y="3409950"/>
            <a:ext cx="38100" cy="38100"/>
          </a:xfrm>
          <a:prstGeom prst="ellipse">
            <a:avLst/>
          </a:prstGeom>
          <a:solidFill>
            <a:srgbClr val="C8462B"/>
          </a:solidFill>
          <a:ln>
            <a:noFill/>
          </a:ln>
          <a:effectLst/>
        </p:spPr>
        <p:txBody>
          <a:bodyPr rtlCol="0" anchor="ctr"/>
          <a:lstStyle/>
          <a:p>
            <a:pPr algn="ctr"/>
          </a:p>
        </p:txBody>
      </p:sp>
      <p:sp>
        <p:nvSpPr>
          <p:cNvPr id="135" name="TextBox 134"/>
          <p:cNvSpPr txBox="1"/>
          <p:nvPr/>
        </p:nvSpPr>
        <p:spPr>
          <a:xfrm>
            <a:off x="8890000" y="3238500"/>
            <a:ext cx="2159000" cy="381000"/>
          </a:xfrm>
          <a:prstGeom prst="rect">
            <a:avLst/>
          </a:prstGeom>
          <a:noFill/>
        </p:spPr>
        <p:txBody>
          <a:bodyPr wrap="square" lIns="0" rIns="0" tIns="0" bIns="0" anchor="t">
            <a:spAutoFit/>
          </a:bodyPr>
          <a:lstStyle/>
          <a:p>
            <a:pPr algn="l">
              <a:lnSpc>
                <a:spcPct val="115000"/>
              </a:lnSpc>
            </a:pPr>
            <a:r>
              <a:rPr sz="3000" b="1" i="0">
                <a:solidFill>
                  <a:srgbClr val="C8462B"/>
                </a:solidFill>
                <a:latin typeface="Inter"/>
              </a:rPr>
              <a:t>36</a:t>
            </a:r>
          </a:p>
        </p:txBody>
      </p:sp>
      <p:sp>
        <p:nvSpPr>
          <p:cNvPr id="136" name="TextBox 135"/>
          <p:cNvSpPr txBox="1"/>
          <p:nvPr/>
        </p:nvSpPr>
        <p:spPr>
          <a:xfrm>
            <a:off x="8890000" y="3670300"/>
            <a:ext cx="2667000" cy="190500"/>
          </a:xfrm>
          <a:prstGeom prst="rect">
            <a:avLst/>
          </a:prstGeom>
          <a:noFill/>
        </p:spPr>
        <p:txBody>
          <a:bodyPr wrap="square" lIns="0" rIns="0" tIns="0" bIns="0" anchor="t">
            <a:spAutoFit/>
          </a:bodyPr>
          <a:lstStyle/>
          <a:p>
            <a:pPr algn="l">
              <a:lnSpc>
                <a:spcPct val="115000"/>
              </a:lnSpc>
            </a:pPr>
            <a:r>
              <a:rPr sz="1100" b="0" i="0">
                <a:solidFill>
                  <a:srgbClr val="6E6A64"/>
                </a:solidFill>
                <a:latin typeface="Inter"/>
              </a:rPr>
              <a:t>comptés (Cour des comptes, 2024)</a:t>
            </a:r>
          </a:p>
        </p:txBody>
      </p:sp>
      <p:cxnSp>
        <p:nvCxnSpPr>
          <p:cNvPr id="137" name="Connector 136"/>
          <p:cNvCxnSpPr/>
          <p:nvPr/>
        </p:nvCxnSpPr>
        <p:spPr>
          <a:xfrm>
            <a:off x="5715000" y="4000500"/>
            <a:ext cx="5969000" cy="0"/>
          </a:xfrm>
          <a:prstGeom prst="line">
            <a:avLst/>
          </a:prstGeom>
          <a:ln w="9525">
            <a:solidFill>
              <a:srgbClr val="CFC8BC"/>
            </a:solidFill>
          </a:ln>
        </p:spPr>
      </p:cxnSp>
      <p:sp>
        <p:nvSpPr>
          <p:cNvPr id="138" name="TextBox 137"/>
          <p:cNvSpPr txBox="1"/>
          <p:nvPr/>
        </p:nvSpPr>
        <p:spPr>
          <a:xfrm>
            <a:off x="5715000" y="4114800"/>
            <a:ext cx="1905000" cy="279400"/>
          </a:xfrm>
          <a:prstGeom prst="rect">
            <a:avLst/>
          </a:prstGeom>
          <a:noFill/>
        </p:spPr>
        <p:txBody>
          <a:bodyPr wrap="square" lIns="0" rIns="0" tIns="0" bIns="0" anchor="t">
            <a:spAutoFit/>
          </a:bodyPr>
          <a:lstStyle/>
          <a:p>
            <a:pPr algn="l">
              <a:lnSpc>
                <a:spcPct val="115000"/>
              </a:lnSpc>
            </a:pPr>
            <a:r>
              <a:rPr sz="2000" b="1" i="0">
                <a:solidFill>
                  <a:srgbClr val="1C1C1C"/>
                </a:solidFill>
                <a:latin typeface="Inter"/>
              </a:rPr>
              <a:t>2009</a:t>
            </a:r>
          </a:p>
        </p:txBody>
      </p:sp>
      <p:sp>
        <p:nvSpPr>
          <p:cNvPr id="139" name="TextBox 138"/>
          <p:cNvSpPr txBox="1"/>
          <p:nvPr/>
        </p:nvSpPr>
        <p:spPr>
          <a:xfrm>
            <a:off x="5715000" y="4445000"/>
            <a:ext cx="1905000" cy="190500"/>
          </a:xfrm>
          <a:prstGeom prst="rect">
            <a:avLst/>
          </a:prstGeom>
          <a:noFill/>
        </p:spPr>
        <p:txBody>
          <a:bodyPr wrap="square" lIns="0" rIns="0" tIns="0" bIns="0" anchor="t">
            <a:spAutoFit/>
          </a:bodyPr>
          <a:lstStyle/>
          <a:p>
            <a:pPr algn="l">
              <a:lnSpc>
                <a:spcPct val="115000"/>
              </a:lnSpc>
            </a:pPr>
            <a:r>
              <a:rPr sz="1100" b="0" i="0">
                <a:solidFill>
                  <a:srgbClr val="6E6A64"/>
                </a:solidFill>
                <a:latin typeface="Inter"/>
              </a:rPr>
              <a:t>lancement</a:t>
            </a:r>
          </a:p>
        </p:txBody>
      </p:sp>
      <p:sp>
        <p:nvSpPr>
          <p:cNvPr id="140" name="TextBox 139"/>
          <p:cNvSpPr txBox="1"/>
          <p:nvPr/>
        </p:nvSpPr>
        <p:spPr>
          <a:xfrm>
            <a:off x="7747000" y="4114800"/>
            <a:ext cx="1905000" cy="279400"/>
          </a:xfrm>
          <a:prstGeom prst="rect">
            <a:avLst/>
          </a:prstGeom>
          <a:noFill/>
        </p:spPr>
        <p:txBody>
          <a:bodyPr wrap="square" lIns="0" rIns="0" tIns="0" bIns="0" anchor="t">
            <a:spAutoFit/>
          </a:bodyPr>
          <a:lstStyle/>
          <a:p>
            <a:pPr algn="l">
              <a:lnSpc>
                <a:spcPct val="115000"/>
              </a:lnSpc>
            </a:pPr>
            <a:r>
              <a:rPr sz="2000" b="1" i="0">
                <a:solidFill>
                  <a:srgbClr val="1C1C1C"/>
                </a:solidFill>
                <a:latin typeface="Inter"/>
              </a:rPr>
              <a:t>24 Md MAD</a:t>
            </a:r>
          </a:p>
        </p:txBody>
      </p:sp>
      <p:sp>
        <p:nvSpPr>
          <p:cNvPr id="141" name="TextBox 140"/>
          <p:cNvSpPr txBox="1"/>
          <p:nvPr/>
        </p:nvSpPr>
        <p:spPr>
          <a:xfrm>
            <a:off x="7747000" y="4445000"/>
            <a:ext cx="1905000" cy="190500"/>
          </a:xfrm>
          <a:prstGeom prst="rect">
            <a:avLst/>
          </a:prstGeom>
          <a:noFill/>
        </p:spPr>
        <p:txBody>
          <a:bodyPr wrap="square" lIns="0" rIns="0" tIns="0" bIns="0" anchor="t">
            <a:spAutoFit/>
          </a:bodyPr>
          <a:lstStyle/>
          <a:p>
            <a:pPr algn="l">
              <a:lnSpc>
                <a:spcPct val="115000"/>
              </a:lnSpc>
            </a:pPr>
            <a:r>
              <a:rPr sz="1100" b="0" i="0">
                <a:solidFill>
                  <a:srgbClr val="6E6A64"/>
                </a:solidFill>
                <a:latin typeface="Inter"/>
              </a:rPr>
              <a:t>investissement annoncé</a:t>
            </a:r>
          </a:p>
        </p:txBody>
      </p:sp>
      <p:sp>
        <p:nvSpPr>
          <p:cNvPr id="142" name="TextBox 141"/>
          <p:cNvSpPr txBox="1"/>
          <p:nvPr/>
        </p:nvSpPr>
        <p:spPr>
          <a:xfrm>
            <a:off x="9779000" y="4114800"/>
            <a:ext cx="1905000" cy="279400"/>
          </a:xfrm>
          <a:prstGeom prst="rect">
            <a:avLst/>
          </a:prstGeom>
          <a:noFill/>
        </p:spPr>
        <p:txBody>
          <a:bodyPr wrap="square" lIns="0" rIns="0" tIns="0" bIns="0" anchor="t">
            <a:spAutoFit/>
          </a:bodyPr>
          <a:lstStyle/>
          <a:p>
            <a:pPr algn="l">
              <a:lnSpc>
                <a:spcPct val="115000"/>
              </a:lnSpc>
            </a:pPr>
            <a:r>
              <a:rPr sz="2000" b="1" i="0">
                <a:solidFill>
                  <a:srgbClr val="1C1C1C"/>
                </a:solidFill>
                <a:latin typeface="Inter"/>
              </a:rPr>
              <a:t>2025</a:t>
            </a:r>
          </a:p>
        </p:txBody>
      </p:sp>
      <p:sp>
        <p:nvSpPr>
          <p:cNvPr id="143" name="TextBox 142"/>
          <p:cNvSpPr txBox="1"/>
          <p:nvPr/>
        </p:nvSpPr>
        <p:spPr>
          <a:xfrm>
            <a:off x="9779000" y="4445000"/>
            <a:ext cx="1905000" cy="190500"/>
          </a:xfrm>
          <a:prstGeom prst="rect">
            <a:avLst/>
          </a:prstGeom>
          <a:noFill/>
        </p:spPr>
        <p:txBody>
          <a:bodyPr wrap="square" lIns="0" rIns="0" tIns="0" bIns="0" anchor="t">
            <a:spAutoFit/>
          </a:bodyPr>
          <a:lstStyle/>
          <a:p>
            <a:pPr algn="l">
              <a:lnSpc>
                <a:spcPct val="115000"/>
              </a:lnSpc>
            </a:pPr>
            <a:r>
              <a:rPr sz="1100" b="0" i="0">
                <a:solidFill>
                  <a:srgbClr val="6E6A64"/>
                </a:solidFill>
                <a:latin typeface="Inter"/>
              </a:rPr>
              <a:t>relance annoncée</a:t>
            </a:r>
          </a:p>
        </p:txBody>
      </p:sp>
      <p:sp>
        <p:nvSpPr>
          <p:cNvPr id="144" name="Rectangle 143"/>
          <p:cNvSpPr/>
          <p:nvPr/>
        </p:nvSpPr>
        <p:spPr>
          <a:xfrm>
            <a:off x="5715000" y="4826000"/>
            <a:ext cx="5969000" cy="1174750"/>
          </a:xfrm>
          <a:prstGeom prst="rect">
            <a:avLst/>
          </a:prstGeom>
          <a:solidFill>
            <a:srgbClr val="FFFFFF"/>
          </a:solidFill>
          <a:ln w="9525">
            <a:solidFill>
              <a:srgbClr val="CFC8BC"/>
            </a:solidFill>
          </a:ln>
          <a:effectLst/>
        </p:spPr>
        <p:txBody>
          <a:bodyPr rtlCol="0" anchor="ctr"/>
          <a:lstStyle/>
          <a:p>
            <a:pPr algn="ctr"/>
          </a:p>
        </p:txBody>
      </p:sp>
      <p:sp>
        <p:nvSpPr>
          <p:cNvPr id="145" name="Rectangle 144"/>
          <p:cNvSpPr/>
          <p:nvPr/>
        </p:nvSpPr>
        <p:spPr>
          <a:xfrm>
            <a:off x="5715000" y="4826000"/>
            <a:ext cx="63500" cy="1174750"/>
          </a:xfrm>
          <a:prstGeom prst="rect">
            <a:avLst/>
          </a:prstGeom>
          <a:solidFill>
            <a:srgbClr val="C8462B"/>
          </a:solidFill>
          <a:ln>
            <a:noFill/>
          </a:ln>
          <a:effectLst/>
        </p:spPr>
        <p:txBody>
          <a:bodyPr rtlCol="0" anchor="ctr"/>
          <a:lstStyle/>
          <a:p>
            <a:pPr algn="ctr"/>
          </a:p>
        </p:txBody>
      </p:sp>
      <p:sp>
        <p:nvSpPr>
          <p:cNvPr id="146" name="TextBox 145"/>
          <p:cNvSpPr txBox="1"/>
          <p:nvPr/>
        </p:nvSpPr>
        <p:spPr>
          <a:xfrm>
            <a:off x="5943600" y="4927600"/>
            <a:ext cx="5588000" cy="1016000"/>
          </a:xfrm>
          <a:prstGeom prst="rect">
            <a:avLst/>
          </a:prstGeom>
          <a:noFill/>
        </p:spPr>
        <p:txBody>
          <a:bodyPr wrap="square" lIns="0" rIns="0" tIns="0" bIns="0" anchor="t">
            <a:spAutoFit/>
          </a:bodyPr>
          <a:lstStyle/>
          <a:p>
            <a:pPr algn="l">
              <a:lnSpc>
                <a:spcPct val="130000"/>
              </a:lnSpc>
            </a:pPr>
            <a:r>
              <a:rPr sz="1200" b="1" i="0">
                <a:solidFill>
                  <a:srgbClr val="C8462B"/>
                </a:solidFill>
                <a:latin typeface="Inter"/>
              </a:rPr>
              <a:t>Le contraste. </a:t>
            </a:r>
            <a:r>
              <a:rPr sz="1200" b="0" i="0">
                <a:solidFill>
                  <a:srgbClr val="1C1C1C"/>
                </a:solidFill>
                <a:latin typeface="Inter"/>
              </a:rPr>
              <a:t>Les projets pour le visiteur ont été livrés en moins de dix ans. Le projet pour les ouvriers qui font tourner le port et les usines attend depuis 2009. La main-d'œuvre vit donc dans les quartiers les plus denses et fait de longs trajets.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CARTE 2 : MOBILITÉ</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Deux réseaux : un pour arriver, un pour vivre</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Tanger est très bien reliée à Casablanca, à l'Europe et aux paquebots. Entre ses quartiers, elle dépend de la voiture, du bus et du grand taxi.</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13 / 17</a:t>
            </a:r>
          </a:p>
        </p:txBody>
      </p:sp>
      <p:sp>
        <p:nvSpPr>
          <p:cNvPr id="11" name="Rectangle 10"/>
          <p:cNvSpPr/>
          <p:nvPr/>
        </p:nvSpPr>
        <p:spPr>
          <a:xfrm>
            <a:off x="508000" y="1460500"/>
            <a:ext cx="7493000" cy="4572000"/>
          </a:xfrm>
          <a:prstGeom prst="rect">
            <a:avLst/>
          </a:prstGeom>
          <a:solidFill>
            <a:srgbClr val="D3E3EA"/>
          </a:solidFill>
          <a:ln>
            <a:noFill/>
          </a:ln>
          <a:effectLst/>
        </p:spPr>
        <p:txBody>
          <a:bodyPr rtlCol="0" anchor="ctr"/>
          <a:lstStyle/>
          <a:p>
            <a:pPr algn="ctr"/>
          </a:p>
        </p:txBody>
      </p:sp>
      <p:sp>
        <p:nvSpPr>
          <p:cNvPr id="12" name="Freeform 11"/>
          <p:cNvSpPr/>
          <p:nvPr/>
        </p:nvSpPr>
        <p:spPr>
          <a:xfrm>
            <a:off x="508000" y="1765300"/>
            <a:ext cx="7493000" cy="4267200"/>
          </a:xfrm>
          <a:custGeom>
            <a:avLst/>
            <a:gdLst/>
            <a:ahLst/>
            <a:cxnLst/>
            <a:rect l="l" t="t" r="r" b="b"/>
            <a:pathLst>
              <a:path w="7493000" h="4267200">
                <a:moveTo>
                  <a:pt x="0" y="91440"/>
                </a:moveTo>
                <a:lnTo>
                  <a:pt x="48913" y="78493"/>
                </a:lnTo>
                <a:lnTo>
                  <a:pt x="116558" y="58138"/>
                </a:lnTo>
                <a:lnTo>
                  <a:pt x="196691" y="35242"/>
                </a:lnTo>
                <a:lnTo>
                  <a:pt x="283069" y="14676"/>
                </a:lnTo>
                <a:lnTo>
                  <a:pt x="369447" y="1305"/>
                </a:lnTo>
                <a:lnTo>
                  <a:pt x="449580" y="0"/>
                </a:lnTo>
                <a:lnTo>
                  <a:pt x="523643" y="14182"/>
                </a:lnTo>
                <a:lnTo>
                  <a:pt x="596665" y="40640"/>
                </a:lnTo>
                <a:lnTo>
                  <a:pt x="669687" y="74295"/>
                </a:lnTo>
                <a:lnTo>
                  <a:pt x="743750" y="110067"/>
                </a:lnTo>
                <a:lnTo>
                  <a:pt x="819894" y="142875"/>
                </a:lnTo>
                <a:lnTo>
                  <a:pt x="899160" y="167640"/>
                </a:lnTo>
                <a:lnTo>
                  <a:pt x="982242" y="183444"/>
                </a:lnTo>
                <a:lnTo>
                  <a:pt x="1068446" y="194169"/>
                </a:lnTo>
                <a:lnTo>
                  <a:pt x="1156732" y="201930"/>
                </a:lnTo>
                <a:lnTo>
                  <a:pt x="1246058" y="208844"/>
                </a:lnTo>
                <a:lnTo>
                  <a:pt x="1335384" y="217029"/>
                </a:lnTo>
                <a:lnTo>
                  <a:pt x="1423670" y="228600"/>
                </a:lnTo>
                <a:lnTo>
                  <a:pt x="1511088" y="243911"/>
                </a:lnTo>
                <a:lnTo>
                  <a:pt x="1598507" y="261338"/>
                </a:lnTo>
                <a:lnTo>
                  <a:pt x="1685925" y="280035"/>
                </a:lnTo>
                <a:lnTo>
                  <a:pt x="1773343" y="299156"/>
                </a:lnTo>
                <a:lnTo>
                  <a:pt x="1860762" y="317853"/>
                </a:lnTo>
                <a:lnTo>
                  <a:pt x="1948180" y="335280"/>
                </a:lnTo>
                <a:lnTo>
                  <a:pt x="2035598" y="351049"/>
                </a:lnTo>
                <a:lnTo>
                  <a:pt x="2123017" y="365760"/>
                </a:lnTo>
                <a:lnTo>
                  <a:pt x="2210435" y="380048"/>
                </a:lnTo>
                <a:lnTo>
                  <a:pt x="2297853" y="394547"/>
                </a:lnTo>
                <a:lnTo>
                  <a:pt x="2385272" y="409892"/>
                </a:lnTo>
                <a:lnTo>
                  <a:pt x="2472690" y="426720"/>
                </a:lnTo>
                <a:lnTo>
                  <a:pt x="2561843" y="445276"/>
                </a:lnTo>
                <a:lnTo>
                  <a:pt x="2653077" y="465102"/>
                </a:lnTo>
                <a:lnTo>
                  <a:pt x="2744311" y="485775"/>
                </a:lnTo>
                <a:lnTo>
                  <a:pt x="2833464" y="506871"/>
                </a:lnTo>
                <a:lnTo>
                  <a:pt x="2918454" y="527967"/>
                </a:lnTo>
                <a:lnTo>
                  <a:pt x="2997200" y="548640"/>
                </a:lnTo>
                <a:lnTo>
                  <a:pt x="3069615" y="568431"/>
                </a:lnTo>
                <a:lnTo>
                  <a:pt x="3137347" y="587587"/>
                </a:lnTo>
                <a:lnTo>
                  <a:pt x="3200916" y="606742"/>
                </a:lnTo>
                <a:lnTo>
                  <a:pt x="3260843" y="626533"/>
                </a:lnTo>
                <a:lnTo>
                  <a:pt x="3317647" y="647594"/>
                </a:lnTo>
                <a:lnTo>
                  <a:pt x="3371850" y="670560"/>
                </a:lnTo>
                <a:lnTo>
                  <a:pt x="3423364" y="695590"/>
                </a:lnTo>
                <a:lnTo>
                  <a:pt x="3471757" y="722207"/>
                </a:lnTo>
                <a:lnTo>
                  <a:pt x="3517027" y="750094"/>
                </a:lnTo>
                <a:lnTo>
                  <a:pt x="3559175" y="778933"/>
                </a:lnTo>
                <a:lnTo>
                  <a:pt x="3598201" y="808408"/>
                </a:lnTo>
                <a:lnTo>
                  <a:pt x="3634105" y="838200"/>
                </a:lnTo>
                <a:lnTo>
                  <a:pt x="3667320" y="870832"/>
                </a:lnTo>
                <a:lnTo>
                  <a:pt x="3697934" y="907062"/>
                </a:lnTo>
                <a:lnTo>
                  <a:pt x="3725426" y="943928"/>
                </a:lnTo>
                <a:lnTo>
                  <a:pt x="3749275" y="978464"/>
                </a:lnTo>
                <a:lnTo>
                  <a:pt x="3768962" y="1007710"/>
                </a:lnTo>
                <a:lnTo>
                  <a:pt x="3783965" y="1028700"/>
                </a:lnTo>
                <a:lnTo>
                  <a:pt x="3802611" y="1066271"/>
                </a:lnTo>
                <a:lnTo>
                  <a:pt x="3826980" y="1118447"/>
                </a:lnTo>
                <a:lnTo>
                  <a:pt x="3856553" y="1180148"/>
                </a:lnTo>
                <a:lnTo>
                  <a:pt x="3890810" y="1246293"/>
                </a:lnTo>
                <a:lnTo>
                  <a:pt x="3929229" y="1311804"/>
                </a:lnTo>
                <a:lnTo>
                  <a:pt x="3971290" y="1371600"/>
                </a:lnTo>
                <a:lnTo>
                  <a:pt x="4017081" y="1427674"/>
                </a:lnTo>
                <a:lnTo>
                  <a:pt x="4067034" y="1484489"/>
                </a:lnTo>
                <a:lnTo>
                  <a:pt x="4121150" y="1540669"/>
                </a:lnTo>
                <a:lnTo>
                  <a:pt x="4179429" y="1594838"/>
                </a:lnTo>
                <a:lnTo>
                  <a:pt x="4241871" y="1645620"/>
                </a:lnTo>
                <a:lnTo>
                  <a:pt x="4308475" y="1691640"/>
                </a:lnTo>
                <a:lnTo>
                  <a:pt x="4380543" y="1733479"/>
                </a:lnTo>
                <a:lnTo>
                  <a:pt x="4458335" y="1772356"/>
                </a:lnTo>
                <a:lnTo>
                  <a:pt x="4540290" y="1807845"/>
                </a:lnTo>
                <a:lnTo>
                  <a:pt x="4624846" y="1839524"/>
                </a:lnTo>
                <a:lnTo>
                  <a:pt x="4710443" y="1866971"/>
                </a:lnTo>
                <a:lnTo>
                  <a:pt x="4795520" y="1889760"/>
                </a:lnTo>
                <a:lnTo>
                  <a:pt x="4881204" y="1908140"/>
                </a:lnTo>
                <a:lnTo>
                  <a:pt x="4968969" y="1922498"/>
                </a:lnTo>
                <a:lnTo>
                  <a:pt x="5057775" y="1932622"/>
                </a:lnTo>
                <a:lnTo>
                  <a:pt x="5146581" y="1938302"/>
                </a:lnTo>
                <a:lnTo>
                  <a:pt x="5234346" y="1939325"/>
                </a:lnTo>
                <a:lnTo>
                  <a:pt x="5320030" y="1935480"/>
                </a:lnTo>
                <a:lnTo>
                  <a:pt x="5404240" y="1926096"/>
                </a:lnTo>
                <a:lnTo>
                  <a:pt x="5487929" y="1911209"/>
                </a:lnTo>
                <a:lnTo>
                  <a:pt x="5570577" y="1891665"/>
                </a:lnTo>
                <a:lnTo>
                  <a:pt x="5651665" y="1868311"/>
                </a:lnTo>
                <a:lnTo>
                  <a:pt x="5730671" y="1841994"/>
                </a:lnTo>
                <a:lnTo>
                  <a:pt x="5807075" y="1813560"/>
                </a:lnTo>
                <a:lnTo>
                  <a:pt x="5881398" y="1782780"/>
                </a:lnTo>
                <a:lnTo>
                  <a:pt x="5954160" y="1748931"/>
                </a:lnTo>
                <a:lnTo>
                  <a:pt x="6024840" y="1712119"/>
                </a:lnTo>
                <a:lnTo>
                  <a:pt x="6092919" y="1672449"/>
                </a:lnTo>
                <a:lnTo>
                  <a:pt x="6157876" y="1630027"/>
                </a:lnTo>
                <a:lnTo>
                  <a:pt x="6219190" y="1584960"/>
                </a:lnTo>
                <a:lnTo>
                  <a:pt x="6276949" y="1536259"/>
                </a:lnTo>
                <a:lnTo>
                  <a:pt x="6331585" y="1483642"/>
                </a:lnTo>
                <a:lnTo>
                  <a:pt x="6383099" y="1428274"/>
                </a:lnTo>
                <a:lnTo>
                  <a:pt x="6431492" y="1371318"/>
                </a:lnTo>
                <a:lnTo>
                  <a:pt x="6476762" y="1313938"/>
                </a:lnTo>
                <a:lnTo>
                  <a:pt x="6518910" y="1257300"/>
                </a:lnTo>
                <a:lnTo>
                  <a:pt x="6556202" y="1199268"/>
                </a:lnTo>
                <a:lnTo>
                  <a:pt x="6588290" y="1138484"/>
                </a:lnTo>
                <a:lnTo>
                  <a:pt x="6617256" y="1077278"/>
                </a:lnTo>
                <a:lnTo>
                  <a:pt x="6645181" y="1017976"/>
                </a:lnTo>
                <a:lnTo>
                  <a:pt x="6674147" y="962907"/>
                </a:lnTo>
                <a:lnTo>
                  <a:pt x="6706235" y="914400"/>
                </a:lnTo>
                <a:lnTo>
                  <a:pt x="6740665" y="872243"/>
                </a:lnTo>
                <a:lnTo>
                  <a:pt x="6775615" y="834531"/>
                </a:lnTo>
                <a:lnTo>
                  <a:pt x="6811605" y="801052"/>
                </a:lnTo>
                <a:lnTo>
                  <a:pt x="6849157" y="771596"/>
                </a:lnTo>
                <a:lnTo>
                  <a:pt x="6888790" y="745949"/>
                </a:lnTo>
                <a:lnTo>
                  <a:pt x="6931025" y="723900"/>
                </a:lnTo>
                <a:lnTo>
                  <a:pt x="6977076" y="706102"/>
                </a:lnTo>
                <a:lnTo>
                  <a:pt x="7026769" y="692856"/>
                </a:lnTo>
                <a:lnTo>
                  <a:pt x="7078543" y="683419"/>
                </a:lnTo>
                <a:lnTo>
                  <a:pt x="7130838" y="677051"/>
                </a:lnTo>
                <a:lnTo>
                  <a:pt x="7182093" y="673012"/>
                </a:lnTo>
                <a:lnTo>
                  <a:pt x="7230745" y="670560"/>
                </a:lnTo>
                <a:lnTo>
                  <a:pt x="7279658" y="671142"/>
                </a:lnTo>
                <a:lnTo>
                  <a:pt x="7330652" y="675640"/>
                </a:lnTo>
                <a:lnTo>
                  <a:pt x="7380605" y="682466"/>
                </a:lnTo>
                <a:lnTo>
                  <a:pt x="7426396" y="690033"/>
                </a:lnTo>
                <a:lnTo>
                  <a:pt x="7464901" y="696754"/>
                </a:lnTo>
                <a:lnTo>
                  <a:pt x="7493000" y="701040"/>
                </a:lnTo>
                <a:lnTo>
                  <a:pt x="7493000" y="4267200"/>
                </a:lnTo>
                <a:lnTo>
                  <a:pt x="0" y="4267200"/>
                </a:lnTo>
                <a:close/>
              </a:path>
            </a:pathLst>
          </a:custGeom>
          <a:solidFill>
            <a:srgbClr val="EFE9DE"/>
          </a:solidFill>
          <a:ln>
            <a:noFill/>
          </a:ln>
          <a:effectLst/>
        </p:spPr>
        <p:txBody>
          <a:bodyPr rtlCol="0" anchor="ctr"/>
          <a:lstStyle/>
          <a:p>
            <a:pPr algn="ctr"/>
          </a:p>
        </p:txBody>
      </p:sp>
      <p:sp>
        <p:nvSpPr>
          <p:cNvPr id="13" name="Freeform 12"/>
          <p:cNvSpPr/>
          <p:nvPr/>
        </p:nvSpPr>
        <p:spPr>
          <a:xfrm>
            <a:off x="508000" y="1765300"/>
            <a:ext cx="7493000" cy="1939325"/>
          </a:xfrm>
          <a:custGeom>
            <a:avLst/>
            <a:gdLst/>
            <a:ahLst/>
            <a:cxnLst/>
            <a:rect l="l" t="t" r="r" b="b"/>
            <a:pathLst>
              <a:path w="7493000" h="1939325">
                <a:moveTo>
                  <a:pt x="0" y="91440"/>
                </a:moveTo>
                <a:lnTo>
                  <a:pt x="48913" y="78493"/>
                </a:lnTo>
                <a:lnTo>
                  <a:pt x="116558" y="58138"/>
                </a:lnTo>
                <a:lnTo>
                  <a:pt x="196691" y="35242"/>
                </a:lnTo>
                <a:lnTo>
                  <a:pt x="283069" y="14676"/>
                </a:lnTo>
                <a:lnTo>
                  <a:pt x="369447" y="1305"/>
                </a:lnTo>
                <a:lnTo>
                  <a:pt x="449580" y="0"/>
                </a:lnTo>
                <a:lnTo>
                  <a:pt x="523643" y="14182"/>
                </a:lnTo>
                <a:lnTo>
                  <a:pt x="596665" y="40640"/>
                </a:lnTo>
                <a:lnTo>
                  <a:pt x="669687" y="74295"/>
                </a:lnTo>
                <a:lnTo>
                  <a:pt x="743750" y="110067"/>
                </a:lnTo>
                <a:lnTo>
                  <a:pt x="819894" y="142875"/>
                </a:lnTo>
                <a:lnTo>
                  <a:pt x="899160" y="167640"/>
                </a:lnTo>
                <a:lnTo>
                  <a:pt x="982242" y="183444"/>
                </a:lnTo>
                <a:lnTo>
                  <a:pt x="1068446" y="194169"/>
                </a:lnTo>
                <a:lnTo>
                  <a:pt x="1156732" y="201930"/>
                </a:lnTo>
                <a:lnTo>
                  <a:pt x="1246058" y="208844"/>
                </a:lnTo>
                <a:lnTo>
                  <a:pt x="1335384" y="217029"/>
                </a:lnTo>
                <a:lnTo>
                  <a:pt x="1423670" y="228600"/>
                </a:lnTo>
                <a:lnTo>
                  <a:pt x="1511088" y="243911"/>
                </a:lnTo>
                <a:lnTo>
                  <a:pt x="1598507" y="261338"/>
                </a:lnTo>
                <a:lnTo>
                  <a:pt x="1685925" y="280035"/>
                </a:lnTo>
                <a:lnTo>
                  <a:pt x="1773343" y="299156"/>
                </a:lnTo>
                <a:lnTo>
                  <a:pt x="1860762" y="317853"/>
                </a:lnTo>
                <a:lnTo>
                  <a:pt x="1948180" y="335280"/>
                </a:lnTo>
                <a:lnTo>
                  <a:pt x="2035598" y="351049"/>
                </a:lnTo>
                <a:lnTo>
                  <a:pt x="2123017" y="365760"/>
                </a:lnTo>
                <a:lnTo>
                  <a:pt x="2210435" y="380048"/>
                </a:lnTo>
                <a:lnTo>
                  <a:pt x="2297853" y="394547"/>
                </a:lnTo>
                <a:lnTo>
                  <a:pt x="2385272" y="409892"/>
                </a:lnTo>
                <a:lnTo>
                  <a:pt x="2472690" y="426720"/>
                </a:lnTo>
                <a:lnTo>
                  <a:pt x="2561843" y="445276"/>
                </a:lnTo>
                <a:lnTo>
                  <a:pt x="2653077" y="465102"/>
                </a:lnTo>
                <a:lnTo>
                  <a:pt x="2744311" y="485775"/>
                </a:lnTo>
                <a:lnTo>
                  <a:pt x="2833464" y="506871"/>
                </a:lnTo>
                <a:lnTo>
                  <a:pt x="2918454" y="527967"/>
                </a:lnTo>
                <a:lnTo>
                  <a:pt x="2997200" y="548640"/>
                </a:lnTo>
                <a:lnTo>
                  <a:pt x="3069615" y="568431"/>
                </a:lnTo>
                <a:lnTo>
                  <a:pt x="3137347" y="587587"/>
                </a:lnTo>
                <a:lnTo>
                  <a:pt x="3200916" y="606742"/>
                </a:lnTo>
                <a:lnTo>
                  <a:pt x="3260843" y="626533"/>
                </a:lnTo>
                <a:lnTo>
                  <a:pt x="3317647" y="647594"/>
                </a:lnTo>
                <a:lnTo>
                  <a:pt x="3371850" y="670560"/>
                </a:lnTo>
                <a:lnTo>
                  <a:pt x="3423364" y="695590"/>
                </a:lnTo>
                <a:lnTo>
                  <a:pt x="3471757" y="722207"/>
                </a:lnTo>
                <a:lnTo>
                  <a:pt x="3517027" y="750094"/>
                </a:lnTo>
                <a:lnTo>
                  <a:pt x="3559175" y="778933"/>
                </a:lnTo>
                <a:lnTo>
                  <a:pt x="3598201" y="808408"/>
                </a:lnTo>
                <a:lnTo>
                  <a:pt x="3634105" y="838200"/>
                </a:lnTo>
                <a:lnTo>
                  <a:pt x="3667320" y="870832"/>
                </a:lnTo>
                <a:lnTo>
                  <a:pt x="3697934" y="907062"/>
                </a:lnTo>
                <a:lnTo>
                  <a:pt x="3725426" y="943928"/>
                </a:lnTo>
                <a:lnTo>
                  <a:pt x="3749275" y="978464"/>
                </a:lnTo>
                <a:lnTo>
                  <a:pt x="3768962" y="1007710"/>
                </a:lnTo>
                <a:lnTo>
                  <a:pt x="3783965" y="1028700"/>
                </a:lnTo>
                <a:lnTo>
                  <a:pt x="3802611" y="1066271"/>
                </a:lnTo>
                <a:lnTo>
                  <a:pt x="3826980" y="1118447"/>
                </a:lnTo>
                <a:lnTo>
                  <a:pt x="3856553" y="1180148"/>
                </a:lnTo>
                <a:lnTo>
                  <a:pt x="3890810" y="1246293"/>
                </a:lnTo>
                <a:lnTo>
                  <a:pt x="3929229" y="1311804"/>
                </a:lnTo>
                <a:lnTo>
                  <a:pt x="3971290" y="1371600"/>
                </a:lnTo>
                <a:lnTo>
                  <a:pt x="4017081" y="1427674"/>
                </a:lnTo>
                <a:lnTo>
                  <a:pt x="4067034" y="1484489"/>
                </a:lnTo>
                <a:lnTo>
                  <a:pt x="4121150" y="1540669"/>
                </a:lnTo>
                <a:lnTo>
                  <a:pt x="4179429" y="1594838"/>
                </a:lnTo>
                <a:lnTo>
                  <a:pt x="4241871" y="1645620"/>
                </a:lnTo>
                <a:lnTo>
                  <a:pt x="4308475" y="1691640"/>
                </a:lnTo>
                <a:lnTo>
                  <a:pt x="4380543" y="1733479"/>
                </a:lnTo>
                <a:lnTo>
                  <a:pt x="4458335" y="1772356"/>
                </a:lnTo>
                <a:lnTo>
                  <a:pt x="4540290" y="1807845"/>
                </a:lnTo>
                <a:lnTo>
                  <a:pt x="4624846" y="1839524"/>
                </a:lnTo>
                <a:lnTo>
                  <a:pt x="4710443" y="1866971"/>
                </a:lnTo>
                <a:lnTo>
                  <a:pt x="4795520" y="1889760"/>
                </a:lnTo>
                <a:lnTo>
                  <a:pt x="4881204" y="1908140"/>
                </a:lnTo>
                <a:lnTo>
                  <a:pt x="4968969" y="1922498"/>
                </a:lnTo>
                <a:lnTo>
                  <a:pt x="5057775" y="1932622"/>
                </a:lnTo>
                <a:lnTo>
                  <a:pt x="5146581" y="1938302"/>
                </a:lnTo>
                <a:lnTo>
                  <a:pt x="5234346" y="1939325"/>
                </a:lnTo>
                <a:lnTo>
                  <a:pt x="5320030" y="1935480"/>
                </a:lnTo>
                <a:lnTo>
                  <a:pt x="5404240" y="1926096"/>
                </a:lnTo>
                <a:lnTo>
                  <a:pt x="5487929" y="1911209"/>
                </a:lnTo>
                <a:lnTo>
                  <a:pt x="5570577" y="1891665"/>
                </a:lnTo>
                <a:lnTo>
                  <a:pt x="5651665" y="1868311"/>
                </a:lnTo>
                <a:lnTo>
                  <a:pt x="5730671" y="1841994"/>
                </a:lnTo>
                <a:lnTo>
                  <a:pt x="5807075" y="1813560"/>
                </a:lnTo>
                <a:lnTo>
                  <a:pt x="5881398" y="1782780"/>
                </a:lnTo>
                <a:lnTo>
                  <a:pt x="5954160" y="1748931"/>
                </a:lnTo>
                <a:lnTo>
                  <a:pt x="6024840" y="1712119"/>
                </a:lnTo>
                <a:lnTo>
                  <a:pt x="6092919" y="1672449"/>
                </a:lnTo>
                <a:lnTo>
                  <a:pt x="6157876" y="1630027"/>
                </a:lnTo>
                <a:lnTo>
                  <a:pt x="6219190" y="1584960"/>
                </a:lnTo>
                <a:lnTo>
                  <a:pt x="6276949" y="1536259"/>
                </a:lnTo>
                <a:lnTo>
                  <a:pt x="6331585" y="1483642"/>
                </a:lnTo>
                <a:lnTo>
                  <a:pt x="6383099" y="1428274"/>
                </a:lnTo>
                <a:lnTo>
                  <a:pt x="6431492" y="1371318"/>
                </a:lnTo>
                <a:lnTo>
                  <a:pt x="6476762" y="1313938"/>
                </a:lnTo>
                <a:lnTo>
                  <a:pt x="6518910" y="1257300"/>
                </a:lnTo>
                <a:lnTo>
                  <a:pt x="6556202" y="1199268"/>
                </a:lnTo>
                <a:lnTo>
                  <a:pt x="6588290" y="1138484"/>
                </a:lnTo>
                <a:lnTo>
                  <a:pt x="6617256" y="1077278"/>
                </a:lnTo>
                <a:lnTo>
                  <a:pt x="6645181" y="1017976"/>
                </a:lnTo>
                <a:lnTo>
                  <a:pt x="6674147" y="962907"/>
                </a:lnTo>
                <a:lnTo>
                  <a:pt x="6706235" y="914400"/>
                </a:lnTo>
                <a:lnTo>
                  <a:pt x="6740665" y="872243"/>
                </a:lnTo>
                <a:lnTo>
                  <a:pt x="6775615" y="834531"/>
                </a:lnTo>
                <a:lnTo>
                  <a:pt x="6811605" y="801052"/>
                </a:lnTo>
                <a:lnTo>
                  <a:pt x="6849157" y="771596"/>
                </a:lnTo>
                <a:lnTo>
                  <a:pt x="6888790" y="745949"/>
                </a:lnTo>
                <a:lnTo>
                  <a:pt x="6931025" y="723900"/>
                </a:lnTo>
                <a:lnTo>
                  <a:pt x="6977076" y="706102"/>
                </a:lnTo>
                <a:lnTo>
                  <a:pt x="7026769" y="692856"/>
                </a:lnTo>
                <a:lnTo>
                  <a:pt x="7078543" y="683419"/>
                </a:lnTo>
                <a:lnTo>
                  <a:pt x="7130838" y="677051"/>
                </a:lnTo>
                <a:lnTo>
                  <a:pt x="7182093" y="673012"/>
                </a:lnTo>
                <a:lnTo>
                  <a:pt x="7230745" y="670560"/>
                </a:lnTo>
                <a:lnTo>
                  <a:pt x="7279658" y="671142"/>
                </a:lnTo>
                <a:lnTo>
                  <a:pt x="7330652" y="675640"/>
                </a:lnTo>
                <a:lnTo>
                  <a:pt x="7380605" y="682466"/>
                </a:lnTo>
                <a:lnTo>
                  <a:pt x="7426396" y="690033"/>
                </a:lnTo>
                <a:lnTo>
                  <a:pt x="7464901" y="696754"/>
                </a:lnTo>
                <a:lnTo>
                  <a:pt x="7493000" y="701040"/>
                </a:lnTo>
              </a:path>
            </a:pathLst>
          </a:custGeom>
          <a:noFill/>
          <a:ln w="15875">
            <a:solidFill>
              <a:srgbClr val="8C9AA0"/>
            </a:solidFill>
          </a:ln>
          <a:effectLst/>
        </p:spPr>
        <p:txBody>
          <a:bodyPr rtlCol="0" anchor="ctr"/>
          <a:lstStyle/>
          <a:p>
            <a:pPr algn="ctr"/>
          </a:p>
        </p:txBody>
      </p:sp>
      <p:sp>
        <p:nvSpPr>
          <p:cNvPr id="14" name="TextBox 13"/>
          <p:cNvSpPr txBox="1"/>
          <p:nvPr/>
        </p:nvSpPr>
        <p:spPr>
          <a:xfrm>
            <a:off x="2381250" y="1521460"/>
            <a:ext cx="2540000" cy="152400"/>
          </a:xfrm>
          <a:prstGeom prst="rect">
            <a:avLst/>
          </a:prstGeom>
          <a:noFill/>
        </p:spPr>
        <p:txBody>
          <a:bodyPr wrap="square" lIns="0" rIns="0" tIns="0" bIns="0" anchor="t">
            <a:spAutoFit/>
          </a:bodyPr>
          <a:lstStyle/>
          <a:p>
            <a:pPr algn="l">
              <a:lnSpc>
                <a:spcPct val="115000"/>
              </a:lnSpc>
            </a:pPr>
            <a:r>
              <a:rPr sz="1000" b="1" i="1">
                <a:solidFill>
                  <a:srgbClr val="5C7884"/>
                </a:solidFill>
                <a:latin typeface="Inter"/>
              </a:rPr>
              <a:t>DÉTROIT DE GIBRALTAR</a:t>
            </a:r>
          </a:p>
        </p:txBody>
      </p:sp>
      <p:sp>
        <p:nvSpPr>
          <p:cNvPr id="15" name="TextBox 14"/>
          <p:cNvSpPr txBox="1"/>
          <p:nvPr/>
        </p:nvSpPr>
        <p:spPr>
          <a:xfrm>
            <a:off x="5303520" y="2603500"/>
            <a:ext cx="1651000" cy="152400"/>
          </a:xfrm>
          <a:prstGeom prst="rect">
            <a:avLst/>
          </a:prstGeom>
          <a:noFill/>
        </p:spPr>
        <p:txBody>
          <a:bodyPr wrap="square" lIns="0" rIns="0" tIns="0" bIns="0" anchor="t">
            <a:spAutoFit/>
          </a:bodyPr>
          <a:lstStyle/>
          <a:p>
            <a:pPr algn="l">
              <a:lnSpc>
                <a:spcPct val="115000"/>
              </a:lnSpc>
            </a:pPr>
            <a:r>
              <a:rPr sz="1000" b="0" i="1">
                <a:solidFill>
                  <a:srgbClr val="5C7884"/>
                </a:solidFill>
                <a:latin typeface="Inter"/>
              </a:rPr>
              <a:t>Baie de Tanger</a:t>
            </a:r>
          </a:p>
        </p:txBody>
      </p:sp>
      <p:sp>
        <p:nvSpPr>
          <p:cNvPr id="16" name="Rectangle 15"/>
          <p:cNvSpPr/>
          <p:nvPr/>
        </p:nvSpPr>
        <p:spPr>
          <a:xfrm>
            <a:off x="508000" y="1460500"/>
            <a:ext cx="7493000" cy="4572000"/>
          </a:xfrm>
          <a:prstGeom prst="rect">
            <a:avLst/>
          </a:prstGeom>
          <a:noFill/>
          <a:ln w="9525">
            <a:solidFill>
              <a:srgbClr val="CFC8BC"/>
            </a:solidFill>
          </a:ln>
          <a:effectLst/>
        </p:spPr>
        <p:txBody>
          <a:bodyPr rtlCol="0" anchor="ctr"/>
          <a:lstStyle/>
          <a:p>
            <a:pPr algn="ctr"/>
          </a:p>
        </p:txBody>
      </p:sp>
      <p:sp>
        <p:nvSpPr>
          <p:cNvPr id="17" name="Freeform 16"/>
          <p:cNvSpPr/>
          <p:nvPr/>
        </p:nvSpPr>
        <p:spPr>
          <a:xfrm>
            <a:off x="4078987" y="3577627"/>
            <a:ext cx="1273810" cy="835275"/>
          </a:xfrm>
          <a:custGeom>
            <a:avLst/>
            <a:gdLst/>
            <a:ahLst/>
            <a:cxnLst/>
            <a:rect l="l" t="t" r="r" b="b"/>
            <a:pathLst>
              <a:path w="1273810" h="835275">
                <a:moveTo>
                  <a:pt x="1273810" y="397473"/>
                </a:moveTo>
                <a:lnTo>
                  <a:pt x="1272799" y="451166"/>
                </a:lnTo>
                <a:lnTo>
                  <a:pt x="1263319" y="507464"/>
                </a:lnTo>
                <a:lnTo>
                  <a:pt x="1244702" y="563320"/>
                </a:lnTo>
                <a:lnTo>
                  <a:pt x="1216279" y="615686"/>
                </a:lnTo>
                <a:lnTo>
                  <a:pt x="1177381" y="661513"/>
                </a:lnTo>
                <a:lnTo>
                  <a:pt x="1125036" y="701359"/>
                </a:lnTo>
                <a:lnTo>
                  <a:pt x="1059689" y="737257"/>
                </a:lnTo>
                <a:lnTo>
                  <a:pt x="985800" y="768370"/>
                </a:lnTo>
                <a:lnTo>
                  <a:pt x="907824" y="793861"/>
                </a:lnTo>
                <a:lnTo>
                  <a:pt x="830220" y="812894"/>
                </a:lnTo>
                <a:lnTo>
                  <a:pt x="750171" y="825993"/>
                </a:lnTo>
                <a:lnTo>
                  <a:pt x="664707" y="833715"/>
                </a:lnTo>
                <a:lnTo>
                  <a:pt x="578050" y="835275"/>
                </a:lnTo>
                <a:lnTo>
                  <a:pt x="494424" y="829888"/>
                </a:lnTo>
                <a:lnTo>
                  <a:pt x="418052" y="816771"/>
                </a:lnTo>
                <a:lnTo>
                  <a:pt x="347760" y="794107"/>
                </a:lnTo>
                <a:lnTo>
                  <a:pt x="280733" y="762419"/>
                </a:lnTo>
                <a:lnTo>
                  <a:pt x="218732" y="724431"/>
                </a:lnTo>
                <a:lnTo>
                  <a:pt x="163517" y="682868"/>
                </a:lnTo>
                <a:lnTo>
                  <a:pt x="116851" y="640455"/>
                </a:lnTo>
                <a:lnTo>
                  <a:pt x="77463" y="595896"/>
                </a:lnTo>
                <a:lnTo>
                  <a:pt x="44180" y="547374"/>
                </a:lnTo>
                <a:lnTo>
                  <a:pt x="18905" y="496833"/>
                </a:lnTo>
                <a:lnTo>
                  <a:pt x="3544" y="446218"/>
                </a:lnTo>
                <a:lnTo>
                  <a:pt x="0" y="397473"/>
                </a:lnTo>
                <a:lnTo>
                  <a:pt x="10206" y="349618"/>
                </a:lnTo>
                <a:lnTo>
                  <a:pt x="32894" y="301358"/>
                </a:lnTo>
                <a:lnTo>
                  <a:pt x="65162" y="254162"/>
                </a:lnTo>
                <a:lnTo>
                  <a:pt x="104113" y="209496"/>
                </a:lnTo>
                <a:lnTo>
                  <a:pt x="146847" y="168831"/>
                </a:lnTo>
                <a:lnTo>
                  <a:pt x="194285" y="130863"/>
                </a:lnTo>
                <a:lnTo>
                  <a:pt x="248359" y="94613"/>
                </a:lnTo>
                <a:lnTo>
                  <a:pt x="307689" y="62035"/>
                </a:lnTo>
                <a:lnTo>
                  <a:pt x="370893" y="35085"/>
                </a:lnTo>
                <a:lnTo>
                  <a:pt x="436591" y="15719"/>
                </a:lnTo>
                <a:lnTo>
                  <a:pt x="506777" y="4458"/>
                </a:lnTo>
                <a:lnTo>
                  <a:pt x="582372" y="0"/>
                </a:lnTo>
                <a:lnTo>
                  <a:pt x="660384" y="1560"/>
                </a:lnTo>
                <a:lnTo>
                  <a:pt x="737818" y="8353"/>
                </a:lnTo>
                <a:lnTo>
                  <a:pt x="811681" y="19596"/>
                </a:lnTo>
                <a:lnTo>
                  <a:pt x="884691" y="35332"/>
                </a:lnTo>
                <a:lnTo>
                  <a:pt x="958844" y="56084"/>
                </a:lnTo>
                <a:lnTo>
                  <a:pt x="1030062" y="81787"/>
                </a:lnTo>
                <a:lnTo>
                  <a:pt x="1094268" y="112372"/>
                </a:lnTo>
                <a:lnTo>
                  <a:pt x="1147385" y="147774"/>
                </a:lnTo>
                <a:lnTo>
                  <a:pt x="1189629" y="189707"/>
                </a:lnTo>
                <a:lnTo>
                  <a:pt x="1223720" y="238216"/>
                </a:lnTo>
                <a:lnTo>
                  <a:pt x="1249331" y="290728"/>
                </a:lnTo>
                <a:lnTo>
                  <a:pt x="1266136" y="344671"/>
                </a:lnTo>
                <a:close/>
              </a:path>
            </a:pathLst>
          </a:custGeom>
          <a:solidFill>
            <a:srgbClr val="D4CCBE"/>
          </a:solidFill>
          <a:ln>
            <a:noFill/>
          </a:ln>
          <a:effectLst/>
        </p:spPr>
        <p:txBody>
          <a:bodyPr rtlCol="0" anchor="ctr"/>
          <a:lstStyle/>
          <a:p>
            <a:pPr algn="ctr"/>
          </a:p>
        </p:txBody>
      </p:sp>
      <p:sp>
        <p:nvSpPr>
          <p:cNvPr id="18" name="Freeform 17"/>
          <p:cNvSpPr/>
          <p:nvPr/>
        </p:nvSpPr>
        <p:spPr>
          <a:xfrm>
            <a:off x="2937139" y="3835297"/>
            <a:ext cx="1426565" cy="1079374"/>
          </a:xfrm>
          <a:custGeom>
            <a:avLst/>
            <a:gdLst/>
            <a:ahLst/>
            <a:cxnLst/>
            <a:rect l="l" t="t" r="r" b="b"/>
            <a:pathLst>
              <a:path w="1426565" h="1079374">
                <a:moveTo>
                  <a:pt x="1423670" y="520803"/>
                </a:moveTo>
                <a:lnTo>
                  <a:pt x="1426490" y="592990"/>
                </a:lnTo>
                <a:lnTo>
                  <a:pt x="1426565" y="669067"/>
                </a:lnTo>
                <a:lnTo>
                  <a:pt x="1418895" y="744024"/>
                </a:lnTo>
                <a:lnTo>
                  <a:pt x="1398480" y="812851"/>
                </a:lnTo>
                <a:lnTo>
                  <a:pt x="1360319" y="870538"/>
                </a:lnTo>
                <a:lnTo>
                  <a:pt x="1299159" y="915776"/>
                </a:lnTo>
                <a:lnTo>
                  <a:pt x="1218332" y="951904"/>
                </a:lnTo>
                <a:lnTo>
                  <a:pt x="1125719" y="980887"/>
                </a:lnTo>
                <a:lnTo>
                  <a:pt x="1029205" y="1004690"/>
                </a:lnTo>
                <a:lnTo>
                  <a:pt x="936668" y="1025279"/>
                </a:lnTo>
                <a:lnTo>
                  <a:pt x="845077" y="1045590"/>
                </a:lnTo>
                <a:lnTo>
                  <a:pt x="749177" y="1064313"/>
                </a:lnTo>
                <a:lnTo>
                  <a:pt x="653518" y="1077043"/>
                </a:lnTo>
                <a:lnTo>
                  <a:pt x="562650" y="1079374"/>
                </a:lnTo>
                <a:lnTo>
                  <a:pt x="481125" y="1066903"/>
                </a:lnTo>
                <a:lnTo>
                  <a:pt x="409633" y="1035458"/>
                </a:lnTo>
                <a:lnTo>
                  <a:pt x="345141" y="987976"/>
                </a:lnTo>
                <a:lnTo>
                  <a:pt x="286611" y="930713"/>
                </a:lnTo>
                <a:lnTo>
                  <a:pt x="233009" y="869923"/>
                </a:lnTo>
                <a:lnTo>
                  <a:pt x="183297" y="811864"/>
                </a:lnTo>
                <a:lnTo>
                  <a:pt x="133038" y="755737"/>
                </a:lnTo>
                <a:lnTo>
                  <a:pt x="82923" y="697373"/>
                </a:lnTo>
                <a:lnTo>
                  <a:pt x="39609" y="637967"/>
                </a:lnTo>
                <a:lnTo>
                  <a:pt x="9749" y="578712"/>
                </a:lnTo>
                <a:lnTo>
                  <a:pt x="0" y="520803"/>
                </a:lnTo>
                <a:lnTo>
                  <a:pt x="15357" y="463748"/>
                </a:lnTo>
                <a:lnTo>
                  <a:pt x="51383" y="406751"/>
                </a:lnTo>
                <a:lnTo>
                  <a:pt x="100586" y="350549"/>
                </a:lnTo>
                <a:lnTo>
                  <a:pt x="155471" y="295883"/>
                </a:lnTo>
                <a:lnTo>
                  <a:pt x="208546" y="243489"/>
                </a:lnTo>
                <a:lnTo>
                  <a:pt x="258908" y="189690"/>
                </a:lnTo>
                <a:lnTo>
                  <a:pt x="311551" y="133993"/>
                </a:lnTo>
                <a:lnTo>
                  <a:pt x="367831" y="81916"/>
                </a:lnTo>
                <a:lnTo>
                  <a:pt x="429106" y="38976"/>
                </a:lnTo>
                <a:lnTo>
                  <a:pt x="496730" y="10692"/>
                </a:lnTo>
                <a:lnTo>
                  <a:pt x="573048" y="0"/>
                </a:lnTo>
                <a:lnTo>
                  <a:pt x="657156" y="3221"/>
                </a:lnTo>
                <a:lnTo>
                  <a:pt x="745538" y="15951"/>
                </a:lnTo>
                <a:lnTo>
                  <a:pt x="834679" y="33784"/>
                </a:lnTo>
                <a:lnTo>
                  <a:pt x="921063" y="52316"/>
                </a:lnTo>
                <a:lnTo>
                  <a:pt x="1009732" y="69743"/>
                </a:lnTo>
                <a:lnTo>
                  <a:pt x="1103029" y="89005"/>
                </a:lnTo>
                <a:lnTo>
                  <a:pt x="1193392" y="112802"/>
                </a:lnTo>
                <a:lnTo>
                  <a:pt x="1273260" y="143837"/>
                </a:lnTo>
                <a:lnTo>
                  <a:pt x="1335070" y="184814"/>
                </a:lnTo>
                <a:lnTo>
                  <a:pt x="1376047" y="238769"/>
                </a:lnTo>
                <a:lnTo>
                  <a:pt x="1401233" y="303899"/>
                </a:lnTo>
                <a:lnTo>
                  <a:pt x="1414790" y="375650"/>
                </a:lnTo>
                <a:lnTo>
                  <a:pt x="1420882" y="449470"/>
                </a:lnTo>
                <a:close/>
              </a:path>
            </a:pathLst>
          </a:custGeom>
          <a:solidFill>
            <a:srgbClr val="C9D5E3"/>
          </a:solidFill>
          <a:ln>
            <a:noFill/>
          </a:ln>
          <a:effectLst/>
        </p:spPr>
        <p:txBody>
          <a:bodyPr rtlCol="0" anchor="ctr"/>
          <a:lstStyle/>
          <a:p>
            <a:pPr algn="ctr"/>
          </a:p>
        </p:txBody>
      </p:sp>
      <p:sp>
        <p:nvSpPr>
          <p:cNvPr id="19" name="Freeform 18"/>
          <p:cNvSpPr/>
          <p:nvPr/>
        </p:nvSpPr>
        <p:spPr>
          <a:xfrm>
            <a:off x="2095359" y="3483050"/>
            <a:ext cx="1198880" cy="848999"/>
          </a:xfrm>
          <a:custGeom>
            <a:avLst/>
            <a:gdLst/>
            <a:ahLst/>
            <a:cxnLst/>
            <a:rect l="l" t="t" r="r" b="b"/>
            <a:pathLst>
              <a:path w="1198880" h="848999">
                <a:moveTo>
                  <a:pt x="1198880" y="415850"/>
                </a:moveTo>
                <a:lnTo>
                  <a:pt x="1191111" y="467411"/>
                </a:lnTo>
                <a:lnTo>
                  <a:pt x="1168005" y="520623"/>
                </a:lnTo>
                <a:lnTo>
                  <a:pt x="1133582" y="573387"/>
                </a:lnTo>
                <a:lnTo>
                  <a:pt x="1091862" y="623606"/>
                </a:lnTo>
                <a:lnTo>
                  <a:pt x="1046864" y="669181"/>
                </a:lnTo>
                <a:lnTo>
                  <a:pt x="997439" y="712167"/>
                </a:lnTo>
                <a:lnTo>
                  <a:pt x="940909" y="753965"/>
                </a:lnTo>
                <a:lnTo>
                  <a:pt x="878995" y="791489"/>
                </a:lnTo>
                <a:lnTo>
                  <a:pt x="813420" y="821657"/>
                </a:lnTo>
                <a:lnTo>
                  <a:pt x="745906" y="841384"/>
                </a:lnTo>
                <a:lnTo>
                  <a:pt x="674020" y="848999"/>
                </a:lnTo>
                <a:lnTo>
                  <a:pt x="596613" y="846556"/>
                </a:lnTo>
                <a:lnTo>
                  <a:pt x="517336" y="836565"/>
                </a:lnTo>
                <a:lnTo>
                  <a:pt x="439838" y="821535"/>
                </a:lnTo>
                <a:lnTo>
                  <a:pt x="367771" y="803975"/>
                </a:lnTo>
                <a:lnTo>
                  <a:pt x="298515" y="783854"/>
                </a:lnTo>
                <a:lnTo>
                  <a:pt x="229635" y="759501"/>
                </a:lnTo>
                <a:lnTo>
                  <a:pt x="165062" y="730960"/>
                </a:lnTo>
                <a:lnTo>
                  <a:pt x="108725" y="698277"/>
                </a:lnTo>
                <a:lnTo>
                  <a:pt x="64554" y="661497"/>
                </a:lnTo>
                <a:lnTo>
                  <a:pt x="34105" y="618870"/>
                </a:lnTo>
                <a:lnTo>
                  <a:pt x="14757" y="570364"/>
                </a:lnTo>
                <a:lnTo>
                  <a:pt x="4177" y="518608"/>
                </a:lnTo>
                <a:lnTo>
                  <a:pt x="36" y="466227"/>
                </a:lnTo>
                <a:lnTo>
                  <a:pt x="0" y="415850"/>
                </a:lnTo>
                <a:lnTo>
                  <a:pt x="2789" y="365864"/>
                </a:lnTo>
                <a:lnTo>
                  <a:pt x="9958" y="314517"/>
                </a:lnTo>
                <a:lnTo>
                  <a:pt x="23427" y="264229"/>
                </a:lnTo>
                <a:lnTo>
                  <a:pt x="45117" y="217417"/>
                </a:lnTo>
                <a:lnTo>
                  <a:pt x="76949" y="176499"/>
                </a:lnTo>
                <a:lnTo>
                  <a:pt x="121438" y="141671"/>
                </a:lnTo>
                <a:lnTo>
                  <a:pt x="177304" y="111320"/>
                </a:lnTo>
                <a:lnTo>
                  <a:pt x="240773" y="85155"/>
                </a:lnTo>
                <a:lnTo>
                  <a:pt x="308074" y="62882"/>
                </a:lnTo>
                <a:lnTo>
                  <a:pt x="375432" y="44209"/>
                </a:lnTo>
                <a:lnTo>
                  <a:pt x="444943" y="27464"/>
                </a:lnTo>
                <a:lnTo>
                  <a:pt x="519122" y="12841"/>
                </a:lnTo>
                <a:lnTo>
                  <a:pt x="594827" y="2850"/>
                </a:lnTo>
                <a:lnTo>
                  <a:pt x="668915" y="0"/>
                </a:lnTo>
                <a:lnTo>
                  <a:pt x="738246" y="6799"/>
                </a:lnTo>
                <a:lnTo>
                  <a:pt x="803861" y="25079"/>
                </a:lnTo>
                <a:lnTo>
                  <a:pt x="867856" y="53166"/>
                </a:lnTo>
                <a:lnTo>
                  <a:pt x="928666" y="88315"/>
                </a:lnTo>
                <a:lnTo>
                  <a:pt x="984726" y="127780"/>
                </a:lnTo>
                <a:lnTo>
                  <a:pt x="1034469" y="168816"/>
                </a:lnTo>
                <a:lnTo>
                  <a:pt x="1080850" y="212681"/>
                </a:lnTo>
                <a:lnTo>
                  <a:pt x="1124912" y="261206"/>
                </a:lnTo>
                <a:lnTo>
                  <a:pt x="1162225" y="312502"/>
                </a:lnTo>
                <a:lnTo>
                  <a:pt x="1188358" y="364680"/>
                </a:lnTo>
                <a:close/>
              </a:path>
            </a:pathLst>
          </a:custGeom>
          <a:solidFill>
            <a:srgbClr val="C9D5E3"/>
          </a:solidFill>
          <a:ln>
            <a:noFill/>
          </a:ln>
          <a:effectLst/>
        </p:spPr>
        <p:txBody>
          <a:bodyPr rtlCol="0" anchor="ctr"/>
          <a:lstStyle/>
          <a:p>
            <a:pPr algn="ctr"/>
          </a:p>
        </p:txBody>
      </p:sp>
      <p:sp>
        <p:nvSpPr>
          <p:cNvPr id="20" name="Freeform 19"/>
          <p:cNvSpPr/>
          <p:nvPr/>
        </p:nvSpPr>
        <p:spPr>
          <a:xfrm>
            <a:off x="4434629" y="4460735"/>
            <a:ext cx="1274708" cy="860907"/>
          </a:xfrm>
          <a:custGeom>
            <a:avLst/>
            <a:gdLst/>
            <a:ahLst/>
            <a:cxnLst/>
            <a:rect l="l" t="t" r="r" b="b"/>
            <a:pathLst>
              <a:path w="1274708" h="860907">
                <a:moveTo>
                  <a:pt x="1274708" y="428765"/>
                </a:moveTo>
                <a:lnTo>
                  <a:pt x="1263163" y="479183"/>
                </a:lnTo>
                <a:lnTo>
                  <a:pt x="1232216" y="530749"/>
                </a:lnTo>
                <a:lnTo>
                  <a:pt x="1188170" y="581814"/>
                </a:lnTo>
                <a:lnTo>
                  <a:pt x="1137325" y="630730"/>
                </a:lnTo>
                <a:lnTo>
                  <a:pt x="1085986" y="675846"/>
                </a:lnTo>
                <a:lnTo>
                  <a:pt x="1033699" y="719803"/>
                </a:lnTo>
                <a:lnTo>
                  <a:pt x="976261" y="763700"/>
                </a:lnTo>
                <a:lnTo>
                  <a:pt x="914354" y="803577"/>
                </a:lnTo>
                <a:lnTo>
                  <a:pt x="848656" y="835474"/>
                </a:lnTo>
                <a:lnTo>
                  <a:pt x="779849" y="855429"/>
                </a:lnTo>
                <a:lnTo>
                  <a:pt x="705491" y="860907"/>
                </a:lnTo>
                <a:lnTo>
                  <a:pt x="625129" y="854547"/>
                </a:lnTo>
                <a:lnTo>
                  <a:pt x="542425" y="840154"/>
                </a:lnTo>
                <a:lnTo>
                  <a:pt x="461038" y="821535"/>
                </a:lnTo>
                <a:lnTo>
                  <a:pt x="384631" y="802494"/>
                </a:lnTo>
                <a:lnTo>
                  <a:pt x="309743" y="783767"/>
                </a:lnTo>
                <a:lnTo>
                  <a:pt x="233933" y="762816"/>
                </a:lnTo>
                <a:lnTo>
                  <a:pt x="162392" y="738540"/>
                </a:lnTo>
                <a:lnTo>
                  <a:pt x="100311" y="709833"/>
                </a:lnTo>
                <a:lnTo>
                  <a:pt x="52881" y="675595"/>
                </a:lnTo>
                <a:lnTo>
                  <a:pt x="22875" y="633885"/>
                </a:lnTo>
                <a:lnTo>
                  <a:pt x="6831" y="585439"/>
                </a:lnTo>
                <a:lnTo>
                  <a:pt x="592" y="533165"/>
                </a:lnTo>
                <a:lnTo>
                  <a:pt x="0" y="479971"/>
                </a:lnTo>
                <a:lnTo>
                  <a:pt x="898" y="428765"/>
                </a:lnTo>
                <a:lnTo>
                  <a:pt x="571" y="377635"/>
                </a:lnTo>
                <a:lnTo>
                  <a:pt x="1791" y="324643"/>
                </a:lnTo>
                <a:lnTo>
                  <a:pt x="8630" y="272656"/>
                </a:lnTo>
                <a:lnTo>
                  <a:pt x="25159" y="224541"/>
                </a:lnTo>
                <a:lnTo>
                  <a:pt x="55452" y="183164"/>
                </a:lnTo>
                <a:lnTo>
                  <a:pt x="102948" y="149307"/>
                </a:lnTo>
                <a:lnTo>
                  <a:pt x="164931" y="121056"/>
                </a:lnTo>
                <a:lnTo>
                  <a:pt x="236243" y="97243"/>
                </a:lnTo>
                <a:lnTo>
                  <a:pt x="311726" y="76699"/>
                </a:lnTo>
                <a:lnTo>
                  <a:pt x="386220" y="58254"/>
                </a:lnTo>
                <a:lnTo>
                  <a:pt x="462097" y="39372"/>
                </a:lnTo>
                <a:lnTo>
                  <a:pt x="542795" y="20832"/>
                </a:lnTo>
                <a:lnTo>
                  <a:pt x="624759" y="6440"/>
                </a:lnTo>
                <a:lnTo>
                  <a:pt x="704433" y="0"/>
                </a:lnTo>
                <a:lnTo>
                  <a:pt x="778260" y="5318"/>
                </a:lnTo>
                <a:lnTo>
                  <a:pt x="846674" y="24991"/>
                </a:lnTo>
                <a:lnTo>
                  <a:pt x="912043" y="56482"/>
                </a:lnTo>
                <a:lnTo>
                  <a:pt x="973722" y="95895"/>
                </a:lnTo>
                <a:lnTo>
                  <a:pt x="1031062" y="139337"/>
                </a:lnTo>
                <a:lnTo>
                  <a:pt x="1083415" y="182913"/>
                </a:lnTo>
                <a:lnTo>
                  <a:pt x="1135041" y="227695"/>
                </a:lnTo>
                <a:lnTo>
                  <a:pt x="1186371" y="276280"/>
                </a:lnTo>
                <a:lnTo>
                  <a:pt x="1231018" y="327059"/>
                </a:lnTo>
                <a:lnTo>
                  <a:pt x="1262592" y="378424"/>
                </a:lnTo>
                <a:close/>
              </a:path>
            </a:pathLst>
          </a:custGeom>
          <a:solidFill>
            <a:srgbClr val="C9D5E3"/>
          </a:solidFill>
          <a:ln>
            <a:noFill/>
          </a:ln>
          <a:effectLst/>
        </p:spPr>
        <p:txBody>
          <a:bodyPr rtlCol="0" anchor="ctr"/>
          <a:lstStyle/>
          <a:p>
            <a:pPr algn="ctr"/>
          </a:p>
        </p:txBody>
      </p:sp>
      <p:sp>
        <p:nvSpPr>
          <p:cNvPr id="21" name="Freeform 20"/>
          <p:cNvSpPr/>
          <p:nvPr/>
        </p:nvSpPr>
        <p:spPr>
          <a:xfrm>
            <a:off x="1606186" y="4844969"/>
            <a:ext cx="1423670" cy="839960"/>
          </a:xfrm>
          <a:custGeom>
            <a:avLst/>
            <a:gdLst/>
            <a:ahLst/>
            <a:cxnLst/>
            <a:rect l="l" t="t" r="r" b="b"/>
            <a:pathLst>
              <a:path w="1423670" h="839960">
                <a:moveTo>
                  <a:pt x="1423670" y="425531"/>
                </a:moveTo>
                <a:lnTo>
                  <a:pt x="1420777" y="481436"/>
                </a:lnTo>
                <a:lnTo>
                  <a:pt x="1412065" y="539502"/>
                </a:lnTo>
                <a:lnTo>
                  <a:pt x="1394713" y="596250"/>
                </a:lnTo>
                <a:lnTo>
                  <a:pt x="1365902" y="648205"/>
                </a:lnTo>
                <a:lnTo>
                  <a:pt x="1322812" y="691887"/>
                </a:lnTo>
                <a:lnTo>
                  <a:pt x="1260859" y="726492"/>
                </a:lnTo>
                <a:lnTo>
                  <a:pt x="1181923" y="754338"/>
                </a:lnTo>
                <a:lnTo>
                  <a:pt x="1092880" y="776633"/>
                </a:lnTo>
                <a:lnTo>
                  <a:pt x="1000609" y="794587"/>
                </a:lnTo>
                <a:lnTo>
                  <a:pt x="911986" y="809410"/>
                </a:lnTo>
                <a:lnTo>
                  <a:pt x="824449" y="822722"/>
                </a:lnTo>
                <a:lnTo>
                  <a:pt x="733414" y="833715"/>
                </a:lnTo>
                <a:lnTo>
                  <a:pt x="642723" y="839960"/>
                </a:lnTo>
                <a:lnTo>
                  <a:pt x="556221" y="839029"/>
                </a:lnTo>
                <a:lnTo>
                  <a:pt x="477752" y="828492"/>
                </a:lnTo>
                <a:lnTo>
                  <a:pt x="407627" y="805822"/>
                </a:lnTo>
                <a:lnTo>
                  <a:pt x="343286" y="772641"/>
                </a:lnTo>
                <a:lnTo>
                  <a:pt x="284258" y="732735"/>
                </a:lnTo>
                <a:lnTo>
                  <a:pt x="230075" y="689895"/>
                </a:lnTo>
                <a:lnTo>
                  <a:pt x="180268" y="647909"/>
                </a:lnTo>
                <a:lnTo>
                  <a:pt x="131092" y="606171"/>
                </a:lnTo>
                <a:lnTo>
                  <a:pt x="82859" y="562156"/>
                </a:lnTo>
                <a:lnTo>
                  <a:pt x="41187" y="516772"/>
                </a:lnTo>
                <a:lnTo>
                  <a:pt x="11695" y="470928"/>
                </a:lnTo>
                <a:lnTo>
                  <a:pt x="0" y="425531"/>
                </a:lnTo>
                <a:lnTo>
                  <a:pt x="9645" y="379889"/>
                </a:lnTo>
                <a:lnTo>
                  <a:pt x="36883" y="333396"/>
                </a:lnTo>
                <a:lnTo>
                  <a:pt x="76403" y="287092"/>
                </a:lnTo>
                <a:lnTo>
                  <a:pt x="122892" y="242015"/>
                </a:lnTo>
                <a:lnTo>
                  <a:pt x="171039" y="199206"/>
                </a:lnTo>
                <a:lnTo>
                  <a:pt x="220608" y="155996"/>
                </a:lnTo>
                <a:lnTo>
                  <a:pt x="275142" y="111693"/>
                </a:lnTo>
                <a:lnTo>
                  <a:pt x="334992" y="70298"/>
                </a:lnTo>
                <a:lnTo>
                  <a:pt x="400510" y="35812"/>
                </a:lnTo>
                <a:lnTo>
                  <a:pt x="472048" y="12235"/>
                </a:lnTo>
                <a:lnTo>
                  <a:pt x="552420" y="1186"/>
                </a:lnTo>
                <a:lnTo>
                  <a:pt x="641393" y="0"/>
                </a:lnTo>
                <a:lnTo>
                  <a:pt x="734743" y="6245"/>
                </a:lnTo>
                <a:lnTo>
                  <a:pt x="828250" y="17494"/>
                </a:lnTo>
                <a:lnTo>
                  <a:pt x="917690" y="31316"/>
                </a:lnTo>
                <a:lnTo>
                  <a:pt x="1007726" y="47047"/>
                </a:lnTo>
                <a:lnTo>
                  <a:pt x="1101174" y="66306"/>
                </a:lnTo>
                <a:lnTo>
                  <a:pt x="1191038" y="90091"/>
                </a:lnTo>
                <a:lnTo>
                  <a:pt x="1270326" y="119398"/>
                </a:lnTo>
                <a:lnTo>
                  <a:pt x="1332041" y="155227"/>
                </a:lnTo>
                <a:lnTo>
                  <a:pt x="1374101" y="199982"/>
                </a:lnTo>
                <a:lnTo>
                  <a:pt x="1401168" y="252998"/>
                </a:lnTo>
                <a:lnTo>
                  <a:pt x="1416368" y="310667"/>
                </a:lnTo>
                <a:lnTo>
                  <a:pt x="1422827" y="369381"/>
                </a:lnTo>
                <a:close/>
              </a:path>
            </a:pathLst>
          </a:custGeom>
          <a:solidFill>
            <a:srgbClr val="C9D5E3"/>
          </a:solidFill>
          <a:ln>
            <a:noFill/>
          </a:ln>
          <a:effectLst/>
        </p:spPr>
        <p:txBody>
          <a:bodyPr rtlCol="0" anchor="ctr"/>
          <a:lstStyle/>
          <a:p>
            <a:pPr algn="ctr"/>
          </a:p>
        </p:txBody>
      </p:sp>
      <p:sp>
        <p:nvSpPr>
          <p:cNvPr id="22" name="Freeform 21"/>
          <p:cNvSpPr/>
          <p:nvPr/>
        </p:nvSpPr>
        <p:spPr>
          <a:xfrm>
            <a:off x="1007165" y="2171556"/>
            <a:ext cx="1648460" cy="839220"/>
          </a:xfrm>
          <a:custGeom>
            <a:avLst/>
            <a:gdLst/>
            <a:ahLst/>
            <a:cxnLst/>
            <a:rect l="l" t="t" r="r" b="b"/>
            <a:pathLst>
              <a:path w="1648460" h="839220">
                <a:moveTo>
                  <a:pt x="1648460" y="431944"/>
                </a:moveTo>
                <a:lnTo>
                  <a:pt x="1643061" y="487094"/>
                </a:lnTo>
                <a:lnTo>
                  <a:pt x="1629965" y="544059"/>
                </a:lnTo>
                <a:lnTo>
                  <a:pt x="1606694" y="599590"/>
                </a:lnTo>
                <a:lnTo>
                  <a:pt x="1570772" y="650439"/>
                </a:lnTo>
                <a:lnTo>
                  <a:pt x="1519725" y="693357"/>
                </a:lnTo>
                <a:lnTo>
                  <a:pt x="1448627" y="727646"/>
                </a:lnTo>
                <a:lnTo>
                  <a:pt x="1359129" y="755473"/>
                </a:lnTo>
                <a:lnTo>
                  <a:pt x="1258618" y="777883"/>
                </a:lnTo>
                <a:lnTo>
                  <a:pt x="1154481" y="795925"/>
                </a:lnTo>
                <a:lnTo>
                  <a:pt x="1054104" y="810646"/>
                </a:lnTo>
                <a:lnTo>
                  <a:pt x="954698" y="823475"/>
                </a:lnTo>
                <a:lnTo>
                  <a:pt x="851339" y="833714"/>
                </a:lnTo>
                <a:lnTo>
                  <a:pt x="748211" y="839220"/>
                </a:lnTo>
                <a:lnTo>
                  <a:pt x="649496" y="837847"/>
                </a:lnTo>
                <a:lnTo>
                  <a:pt x="559376" y="827453"/>
                </a:lnTo>
                <a:lnTo>
                  <a:pt x="477941" y="805791"/>
                </a:lnTo>
                <a:lnTo>
                  <a:pt x="402402" y="774290"/>
                </a:lnTo>
                <a:lnTo>
                  <a:pt x="332626" y="736320"/>
                </a:lnTo>
                <a:lnTo>
                  <a:pt x="268481" y="695247"/>
                </a:lnTo>
                <a:lnTo>
                  <a:pt x="209838" y="654441"/>
                </a:lnTo>
                <a:lnTo>
                  <a:pt x="152594" y="613249"/>
                </a:lnTo>
                <a:lnTo>
                  <a:pt x="96839" y="569426"/>
                </a:lnTo>
                <a:lnTo>
                  <a:pt x="48722" y="523949"/>
                </a:lnTo>
                <a:lnTo>
                  <a:pt x="14393" y="477796"/>
                </a:lnTo>
                <a:lnTo>
                  <a:pt x="0" y="431944"/>
                </a:lnTo>
                <a:lnTo>
                  <a:pt x="9119" y="385547"/>
                </a:lnTo>
                <a:lnTo>
                  <a:pt x="37649" y="337953"/>
                </a:lnTo>
                <a:lnTo>
                  <a:pt x="80230" y="290431"/>
                </a:lnTo>
                <a:lnTo>
                  <a:pt x="131498" y="244250"/>
                </a:lnTo>
                <a:lnTo>
                  <a:pt x="186093" y="200676"/>
                </a:lnTo>
                <a:lnTo>
                  <a:pt x="244126" y="157150"/>
                </a:lnTo>
                <a:lnTo>
                  <a:pt x="309173" y="112828"/>
                </a:lnTo>
                <a:lnTo>
                  <a:pt x="381064" y="71548"/>
                </a:lnTo>
                <a:lnTo>
                  <a:pt x="459630" y="37149"/>
                </a:lnTo>
                <a:lnTo>
                  <a:pt x="544701" y="13470"/>
                </a:lnTo>
                <a:lnTo>
                  <a:pt x="639717" y="1940"/>
                </a:lnTo>
                <a:lnTo>
                  <a:pt x="744789" y="0"/>
                </a:lnTo>
                <a:lnTo>
                  <a:pt x="854761" y="5505"/>
                </a:lnTo>
                <a:lnTo>
                  <a:pt x="964476" y="16312"/>
                </a:lnTo>
                <a:lnTo>
                  <a:pt x="1068779" y="30277"/>
                </a:lnTo>
                <a:lnTo>
                  <a:pt x="1172793" y="47015"/>
                </a:lnTo>
                <a:lnTo>
                  <a:pt x="1279956" y="67956"/>
                </a:lnTo>
                <a:lnTo>
                  <a:pt x="1382582" y="93675"/>
                </a:lnTo>
                <a:lnTo>
                  <a:pt x="1472983" y="124751"/>
                </a:lnTo>
                <a:lnTo>
                  <a:pt x="1543470" y="161759"/>
                </a:lnTo>
                <a:lnTo>
                  <a:pt x="1591868" y="207059"/>
                </a:lnTo>
                <a:lnTo>
                  <a:pt x="1623303" y="260267"/>
                </a:lnTo>
                <a:lnTo>
                  <a:pt x="1641038" y="317844"/>
                </a:lnTo>
                <a:lnTo>
                  <a:pt x="1648335" y="376249"/>
                </a:lnTo>
                <a:close/>
              </a:path>
            </a:pathLst>
          </a:custGeom>
          <a:solidFill>
            <a:srgbClr val="D5E3CC"/>
          </a:solidFill>
          <a:ln w="12700">
            <a:solidFill>
              <a:srgbClr val="8FAE82"/>
            </a:solidFill>
          </a:ln>
          <a:effectLst/>
        </p:spPr>
        <p:txBody>
          <a:bodyPr rtlCol="0" anchor="ctr"/>
          <a:lstStyle/>
          <a:p>
            <a:pPr algn="ctr"/>
          </a:p>
        </p:txBody>
      </p:sp>
      <p:sp>
        <p:nvSpPr>
          <p:cNvPr id="23" name="Freeform 22"/>
          <p:cNvSpPr/>
          <p:nvPr/>
        </p:nvSpPr>
        <p:spPr>
          <a:xfrm>
            <a:off x="6608066" y="2898307"/>
            <a:ext cx="753061" cy="531625"/>
          </a:xfrm>
          <a:custGeom>
            <a:avLst/>
            <a:gdLst/>
            <a:ahLst/>
            <a:cxnLst/>
            <a:rect l="l" t="t" r="r" b="b"/>
            <a:pathLst>
              <a:path w="753061" h="531625">
                <a:moveTo>
                  <a:pt x="753061" y="276693"/>
                </a:moveTo>
                <a:lnTo>
                  <a:pt x="744265" y="306919"/>
                </a:lnTo>
                <a:lnTo>
                  <a:pt x="723780" y="337327"/>
                </a:lnTo>
                <a:lnTo>
                  <a:pt x="695731" y="367169"/>
                </a:lnTo>
                <a:lnTo>
                  <a:pt x="664244" y="395696"/>
                </a:lnTo>
                <a:lnTo>
                  <a:pt x="633443" y="422159"/>
                </a:lnTo>
                <a:lnTo>
                  <a:pt x="603313" y="448140"/>
                </a:lnTo>
                <a:lnTo>
                  <a:pt x="571103" y="474137"/>
                </a:lnTo>
                <a:lnTo>
                  <a:pt x="536837" y="497779"/>
                </a:lnTo>
                <a:lnTo>
                  <a:pt x="500539" y="516695"/>
                </a:lnTo>
                <a:lnTo>
                  <a:pt x="462234" y="528512"/>
                </a:lnTo>
                <a:lnTo>
                  <a:pt x="420721" y="531625"/>
                </a:lnTo>
                <a:lnTo>
                  <a:pt x="375985" y="527613"/>
                </a:lnTo>
                <a:lnTo>
                  <a:pt x="329824" y="518887"/>
                </a:lnTo>
                <a:lnTo>
                  <a:pt x="284040" y="507858"/>
                </a:lnTo>
                <a:lnTo>
                  <a:pt x="240430" y="496937"/>
                </a:lnTo>
                <a:lnTo>
                  <a:pt x="196855" y="486837"/>
                </a:lnTo>
                <a:lnTo>
                  <a:pt x="152115" y="475952"/>
                </a:lnTo>
                <a:lnTo>
                  <a:pt x="109420" y="463211"/>
                </a:lnTo>
                <a:lnTo>
                  <a:pt x="71982" y="447541"/>
                </a:lnTo>
                <a:lnTo>
                  <a:pt x="43011" y="427873"/>
                </a:lnTo>
                <a:lnTo>
                  <a:pt x="24035" y="403019"/>
                </a:lnTo>
                <a:lnTo>
                  <a:pt x="12912" y="373694"/>
                </a:lnTo>
                <a:lnTo>
                  <a:pt x="7352" y="341677"/>
                </a:lnTo>
                <a:lnTo>
                  <a:pt x="5065" y="308750"/>
                </a:lnTo>
                <a:lnTo>
                  <a:pt x="3761" y="276693"/>
                </a:lnTo>
                <a:lnTo>
                  <a:pt x="1564" y="244144"/>
                </a:lnTo>
                <a:lnTo>
                  <a:pt x="0" y="209916"/>
                </a:lnTo>
                <a:lnTo>
                  <a:pt x="1884" y="176053"/>
                </a:lnTo>
                <a:lnTo>
                  <a:pt x="10029" y="144597"/>
                </a:lnTo>
                <a:lnTo>
                  <a:pt x="27247" y="117592"/>
                </a:lnTo>
                <a:lnTo>
                  <a:pt x="55812" y="95469"/>
                </a:lnTo>
                <a:lnTo>
                  <a:pt x="93849" y="76866"/>
                </a:lnTo>
                <a:lnTo>
                  <a:pt x="137948" y="61136"/>
                </a:lnTo>
                <a:lnTo>
                  <a:pt x="184698" y="47634"/>
                </a:lnTo>
                <a:lnTo>
                  <a:pt x="230687" y="35713"/>
                </a:lnTo>
                <a:lnTo>
                  <a:pt x="277548" y="23766"/>
                </a:lnTo>
                <a:lnTo>
                  <a:pt x="327553" y="12225"/>
                </a:lnTo>
                <a:lnTo>
                  <a:pt x="378256" y="3500"/>
                </a:lnTo>
                <a:lnTo>
                  <a:pt x="427213" y="0"/>
                </a:lnTo>
                <a:lnTo>
                  <a:pt x="471977" y="4138"/>
                </a:lnTo>
                <a:lnTo>
                  <a:pt x="512697" y="17776"/>
                </a:lnTo>
                <a:lnTo>
                  <a:pt x="551004" y="39309"/>
                </a:lnTo>
                <a:lnTo>
                  <a:pt x="586673" y="65940"/>
                </a:lnTo>
                <a:lnTo>
                  <a:pt x="619483" y="94871"/>
                </a:lnTo>
                <a:lnTo>
                  <a:pt x="649208" y="123306"/>
                </a:lnTo>
                <a:lnTo>
                  <a:pt x="678250" y="151921"/>
                </a:lnTo>
                <a:lnTo>
                  <a:pt x="706759" y="182578"/>
                </a:lnTo>
                <a:lnTo>
                  <a:pt x="731132" y="214266"/>
                </a:lnTo>
                <a:lnTo>
                  <a:pt x="747766" y="245975"/>
                </a:lnTo>
                <a:close/>
              </a:path>
            </a:pathLst>
          </a:custGeom>
          <a:solidFill>
            <a:srgbClr val="D4CCBE"/>
          </a:solidFill>
          <a:ln>
            <a:noFill/>
          </a:ln>
          <a:effectLst/>
        </p:spPr>
        <p:txBody>
          <a:bodyPr rtlCol="0" anchor="ctr"/>
          <a:lstStyle/>
          <a:p>
            <a:pPr algn="ctr"/>
          </a:p>
        </p:txBody>
      </p:sp>
      <p:sp>
        <p:nvSpPr>
          <p:cNvPr id="24" name="TextBox 23"/>
          <p:cNvSpPr txBox="1"/>
          <p:nvPr/>
        </p:nvSpPr>
        <p:spPr>
          <a:xfrm>
            <a:off x="2956560" y="43942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Beni Makada</a:t>
            </a:r>
          </a:p>
        </p:txBody>
      </p:sp>
      <p:sp>
        <p:nvSpPr>
          <p:cNvPr id="25" name="TextBox 24"/>
          <p:cNvSpPr txBox="1"/>
          <p:nvPr/>
        </p:nvSpPr>
        <p:spPr>
          <a:xfrm>
            <a:off x="1945005" y="39370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Mesnana</a:t>
            </a:r>
          </a:p>
        </p:txBody>
      </p:sp>
      <p:sp>
        <p:nvSpPr>
          <p:cNvPr id="26" name="TextBox 25"/>
          <p:cNvSpPr txBox="1"/>
          <p:nvPr/>
        </p:nvSpPr>
        <p:spPr>
          <a:xfrm>
            <a:off x="4380230" y="49276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Bir Chifa</a:t>
            </a:r>
          </a:p>
        </p:txBody>
      </p:sp>
      <p:sp>
        <p:nvSpPr>
          <p:cNvPr id="27" name="TextBox 26"/>
          <p:cNvSpPr txBox="1"/>
          <p:nvPr/>
        </p:nvSpPr>
        <p:spPr>
          <a:xfrm>
            <a:off x="1607820" y="53086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Gzenaya</a:t>
            </a:r>
          </a:p>
        </p:txBody>
      </p:sp>
      <p:sp>
        <p:nvSpPr>
          <p:cNvPr id="28" name="TextBox 27"/>
          <p:cNvSpPr txBox="1"/>
          <p:nvPr/>
        </p:nvSpPr>
        <p:spPr>
          <a:xfrm>
            <a:off x="4005580" y="3975100"/>
            <a:ext cx="1397000" cy="254000"/>
          </a:xfrm>
          <a:prstGeom prst="rect">
            <a:avLst/>
          </a:prstGeom>
          <a:noFill/>
        </p:spPr>
        <p:txBody>
          <a:bodyPr wrap="square" lIns="0" rIns="0" tIns="0" bIns="0" anchor="t">
            <a:spAutoFit/>
          </a:bodyPr>
          <a:lstStyle/>
          <a:p>
            <a:pPr algn="ctr">
              <a:lnSpc>
                <a:spcPct val="115000"/>
              </a:lnSpc>
            </a:pPr>
            <a:r>
              <a:rPr sz="1100" b="1" i="0">
                <a:solidFill>
                  <a:srgbClr val="1C1C1C"/>
                </a:solidFill>
                <a:latin typeface="Inter"/>
              </a:rPr>
              <a:t>Centre</a:t>
            </a:r>
          </a:p>
        </p:txBody>
      </p:sp>
      <p:sp>
        <p:nvSpPr>
          <p:cNvPr id="29" name="Freeform 28"/>
          <p:cNvSpPr/>
          <p:nvPr/>
        </p:nvSpPr>
        <p:spPr>
          <a:xfrm>
            <a:off x="5678170" y="3898900"/>
            <a:ext cx="599440" cy="2133600"/>
          </a:xfrm>
          <a:custGeom>
            <a:avLst/>
            <a:gdLst/>
            <a:ahLst/>
            <a:cxnLst/>
            <a:rect l="l" t="t" r="r" b="b"/>
            <a:pathLst>
              <a:path w="599440" h="2133600">
                <a:moveTo>
                  <a:pt x="599440" y="0"/>
                </a:moveTo>
                <a:lnTo>
                  <a:pt x="593890" y="64558"/>
                </a:lnTo>
                <a:lnTo>
                  <a:pt x="588339" y="152400"/>
                </a:lnTo>
                <a:lnTo>
                  <a:pt x="580708" y="257175"/>
                </a:lnTo>
                <a:lnTo>
                  <a:pt x="568913" y="372533"/>
                </a:lnTo>
                <a:lnTo>
                  <a:pt x="550874" y="492125"/>
                </a:lnTo>
                <a:lnTo>
                  <a:pt x="524510" y="609600"/>
                </a:lnTo>
                <a:lnTo>
                  <a:pt x="486698" y="727781"/>
                </a:lnTo>
                <a:lnTo>
                  <a:pt x="438479" y="852311"/>
                </a:lnTo>
                <a:lnTo>
                  <a:pt x="384016" y="981075"/>
                </a:lnTo>
                <a:lnTo>
                  <a:pt x="327472" y="1111956"/>
                </a:lnTo>
                <a:lnTo>
                  <a:pt x="273009" y="1242836"/>
                </a:lnTo>
                <a:lnTo>
                  <a:pt x="224790" y="1371600"/>
                </a:lnTo>
                <a:lnTo>
                  <a:pt x="180387" y="1507419"/>
                </a:lnTo>
                <a:lnTo>
                  <a:pt x="135984" y="1653822"/>
                </a:lnTo>
                <a:lnTo>
                  <a:pt x="93662" y="1800225"/>
                </a:lnTo>
                <a:lnTo>
                  <a:pt x="55504" y="1936044"/>
                </a:lnTo>
                <a:lnTo>
                  <a:pt x="23589" y="2050697"/>
                </a:lnTo>
                <a:lnTo>
                  <a:pt x="0" y="2133600"/>
                </a:lnTo>
              </a:path>
            </a:pathLst>
          </a:custGeom>
          <a:noFill/>
          <a:ln w="44450">
            <a:solidFill>
              <a:srgbClr val="C8462B"/>
            </a:solidFill>
          </a:ln>
          <a:effectLst/>
        </p:spPr>
        <p:txBody>
          <a:bodyPr rtlCol="0" anchor="ctr"/>
          <a:lstStyle/>
          <a:p>
            <a:pPr algn="ctr"/>
          </a:p>
        </p:txBody>
      </p:sp>
      <p:sp>
        <p:nvSpPr>
          <p:cNvPr id="30" name="TextBox 29"/>
          <p:cNvSpPr txBox="1"/>
          <p:nvPr/>
        </p:nvSpPr>
        <p:spPr>
          <a:xfrm>
            <a:off x="4305300" y="5346700"/>
            <a:ext cx="1397000" cy="254000"/>
          </a:xfrm>
          <a:prstGeom prst="rect">
            <a:avLst/>
          </a:prstGeom>
          <a:noFill/>
        </p:spPr>
        <p:txBody>
          <a:bodyPr wrap="square" lIns="0" rIns="0" tIns="0" bIns="0" anchor="t">
            <a:spAutoFit/>
          </a:bodyPr>
          <a:lstStyle/>
          <a:p>
            <a:pPr algn="ctr">
              <a:lnSpc>
                <a:spcPct val="115000"/>
              </a:lnSpc>
            </a:pPr>
            <a:r>
              <a:rPr sz="1100" b="1" i="0">
                <a:solidFill>
                  <a:srgbClr val="C8462B"/>
                </a:solidFill>
                <a:latin typeface="Inter"/>
              </a:rPr>
              <a:t>TGV Al Boraq vers</a:t>
            </a:r>
          </a:p>
          <a:p>
            <a:pPr algn="ctr">
              <a:lnSpc>
                <a:spcPct val="115000"/>
              </a:lnSpc>
            </a:pPr>
            <a:r>
              <a:rPr sz="1100" b="1" i="0">
                <a:solidFill>
                  <a:srgbClr val="C8462B"/>
                </a:solidFill>
                <a:latin typeface="Inter"/>
              </a:rPr>
              <a:t>Rabat, Casablanca</a:t>
            </a:r>
          </a:p>
        </p:txBody>
      </p:sp>
      <p:cxnSp>
        <p:nvCxnSpPr>
          <p:cNvPr id="31" name="Connector 30"/>
          <p:cNvCxnSpPr/>
          <p:nvPr/>
        </p:nvCxnSpPr>
        <p:spPr>
          <a:xfrm flipH="1" flipV="1">
            <a:off x="4029710" y="1689100"/>
            <a:ext cx="262255" cy="1082040"/>
          </a:xfrm>
          <a:prstGeom prst="line">
            <a:avLst/>
          </a:prstGeom>
          <a:ln w="38100">
            <a:solidFill>
              <a:srgbClr val="C8462B"/>
            </a:solidFill>
            <a:tailEnd type="triangle" w="med" len="med"/>
          </a:ln>
        </p:spPr>
      </p:cxnSp>
      <p:sp>
        <p:nvSpPr>
          <p:cNvPr id="32" name="TextBox 31"/>
          <p:cNvSpPr txBox="1"/>
          <p:nvPr/>
        </p:nvSpPr>
        <p:spPr>
          <a:xfrm>
            <a:off x="4305300" y="1689100"/>
            <a:ext cx="1397000" cy="254000"/>
          </a:xfrm>
          <a:prstGeom prst="rect">
            <a:avLst/>
          </a:prstGeom>
          <a:noFill/>
        </p:spPr>
        <p:txBody>
          <a:bodyPr wrap="square" lIns="0" rIns="0" tIns="0" bIns="0" anchor="t">
            <a:spAutoFit/>
          </a:bodyPr>
          <a:lstStyle/>
          <a:p>
            <a:pPr algn="ctr">
              <a:lnSpc>
                <a:spcPct val="115000"/>
              </a:lnSpc>
            </a:pPr>
            <a:r>
              <a:rPr sz="1100" b="1" i="0">
                <a:solidFill>
                  <a:srgbClr val="C8462B"/>
                </a:solidFill>
                <a:latin typeface="Inter"/>
              </a:rPr>
              <a:t>ferries et paquebots</a:t>
            </a:r>
          </a:p>
        </p:txBody>
      </p:sp>
      <p:sp>
        <p:nvSpPr>
          <p:cNvPr id="33" name="Freeform 32"/>
          <p:cNvSpPr/>
          <p:nvPr/>
        </p:nvSpPr>
        <p:spPr>
          <a:xfrm>
            <a:off x="4291965" y="2870200"/>
            <a:ext cx="2734945" cy="789376"/>
          </a:xfrm>
          <a:custGeom>
            <a:avLst/>
            <a:gdLst/>
            <a:ahLst/>
            <a:cxnLst/>
            <a:rect l="l" t="t" r="r" b="b"/>
            <a:pathLst>
              <a:path w="2734945" h="789376">
                <a:moveTo>
                  <a:pt x="0" y="0"/>
                </a:moveTo>
                <a:lnTo>
                  <a:pt x="42668" y="56797"/>
                </a:lnTo>
                <a:lnTo>
                  <a:pt x="99907" y="137724"/>
                </a:lnTo>
                <a:lnTo>
                  <a:pt x="168593" y="232410"/>
                </a:lnTo>
                <a:lnTo>
                  <a:pt x="245604" y="330482"/>
                </a:lnTo>
                <a:lnTo>
                  <a:pt x="327819" y="421569"/>
                </a:lnTo>
                <a:lnTo>
                  <a:pt x="412115" y="495300"/>
                </a:lnTo>
                <a:lnTo>
                  <a:pt x="502048" y="552785"/>
                </a:lnTo>
                <a:lnTo>
                  <a:pt x="600828" y="602544"/>
                </a:lnTo>
                <a:lnTo>
                  <a:pt x="704810" y="645319"/>
                </a:lnTo>
                <a:lnTo>
                  <a:pt x="810354" y="681849"/>
                </a:lnTo>
                <a:lnTo>
                  <a:pt x="913816" y="712876"/>
                </a:lnTo>
                <a:lnTo>
                  <a:pt x="1011555" y="739140"/>
                </a:lnTo>
                <a:lnTo>
                  <a:pt x="1103743" y="760166"/>
                </a:lnTo>
                <a:lnTo>
                  <a:pt x="1193330" y="775264"/>
                </a:lnTo>
                <a:lnTo>
                  <a:pt x="1280835" y="784860"/>
                </a:lnTo>
                <a:lnTo>
                  <a:pt x="1366779" y="789376"/>
                </a:lnTo>
                <a:lnTo>
                  <a:pt x="1451682" y="789234"/>
                </a:lnTo>
                <a:lnTo>
                  <a:pt x="1536065" y="784860"/>
                </a:lnTo>
                <a:lnTo>
                  <a:pt x="1620275" y="775476"/>
                </a:lnTo>
                <a:lnTo>
                  <a:pt x="1703964" y="760589"/>
                </a:lnTo>
                <a:lnTo>
                  <a:pt x="1786612" y="741045"/>
                </a:lnTo>
                <a:lnTo>
                  <a:pt x="1867700" y="717691"/>
                </a:lnTo>
                <a:lnTo>
                  <a:pt x="1946706" y="691374"/>
                </a:lnTo>
                <a:lnTo>
                  <a:pt x="2023110" y="662940"/>
                </a:lnTo>
                <a:lnTo>
                  <a:pt x="2097433" y="631631"/>
                </a:lnTo>
                <a:lnTo>
                  <a:pt x="2170195" y="596618"/>
                </a:lnTo>
                <a:lnTo>
                  <a:pt x="2240875" y="558641"/>
                </a:lnTo>
                <a:lnTo>
                  <a:pt x="2308954" y="518442"/>
                </a:lnTo>
                <a:lnTo>
                  <a:pt x="2373911" y="476762"/>
                </a:lnTo>
                <a:lnTo>
                  <a:pt x="2435225" y="434340"/>
                </a:lnTo>
                <a:lnTo>
                  <a:pt x="2495152" y="387174"/>
                </a:lnTo>
                <a:lnTo>
                  <a:pt x="2554558" y="333869"/>
                </a:lnTo>
                <a:lnTo>
                  <a:pt x="2610842" y="279082"/>
                </a:lnTo>
                <a:lnTo>
                  <a:pt x="2661403" y="227471"/>
                </a:lnTo>
                <a:lnTo>
                  <a:pt x="2703637" y="183691"/>
                </a:lnTo>
                <a:lnTo>
                  <a:pt x="2734945" y="152400"/>
                </a:lnTo>
              </a:path>
            </a:pathLst>
          </a:custGeom>
          <a:noFill/>
          <a:ln w="44450">
            <a:solidFill>
              <a:srgbClr val="C8462B"/>
            </a:solidFill>
          </a:ln>
          <a:effectLst/>
        </p:spPr>
        <p:txBody>
          <a:bodyPr rtlCol="0" anchor="ctr"/>
          <a:lstStyle/>
          <a:p>
            <a:pPr algn="ctr"/>
          </a:p>
        </p:txBody>
      </p:sp>
      <p:cxnSp>
        <p:nvCxnSpPr>
          <p:cNvPr id="34" name="Connector 33"/>
          <p:cNvCxnSpPr/>
          <p:nvPr/>
        </p:nvCxnSpPr>
        <p:spPr>
          <a:xfrm>
            <a:off x="7026910" y="3022600"/>
            <a:ext cx="899160" cy="419100"/>
          </a:xfrm>
          <a:prstGeom prst="line">
            <a:avLst/>
          </a:prstGeom>
          <a:ln w="38100">
            <a:solidFill>
              <a:srgbClr val="C8462B"/>
            </a:solidFill>
            <a:tailEnd type="triangle" w="med" len="med"/>
          </a:ln>
        </p:spPr>
      </p:cxnSp>
      <p:sp>
        <p:nvSpPr>
          <p:cNvPr id="35" name="TextBox 34"/>
          <p:cNvSpPr txBox="1"/>
          <p:nvPr/>
        </p:nvSpPr>
        <p:spPr>
          <a:xfrm>
            <a:off x="6936740" y="3898900"/>
            <a:ext cx="1079500" cy="254000"/>
          </a:xfrm>
          <a:prstGeom prst="rect">
            <a:avLst/>
          </a:prstGeom>
          <a:noFill/>
        </p:spPr>
        <p:txBody>
          <a:bodyPr wrap="square" lIns="0" rIns="0" tIns="0" bIns="0" anchor="t">
            <a:spAutoFit/>
          </a:bodyPr>
          <a:lstStyle/>
          <a:p>
            <a:pPr algn="ctr">
              <a:lnSpc>
                <a:spcPct val="115000"/>
              </a:lnSpc>
            </a:pPr>
            <a:r>
              <a:rPr sz="1100" b="1" i="0">
                <a:solidFill>
                  <a:srgbClr val="C8462B"/>
                </a:solidFill>
                <a:latin typeface="Inter"/>
              </a:rPr>
              <a:t>vers Tanger Med</a:t>
            </a:r>
          </a:p>
        </p:txBody>
      </p:sp>
      <p:sp>
        <p:nvSpPr>
          <p:cNvPr id="36" name="Oval 35"/>
          <p:cNvSpPr/>
          <p:nvPr/>
        </p:nvSpPr>
        <p:spPr>
          <a:xfrm>
            <a:off x="6201410" y="3822700"/>
            <a:ext cx="152400" cy="152400"/>
          </a:xfrm>
          <a:prstGeom prst="ellipse">
            <a:avLst/>
          </a:prstGeom>
          <a:solidFill>
            <a:srgbClr val="C8462B"/>
          </a:solidFill>
          <a:ln w="19050">
            <a:solidFill>
              <a:srgbClr val="FFFFFF"/>
            </a:solidFill>
          </a:ln>
          <a:effectLst/>
        </p:spPr>
        <p:txBody>
          <a:bodyPr rtlCol="0" anchor="ctr"/>
          <a:lstStyle/>
          <a:p>
            <a:pPr algn="ctr"/>
          </a:p>
        </p:txBody>
      </p:sp>
      <p:sp>
        <p:nvSpPr>
          <p:cNvPr id="37" name="TextBox 36"/>
          <p:cNvSpPr txBox="1"/>
          <p:nvPr/>
        </p:nvSpPr>
        <p:spPr>
          <a:xfrm>
            <a:off x="6201410" y="3822700"/>
            <a:ext cx="152400" cy="1524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
            </a:r>
          </a:p>
        </p:txBody>
      </p:sp>
      <p:sp>
        <p:nvSpPr>
          <p:cNvPr id="38" name="Oval 37"/>
          <p:cNvSpPr/>
          <p:nvPr/>
        </p:nvSpPr>
        <p:spPr>
          <a:xfrm>
            <a:off x="4215765" y="2717800"/>
            <a:ext cx="152400" cy="152400"/>
          </a:xfrm>
          <a:prstGeom prst="ellipse">
            <a:avLst/>
          </a:prstGeom>
          <a:solidFill>
            <a:srgbClr val="C8462B"/>
          </a:solidFill>
          <a:ln w="19050">
            <a:solidFill>
              <a:srgbClr val="FFFFFF"/>
            </a:solidFill>
          </a:ln>
          <a:effectLst/>
        </p:spPr>
        <p:txBody>
          <a:bodyPr rtlCol="0" anchor="ctr"/>
          <a:lstStyle/>
          <a:p>
            <a:pPr algn="ctr"/>
          </a:p>
        </p:txBody>
      </p:sp>
      <p:sp>
        <p:nvSpPr>
          <p:cNvPr id="39" name="TextBox 38"/>
          <p:cNvSpPr txBox="1"/>
          <p:nvPr/>
        </p:nvSpPr>
        <p:spPr>
          <a:xfrm>
            <a:off x="4215765" y="2717800"/>
            <a:ext cx="152400" cy="1524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
            </a:r>
          </a:p>
        </p:txBody>
      </p:sp>
      <p:cxnSp>
        <p:nvCxnSpPr>
          <p:cNvPr id="40" name="Connector 39"/>
          <p:cNvCxnSpPr/>
          <p:nvPr/>
        </p:nvCxnSpPr>
        <p:spPr>
          <a:xfrm flipH="1">
            <a:off x="2306320" y="4356100"/>
            <a:ext cx="1348740" cy="914400"/>
          </a:xfrm>
          <a:prstGeom prst="line">
            <a:avLst/>
          </a:prstGeom>
          <a:ln w="25400">
            <a:solidFill>
              <a:srgbClr val="1F3A5F"/>
            </a:solidFill>
            <a:prstDash val="sysDash"/>
            <a:tailEnd type="triangle" w="med" len="med"/>
          </a:ln>
        </p:spPr>
      </p:cxnSp>
      <p:cxnSp>
        <p:nvCxnSpPr>
          <p:cNvPr id="41" name="Connector 40"/>
          <p:cNvCxnSpPr/>
          <p:nvPr/>
        </p:nvCxnSpPr>
        <p:spPr>
          <a:xfrm flipH="1">
            <a:off x="2306320" y="3898900"/>
            <a:ext cx="337185" cy="1371600"/>
          </a:xfrm>
          <a:prstGeom prst="line">
            <a:avLst/>
          </a:prstGeom>
          <a:ln w="25400">
            <a:solidFill>
              <a:srgbClr val="1F3A5F"/>
            </a:solidFill>
            <a:prstDash val="sysDash"/>
            <a:tailEnd type="triangle" w="med" len="med"/>
          </a:ln>
        </p:spPr>
      </p:cxnSp>
      <p:cxnSp>
        <p:nvCxnSpPr>
          <p:cNvPr id="42" name="Connector 41"/>
          <p:cNvCxnSpPr/>
          <p:nvPr/>
        </p:nvCxnSpPr>
        <p:spPr>
          <a:xfrm flipV="1">
            <a:off x="3655060" y="3975100"/>
            <a:ext cx="1049020" cy="381000"/>
          </a:xfrm>
          <a:prstGeom prst="line">
            <a:avLst/>
          </a:prstGeom>
          <a:ln w="25400">
            <a:solidFill>
              <a:srgbClr val="1F3A5F"/>
            </a:solidFill>
            <a:prstDash val="sysDash"/>
            <a:tailEnd type="triangle" w="med" len="med"/>
          </a:ln>
        </p:spPr>
      </p:cxnSp>
      <p:cxnSp>
        <p:nvCxnSpPr>
          <p:cNvPr id="43" name="Connector 42"/>
          <p:cNvCxnSpPr/>
          <p:nvPr/>
        </p:nvCxnSpPr>
        <p:spPr>
          <a:xfrm flipH="1" flipV="1">
            <a:off x="4704080" y="3975100"/>
            <a:ext cx="299720" cy="914400"/>
          </a:xfrm>
          <a:prstGeom prst="line">
            <a:avLst/>
          </a:prstGeom>
          <a:ln w="25400">
            <a:solidFill>
              <a:srgbClr val="1F3A5F"/>
            </a:solidFill>
            <a:prstDash val="sysDash"/>
            <a:tailEnd type="triangle" w="med" len="med"/>
          </a:ln>
        </p:spPr>
      </p:cxnSp>
      <p:cxnSp>
        <p:nvCxnSpPr>
          <p:cNvPr id="44" name="Connector 43"/>
          <p:cNvCxnSpPr/>
          <p:nvPr/>
        </p:nvCxnSpPr>
        <p:spPr>
          <a:xfrm>
            <a:off x="5003800" y="4889500"/>
            <a:ext cx="2697480" cy="152400"/>
          </a:xfrm>
          <a:prstGeom prst="line">
            <a:avLst/>
          </a:prstGeom>
          <a:ln w="25400">
            <a:solidFill>
              <a:srgbClr val="1F3A5F"/>
            </a:solidFill>
            <a:prstDash val="sysDash"/>
            <a:tailEnd type="triangle" w="med" len="med"/>
          </a:ln>
        </p:spPr>
      </p:cxnSp>
      <p:sp>
        <p:nvSpPr>
          <p:cNvPr id="45" name="TextBox 44"/>
          <p:cNvSpPr txBox="1"/>
          <p:nvPr/>
        </p:nvSpPr>
        <p:spPr>
          <a:xfrm>
            <a:off x="6403340" y="45847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navettes vers les</a:t>
            </a:r>
          </a:p>
          <a:p>
            <a:pPr algn="ctr">
              <a:lnSpc>
                <a:spcPct val="115000"/>
              </a:lnSpc>
            </a:pPr>
            <a:r>
              <a:rPr sz="1100" b="1" i="0">
                <a:solidFill>
                  <a:srgbClr val="1F3A5F"/>
                </a:solidFill>
                <a:latin typeface="Inter"/>
              </a:rPr>
              <a:t>zones industrielles</a:t>
            </a:r>
          </a:p>
        </p:txBody>
      </p:sp>
      <p:sp>
        <p:nvSpPr>
          <p:cNvPr id="46" name="Oval 45"/>
          <p:cNvSpPr/>
          <p:nvPr/>
        </p:nvSpPr>
        <p:spPr>
          <a:xfrm>
            <a:off x="1543050" y="5638800"/>
            <a:ext cx="177800" cy="177800"/>
          </a:xfrm>
          <a:prstGeom prst="ellipse">
            <a:avLst/>
          </a:prstGeom>
          <a:solidFill>
            <a:srgbClr val="1C1C1C"/>
          </a:solidFill>
          <a:ln>
            <a:noFill/>
          </a:ln>
          <a:effectLst/>
        </p:spPr>
        <p:txBody>
          <a:bodyPr rtlCol="0" anchor="ctr"/>
          <a:lstStyle/>
          <a:p>
            <a:pPr algn="ctr"/>
          </a:p>
        </p:txBody>
      </p:sp>
      <p:sp>
        <p:nvSpPr>
          <p:cNvPr id="47" name="TextBox 46"/>
          <p:cNvSpPr txBox="1"/>
          <p:nvPr/>
        </p:nvSpPr>
        <p:spPr>
          <a:xfrm>
            <a:off x="933450" y="5880100"/>
            <a:ext cx="1397000" cy="254000"/>
          </a:xfrm>
          <a:prstGeom prst="rect">
            <a:avLst/>
          </a:prstGeom>
          <a:noFill/>
        </p:spPr>
        <p:txBody>
          <a:bodyPr wrap="square" lIns="0" rIns="0" tIns="0" bIns="0" anchor="t">
            <a:spAutoFit/>
          </a:bodyPr>
          <a:lstStyle/>
          <a:p>
            <a:pPr algn="ctr">
              <a:lnSpc>
                <a:spcPct val="115000"/>
              </a:lnSpc>
            </a:pPr>
            <a:r>
              <a:rPr sz="1050" b="1" i="0">
                <a:solidFill>
                  <a:srgbClr val="1C1C1C"/>
                </a:solidFill>
                <a:latin typeface="Inter"/>
              </a:rPr>
              <a:t>Aéroport</a:t>
            </a:r>
          </a:p>
        </p:txBody>
      </p:sp>
      <p:sp>
        <p:nvSpPr>
          <p:cNvPr id="48" name="Freeform 47"/>
          <p:cNvSpPr/>
          <p:nvPr/>
        </p:nvSpPr>
        <p:spPr>
          <a:xfrm>
            <a:off x="7607300" y="5461000"/>
            <a:ext cx="152400" cy="215900"/>
          </a:xfrm>
          <a:custGeom>
            <a:avLst/>
            <a:gdLst/>
            <a:ahLst/>
            <a:cxnLst/>
            <a:rect l="l" t="t" r="r" b="b"/>
            <a:pathLst>
              <a:path w="152400" h="215900">
                <a:moveTo>
                  <a:pt x="76200" y="0"/>
                </a:moveTo>
                <a:lnTo>
                  <a:pt x="152400" y="215900"/>
                </a:lnTo>
                <a:lnTo>
                  <a:pt x="76200" y="165100"/>
                </a:lnTo>
                <a:lnTo>
                  <a:pt x="0" y="215900"/>
                </a:lnTo>
                <a:close/>
              </a:path>
            </a:pathLst>
          </a:custGeom>
          <a:solidFill>
            <a:srgbClr val="1C1C1C"/>
          </a:solidFill>
          <a:ln>
            <a:noFill/>
          </a:ln>
          <a:effectLst/>
        </p:spPr>
        <p:txBody>
          <a:bodyPr rtlCol="0" anchor="ctr"/>
          <a:lstStyle/>
          <a:p>
            <a:pPr algn="ctr"/>
          </a:p>
        </p:txBody>
      </p:sp>
      <p:sp>
        <p:nvSpPr>
          <p:cNvPr id="49" name="TextBox 48"/>
          <p:cNvSpPr txBox="1"/>
          <p:nvPr/>
        </p:nvSpPr>
        <p:spPr>
          <a:xfrm>
            <a:off x="7556500" y="5702300"/>
            <a:ext cx="254000" cy="127000"/>
          </a:xfrm>
          <a:prstGeom prst="rect">
            <a:avLst/>
          </a:prstGeom>
          <a:noFill/>
        </p:spPr>
        <p:txBody>
          <a:bodyPr wrap="square" lIns="0" rIns="0" tIns="0" bIns="0" anchor="t">
            <a:spAutoFit/>
          </a:bodyPr>
          <a:lstStyle/>
          <a:p>
            <a:pPr algn="ctr">
              <a:lnSpc>
                <a:spcPct val="115000"/>
              </a:lnSpc>
            </a:pPr>
            <a:r>
              <a:rPr sz="1100" b="1" i="0">
                <a:solidFill>
                  <a:srgbClr val="1C1C1C"/>
                </a:solidFill>
                <a:latin typeface="Inter"/>
              </a:rPr>
              <a:t>N</a:t>
            </a:r>
          </a:p>
        </p:txBody>
      </p:sp>
      <p:sp>
        <p:nvSpPr>
          <p:cNvPr id="50" name="TextBox 49"/>
          <p:cNvSpPr txBox="1"/>
          <p:nvPr/>
        </p:nvSpPr>
        <p:spPr>
          <a:xfrm>
            <a:off x="508000" y="6083300"/>
            <a:ext cx="7493000" cy="152400"/>
          </a:xfrm>
          <a:prstGeom prst="rect">
            <a:avLst/>
          </a:prstGeom>
          <a:noFill/>
        </p:spPr>
        <p:txBody>
          <a:bodyPr wrap="square" lIns="0" rIns="0" tIns="0" bIns="0" anchor="t">
            <a:spAutoFit/>
          </a:bodyPr>
          <a:lstStyle/>
          <a:p>
            <a:pPr algn="l">
              <a:lnSpc>
                <a:spcPct val="115000"/>
              </a:lnSpc>
            </a:pPr>
            <a:r>
              <a:rPr sz="900" b="0" i="1">
                <a:solidFill>
                  <a:srgbClr val="6E6A64"/>
                </a:solidFill>
                <a:latin typeface="Inter"/>
              </a:rPr>
              <a:t>Schéma de l'auteur. L'épaisseur des traits indique la priorité donnée par l'investissement, pas des flux mesurés.</a:t>
            </a:r>
          </a:p>
        </p:txBody>
      </p:sp>
      <p:sp>
        <p:nvSpPr>
          <p:cNvPr id="51" name="TextBox 50"/>
          <p:cNvSpPr txBox="1"/>
          <p:nvPr/>
        </p:nvSpPr>
        <p:spPr>
          <a:xfrm>
            <a:off x="8318500" y="15240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LÉGENDE</a:t>
            </a:r>
          </a:p>
        </p:txBody>
      </p:sp>
      <p:cxnSp>
        <p:nvCxnSpPr>
          <p:cNvPr id="52" name="Connector 51"/>
          <p:cNvCxnSpPr/>
          <p:nvPr/>
        </p:nvCxnSpPr>
        <p:spPr>
          <a:xfrm>
            <a:off x="8318500" y="1828800"/>
            <a:ext cx="190500" cy="0"/>
          </a:xfrm>
          <a:prstGeom prst="line">
            <a:avLst/>
          </a:prstGeom>
          <a:ln w="31750">
            <a:solidFill>
              <a:srgbClr val="C8462B"/>
            </a:solidFill>
          </a:ln>
        </p:spPr>
      </p:cxnSp>
      <p:sp>
        <p:nvSpPr>
          <p:cNvPr id="53" name="TextBox 52"/>
          <p:cNvSpPr txBox="1"/>
          <p:nvPr/>
        </p:nvSpPr>
        <p:spPr>
          <a:xfrm>
            <a:off x="8597900" y="1746250"/>
            <a:ext cx="3111500" cy="165100"/>
          </a:xfrm>
          <a:prstGeom prst="rect">
            <a:avLst/>
          </a:prstGeom>
          <a:noFill/>
        </p:spPr>
        <p:txBody>
          <a:bodyPr wrap="square" lIns="0" rIns="0" tIns="0" bIns="0" anchor="t">
            <a:spAutoFit/>
          </a:bodyPr>
          <a:lstStyle/>
          <a:p>
            <a:pPr algn="l">
              <a:lnSpc>
                <a:spcPct val="115000"/>
              </a:lnSpc>
            </a:pPr>
            <a:r>
              <a:rPr sz="1100" b="0" i="0">
                <a:solidFill>
                  <a:srgbClr val="1C1C1C"/>
                </a:solidFill>
                <a:latin typeface="Inter"/>
              </a:rPr>
              <a:t>Réseau de la vitrine : TGV, port, corniche</a:t>
            </a:r>
          </a:p>
        </p:txBody>
      </p:sp>
      <p:cxnSp>
        <p:nvCxnSpPr>
          <p:cNvPr id="54" name="Connector 53"/>
          <p:cNvCxnSpPr/>
          <p:nvPr/>
        </p:nvCxnSpPr>
        <p:spPr>
          <a:xfrm>
            <a:off x="8318500" y="2051050"/>
            <a:ext cx="190500" cy="0"/>
          </a:xfrm>
          <a:prstGeom prst="line">
            <a:avLst/>
          </a:prstGeom>
          <a:ln w="25400">
            <a:solidFill>
              <a:srgbClr val="1F3A5F"/>
            </a:solidFill>
            <a:prstDash val="dash"/>
          </a:ln>
        </p:spPr>
      </p:cxnSp>
      <p:sp>
        <p:nvSpPr>
          <p:cNvPr id="55" name="TextBox 54"/>
          <p:cNvSpPr txBox="1"/>
          <p:nvPr/>
        </p:nvSpPr>
        <p:spPr>
          <a:xfrm>
            <a:off x="8597900" y="1968500"/>
            <a:ext cx="3111500" cy="165100"/>
          </a:xfrm>
          <a:prstGeom prst="rect">
            <a:avLst/>
          </a:prstGeom>
          <a:noFill/>
        </p:spPr>
        <p:txBody>
          <a:bodyPr wrap="square" lIns="0" rIns="0" tIns="0" bIns="0" anchor="t">
            <a:spAutoFit/>
          </a:bodyPr>
          <a:lstStyle/>
          <a:p>
            <a:pPr algn="l">
              <a:lnSpc>
                <a:spcPct val="115000"/>
              </a:lnSpc>
            </a:pPr>
            <a:r>
              <a:rPr sz="1100" b="0" i="0">
                <a:solidFill>
                  <a:srgbClr val="1C1C1C"/>
                </a:solidFill>
                <a:latin typeface="Inter"/>
              </a:rPr>
              <a:t>Réseau du quotidien : bus, taxis, navettes</a:t>
            </a:r>
          </a:p>
        </p:txBody>
      </p:sp>
      <p:sp>
        <p:nvSpPr>
          <p:cNvPr id="56" name="Rectangle 55"/>
          <p:cNvSpPr/>
          <p:nvPr/>
        </p:nvSpPr>
        <p:spPr>
          <a:xfrm>
            <a:off x="8318500" y="2209800"/>
            <a:ext cx="190500" cy="127000"/>
          </a:xfrm>
          <a:prstGeom prst="rect">
            <a:avLst/>
          </a:prstGeom>
          <a:solidFill>
            <a:srgbClr val="C9D5E3"/>
          </a:solidFill>
          <a:ln>
            <a:noFill/>
          </a:ln>
          <a:effectLst/>
        </p:spPr>
        <p:txBody>
          <a:bodyPr rtlCol="0" anchor="ctr"/>
          <a:lstStyle/>
          <a:p>
            <a:pPr algn="ctr"/>
          </a:p>
        </p:txBody>
      </p:sp>
      <p:sp>
        <p:nvSpPr>
          <p:cNvPr id="57" name="TextBox 56"/>
          <p:cNvSpPr txBox="1"/>
          <p:nvPr/>
        </p:nvSpPr>
        <p:spPr>
          <a:xfrm>
            <a:off x="8597900" y="2190750"/>
            <a:ext cx="3111500" cy="165100"/>
          </a:xfrm>
          <a:prstGeom prst="rect">
            <a:avLst/>
          </a:prstGeom>
          <a:noFill/>
        </p:spPr>
        <p:txBody>
          <a:bodyPr wrap="square" lIns="0" rIns="0" tIns="0" bIns="0" anchor="t">
            <a:spAutoFit/>
          </a:bodyPr>
          <a:lstStyle/>
          <a:p>
            <a:pPr algn="l">
              <a:lnSpc>
                <a:spcPct val="115000"/>
              </a:lnSpc>
            </a:pPr>
            <a:r>
              <a:rPr sz="1100" b="0" i="0">
                <a:solidFill>
                  <a:srgbClr val="1C1C1C"/>
                </a:solidFill>
                <a:latin typeface="Inter"/>
              </a:rPr>
              <a:t>Quartiers populaires</a:t>
            </a:r>
          </a:p>
        </p:txBody>
      </p:sp>
      <p:cxnSp>
        <p:nvCxnSpPr>
          <p:cNvPr id="58" name="Connector 57"/>
          <p:cNvCxnSpPr/>
          <p:nvPr/>
        </p:nvCxnSpPr>
        <p:spPr>
          <a:xfrm>
            <a:off x="8318500" y="2508250"/>
            <a:ext cx="3365500" cy="0"/>
          </a:xfrm>
          <a:prstGeom prst="line">
            <a:avLst/>
          </a:prstGeom>
          <a:ln w="9525">
            <a:solidFill>
              <a:srgbClr val="CFC8BC"/>
            </a:solidFill>
          </a:ln>
        </p:spPr>
      </p:cxnSp>
      <p:sp>
        <p:nvSpPr>
          <p:cNvPr id="59" name="TextBox 58"/>
          <p:cNvSpPr txBox="1"/>
          <p:nvPr/>
        </p:nvSpPr>
        <p:spPr>
          <a:xfrm>
            <a:off x="8318500" y="26035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COMPARER</a:t>
            </a:r>
          </a:p>
        </p:txBody>
      </p:sp>
      <p:sp>
        <p:nvSpPr>
          <p:cNvPr id="60" name="Rounded Rectangle 59"/>
          <p:cNvSpPr/>
          <p:nvPr/>
        </p:nvSpPr>
        <p:spPr>
          <a:xfrm>
            <a:off x="8318500" y="2825750"/>
            <a:ext cx="3365500" cy="762000"/>
          </a:xfrm>
          <a:prstGeom prst="roundRect">
            <a:avLst>
              <a:gd name="adj" fmla="val 8333"/>
            </a:avLst>
          </a:prstGeom>
          <a:solidFill>
            <a:srgbClr val="C8462B"/>
          </a:solidFill>
          <a:ln>
            <a:noFill/>
          </a:ln>
          <a:effectLst/>
        </p:spPr>
        <p:txBody>
          <a:bodyPr rtlCol="0" anchor="ctr"/>
          <a:lstStyle/>
          <a:p>
            <a:pPr algn="ctr"/>
          </a:p>
        </p:txBody>
      </p:sp>
      <p:sp>
        <p:nvSpPr>
          <p:cNvPr id="61" name="TextBox 60"/>
          <p:cNvSpPr txBox="1"/>
          <p:nvPr/>
        </p:nvSpPr>
        <p:spPr>
          <a:xfrm>
            <a:off x="8470900" y="2908300"/>
            <a:ext cx="3111500" cy="215900"/>
          </a:xfrm>
          <a:prstGeom prst="rect">
            <a:avLst/>
          </a:prstGeom>
          <a:noFill/>
        </p:spPr>
        <p:txBody>
          <a:bodyPr wrap="square" lIns="0" rIns="0" tIns="0" bIns="0" anchor="t">
            <a:spAutoFit/>
          </a:bodyPr>
          <a:lstStyle/>
          <a:p>
            <a:pPr algn="l">
              <a:lnSpc>
                <a:spcPct val="115000"/>
              </a:lnSpc>
            </a:pPr>
            <a:r>
              <a:rPr sz="1400" b="1" i="0">
                <a:solidFill>
                  <a:srgbClr val="FFFFFF"/>
                </a:solidFill>
                <a:latin typeface="Inter"/>
              </a:rPr>
              <a:t>Tanger → Casablanca</a:t>
            </a:r>
          </a:p>
        </p:txBody>
      </p:sp>
      <p:sp>
        <p:nvSpPr>
          <p:cNvPr id="62" name="TextBox 61"/>
          <p:cNvSpPr txBox="1"/>
          <p:nvPr/>
        </p:nvSpPr>
        <p:spPr>
          <a:xfrm>
            <a:off x="8470900" y="3175000"/>
            <a:ext cx="3111500" cy="381000"/>
          </a:xfrm>
          <a:prstGeom prst="rect">
            <a:avLst/>
          </a:prstGeom>
          <a:noFill/>
        </p:spPr>
        <p:txBody>
          <a:bodyPr wrap="square" lIns="0" rIns="0" tIns="0" bIns="0" anchor="t">
            <a:spAutoFit/>
          </a:bodyPr>
          <a:lstStyle/>
          <a:p>
            <a:pPr algn="l">
              <a:lnSpc>
                <a:spcPct val="115000"/>
              </a:lnSpc>
            </a:pPr>
            <a:r>
              <a:rPr sz="1200" b="0" i="0">
                <a:solidFill>
                  <a:srgbClr val="FFFFFF"/>
                </a:solidFill>
                <a:latin typeface="Inter"/>
              </a:rPr>
              <a:t>environ 2 h 10 en TGV, depuis 2018</a:t>
            </a:r>
          </a:p>
        </p:txBody>
      </p:sp>
      <p:sp>
        <p:nvSpPr>
          <p:cNvPr id="63" name="Rounded Rectangle 62"/>
          <p:cNvSpPr/>
          <p:nvPr/>
        </p:nvSpPr>
        <p:spPr>
          <a:xfrm>
            <a:off x="8318500" y="3714750"/>
            <a:ext cx="3365500" cy="825500"/>
          </a:xfrm>
          <a:prstGeom prst="roundRect">
            <a:avLst>
              <a:gd name="adj" fmla="val 7692"/>
            </a:avLst>
          </a:prstGeom>
          <a:solidFill>
            <a:srgbClr val="1F3A5F"/>
          </a:solidFill>
          <a:ln>
            <a:noFill/>
          </a:ln>
          <a:effectLst/>
        </p:spPr>
        <p:txBody>
          <a:bodyPr rtlCol="0" anchor="ctr"/>
          <a:lstStyle/>
          <a:p>
            <a:pPr algn="ctr"/>
          </a:p>
        </p:txBody>
      </p:sp>
      <p:sp>
        <p:nvSpPr>
          <p:cNvPr id="64" name="TextBox 63"/>
          <p:cNvSpPr txBox="1"/>
          <p:nvPr/>
        </p:nvSpPr>
        <p:spPr>
          <a:xfrm>
            <a:off x="8470900" y="3797300"/>
            <a:ext cx="3111500" cy="215900"/>
          </a:xfrm>
          <a:prstGeom prst="rect">
            <a:avLst/>
          </a:prstGeom>
          <a:noFill/>
        </p:spPr>
        <p:txBody>
          <a:bodyPr wrap="square" lIns="0" rIns="0" tIns="0" bIns="0" anchor="t">
            <a:spAutoFit/>
          </a:bodyPr>
          <a:lstStyle/>
          <a:p>
            <a:pPr algn="l">
              <a:lnSpc>
                <a:spcPct val="115000"/>
              </a:lnSpc>
            </a:pPr>
            <a:r>
              <a:rPr sz="1400" b="1" i="0">
                <a:solidFill>
                  <a:srgbClr val="FFFFFF"/>
                </a:solidFill>
                <a:latin typeface="Inter"/>
              </a:rPr>
              <a:t>Beni Makada → zone franche</a:t>
            </a:r>
          </a:p>
        </p:txBody>
      </p:sp>
      <p:sp>
        <p:nvSpPr>
          <p:cNvPr id="65" name="TextBox 64"/>
          <p:cNvSpPr txBox="1"/>
          <p:nvPr/>
        </p:nvSpPr>
        <p:spPr>
          <a:xfrm>
            <a:off x="8470900" y="4064000"/>
            <a:ext cx="3111500" cy="444500"/>
          </a:xfrm>
          <a:prstGeom prst="rect">
            <a:avLst/>
          </a:prstGeom>
          <a:noFill/>
        </p:spPr>
        <p:txBody>
          <a:bodyPr wrap="square" lIns="0" rIns="0" tIns="0" bIns="0" anchor="t">
            <a:spAutoFit/>
          </a:bodyPr>
          <a:lstStyle/>
          <a:p>
            <a:pPr algn="l">
              <a:lnSpc>
                <a:spcPct val="115000"/>
              </a:lnSpc>
            </a:pPr>
            <a:r>
              <a:rPr sz="1200" b="0" i="0">
                <a:solidFill>
                  <a:srgbClr val="FFFFFF"/>
                </a:solidFill>
                <a:latin typeface="Inter"/>
              </a:rPr>
              <a:t>aucun transport en site propre : bus, taxi ou navette d'entreprise</a:t>
            </a:r>
          </a:p>
        </p:txBody>
      </p:sp>
      <p:cxnSp>
        <p:nvCxnSpPr>
          <p:cNvPr id="66" name="Connector 65"/>
          <p:cNvCxnSpPr/>
          <p:nvPr/>
        </p:nvCxnSpPr>
        <p:spPr>
          <a:xfrm>
            <a:off x="8318500" y="4699000"/>
            <a:ext cx="3365500" cy="0"/>
          </a:xfrm>
          <a:prstGeom prst="line">
            <a:avLst/>
          </a:prstGeom>
          <a:ln w="9525">
            <a:solidFill>
              <a:srgbClr val="CFC8BC"/>
            </a:solidFill>
          </a:ln>
        </p:spPr>
      </p:cxnSp>
      <p:sp>
        <p:nvSpPr>
          <p:cNvPr id="67" name="TextBox 66"/>
          <p:cNvSpPr txBox="1"/>
          <p:nvPr/>
        </p:nvSpPr>
        <p:spPr>
          <a:xfrm>
            <a:off x="8318500" y="479425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CE QUI MANQUE</a:t>
            </a:r>
          </a:p>
        </p:txBody>
      </p:sp>
      <p:sp>
        <p:nvSpPr>
          <p:cNvPr id="68" name="TextBox 67"/>
          <p:cNvSpPr txBox="1"/>
          <p:nvPr/>
        </p:nvSpPr>
        <p:spPr>
          <a:xfrm>
            <a:off x="8318500" y="5016500"/>
            <a:ext cx="3365500" cy="190500"/>
          </a:xfrm>
          <a:prstGeom prst="rect">
            <a:avLst/>
          </a:prstGeom>
          <a:noFill/>
        </p:spPr>
        <p:txBody>
          <a:bodyPr wrap="square" lIns="0" rIns="0" tIns="0" bIns="0" anchor="t">
            <a:spAutoFit/>
          </a:bodyPr>
          <a:lstStyle/>
          <a:p>
            <a:pPr algn="l">
              <a:lnSpc>
                <a:spcPct val="115000"/>
              </a:lnSpc>
            </a:pPr>
            <a:r>
              <a:rPr sz="1200" b="0" i="0">
                <a:solidFill>
                  <a:srgbClr val="1C1C1C"/>
                </a:solidFill>
                <a:latin typeface="Inter"/>
              </a:rPr>
              <a:t>—  Une ligne de tram ou de BHNS</a:t>
            </a:r>
          </a:p>
        </p:txBody>
      </p:sp>
      <p:sp>
        <p:nvSpPr>
          <p:cNvPr id="69" name="TextBox 68"/>
          <p:cNvSpPr txBox="1"/>
          <p:nvPr/>
        </p:nvSpPr>
        <p:spPr>
          <a:xfrm>
            <a:off x="8318500" y="5270500"/>
            <a:ext cx="3365500" cy="190500"/>
          </a:xfrm>
          <a:prstGeom prst="rect">
            <a:avLst/>
          </a:prstGeom>
          <a:noFill/>
        </p:spPr>
        <p:txBody>
          <a:bodyPr wrap="square" lIns="0" rIns="0" tIns="0" bIns="0" anchor="t">
            <a:spAutoFit/>
          </a:bodyPr>
          <a:lstStyle/>
          <a:p>
            <a:pPr algn="l">
              <a:lnSpc>
                <a:spcPct val="115000"/>
              </a:lnSpc>
            </a:pPr>
            <a:r>
              <a:rPr sz="1200" b="0" i="0">
                <a:solidFill>
                  <a:srgbClr val="1C1C1C"/>
                </a:solidFill>
                <a:latin typeface="Inter"/>
              </a:rPr>
              <a:t>—  Des traversées piétonnes sûres</a:t>
            </a:r>
          </a:p>
        </p:txBody>
      </p:sp>
      <p:sp>
        <p:nvSpPr>
          <p:cNvPr id="70" name="TextBox 69"/>
          <p:cNvSpPr txBox="1"/>
          <p:nvPr/>
        </p:nvSpPr>
        <p:spPr>
          <a:xfrm>
            <a:off x="8318500" y="5524500"/>
            <a:ext cx="3365500" cy="190500"/>
          </a:xfrm>
          <a:prstGeom prst="rect">
            <a:avLst/>
          </a:prstGeom>
          <a:noFill/>
        </p:spPr>
        <p:txBody>
          <a:bodyPr wrap="square" lIns="0" rIns="0" tIns="0" bIns="0" anchor="t">
            <a:spAutoFit/>
          </a:bodyPr>
          <a:lstStyle/>
          <a:p>
            <a:pPr algn="l">
              <a:lnSpc>
                <a:spcPct val="115000"/>
              </a:lnSpc>
            </a:pPr>
            <a:r>
              <a:rPr sz="1200" b="0" i="0">
                <a:solidFill>
                  <a:srgbClr val="1C1C1C"/>
                </a:solidFill>
                <a:latin typeface="Inter"/>
              </a:rPr>
              <a:t>—  Un réseau qui relie quartiers et emplois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SCHÉMA 3 : LE LITTORAL</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La côte : bien commun ou produit touristique ?</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Lecture linéaire du littoral, du cap Spartel à Malabata. À compléter par un relevé de terrain des accès publics.</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14 / 17</a:t>
            </a:r>
          </a:p>
        </p:txBody>
      </p:sp>
      <p:sp>
        <p:nvSpPr>
          <p:cNvPr id="11" name="Rectangle 10"/>
          <p:cNvSpPr/>
          <p:nvPr/>
        </p:nvSpPr>
        <p:spPr>
          <a:xfrm>
            <a:off x="1016000" y="1841500"/>
            <a:ext cx="10160000" cy="571500"/>
          </a:xfrm>
          <a:prstGeom prst="rect">
            <a:avLst/>
          </a:prstGeom>
          <a:solidFill>
            <a:srgbClr val="D3E3EA"/>
          </a:solidFill>
          <a:ln>
            <a:noFill/>
          </a:ln>
          <a:effectLst/>
        </p:spPr>
        <p:txBody>
          <a:bodyPr rtlCol="0" anchor="ctr"/>
          <a:lstStyle/>
          <a:p>
            <a:pPr algn="ctr"/>
          </a:p>
        </p:txBody>
      </p:sp>
      <p:sp>
        <p:nvSpPr>
          <p:cNvPr id="12" name="TextBox 11"/>
          <p:cNvSpPr txBox="1"/>
          <p:nvPr/>
        </p:nvSpPr>
        <p:spPr>
          <a:xfrm>
            <a:off x="1016000" y="1879600"/>
            <a:ext cx="10160000" cy="152400"/>
          </a:xfrm>
          <a:prstGeom prst="rect">
            <a:avLst/>
          </a:prstGeom>
          <a:noFill/>
        </p:spPr>
        <p:txBody>
          <a:bodyPr wrap="square" lIns="0" rIns="0" tIns="0" bIns="0" anchor="t">
            <a:spAutoFit/>
          </a:bodyPr>
          <a:lstStyle/>
          <a:p>
            <a:pPr algn="ctr">
              <a:lnSpc>
                <a:spcPct val="115000"/>
              </a:lnSpc>
            </a:pPr>
            <a:r>
              <a:rPr sz="1000" b="1" i="1">
                <a:solidFill>
                  <a:srgbClr val="5C7884"/>
                </a:solidFill>
                <a:latin typeface="Inter"/>
              </a:rPr>
              <a:t>MER  ·  DÉTROIT ET BAIE</a:t>
            </a:r>
          </a:p>
        </p:txBody>
      </p:sp>
      <p:sp>
        <p:nvSpPr>
          <p:cNvPr id="13" name="Rectangle 12"/>
          <p:cNvSpPr/>
          <p:nvPr/>
        </p:nvSpPr>
        <p:spPr>
          <a:xfrm>
            <a:off x="1016000" y="2413000"/>
            <a:ext cx="1497949" cy="571500"/>
          </a:xfrm>
          <a:prstGeom prst="rect">
            <a:avLst/>
          </a:prstGeom>
          <a:solidFill>
            <a:srgbClr val="8FAE82"/>
          </a:solidFill>
          <a:ln w="19050">
            <a:solidFill>
              <a:srgbClr val="FFFFFF"/>
            </a:solidFill>
          </a:ln>
          <a:effectLst/>
        </p:spPr>
        <p:txBody>
          <a:bodyPr rtlCol="0" anchor="ctr"/>
          <a:lstStyle/>
          <a:p>
            <a:pPr algn="ctr"/>
          </a:p>
        </p:txBody>
      </p:sp>
      <p:sp>
        <p:nvSpPr>
          <p:cNvPr id="14" name="TextBox 13"/>
          <p:cNvSpPr txBox="1"/>
          <p:nvPr/>
        </p:nvSpPr>
        <p:spPr>
          <a:xfrm>
            <a:off x="1066800" y="2413000"/>
            <a:ext cx="1396349" cy="5715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Cap Spartel,</a:t>
            </a:r>
          </a:p>
          <a:p>
            <a:pPr algn="ctr">
              <a:lnSpc>
                <a:spcPct val="115000"/>
              </a:lnSpc>
            </a:pPr>
            <a:r>
              <a:rPr sz="1200" b="1" i="0">
                <a:solidFill>
                  <a:srgbClr val="FFFFFF"/>
                </a:solidFill>
                <a:latin typeface="Inter"/>
              </a:rPr>
              <a:t>grottes d'Hercule</a:t>
            </a:r>
          </a:p>
        </p:txBody>
      </p:sp>
      <p:sp>
        <p:nvSpPr>
          <p:cNvPr id="15" name="TextBox 14"/>
          <p:cNvSpPr txBox="1"/>
          <p:nvPr/>
        </p:nvSpPr>
        <p:spPr>
          <a:xfrm>
            <a:off x="1066800" y="3086100"/>
            <a:ext cx="1396349" cy="444500"/>
          </a:xfrm>
          <a:prstGeom prst="rect">
            <a:avLst/>
          </a:prstGeom>
          <a:noFill/>
        </p:spPr>
        <p:txBody>
          <a:bodyPr wrap="square" lIns="0" rIns="0" tIns="0" bIns="0" anchor="t">
            <a:spAutoFit/>
          </a:bodyPr>
          <a:lstStyle/>
          <a:p>
            <a:pPr algn="ctr">
              <a:lnSpc>
                <a:spcPct val="115000"/>
              </a:lnSpc>
            </a:pPr>
            <a:r>
              <a:rPr sz="1050" b="0" i="0">
                <a:solidFill>
                  <a:srgbClr val="1C1C1C"/>
                </a:solidFill>
                <a:latin typeface="Inter"/>
              </a:rPr>
              <a:t>nature mise en scène,</a:t>
            </a:r>
          </a:p>
          <a:p>
            <a:pPr algn="ctr">
              <a:lnSpc>
                <a:spcPct val="115000"/>
              </a:lnSpc>
            </a:pPr>
            <a:r>
              <a:rPr sz="1050" b="0" i="0">
                <a:solidFill>
                  <a:srgbClr val="1C1C1C"/>
                </a:solidFill>
                <a:latin typeface="Inter"/>
              </a:rPr>
              <a:t>accès payants ou en voiture</a:t>
            </a:r>
          </a:p>
        </p:txBody>
      </p:sp>
      <p:sp>
        <p:nvSpPr>
          <p:cNvPr id="16" name="Rectangle 15"/>
          <p:cNvSpPr/>
          <p:nvPr/>
        </p:nvSpPr>
        <p:spPr>
          <a:xfrm>
            <a:off x="2513949" y="2413000"/>
            <a:ext cx="1953846" cy="571500"/>
          </a:xfrm>
          <a:prstGeom prst="rect">
            <a:avLst/>
          </a:prstGeom>
          <a:solidFill>
            <a:srgbClr val="D5E3CC"/>
          </a:solidFill>
          <a:ln w="19050">
            <a:solidFill>
              <a:srgbClr val="FFFFFF"/>
            </a:solidFill>
          </a:ln>
          <a:effectLst/>
        </p:spPr>
        <p:txBody>
          <a:bodyPr rtlCol="0" anchor="ctr"/>
          <a:lstStyle/>
          <a:p>
            <a:pPr algn="ctr"/>
          </a:p>
        </p:txBody>
      </p:sp>
      <p:sp>
        <p:nvSpPr>
          <p:cNvPr id="17" name="TextBox 16"/>
          <p:cNvSpPr txBox="1"/>
          <p:nvPr/>
        </p:nvSpPr>
        <p:spPr>
          <a:xfrm>
            <a:off x="2564749" y="2413000"/>
            <a:ext cx="1852246" cy="571500"/>
          </a:xfrm>
          <a:prstGeom prst="rect">
            <a:avLst/>
          </a:prstGeom>
          <a:noFill/>
        </p:spPr>
        <p:txBody>
          <a:bodyPr wrap="square" lIns="0" rIns="0" tIns="0" bIns="0" anchor="ctr">
            <a:spAutoFit/>
          </a:bodyPr>
          <a:lstStyle/>
          <a:p>
            <a:pPr algn="ctr">
              <a:lnSpc>
                <a:spcPct val="115000"/>
              </a:lnSpc>
            </a:pPr>
            <a:r>
              <a:rPr sz="1200" b="1" i="0">
                <a:solidFill>
                  <a:srgbClr val="1C1C1C"/>
                </a:solidFill>
                <a:latin typeface="Inter"/>
              </a:rPr>
              <a:t>Forêt de Rmilat</a:t>
            </a:r>
          </a:p>
          <a:p>
            <a:pPr algn="ctr">
              <a:lnSpc>
                <a:spcPct val="115000"/>
              </a:lnSpc>
            </a:pPr>
            <a:r>
              <a:rPr sz="1200" b="1" i="0">
                <a:solidFill>
                  <a:srgbClr val="1C1C1C"/>
                </a:solidFill>
                <a:latin typeface="Inter"/>
              </a:rPr>
              <a:t>et côte ouest</a:t>
            </a:r>
          </a:p>
        </p:txBody>
      </p:sp>
      <p:sp>
        <p:nvSpPr>
          <p:cNvPr id="18" name="TextBox 17"/>
          <p:cNvSpPr txBox="1"/>
          <p:nvPr/>
        </p:nvSpPr>
        <p:spPr>
          <a:xfrm>
            <a:off x="2564749" y="3086100"/>
            <a:ext cx="1852246" cy="444500"/>
          </a:xfrm>
          <a:prstGeom prst="rect">
            <a:avLst/>
          </a:prstGeom>
          <a:noFill/>
        </p:spPr>
        <p:txBody>
          <a:bodyPr wrap="square" lIns="0" rIns="0" tIns="0" bIns="0" anchor="t">
            <a:spAutoFit/>
          </a:bodyPr>
          <a:lstStyle/>
          <a:p>
            <a:pPr algn="ctr">
              <a:lnSpc>
                <a:spcPct val="115000"/>
              </a:lnSpc>
            </a:pPr>
            <a:r>
              <a:rPr sz="1050" b="0" i="0">
                <a:solidFill>
                  <a:srgbClr val="1C1C1C"/>
                </a:solidFill>
                <a:latin typeface="Inter"/>
              </a:rPr>
              <a:t>pression des villas</a:t>
            </a:r>
          </a:p>
          <a:p>
            <a:pPr algn="ctr">
              <a:lnSpc>
                <a:spcPct val="115000"/>
              </a:lnSpc>
            </a:pPr>
            <a:r>
              <a:rPr sz="1050" b="0" i="0">
                <a:solidFill>
                  <a:srgbClr val="1C1C1C"/>
                </a:solidFill>
                <a:latin typeface="Inter"/>
              </a:rPr>
              <a:t>et résidences</a:t>
            </a:r>
          </a:p>
        </p:txBody>
      </p:sp>
      <p:sp>
        <p:nvSpPr>
          <p:cNvPr id="19" name="Rectangle 18"/>
          <p:cNvSpPr/>
          <p:nvPr/>
        </p:nvSpPr>
        <p:spPr>
          <a:xfrm>
            <a:off x="4467795" y="2413000"/>
            <a:ext cx="1107179" cy="571500"/>
          </a:xfrm>
          <a:prstGeom prst="rect">
            <a:avLst/>
          </a:prstGeom>
          <a:solidFill>
            <a:srgbClr val="F2CDBF"/>
          </a:solidFill>
          <a:ln w="19050">
            <a:solidFill>
              <a:srgbClr val="FFFFFF"/>
            </a:solidFill>
          </a:ln>
          <a:effectLst/>
        </p:spPr>
        <p:txBody>
          <a:bodyPr rtlCol="0" anchor="ctr"/>
          <a:lstStyle/>
          <a:p>
            <a:pPr algn="ctr"/>
          </a:p>
        </p:txBody>
      </p:sp>
      <p:sp>
        <p:nvSpPr>
          <p:cNvPr id="20" name="TextBox 19"/>
          <p:cNvSpPr txBox="1"/>
          <p:nvPr/>
        </p:nvSpPr>
        <p:spPr>
          <a:xfrm>
            <a:off x="4518595" y="2413000"/>
            <a:ext cx="1005579" cy="571500"/>
          </a:xfrm>
          <a:prstGeom prst="rect">
            <a:avLst/>
          </a:prstGeom>
          <a:noFill/>
        </p:spPr>
        <p:txBody>
          <a:bodyPr wrap="square" lIns="0" rIns="0" tIns="0" bIns="0" anchor="ctr">
            <a:spAutoFit/>
          </a:bodyPr>
          <a:lstStyle/>
          <a:p>
            <a:pPr algn="ctr">
              <a:lnSpc>
                <a:spcPct val="115000"/>
              </a:lnSpc>
            </a:pPr>
            <a:r>
              <a:rPr sz="1200" b="1" i="0">
                <a:solidFill>
                  <a:srgbClr val="1C1C1C"/>
                </a:solidFill>
                <a:latin typeface="Inter"/>
              </a:rPr>
              <a:t>Kasbah</a:t>
            </a:r>
          </a:p>
          <a:p>
            <a:pPr algn="ctr">
              <a:lnSpc>
                <a:spcPct val="115000"/>
              </a:lnSpc>
            </a:pPr>
            <a:r>
              <a:rPr sz="1200" b="1" i="0">
                <a:solidFill>
                  <a:srgbClr val="1C1C1C"/>
                </a:solidFill>
                <a:latin typeface="Inter"/>
              </a:rPr>
              <a:t>et médina</a:t>
            </a:r>
          </a:p>
        </p:txBody>
      </p:sp>
      <p:sp>
        <p:nvSpPr>
          <p:cNvPr id="21" name="TextBox 20"/>
          <p:cNvSpPr txBox="1"/>
          <p:nvPr/>
        </p:nvSpPr>
        <p:spPr>
          <a:xfrm>
            <a:off x="4518595" y="3086100"/>
            <a:ext cx="1005579" cy="444500"/>
          </a:xfrm>
          <a:prstGeom prst="rect">
            <a:avLst/>
          </a:prstGeom>
          <a:noFill/>
        </p:spPr>
        <p:txBody>
          <a:bodyPr wrap="square" lIns="0" rIns="0" tIns="0" bIns="0" anchor="t">
            <a:spAutoFit/>
          </a:bodyPr>
          <a:lstStyle/>
          <a:p>
            <a:pPr algn="ctr">
              <a:lnSpc>
                <a:spcPct val="115000"/>
              </a:lnSpc>
            </a:pPr>
            <a:r>
              <a:rPr sz="1050" b="0" i="0">
                <a:solidFill>
                  <a:srgbClr val="1C1C1C"/>
                </a:solidFill>
                <a:latin typeface="Inter"/>
              </a:rPr>
              <a:t>vue sur la mer depuis</a:t>
            </a:r>
          </a:p>
          <a:p>
            <a:pPr algn="ctr">
              <a:lnSpc>
                <a:spcPct val="115000"/>
              </a:lnSpc>
            </a:pPr>
            <a:r>
              <a:rPr sz="1050" b="0" i="0">
                <a:solidFill>
                  <a:srgbClr val="1C1C1C"/>
                </a:solidFill>
                <a:latin typeface="Inter"/>
              </a:rPr>
              <a:t>les terrasses d'hôtels</a:t>
            </a:r>
          </a:p>
        </p:txBody>
      </p:sp>
      <p:sp>
        <p:nvSpPr>
          <p:cNvPr id="22" name="Rectangle 21"/>
          <p:cNvSpPr/>
          <p:nvPr/>
        </p:nvSpPr>
        <p:spPr>
          <a:xfrm>
            <a:off x="5574974" y="2413000"/>
            <a:ext cx="1497949" cy="571500"/>
          </a:xfrm>
          <a:prstGeom prst="rect">
            <a:avLst/>
          </a:prstGeom>
          <a:solidFill>
            <a:srgbClr val="C8462B"/>
          </a:solidFill>
          <a:ln w="19050">
            <a:solidFill>
              <a:srgbClr val="FFFFFF"/>
            </a:solidFill>
          </a:ln>
          <a:effectLst/>
        </p:spPr>
        <p:txBody>
          <a:bodyPr rtlCol="0" anchor="ctr"/>
          <a:lstStyle/>
          <a:p>
            <a:pPr algn="ctr"/>
          </a:p>
        </p:txBody>
      </p:sp>
      <p:sp>
        <p:nvSpPr>
          <p:cNvPr id="23" name="TextBox 22"/>
          <p:cNvSpPr txBox="1"/>
          <p:nvPr/>
        </p:nvSpPr>
        <p:spPr>
          <a:xfrm>
            <a:off x="5625774" y="2413000"/>
            <a:ext cx="1396349" cy="5715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Port et marina</a:t>
            </a:r>
          </a:p>
        </p:txBody>
      </p:sp>
      <p:sp>
        <p:nvSpPr>
          <p:cNvPr id="24" name="TextBox 23"/>
          <p:cNvSpPr txBox="1"/>
          <p:nvPr/>
        </p:nvSpPr>
        <p:spPr>
          <a:xfrm>
            <a:off x="5625774" y="3086100"/>
            <a:ext cx="1396349" cy="444500"/>
          </a:xfrm>
          <a:prstGeom prst="rect">
            <a:avLst/>
          </a:prstGeom>
          <a:noFill/>
        </p:spPr>
        <p:txBody>
          <a:bodyPr wrap="square" lIns="0" rIns="0" tIns="0" bIns="0" anchor="t">
            <a:spAutoFit/>
          </a:bodyPr>
          <a:lstStyle/>
          <a:p>
            <a:pPr algn="ctr">
              <a:lnSpc>
                <a:spcPct val="115000"/>
              </a:lnSpc>
            </a:pPr>
            <a:r>
              <a:rPr sz="1050" b="0" i="0">
                <a:solidFill>
                  <a:srgbClr val="1C1C1C"/>
                </a:solidFill>
                <a:latin typeface="Inter"/>
              </a:rPr>
              <a:t>eau réservée aux</a:t>
            </a:r>
          </a:p>
          <a:p>
            <a:pPr algn="ctr">
              <a:lnSpc>
                <a:spcPct val="115000"/>
              </a:lnSpc>
            </a:pPr>
            <a:r>
              <a:rPr sz="1050" b="0" i="0">
                <a:solidFill>
                  <a:srgbClr val="1C1C1C"/>
                </a:solidFill>
                <a:latin typeface="Inter"/>
              </a:rPr>
              <a:t>plaisanciers et paquebots</a:t>
            </a:r>
          </a:p>
        </p:txBody>
      </p:sp>
      <p:sp>
        <p:nvSpPr>
          <p:cNvPr id="25" name="Rectangle 24"/>
          <p:cNvSpPr/>
          <p:nvPr/>
        </p:nvSpPr>
        <p:spPr>
          <a:xfrm>
            <a:off x="7072923" y="2413000"/>
            <a:ext cx="2344615" cy="571500"/>
          </a:xfrm>
          <a:prstGeom prst="rect">
            <a:avLst/>
          </a:prstGeom>
          <a:solidFill>
            <a:srgbClr val="D9A441"/>
          </a:solidFill>
          <a:ln w="19050">
            <a:solidFill>
              <a:srgbClr val="FFFFFF"/>
            </a:solidFill>
          </a:ln>
          <a:effectLst/>
        </p:spPr>
        <p:txBody>
          <a:bodyPr rtlCol="0" anchor="ctr"/>
          <a:lstStyle/>
          <a:p>
            <a:pPr algn="ctr"/>
          </a:p>
        </p:txBody>
      </p:sp>
      <p:sp>
        <p:nvSpPr>
          <p:cNvPr id="26" name="TextBox 25"/>
          <p:cNvSpPr txBox="1"/>
          <p:nvPr/>
        </p:nvSpPr>
        <p:spPr>
          <a:xfrm>
            <a:off x="7123723" y="2413000"/>
            <a:ext cx="2243015" cy="571500"/>
          </a:xfrm>
          <a:prstGeom prst="rect">
            <a:avLst/>
          </a:prstGeom>
          <a:noFill/>
        </p:spPr>
        <p:txBody>
          <a:bodyPr wrap="square" lIns="0" rIns="0" tIns="0" bIns="0" anchor="ctr">
            <a:spAutoFit/>
          </a:bodyPr>
          <a:lstStyle/>
          <a:p>
            <a:pPr algn="ctr">
              <a:lnSpc>
                <a:spcPct val="115000"/>
              </a:lnSpc>
            </a:pPr>
            <a:r>
              <a:rPr sz="1200" b="1" i="0">
                <a:solidFill>
                  <a:srgbClr val="1C1C1C"/>
                </a:solidFill>
                <a:latin typeface="Inter"/>
              </a:rPr>
              <a:t>Corniche</a:t>
            </a:r>
          </a:p>
        </p:txBody>
      </p:sp>
      <p:sp>
        <p:nvSpPr>
          <p:cNvPr id="27" name="TextBox 26"/>
          <p:cNvSpPr txBox="1"/>
          <p:nvPr/>
        </p:nvSpPr>
        <p:spPr>
          <a:xfrm>
            <a:off x="7123723" y="3086100"/>
            <a:ext cx="2243015" cy="444500"/>
          </a:xfrm>
          <a:prstGeom prst="rect">
            <a:avLst/>
          </a:prstGeom>
          <a:noFill/>
        </p:spPr>
        <p:txBody>
          <a:bodyPr wrap="square" lIns="0" rIns="0" tIns="0" bIns="0" anchor="t">
            <a:spAutoFit/>
          </a:bodyPr>
          <a:lstStyle/>
          <a:p>
            <a:pPr algn="ctr">
              <a:lnSpc>
                <a:spcPct val="115000"/>
              </a:lnSpc>
            </a:pPr>
            <a:r>
              <a:rPr sz="1050" b="0" i="0">
                <a:solidFill>
                  <a:srgbClr val="1C1C1C"/>
                </a:solidFill>
                <a:latin typeface="Inter"/>
              </a:rPr>
              <a:t>promenade publique,</a:t>
            </a:r>
          </a:p>
          <a:p>
            <a:pPr algn="ctr">
              <a:lnSpc>
                <a:spcPct val="115000"/>
              </a:lnSpc>
            </a:pPr>
            <a:r>
              <a:rPr sz="1050" b="0" i="0">
                <a:solidFill>
                  <a:srgbClr val="1C1C1C"/>
                </a:solidFill>
                <a:latin typeface="Inter"/>
              </a:rPr>
              <a:t>bordée de cafés</a:t>
            </a:r>
          </a:p>
        </p:txBody>
      </p:sp>
      <p:sp>
        <p:nvSpPr>
          <p:cNvPr id="28" name="Rectangle 27"/>
          <p:cNvSpPr/>
          <p:nvPr/>
        </p:nvSpPr>
        <p:spPr>
          <a:xfrm>
            <a:off x="9417538" y="2413000"/>
            <a:ext cx="1758462" cy="571500"/>
          </a:xfrm>
          <a:prstGeom prst="rect">
            <a:avLst/>
          </a:prstGeom>
          <a:solidFill>
            <a:srgbClr val="1F3A5F"/>
          </a:solidFill>
          <a:ln w="19050">
            <a:solidFill>
              <a:srgbClr val="FFFFFF"/>
            </a:solidFill>
          </a:ln>
          <a:effectLst/>
        </p:spPr>
        <p:txBody>
          <a:bodyPr rtlCol="0" anchor="ctr"/>
          <a:lstStyle/>
          <a:p>
            <a:pPr algn="ctr"/>
          </a:p>
        </p:txBody>
      </p:sp>
      <p:sp>
        <p:nvSpPr>
          <p:cNvPr id="29" name="TextBox 28"/>
          <p:cNvSpPr txBox="1"/>
          <p:nvPr/>
        </p:nvSpPr>
        <p:spPr>
          <a:xfrm>
            <a:off x="9468338" y="2413000"/>
            <a:ext cx="1656862" cy="571500"/>
          </a:xfrm>
          <a:prstGeom prst="rect">
            <a:avLst/>
          </a:prstGeom>
          <a:noFill/>
        </p:spPr>
        <p:txBody>
          <a:bodyPr wrap="square" lIns="0" rIns="0" tIns="0" bIns="0" anchor="ctr">
            <a:spAutoFit/>
          </a:bodyPr>
          <a:lstStyle/>
          <a:p>
            <a:pPr algn="ctr">
              <a:lnSpc>
                <a:spcPct val="115000"/>
              </a:lnSpc>
            </a:pPr>
            <a:r>
              <a:rPr sz="1200" b="1" i="0">
                <a:solidFill>
                  <a:srgbClr val="FFFFFF"/>
                </a:solidFill>
                <a:latin typeface="Inter"/>
              </a:rPr>
              <a:t>Malabata</a:t>
            </a:r>
          </a:p>
        </p:txBody>
      </p:sp>
      <p:sp>
        <p:nvSpPr>
          <p:cNvPr id="30" name="TextBox 29"/>
          <p:cNvSpPr txBox="1"/>
          <p:nvPr/>
        </p:nvSpPr>
        <p:spPr>
          <a:xfrm>
            <a:off x="9468338" y="3086100"/>
            <a:ext cx="1656862" cy="444500"/>
          </a:xfrm>
          <a:prstGeom prst="rect">
            <a:avLst/>
          </a:prstGeom>
          <a:noFill/>
        </p:spPr>
        <p:txBody>
          <a:bodyPr wrap="square" lIns="0" rIns="0" tIns="0" bIns="0" anchor="t">
            <a:spAutoFit/>
          </a:bodyPr>
          <a:lstStyle/>
          <a:p>
            <a:pPr algn="ctr">
              <a:lnSpc>
                <a:spcPct val="115000"/>
              </a:lnSpc>
            </a:pPr>
            <a:r>
              <a:rPr sz="1050" b="0" i="0">
                <a:solidFill>
                  <a:srgbClr val="1C1C1C"/>
                </a:solidFill>
                <a:latin typeface="Inter"/>
              </a:rPr>
              <a:t>hôtels, résidences fermées,</a:t>
            </a:r>
          </a:p>
          <a:p>
            <a:pPr algn="ctr">
              <a:lnSpc>
                <a:spcPct val="115000"/>
              </a:lnSpc>
            </a:pPr>
            <a:r>
              <a:rPr sz="1050" b="0" i="0">
                <a:solidFill>
                  <a:srgbClr val="1C1C1C"/>
                </a:solidFill>
                <a:latin typeface="Inter"/>
              </a:rPr>
              <a:t>vue privatisée</a:t>
            </a:r>
          </a:p>
        </p:txBody>
      </p:sp>
      <p:sp>
        <p:nvSpPr>
          <p:cNvPr id="31" name="TextBox 30"/>
          <p:cNvSpPr txBox="1"/>
          <p:nvPr/>
        </p:nvSpPr>
        <p:spPr>
          <a:xfrm>
            <a:off x="508000" y="2603500"/>
            <a:ext cx="444500" cy="190500"/>
          </a:xfrm>
          <a:prstGeom prst="rect">
            <a:avLst/>
          </a:prstGeom>
          <a:noFill/>
        </p:spPr>
        <p:txBody>
          <a:bodyPr wrap="square" lIns="0" rIns="0" tIns="0" bIns="0" anchor="t">
            <a:spAutoFit/>
          </a:bodyPr>
          <a:lstStyle/>
          <a:p>
            <a:pPr algn="l">
              <a:lnSpc>
                <a:spcPct val="115000"/>
              </a:lnSpc>
            </a:pPr>
            <a:r>
              <a:rPr sz="1000" b="1" i="0">
                <a:solidFill>
                  <a:srgbClr val="6E6A64"/>
                </a:solidFill>
                <a:latin typeface="Inter"/>
              </a:rPr>
              <a:t>OUEST</a:t>
            </a:r>
          </a:p>
        </p:txBody>
      </p:sp>
      <p:sp>
        <p:nvSpPr>
          <p:cNvPr id="32" name="TextBox 31"/>
          <p:cNvSpPr txBox="1"/>
          <p:nvPr/>
        </p:nvSpPr>
        <p:spPr>
          <a:xfrm>
            <a:off x="11271250" y="2603500"/>
            <a:ext cx="444500" cy="190500"/>
          </a:xfrm>
          <a:prstGeom prst="rect">
            <a:avLst/>
          </a:prstGeom>
          <a:noFill/>
        </p:spPr>
        <p:txBody>
          <a:bodyPr wrap="square" lIns="0" rIns="0" tIns="0" bIns="0" anchor="t">
            <a:spAutoFit/>
          </a:bodyPr>
          <a:lstStyle/>
          <a:p>
            <a:pPr algn="l">
              <a:lnSpc>
                <a:spcPct val="115000"/>
              </a:lnSpc>
            </a:pPr>
            <a:r>
              <a:rPr sz="1000" b="1" i="0">
                <a:solidFill>
                  <a:srgbClr val="6E6A64"/>
                </a:solidFill>
                <a:latin typeface="Inter"/>
              </a:rPr>
              <a:t>EST</a:t>
            </a:r>
          </a:p>
        </p:txBody>
      </p:sp>
      <p:sp>
        <p:nvSpPr>
          <p:cNvPr id="33" name="TextBox 32"/>
          <p:cNvSpPr txBox="1"/>
          <p:nvPr/>
        </p:nvSpPr>
        <p:spPr>
          <a:xfrm>
            <a:off x="1016000" y="3886200"/>
            <a:ext cx="10160000" cy="1651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DEGRÉ D'ACCÈS LIBRE AU RIVAGE (LECTURE DE L'AUTEUR)</a:t>
            </a:r>
          </a:p>
        </p:txBody>
      </p:sp>
      <p:sp>
        <p:nvSpPr>
          <p:cNvPr id="34" name="Rectangle 33"/>
          <p:cNvSpPr/>
          <p:nvPr/>
        </p:nvSpPr>
        <p:spPr>
          <a:xfrm>
            <a:off x="1079500" y="4508500"/>
            <a:ext cx="1370949" cy="139700"/>
          </a:xfrm>
          <a:prstGeom prst="rect">
            <a:avLst/>
          </a:prstGeom>
          <a:solidFill>
            <a:srgbClr val="1C1C1C"/>
          </a:solidFill>
          <a:ln>
            <a:noFill/>
          </a:ln>
          <a:effectLst/>
        </p:spPr>
        <p:txBody>
          <a:bodyPr rtlCol="0" anchor="ctr"/>
          <a:lstStyle/>
          <a:p>
            <a:pPr algn="ctr"/>
          </a:p>
        </p:txBody>
      </p:sp>
      <p:sp>
        <p:nvSpPr>
          <p:cNvPr id="35" name="Rectangle 34"/>
          <p:cNvSpPr/>
          <p:nvPr/>
        </p:nvSpPr>
        <p:spPr>
          <a:xfrm>
            <a:off x="1079500" y="4318000"/>
            <a:ext cx="1370949" cy="139700"/>
          </a:xfrm>
          <a:prstGeom prst="rect">
            <a:avLst/>
          </a:prstGeom>
          <a:solidFill>
            <a:srgbClr val="1C1C1C"/>
          </a:solidFill>
          <a:ln>
            <a:noFill/>
          </a:ln>
          <a:effectLst/>
        </p:spPr>
        <p:txBody>
          <a:bodyPr rtlCol="0" anchor="ctr"/>
          <a:lstStyle/>
          <a:p>
            <a:pPr algn="ctr"/>
          </a:p>
        </p:txBody>
      </p:sp>
      <p:sp>
        <p:nvSpPr>
          <p:cNvPr id="36" name="Rectangle 35"/>
          <p:cNvSpPr/>
          <p:nvPr/>
        </p:nvSpPr>
        <p:spPr>
          <a:xfrm>
            <a:off x="1079500" y="4127500"/>
            <a:ext cx="1370949" cy="139700"/>
          </a:xfrm>
          <a:prstGeom prst="rect">
            <a:avLst/>
          </a:prstGeom>
          <a:solidFill>
            <a:srgbClr val="E3DED4"/>
          </a:solidFill>
          <a:ln>
            <a:noFill/>
          </a:ln>
          <a:effectLst/>
        </p:spPr>
        <p:txBody>
          <a:bodyPr rtlCol="0" anchor="ctr"/>
          <a:lstStyle/>
          <a:p>
            <a:pPr algn="ctr"/>
          </a:p>
        </p:txBody>
      </p:sp>
      <p:sp>
        <p:nvSpPr>
          <p:cNvPr id="37" name="Rectangle 36"/>
          <p:cNvSpPr/>
          <p:nvPr/>
        </p:nvSpPr>
        <p:spPr>
          <a:xfrm>
            <a:off x="2577449" y="4508500"/>
            <a:ext cx="1826846" cy="139700"/>
          </a:xfrm>
          <a:prstGeom prst="rect">
            <a:avLst/>
          </a:prstGeom>
          <a:solidFill>
            <a:srgbClr val="1C1C1C"/>
          </a:solidFill>
          <a:ln>
            <a:noFill/>
          </a:ln>
          <a:effectLst/>
        </p:spPr>
        <p:txBody>
          <a:bodyPr rtlCol="0" anchor="ctr"/>
          <a:lstStyle/>
          <a:p>
            <a:pPr algn="ctr"/>
          </a:p>
        </p:txBody>
      </p:sp>
      <p:sp>
        <p:nvSpPr>
          <p:cNvPr id="38" name="Rectangle 37"/>
          <p:cNvSpPr/>
          <p:nvPr/>
        </p:nvSpPr>
        <p:spPr>
          <a:xfrm>
            <a:off x="2577449" y="4318000"/>
            <a:ext cx="1826846" cy="139700"/>
          </a:xfrm>
          <a:prstGeom prst="rect">
            <a:avLst/>
          </a:prstGeom>
          <a:solidFill>
            <a:srgbClr val="E3DED4"/>
          </a:solidFill>
          <a:ln>
            <a:noFill/>
          </a:ln>
          <a:effectLst/>
        </p:spPr>
        <p:txBody>
          <a:bodyPr rtlCol="0" anchor="ctr"/>
          <a:lstStyle/>
          <a:p>
            <a:pPr algn="ctr"/>
          </a:p>
        </p:txBody>
      </p:sp>
      <p:sp>
        <p:nvSpPr>
          <p:cNvPr id="39" name="Rectangle 38"/>
          <p:cNvSpPr/>
          <p:nvPr/>
        </p:nvSpPr>
        <p:spPr>
          <a:xfrm>
            <a:off x="2577449" y="4127500"/>
            <a:ext cx="1826846" cy="139700"/>
          </a:xfrm>
          <a:prstGeom prst="rect">
            <a:avLst/>
          </a:prstGeom>
          <a:solidFill>
            <a:srgbClr val="E3DED4"/>
          </a:solidFill>
          <a:ln>
            <a:noFill/>
          </a:ln>
          <a:effectLst/>
        </p:spPr>
        <p:txBody>
          <a:bodyPr rtlCol="0" anchor="ctr"/>
          <a:lstStyle/>
          <a:p>
            <a:pPr algn="ctr"/>
          </a:p>
        </p:txBody>
      </p:sp>
      <p:sp>
        <p:nvSpPr>
          <p:cNvPr id="40" name="Rectangle 39"/>
          <p:cNvSpPr/>
          <p:nvPr/>
        </p:nvSpPr>
        <p:spPr>
          <a:xfrm>
            <a:off x="4531295" y="4508500"/>
            <a:ext cx="980179" cy="139700"/>
          </a:xfrm>
          <a:prstGeom prst="rect">
            <a:avLst/>
          </a:prstGeom>
          <a:solidFill>
            <a:srgbClr val="1C1C1C"/>
          </a:solidFill>
          <a:ln>
            <a:noFill/>
          </a:ln>
          <a:effectLst/>
        </p:spPr>
        <p:txBody>
          <a:bodyPr rtlCol="0" anchor="ctr"/>
          <a:lstStyle/>
          <a:p>
            <a:pPr algn="ctr"/>
          </a:p>
        </p:txBody>
      </p:sp>
      <p:sp>
        <p:nvSpPr>
          <p:cNvPr id="41" name="Rectangle 40"/>
          <p:cNvSpPr/>
          <p:nvPr/>
        </p:nvSpPr>
        <p:spPr>
          <a:xfrm>
            <a:off x="4531295" y="4318000"/>
            <a:ext cx="980179" cy="139700"/>
          </a:xfrm>
          <a:prstGeom prst="rect">
            <a:avLst/>
          </a:prstGeom>
          <a:solidFill>
            <a:srgbClr val="E3DED4"/>
          </a:solidFill>
          <a:ln>
            <a:noFill/>
          </a:ln>
          <a:effectLst/>
        </p:spPr>
        <p:txBody>
          <a:bodyPr rtlCol="0" anchor="ctr"/>
          <a:lstStyle/>
          <a:p>
            <a:pPr algn="ctr"/>
          </a:p>
        </p:txBody>
      </p:sp>
      <p:sp>
        <p:nvSpPr>
          <p:cNvPr id="42" name="Rectangle 41"/>
          <p:cNvSpPr/>
          <p:nvPr/>
        </p:nvSpPr>
        <p:spPr>
          <a:xfrm>
            <a:off x="4531295" y="4127500"/>
            <a:ext cx="980179" cy="139700"/>
          </a:xfrm>
          <a:prstGeom prst="rect">
            <a:avLst/>
          </a:prstGeom>
          <a:solidFill>
            <a:srgbClr val="E3DED4"/>
          </a:solidFill>
          <a:ln>
            <a:noFill/>
          </a:ln>
          <a:effectLst/>
        </p:spPr>
        <p:txBody>
          <a:bodyPr rtlCol="0" anchor="ctr"/>
          <a:lstStyle/>
          <a:p>
            <a:pPr algn="ctr"/>
          </a:p>
        </p:txBody>
      </p:sp>
      <p:sp>
        <p:nvSpPr>
          <p:cNvPr id="43" name="Rectangle 42"/>
          <p:cNvSpPr/>
          <p:nvPr/>
        </p:nvSpPr>
        <p:spPr>
          <a:xfrm>
            <a:off x="5638474" y="4508500"/>
            <a:ext cx="1370949" cy="139700"/>
          </a:xfrm>
          <a:prstGeom prst="rect">
            <a:avLst/>
          </a:prstGeom>
          <a:solidFill>
            <a:srgbClr val="1C1C1C"/>
          </a:solidFill>
          <a:ln>
            <a:noFill/>
          </a:ln>
          <a:effectLst/>
        </p:spPr>
        <p:txBody>
          <a:bodyPr rtlCol="0" anchor="ctr"/>
          <a:lstStyle/>
          <a:p>
            <a:pPr algn="ctr"/>
          </a:p>
        </p:txBody>
      </p:sp>
      <p:sp>
        <p:nvSpPr>
          <p:cNvPr id="44" name="Rectangle 43"/>
          <p:cNvSpPr/>
          <p:nvPr/>
        </p:nvSpPr>
        <p:spPr>
          <a:xfrm>
            <a:off x="5638474" y="4318000"/>
            <a:ext cx="1370949" cy="139700"/>
          </a:xfrm>
          <a:prstGeom prst="rect">
            <a:avLst/>
          </a:prstGeom>
          <a:solidFill>
            <a:srgbClr val="E3DED4"/>
          </a:solidFill>
          <a:ln>
            <a:noFill/>
          </a:ln>
          <a:effectLst/>
        </p:spPr>
        <p:txBody>
          <a:bodyPr rtlCol="0" anchor="ctr"/>
          <a:lstStyle/>
          <a:p>
            <a:pPr algn="ctr"/>
          </a:p>
        </p:txBody>
      </p:sp>
      <p:sp>
        <p:nvSpPr>
          <p:cNvPr id="45" name="Rectangle 44"/>
          <p:cNvSpPr/>
          <p:nvPr/>
        </p:nvSpPr>
        <p:spPr>
          <a:xfrm>
            <a:off x="5638474" y="4127500"/>
            <a:ext cx="1370949" cy="139700"/>
          </a:xfrm>
          <a:prstGeom prst="rect">
            <a:avLst/>
          </a:prstGeom>
          <a:solidFill>
            <a:srgbClr val="E3DED4"/>
          </a:solidFill>
          <a:ln>
            <a:noFill/>
          </a:ln>
          <a:effectLst/>
        </p:spPr>
        <p:txBody>
          <a:bodyPr rtlCol="0" anchor="ctr"/>
          <a:lstStyle/>
          <a:p>
            <a:pPr algn="ctr"/>
          </a:p>
        </p:txBody>
      </p:sp>
      <p:sp>
        <p:nvSpPr>
          <p:cNvPr id="46" name="Rectangle 45"/>
          <p:cNvSpPr/>
          <p:nvPr/>
        </p:nvSpPr>
        <p:spPr>
          <a:xfrm>
            <a:off x="7136423" y="4508500"/>
            <a:ext cx="2217615" cy="139700"/>
          </a:xfrm>
          <a:prstGeom prst="rect">
            <a:avLst/>
          </a:prstGeom>
          <a:solidFill>
            <a:srgbClr val="1C1C1C"/>
          </a:solidFill>
          <a:ln>
            <a:noFill/>
          </a:ln>
          <a:effectLst/>
        </p:spPr>
        <p:txBody>
          <a:bodyPr rtlCol="0" anchor="ctr"/>
          <a:lstStyle/>
          <a:p>
            <a:pPr algn="ctr"/>
          </a:p>
        </p:txBody>
      </p:sp>
      <p:sp>
        <p:nvSpPr>
          <p:cNvPr id="47" name="Rectangle 46"/>
          <p:cNvSpPr/>
          <p:nvPr/>
        </p:nvSpPr>
        <p:spPr>
          <a:xfrm>
            <a:off x="7136423" y="4318000"/>
            <a:ext cx="2217615" cy="139700"/>
          </a:xfrm>
          <a:prstGeom prst="rect">
            <a:avLst/>
          </a:prstGeom>
          <a:solidFill>
            <a:srgbClr val="1C1C1C"/>
          </a:solidFill>
          <a:ln>
            <a:noFill/>
          </a:ln>
          <a:effectLst/>
        </p:spPr>
        <p:txBody>
          <a:bodyPr rtlCol="0" anchor="ctr"/>
          <a:lstStyle/>
          <a:p>
            <a:pPr algn="ctr"/>
          </a:p>
        </p:txBody>
      </p:sp>
      <p:sp>
        <p:nvSpPr>
          <p:cNvPr id="48" name="Rectangle 47"/>
          <p:cNvSpPr/>
          <p:nvPr/>
        </p:nvSpPr>
        <p:spPr>
          <a:xfrm>
            <a:off x="7136423" y="4127500"/>
            <a:ext cx="2217615" cy="139700"/>
          </a:xfrm>
          <a:prstGeom prst="rect">
            <a:avLst/>
          </a:prstGeom>
          <a:solidFill>
            <a:srgbClr val="1C1C1C"/>
          </a:solidFill>
          <a:ln>
            <a:noFill/>
          </a:ln>
          <a:effectLst/>
        </p:spPr>
        <p:txBody>
          <a:bodyPr rtlCol="0" anchor="ctr"/>
          <a:lstStyle/>
          <a:p>
            <a:pPr algn="ctr"/>
          </a:p>
        </p:txBody>
      </p:sp>
      <p:sp>
        <p:nvSpPr>
          <p:cNvPr id="49" name="Rectangle 48"/>
          <p:cNvSpPr/>
          <p:nvPr/>
        </p:nvSpPr>
        <p:spPr>
          <a:xfrm>
            <a:off x="9481038" y="4508500"/>
            <a:ext cx="1631462" cy="139700"/>
          </a:xfrm>
          <a:prstGeom prst="rect">
            <a:avLst/>
          </a:prstGeom>
          <a:solidFill>
            <a:srgbClr val="1C1C1C"/>
          </a:solidFill>
          <a:ln>
            <a:noFill/>
          </a:ln>
          <a:effectLst/>
        </p:spPr>
        <p:txBody>
          <a:bodyPr rtlCol="0" anchor="ctr"/>
          <a:lstStyle/>
          <a:p>
            <a:pPr algn="ctr"/>
          </a:p>
        </p:txBody>
      </p:sp>
      <p:sp>
        <p:nvSpPr>
          <p:cNvPr id="50" name="Rectangle 49"/>
          <p:cNvSpPr/>
          <p:nvPr/>
        </p:nvSpPr>
        <p:spPr>
          <a:xfrm>
            <a:off x="9481038" y="4318000"/>
            <a:ext cx="1631462" cy="139700"/>
          </a:xfrm>
          <a:prstGeom prst="rect">
            <a:avLst/>
          </a:prstGeom>
          <a:solidFill>
            <a:srgbClr val="E3DED4"/>
          </a:solidFill>
          <a:ln>
            <a:noFill/>
          </a:ln>
          <a:effectLst/>
        </p:spPr>
        <p:txBody>
          <a:bodyPr rtlCol="0" anchor="ctr"/>
          <a:lstStyle/>
          <a:p>
            <a:pPr algn="ctr"/>
          </a:p>
        </p:txBody>
      </p:sp>
      <p:sp>
        <p:nvSpPr>
          <p:cNvPr id="51" name="Rectangle 50"/>
          <p:cNvSpPr/>
          <p:nvPr/>
        </p:nvSpPr>
        <p:spPr>
          <a:xfrm>
            <a:off x="9481038" y="4127500"/>
            <a:ext cx="1631462" cy="139700"/>
          </a:xfrm>
          <a:prstGeom prst="rect">
            <a:avLst/>
          </a:prstGeom>
          <a:solidFill>
            <a:srgbClr val="E3DED4"/>
          </a:solidFill>
          <a:ln>
            <a:noFill/>
          </a:ln>
          <a:effectLst/>
        </p:spPr>
        <p:txBody>
          <a:bodyPr rtlCol="0" anchor="ctr"/>
          <a:lstStyle/>
          <a:p>
            <a:pPr algn="ctr"/>
          </a:p>
        </p:txBody>
      </p:sp>
      <p:sp>
        <p:nvSpPr>
          <p:cNvPr id="52" name="TextBox 51"/>
          <p:cNvSpPr txBox="1"/>
          <p:nvPr/>
        </p:nvSpPr>
        <p:spPr>
          <a:xfrm>
            <a:off x="1016000" y="4749800"/>
            <a:ext cx="10160000" cy="152400"/>
          </a:xfrm>
          <a:prstGeom prst="rect">
            <a:avLst/>
          </a:prstGeom>
          <a:noFill/>
        </p:spPr>
        <p:txBody>
          <a:bodyPr wrap="square" lIns="0" rIns="0" tIns="0" bIns="0" anchor="t">
            <a:spAutoFit/>
          </a:bodyPr>
          <a:lstStyle/>
          <a:p>
            <a:pPr algn="l">
              <a:lnSpc>
                <a:spcPct val="115000"/>
              </a:lnSpc>
            </a:pPr>
            <a:r>
              <a:rPr sz="1050" b="0" i="0">
                <a:solidFill>
                  <a:srgbClr val="6E6A64"/>
                </a:solidFill>
                <a:latin typeface="Inter"/>
              </a:rPr>
              <a:t>3 barres = accès libre et gratuit  ·  1 barre = accès limité, payant ou privatisé</a:t>
            </a:r>
          </a:p>
        </p:txBody>
      </p:sp>
      <p:sp>
        <p:nvSpPr>
          <p:cNvPr id="53" name="Rectangle 52"/>
          <p:cNvSpPr/>
          <p:nvPr/>
        </p:nvSpPr>
        <p:spPr>
          <a:xfrm>
            <a:off x="1016000" y="5048250"/>
            <a:ext cx="10160000" cy="952500"/>
          </a:xfrm>
          <a:prstGeom prst="rect">
            <a:avLst/>
          </a:prstGeom>
          <a:solidFill>
            <a:srgbClr val="FFFFFF"/>
          </a:solidFill>
          <a:ln w="9525">
            <a:solidFill>
              <a:srgbClr val="CFC8BC"/>
            </a:solidFill>
          </a:ln>
          <a:effectLst/>
        </p:spPr>
        <p:txBody>
          <a:bodyPr rtlCol="0" anchor="ctr"/>
          <a:lstStyle/>
          <a:p>
            <a:pPr algn="ctr"/>
          </a:p>
        </p:txBody>
      </p:sp>
      <p:sp>
        <p:nvSpPr>
          <p:cNvPr id="54" name="Rectangle 53"/>
          <p:cNvSpPr/>
          <p:nvPr/>
        </p:nvSpPr>
        <p:spPr>
          <a:xfrm>
            <a:off x="1016000" y="5048250"/>
            <a:ext cx="63500" cy="952500"/>
          </a:xfrm>
          <a:prstGeom prst="rect">
            <a:avLst/>
          </a:prstGeom>
          <a:solidFill>
            <a:srgbClr val="C8462B"/>
          </a:solidFill>
          <a:ln>
            <a:noFill/>
          </a:ln>
          <a:effectLst/>
        </p:spPr>
        <p:txBody>
          <a:bodyPr rtlCol="0" anchor="ctr"/>
          <a:lstStyle/>
          <a:p>
            <a:pPr algn="ctr"/>
          </a:p>
        </p:txBody>
      </p:sp>
      <p:sp>
        <p:nvSpPr>
          <p:cNvPr id="55" name="TextBox 54"/>
          <p:cNvSpPr txBox="1"/>
          <p:nvPr/>
        </p:nvSpPr>
        <p:spPr>
          <a:xfrm>
            <a:off x="1244600" y="5156200"/>
            <a:ext cx="9779000" cy="825500"/>
          </a:xfrm>
          <a:prstGeom prst="rect">
            <a:avLst/>
          </a:prstGeom>
          <a:noFill/>
        </p:spPr>
        <p:txBody>
          <a:bodyPr wrap="square" lIns="0" rIns="0" tIns="0" bIns="0" anchor="t">
            <a:spAutoFit/>
          </a:bodyPr>
          <a:lstStyle/>
          <a:p>
            <a:pPr algn="l">
              <a:lnSpc>
                <a:spcPct val="130000"/>
              </a:lnSpc>
            </a:pPr>
            <a:r>
              <a:rPr sz="1250" b="1" i="0">
                <a:solidFill>
                  <a:srgbClr val="C8462B"/>
                </a:solidFill>
                <a:latin typeface="Inter"/>
              </a:rPr>
              <a:t>Lecture critique. </a:t>
            </a:r>
            <a:r>
              <a:rPr sz="1250" b="0" i="0">
                <a:solidFill>
                  <a:srgbClr val="1C1C1C"/>
                </a:solidFill>
                <a:latin typeface="Inter"/>
              </a:rPr>
              <a:t>Du cap Spartel à Malabata, seule la corniche reste un espace pleinement public. Partout ailleurs, la mer est transformée en vue que l'on vend (hôtel, résidence, marina) ou en paysage que l'on visite. La pression avance vers la forêt de Rmilat et le cap Spartel : sans limite ferme, ce sera le prochain front bâti.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MATRICE D'ÉVALUATION</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Qui gagne ? Six projets, quatre groupes</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Pour chaque projet : à qui profite-t-il réellement ?</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15 / 17</a:t>
            </a:r>
          </a:p>
        </p:txBody>
      </p:sp>
      <p:sp>
        <p:nvSpPr>
          <p:cNvPr id="11" name="Rounded Rectangle 10"/>
          <p:cNvSpPr/>
          <p:nvPr/>
        </p:nvSpPr>
        <p:spPr>
          <a:xfrm>
            <a:off x="2921000" y="1555750"/>
            <a:ext cx="1714500" cy="508000"/>
          </a:xfrm>
          <a:prstGeom prst="roundRect">
            <a:avLst>
              <a:gd name="adj" fmla="val 10000"/>
            </a:avLst>
          </a:prstGeom>
          <a:solidFill>
            <a:srgbClr val="C8462B"/>
          </a:solidFill>
          <a:ln>
            <a:noFill/>
          </a:ln>
          <a:effectLst/>
        </p:spPr>
        <p:txBody>
          <a:bodyPr rtlCol="0" anchor="ctr"/>
          <a:lstStyle/>
          <a:p>
            <a:pPr algn="ctr"/>
          </a:p>
        </p:txBody>
      </p:sp>
      <p:sp>
        <p:nvSpPr>
          <p:cNvPr id="12" name="TextBox 11"/>
          <p:cNvSpPr txBox="1"/>
          <p:nvPr/>
        </p:nvSpPr>
        <p:spPr>
          <a:xfrm>
            <a:off x="2921000" y="1555750"/>
            <a:ext cx="1714500" cy="508000"/>
          </a:xfrm>
          <a:prstGeom prst="rect">
            <a:avLst/>
          </a:prstGeom>
          <a:noFill/>
        </p:spPr>
        <p:txBody>
          <a:bodyPr wrap="square" lIns="0" rIns="0" tIns="0" bIns="0" anchor="ctr">
            <a:spAutoFit/>
          </a:bodyPr>
          <a:lstStyle/>
          <a:p>
            <a:pPr algn="ctr">
              <a:lnSpc>
                <a:spcPct val="115000"/>
              </a:lnSpc>
            </a:pPr>
            <a:r>
              <a:rPr sz="1150" b="1" i="0">
                <a:solidFill>
                  <a:srgbClr val="FFFFFF"/>
                </a:solidFill>
                <a:latin typeface="Inter"/>
              </a:rPr>
              <a:t>Visiteurs et</a:t>
            </a:r>
          </a:p>
          <a:p>
            <a:pPr algn="ctr">
              <a:lnSpc>
                <a:spcPct val="115000"/>
              </a:lnSpc>
            </a:pPr>
            <a:r>
              <a:rPr sz="1150" b="1" i="0">
                <a:solidFill>
                  <a:srgbClr val="FFFFFF"/>
                </a:solidFill>
                <a:latin typeface="Inter"/>
              </a:rPr>
              <a:t>croisiéristes</a:t>
            </a:r>
          </a:p>
        </p:txBody>
      </p:sp>
      <p:sp>
        <p:nvSpPr>
          <p:cNvPr id="13" name="Rounded Rectangle 12"/>
          <p:cNvSpPr/>
          <p:nvPr/>
        </p:nvSpPr>
        <p:spPr>
          <a:xfrm>
            <a:off x="4699000" y="1555750"/>
            <a:ext cx="1714500" cy="508000"/>
          </a:xfrm>
          <a:prstGeom prst="roundRect">
            <a:avLst>
              <a:gd name="adj" fmla="val 10000"/>
            </a:avLst>
          </a:prstGeom>
          <a:solidFill>
            <a:srgbClr val="C8462B"/>
          </a:solidFill>
          <a:ln>
            <a:noFill/>
          </a:ln>
          <a:effectLst/>
        </p:spPr>
        <p:txBody>
          <a:bodyPr rtlCol="0" anchor="ctr"/>
          <a:lstStyle/>
          <a:p>
            <a:pPr algn="ctr"/>
          </a:p>
        </p:txBody>
      </p:sp>
      <p:sp>
        <p:nvSpPr>
          <p:cNvPr id="14" name="TextBox 13"/>
          <p:cNvSpPr txBox="1"/>
          <p:nvPr/>
        </p:nvSpPr>
        <p:spPr>
          <a:xfrm>
            <a:off x="4699000" y="1555750"/>
            <a:ext cx="1714500" cy="508000"/>
          </a:xfrm>
          <a:prstGeom prst="rect">
            <a:avLst/>
          </a:prstGeom>
          <a:noFill/>
        </p:spPr>
        <p:txBody>
          <a:bodyPr wrap="square" lIns="0" rIns="0" tIns="0" bIns="0" anchor="ctr">
            <a:spAutoFit/>
          </a:bodyPr>
          <a:lstStyle/>
          <a:p>
            <a:pPr algn="ctr">
              <a:lnSpc>
                <a:spcPct val="115000"/>
              </a:lnSpc>
            </a:pPr>
            <a:r>
              <a:rPr sz="1150" b="1" i="0">
                <a:solidFill>
                  <a:srgbClr val="FFFFFF"/>
                </a:solidFill>
                <a:latin typeface="Inter"/>
              </a:rPr>
              <a:t>Investisseurs et</a:t>
            </a:r>
          </a:p>
          <a:p>
            <a:pPr algn="ctr">
              <a:lnSpc>
                <a:spcPct val="115000"/>
              </a:lnSpc>
            </a:pPr>
            <a:r>
              <a:rPr sz="1150" b="1" i="0">
                <a:solidFill>
                  <a:srgbClr val="FFFFFF"/>
                </a:solidFill>
                <a:latin typeface="Inter"/>
              </a:rPr>
              <a:t>promoteurs</a:t>
            </a:r>
          </a:p>
        </p:txBody>
      </p:sp>
      <p:sp>
        <p:nvSpPr>
          <p:cNvPr id="15" name="Rounded Rectangle 14"/>
          <p:cNvSpPr/>
          <p:nvPr/>
        </p:nvSpPr>
        <p:spPr>
          <a:xfrm>
            <a:off x="6477000" y="1555750"/>
            <a:ext cx="1714500" cy="508000"/>
          </a:xfrm>
          <a:prstGeom prst="roundRect">
            <a:avLst>
              <a:gd name="adj" fmla="val 10000"/>
            </a:avLst>
          </a:prstGeom>
          <a:solidFill>
            <a:srgbClr val="1F3A5F"/>
          </a:solidFill>
          <a:ln>
            <a:noFill/>
          </a:ln>
          <a:effectLst/>
        </p:spPr>
        <p:txBody>
          <a:bodyPr rtlCol="0" anchor="ctr"/>
          <a:lstStyle/>
          <a:p>
            <a:pPr algn="ctr"/>
          </a:p>
        </p:txBody>
      </p:sp>
      <p:sp>
        <p:nvSpPr>
          <p:cNvPr id="16" name="TextBox 15"/>
          <p:cNvSpPr txBox="1"/>
          <p:nvPr/>
        </p:nvSpPr>
        <p:spPr>
          <a:xfrm>
            <a:off x="6477000" y="1555750"/>
            <a:ext cx="1714500" cy="508000"/>
          </a:xfrm>
          <a:prstGeom prst="rect">
            <a:avLst/>
          </a:prstGeom>
          <a:noFill/>
        </p:spPr>
        <p:txBody>
          <a:bodyPr wrap="square" lIns="0" rIns="0" tIns="0" bIns="0" anchor="ctr">
            <a:spAutoFit/>
          </a:bodyPr>
          <a:lstStyle/>
          <a:p>
            <a:pPr algn="ctr">
              <a:lnSpc>
                <a:spcPct val="115000"/>
              </a:lnSpc>
            </a:pPr>
            <a:r>
              <a:rPr sz="1150" b="1" i="0">
                <a:solidFill>
                  <a:srgbClr val="FFFFFF"/>
                </a:solidFill>
                <a:latin typeface="Inter"/>
              </a:rPr>
              <a:t>Habitants du</a:t>
            </a:r>
          </a:p>
          <a:p>
            <a:pPr algn="ctr">
              <a:lnSpc>
                <a:spcPct val="115000"/>
              </a:lnSpc>
            </a:pPr>
            <a:r>
              <a:rPr sz="1150" b="1" i="0">
                <a:solidFill>
                  <a:srgbClr val="FFFFFF"/>
                </a:solidFill>
                <a:latin typeface="Inter"/>
              </a:rPr>
              <a:t>centre et de la médina</a:t>
            </a:r>
          </a:p>
        </p:txBody>
      </p:sp>
      <p:sp>
        <p:nvSpPr>
          <p:cNvPr id="17" name="Rounded Rectangle 16"/>
          <p:cNvSpPr/>
          <p:nvPr/>
        </p:nvSpPr>
        <p:spPr>
          <a:xfrm>
            <a:off x="8255000" y="1555750"/>
            <a:ext cx="1714500" cy="508000"/>
          </a:xfrm>
          <a:prstGeom prst="roundRect">
            <a:avLst>
              <a:gd name="adj" fmla="val 10000"/>
            </a:avLst>
          </a:prstGeom>
          <a:solidFill>
            <a:srgbClr val="1F3A5F"/>
          </a:solidFill>
          <a:ln>
            <a:noFill/>
          </a:ln>
          <a:effectLst/>
        </p:spPr>
        <p:txBody>
          <a:bodyPr rtlCol="0" anchor="ctr"/>
          <a:lstStyle/>
          <a:p>
            <a:pPr algn="ctr"/>
          </a:p>
        </p:txBody>
      </p:sp>
      <p:sp>
        <p:nvSpPr>
          <p:cNvPr id="18" name="TextBox 17"/>
          <p:cNvSpPr txBox="1"/>
          <p:nvPr/>
        </p:nvSpPr>
        <p:spPr>
          <a:xfrm>
            <a:off x="8255000" y="1555750"/>
            <a:ext cx="1714500" cy="508000"/>
          </a:xfrm>
          <a:prstGeom prst="rect">
            <a:avLst/>
          </a:prstGeom>
          <a:noFill/>
        </p:spPr>
        <p:txBody>
          <a:bodyPr wrap="square" lIns="0" rIns="0" tIns="0" bIns="0" anchor="ctr">
            <a:spAutoFit/>
          </a:bodyPr>
          <a:lstStyle/>
          <a:p>
            <a:pPr algn="ctr">
              <a:lnSpc>
                <a:spcPct val="115000"/>
              </a:lnSpc>
            </a:pPr>
            <a:r>
              <a:rPr sz="1150" b="1" i="0">
                <a:solidFill>
                  <a:srgbClr val="FFFFFF"/>
                </a:solidFill>
                <a:latin typeface="Inter"/>
              </a:rPr>
              <a:t>Habitants des</a:t>
            </a:r>
          </a:p>
          <a:p>
            <a:pPr algn="ctr">
              <a:lnSpc>
                <a:spcPct val="115000"/>
              </a:lnSpc>
            </a:pPr>
            <a:r>
              <a:rPr sz="1150" b="1" i="0">
                <a:solidFill>
                  <a:srgbClr val="FFFFFF"/>
                </a:solidFill>
                <a:latin typeface="Inter"/>
              </a:rPr>
              <a:t>périphéries</a:t>
            </a:r>
          </a:p>
        </p:txBody>
      </p:sp>
      <p:sp>
        <p:nvSpPr>
          <p:cNvPr id="19" name="Rectangle 18"/>
          <p:cNvSpPr/>
          <p:nvPr/>
        </p:nvSpPr>
        <p:spPr>
          <a:xfrm>
            <a:off x="508000" y="2190750"/>
            <a:ext cx="9461500" cy="469900"/>
          </a:xfrm>
          <a:prstGeom prst="rect">
            <a:avLst/>
          </a:prstGeom>
          <a:solidFill>
            <a:srgbClr val="FFFFFF"/>
          </a:solidFill>
          <a:ln>
            <a:noFill/>
          </a:ln>
          <a:effectLst/>
        </p:spPr>
        <p:txBody>
          <a:bodyPr rtlCol="0" anchor="ctr"/>
          <a:lstStyle/>
          <a:p>
            <a:pPr algn="ctr"/>
          </a:p>
        </p:txBody>
      </p:sp>
      <p:sp>
        <p:nvSpPr>
          <p:cNvPr id="20" name="TextBox 19"/>
          <p:cNvSpPr txBox="1"/>
          <p:nvPr/>
        </p:nvSpPr>
        <p:spPr>
          <a:xfrm>
            <a:off x="635000" y="2190750"/>
            <a:ext cx="2286000" cy="469900"/>
          </a:xfrm>
          <a:prstGeom prst="rect">
            <a:avLst/>
          </a:prstGeom>
          <a:noFill/>
        </p:spPr>
        <p:txBody>
          <a:bodyPr wrap="square" lIns="0" rIns="0" tIns="0" bIns="0" anchor="ctr">
            <a:spAutoFit/>
          </a:bodyPr>
          <a:lstStyle/>
          <a:p>
            <a:pPr algn="l">
              <a:lnSpc>
                <a:spcPct val="115000"/>
              </a:lnSpc>
            </a:pPr>
            <a:r>
              <a:rPr sz="1400" b="1" i="0">
                <a:solidFill>
                  <a:srgbClr val="1C1C1C"/>
                </a:solidFill>
                <a:latin typeface="Inter"/>
              </a:rPr>
              <a:t>Port et marina</a:t>
            </a:r>
          </a:p>
        </p:txBody>
      </p:sp>
      <p:sp>
        <p:nvSpPr>
          <p:cNvPr id="21" name="Oval 20"/>
          <p:cNvSpPr/>
          <p:nvPr/>
        </p:nvSpPr>
        <p:spPr>
          <a:xfrm>
            <a:off x="3651250" y="22987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22" name="Oval 21"/>
          <p:cNvSpPr/>
          <p:nvPr/>
        </p:nvSpPr>
        <p:spPr>
          <a:xfrm>
            <a:off x="3651250" y="2298700"/>
            <a:ext cx="254000" cy="254000"/>
          </a:xfrm>
          <a:prstGeom prst="ellipse">
            <a:avLst/>
          </a:prstGeom>
          <a:solidFill>
            <a:srgbClr val="1C1C1C"/>
          </a:solidFill>
          <a:ln w="19050">
            <a:solidFill>
              <a:srgbClr val="1C1C1C"/>
            </a:solidFill>
          </a:ln>
          <a:effectLst/>
        </p:spPr>
        <p:txBody>
          <a:bodyPr rtlCol="0" anchor="ctr"/>
          <a:lstStyle/>
          <a:p>
            <a:pPr algn="ctr"/>
          </a:p>
        </p:txBody>
      </p:sp>
      <p:sp>
        <p:nvSpPr>
          <p:cNvPr id="23" name="Oval 22"/>
          <p:cNvSpPr/>
          <p:nvPr/>
        </p:nvSpPr>
        <p:spPr>
          <a:xfrm>
            <a:off x="5429250" y="22987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24" name="Oval 23"/>
          <p:cNvSpPr/>
          <p:nvPr/>
        </p:nvSpPr>
        <p:spPr>
          <a:xfrm>
            <a:off x="5429250" y="2298700"/>
            <a:ext cx="254000" cy="254000"/>
          </a:xfrm>
          <a:prstGeom prst="ellipse">
            <a:avLst/>
          </a:prstGeom>
          <a:solidFill>
            <a:srgbClr val="1C1C1C"/>
          </a:solidFill>
          <a:ln w="19050">
            <a:solidFill>
              <a:srgbClr val="1C1C1C"/>
            </a:solidFill>
          </a:ln>
          <a:effectLst/>
        </p:spPr>
        <p:txBody>
          <a:bodyPr rtlCol="0" anchor="ctr"/>
          <a:lstStyle/>
          <a:p>
            <a:pPr algn="ctr"/>
          </a:p>
        </p:txBody>
      </p:sp>
      <p:sp>
        <p:nvSpPr>
          <p:cNvPr id="25" name="Oval 24"/>
          <p:cNvSpPr/>
          <p:nvPr/>
        </p:nvSpPr>
        <p:spPr>
          <a:xfrm>
            <a:off x="7207250" y="22987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26" name="Freeform 25"/>
          <p:cNvSpPr/>
          <p:nvPr/>
        </p:nvSpPr>
        <p:spPr>
          <a:xfrm>
            <a:off x="7334250" y="2298700"/>
            <a:ext cx="127000" cy="254000"/>
          </a:xfrm>
          <a:custGeom>
            <a:avLst/>
            <a:gdLst/>
            <a:ahLst/>
            <a:cxnLst/>
            <a:rect l="l" t="t" r="r" b="b"/>
            <a:pathLst>
              <a:path w="127000" h="254000">
                <a:moveTo>
                  <a:pt x="0" y="0"/>
                </a:moveTo>
                <a:lnTo>
                  <a:pt x="0" y="0"/>
                </a:lnTo>
                <a:lnTo>
                  <a:pt x="32870" y="4327"/>
                </a:lnTo>
                <a:lnTo>
                  <a:pt x="63500" y="17015"/>
                </a:lnTo>
                <a:lnTo>
                  <a:pt x="89803" y="37197"/>
                </a:lnTo>
                <a:lnTo>
                  <a:pt x="109985" y="63500"/>
                </a:lnTo>
                <a:lnTo>
                  <a:pt x="122673" y="94130"/>
                </a:lnTo>
                <a:lnTo>
                  <a:pt x="127000" y="127000"/>
                </a:lnTo>
                <a:lnTo>
                  <a:pt x="122673" y="159870"/>
                </a:lnTo>
                <a:lnTo>
                  <a:pt x="109985" y="190500"/>
                </a:lnTo>
                <a:lnTo>
                  <a:pt x="89803" y="216803"/>
                </a:lnTo>
                <a:lnTo>
                  <a:pt x="63500" y="236985"/>
                </a:lnTo>
                <a:lnTo>
                  <a:pt x="32870" y="249673"/>
                </a:lnTo>
                <a:lnTo>
                  <a:pt x="0" y="254000"/>
                </a:lnTo>
                <a:close/>
              </a:path>
            </a:pathLst>
          </a:custGeom>
          <a:solidFill>
            <a:srgbClr val="1C1C1C"/>
          </a:solidFill>
          <a:ln>
            <a:noFill/>
          </a:ln>
          <a:effectLst/>
        </p:spPr>
        <p:txBody>
          <a:bodyPr rtlCol="0" anchor="ctr"/>
          <a:lstStyle/>
          <a:p>
            <a:pPr algn="ctr"/>
          </a:p>
        </p:txBody>
      </p:sp>
      <p:sp>
        <p:nvSpPr>
          <p:cNvPr id="27" name="Oval 26"/>
          <p:cNvSpPr/>
          <p:nvPr/>
        </p:nvSpPr>
        <p:spPr>
          <a:xfrm>
            <a:off x="8985250" y="22987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28" name="Rectangle 27"/>
          <p:cNvSpPr/>
          <p:nvPr/>
        </p:nvSpPr>
        <p:spPr>
          <a:xfrm>
            <a:off x="508000" y="2724150"/>
            <a:ext cx="9461500" cy="469900"/>
          </a:xfrm>
          <a:prstGeom prst="rect">
            <a:avLst/>
          </a:prstGeom>
          <a:solidFill>
            <a:srgbClr val="EFEAE1"/>
          </a:solidFill>
          <a:ln>
            <a:noFill/>
          </a:ln>
          <a:effectLst/>
        </p:spPr>
        <p:txBody>
          <a:bodyPr rtlCol="0" anchor="ctr"/>
          <a:lstStyle/>
          <a:p>
            <a:pPr algn="ctr"/>
          </a:p>
        </p:txBody>
      </p:sp>
      <p:sp>
        <p:nvSpPr>
          <p:cNvPr id="29" name="TextBox 28"/>
          <p:cNvSpPr txBox="1"/>
          <p:nvPr/>
        </p:nvSpPr>
        <p:spPr>
          <a:xfrm>
            <a:off x="635000" y="2724150"/>
            <a:ext cx="2286000" cy="469900"/>
          </a:xfrm>
          <a:prstGeom prst="rect">
            <a:avLst/>
          </a:prstGeom>
          <a:noFill/>
        </p:spPr>
        <p:txBody>
          <a:bodyPr wrap="square" lIns="0" rIns="0" tIns="0" bIns="0" anchor="ctr">
            <a:spAutoFit/>
          </a:bodyPr>
          <a:lstStyle/>
          <a:p>
            <a:pPr algn="l">
              <a:lnSpc>
                <a:spcPct val="115000"/>
              </a:lnSpc>
            </a:pPr>
            <a:r>
              <a:rPr sz="1400" b="1" i="0">
                <a:solidFill>
                  <a:srgbClr val="1C1C1C"/>
                </a:solidFill>
                <a:latin typeface="Inter"/>
              </a:rPr>
              <a:t>Programme médina</a:t>
            </a:r>
          </a:p>
        </p:txBody>
      </p:sp>
      <p:sp>
        <p:nvSpPr>
          <p:cNvPr id="30" name="Oval 29"/>
          <p:cNvSpPr/>
          <p:nvPr/>
        </p:nvSpPr>
        <p:spPr>
          <a:xfrm>
            <a:off x="3651250" y="28321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31" name="Oval 30"/>
          <p:cNvSpPr/>
          <p:nvPr/>
        </p:nvSpPr>
        <p:spPr>
          <a:xfrm>
            <a:off x="3651250" y="2832100"/>
            <a:ext cx="254000" cy="254000"/>
          </a:xfrm>
          <a:prstGeom prst="ellipse">
            <a:avLst/>
          </a:prstGeom>
          <a:solidFill>
            <a:srgbClr val="1C1C1C"/>
          </a:solidFill>
          <a:ln w="19050">
            <a:solidFill>
              <a:srgbClr val="1C1C1C"/>
            </a:solidFill>
          </a:ln>
          <a:effectLst/>
        </p:spPr>
        <p:txBody>
          <a:bodyPr rtlCol="0" anchor="ctr"/>
          <a:lstStyle/>
          <a:p>
            <a:pPr algn="ctr"/>
          </a:p>
        </p:txBody>
      </p:sp>
      <p:sp>
        <p:nvSpPr>
          <p:cNvPr id="32" name="Oval 31"/>
          <p:cNvSpPr/>
          <p:nvPr/>
        </p:nvSpPr>
        <p:spPr>
          <a:xfrm>
            <a:off x="5429250" y="28321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33" name="Oval 32"/>
          <p:cNvSpPr/>
          <p:nvPr/>
        </p:nvSpPr>
        <p:spPr>
          <a:xfrm>
            <a:off x="5429250" y="2832100"/>
            <a:ext cx="254000" cy="254000"/>
          </a:xfrm>
          <a:prstGeom prst="ellipse">
            <a:avLst/>
          </a:prstGeom>
          <a:solidFill>
            <a:srgbClr val="1C1C1C"/>
          </a:solidFill>
          <a:ln w="19050">
            <a:solidFill>
              <a:srgbClr val="1C1C1C"/>
            </a:solidFill>
          </a:ln>
          <a:effectLst/>
        </p:spPr>
        <p:txBody>
          <a:bodyPr rtlCol="0" anchor="ctr"/>
          <a:lstStyle/>
          <a:p>
            <a:pPr algn="ctr"/>
          </a:p>
        </p:txBody>
      </p:sp>
      <p:sp>
        <p:nvSpPr>
          <p:cNvPr id="34" name="Oval 33"/>
          <p:cNvSpPr/>
          <p:nvPr/>
        </p:nvSpPr>
        <p:spPr>
          <a:xfrm>
            <a:off x="7207250" y="28321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35" name="Freeform 34"/>
          <p:cNvSpPr/>
          <p:nvPr/>
        </p:nvSpPr>
        <p:spPr>
          <a:xfrm>
            <a:off x="7334250" y="2832100"/>
            <a:ext cx="127000" cy="254000"/>
          </a:xfrm>
          <a:custGeom>
            <a:avLst/>
            <a:gdLst/>
            <a:ahLst/>
            <a:cxnLst/>
            <a:rect l="l" t="t" r="r" b="b"/>
            <a:pathLst>
              <a:path w="127000" h="254000">
                <a:moveTo>
                  <a:pt x="0" y="0"/>
                </a:moveTo>
                <a:lnTo>
                  <a:pt x="0" y="0"/>
                </a:lnTo>
                <a:lnTo>
                  <a:pt x="32870" y="4327"/>
                </a:lnTo>
                <a:lnTo>
                  <a:pt x="63500" y="17015"/>
                </a:lnTo>
                <a:lnTo>
                  <a:pt x="89803" y="37197"/>
                </a:lnTo>
                <a:lnTo>
                  <a:pt x="109985" y="63500"/>
                </a:lnTo>
                <a:lnTo>
                  <a:pt x="122673" y="94130"/>
                </a:lnTo>
                <a:lnTo>
                  <a:pt x="127000" y="127000"/>
                </a:lnTo>
                <a:lnTo>
                  <a:pt x="122673" y="159870"/>
                </a:lnTo>
                <a:lnTo>
                  <a:pt x="109985" y="190500"/>
                </a:lnTo>
                <a:lnTo>
                  <a:pt x="89803" y="216803"/>
                </a:lnTo>
                <a:lnTo>
                  <a:pt x="63500" y="236985"/>
                </a:lnTo>
                <a:lnTo>
                  <a:pt x="32870" y="249673"/>
                </a:lnTo>
                <a:lnTo>
                  <a:pt x="0" y="254000"/>
                </a:lnTo>
                <a:close/>
              </a:path>
            </a:pathLst>
          </a:custGeom>
          <a:solidFill>
            <a:srgbClr val="1C1C1C"/>
          </a:solidFill>
          <a:ln>
            <a:noFill/>
          </a:ln>
          <a:effectLst/>
        </p:spPr>
        <p:txBody>
          <a:bodyPr rtlCol="0" anchor="ctr"/>
          <a:lstStyle/>
          <a:p>
            <a:pPr algn="ctr"/>
          </a:p>
        </p:txBody>
      </p:sp>
      <p:sp>
        <p:nvSpPr>
          <p:cNvPr id="36" name="Oval 35"/>
          <p:cNvSpPr/>
          <p:nvPr/>
        </p:nvSpPr>
        <p:spPr>
          <a:xfrm>
            <a:off x="8985250" y="28321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37" name="Rectangle 36"/>
          <p:cNvSpPr/>
          <p:nvPr/>
        </p:nvSpPr>
        <p:spPr>
          <a:xfrm>
            <a:off x="508000" y="3257550"/>
            <a:ext cx="9461500" cy="469900"/>
          </a:xfrm>
          <a:prstGeom prst="rect">
            <a:avLst/>
          </a:prstGeom>
          <a:solidFill>
            <a:srgbClr val="FFFFFF"/>
          </a:solidFill>
          <a:ln>
            <a:noFill/>
          </a:ln>
          <a:effectLst/>
        </p:spPr>
        <p:txBody>
          <a:bodyPr rtlCol="0" anchor="ctr"/>
          <a:lstStyle/>
          <a:p>
            <a:pPr algn="ctr"/>
          </a:p>
        </p:txBody>
      </p:sp>
      <p:sp>
        <p:nvSpPr>
          <p:cNvPr id="38" name="TextBox 37"/>
          <p:cNvSpPr txBox="1"/>
          <p:nvPr/>
        </p:nvSpPr>
        <p:spPr>
          <a:xfrm>
            <a:off x="635000" y="3257550"/>
            <a:ext cx="2286000" cy="469900"/>
          </a:xfrm>
          <a:prstGeom prst="rect">
            <a:avLst/>
          </a:prstGeom>
          <a:noFill/>
        </p:spPr>
        <p:txBody>
          <a:bodyPr wrap="square" lIns="0" rIns="0" tIns="0" bIns="0" anchor="ctr">
            <a:spAutoFit/>
          </a:bodyPr>
          <a:lstStyle/>
          <a:p>
            <a:pPr algn="l">
              <a:lnSpc>
                <a:spcPct val="115000"/>
              </a:lnSpc>
            </a:pPr>
            <a:r>
              <a:rPr sz="1400" b="1" i="0">
                <a:solidFill>
                  <a:srgbClr val="1C1C1C"/>
                </a:solidFill>
                <a:latin typeface="Inter"/>
              </a:rPr>
              <a:t>Corniche</a:t>
            </a:r>
          </a:p>
        </p:txBody>
      </p:sp>
      <p:sp>
        <p:nvSpPr>
          <p:cNvPr id="39" name="Oval 38"/>
          <p:cNvSpPr/>
          <p:nvPr/>
        </p:nvSpPr>
        <p:spPr>
          <a:xfrm>
            <a:off x="3651250" y="33655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40" name="Oval 39"/>
          <p:cNvSpPr/>
          <p:nvPr/>
        </p:nvSpPr>
        <p:spPr>
          <a:xfrm>
            <a:off x="3651250" y="3365500"/>
            <a:ext cx="254000" cy="254000"/>
          </a:xfrm>
          <a:prstGeom prst="ellipse">
            <a:avLst/>
          </a:prstGeom>
          <a:solidFill>
            <a:srgbClr val="1C1C1C"/>
          </a:solidFill>
          <a:ln w="19050">
            <a:solidFill>
              <a:srgbClr val="1C1C1C"/>
            </a:solidFill>
          </a:ln>
          <a:effectLst/>
        </p:spPr>
        <p:txBody>
          <a:bodyPr rtlCol="0" anchor="ctr"/>
          <a:lstStyle/>
          <a:p>
            <a:pPr algn="ctr"/>
          </a:p>
        </p:txBody>
      </p:sp>
      <p:sp>
        <p:nvSpPr>
          <p:cNvPr id="41" name="Oval 40"/>
          <p:cNvSpPr/>
          <p:nvPr/>
        </p:nvSpPr>
        <p:spPr>
          <a:xfrm>
            <a:off x="5429250" y="33655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42" name="Freeform 41"/>
          <p:cNvSpPr/>
          <p:nvPr/>
        </p:nvSpPr>
        <p:spPr>
          <a:xfrm>
            <a:off x="5556250" y="3365500"/>
            <a:ext cx="127000" cy="254000"/>
          </a:xfrm>
          <a:custGeom>
            <a:avLst/>
            <a:gdLst/>
            <a:ahLst/>
            <a:cxnLst/>
            <a:rect l="l" t="t" r="r" b="b"/>
            <a:pathLst>
              <a:path w="127000" h="254000">
                <a:moveTo>
                  <a:pt x="0" y="0"/>
                </a:moveTo>
                <a:lnTo>
                  <a:pt x="0" y="0"/>
                </a:lnTo>
                <a:lnTo>
                  <a:pt x="32870" y="4327"/>
                </a:lnTo>
                <a:lnTo>
                  <a:pt x="63500" y="17015"/>
                </a:lnTo>
                <a:lnTo>
                  <a:pt x="89803" y="37197"/>
                </a:lnTo>
                <a:lnTo>
                  <a:pt x="109985" y="63500"/>
                </a:lnTo>
                <a:lnTo>
                  <a:pt x="122673" y="94130"/>
                </a:lnTo>
                <a:lnTo>
                  <a:pt x="127000" y="127000"/>
                </a:lnTo>
                <a:lnTo>
                  <a:pt x="122673" y="159870"/>
                </a:lnTo>
                <a:lnTo>
                  <a:pt x="109985" y="190500"/>
                </a:lnTo>
                <a:lnTo>
                  <a:pt x="89803" y="216803"/>
                </a:lnTo>
                <a:lnTo>
                  <a:pt x="63500" y="236985"/>
                </a:lnTo>
                <a:lnTo>
                  <a:pt x="32870" y="249673"/>
                </a:lnTo>
                <a:lnTo>
                  <a:pt x="0" y="254000"/>
                </a:lnTo>
                <a:close/>
              </a:path>
            </a:pathLst>
          </a:custGeom>
          <a:solidFill>
            <a:srgbClr val="1C1C1C"/>
          </a:solidFill>
          <a:ln>
            <a:noFill/>
          </a:ln>
          <a:effectLst/>
        </p:spPr>
        <p:txBody>
          <a:bodyPr rtlCol="0" anchor="ctr"/>
          <a:lstStyle/>
          <a:p>
            <a:pPr algn="ctr"/>
          </a:p>
        </p:txBody>
      </p:sp>
      <p:sp>
        <p:nvSpPr>
          <p:cNvPr id="43" name="Oval 42"/>
          <p:cNvSpPr/>
          <p:nvPr/>
        </p:nvSpPr>
        <p:spPr>
          <a:xfrm>
            <a:off x="7207250" y="33655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44" name="Oval 43"/>
          <p:cNvSpPr/>
          <p:nvPr/>
        </p:nvSpPr>
        <p:spPr>
          <a:xfrm>
            <a:off x="7207250" y="3365500"/>
            <a:ext cx="254000" cy="254000"/>
          </a:xfrm>
          <a:prstGeom prst="ellipse">
            <a:avLst/>
          </a:prstGeom>
          <a:solidFill>
            <a:srgbClr val="1C1C1C"/>
          </a:solidFill>
          <a:ln w="19050">
            <a:solidFill>
              <a:srgbClr val="1C1C1C"/>
            </a:solidFill>
          </a:ln>
          <a:effectLst/>
        </p:spPr>
        <p:txBody>
          <a:bodyPr rtlCol="0" anchor="ctr"/>
          <a:lstStyle/>
          <a:p>
            <a:pPr algn="ctr"/>
          </a:p>
        </p:txBody>
      </p:sp>
      <p:sp>
        <p:nvSpPr>
          <p:cNvPr id="45" name="Oval 44"/>
          <p:cNvSpPr/>
          <p:nvPr/>
        </p:nvSpPr>
        <p:spPr>
          <a:xfrm>
            <a:off x="8985250" y="33655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46" name="Freeform 45"/>
          <p:cNvSpPr/>
          <p:nvPr/>
        </p:nvSpPr>
        <p:spPr>
          <a:xfrm>
            <a:off x="9112250" y="3365500"/>
            <a:ext cx="127000" cy="254000"/>
          </a:xfrm>
          <a:custGeom>
            <a:avLst/>
            <a:gdLst/>
            <a:ahLst/>
            <a:cxnLst/>
            <a:rect l="l" t="t" r="r" b="b"/>
            <a:pathLst>
              <a:path w="127000" h="254000">
                <a:moveTo>
                  <a:pt x="0" y="0"/>
                </a:moveTo>
                <a:lnTo>
                  <a:pt x="0" y="0"/>
                </a:lnTo>
                <a:lnTo>
                  <a:pt x="32870" y="4327"/>
                </a:lnTo>
                <a:lnTo>
                  <a:pt x="63500" y="17015"/>
                </a:lnTo>
                <a:lnTo>
                  <a:pt x="89803" y="37197"/>
                </a:lnTo>
                <a:lnTo>
                  <a:pt x="109985" y="63500"/>
                </a:lnTo>
                <a:lnTo>
                  <a:pt x="122673" y="94130"/>
                </a:lnTo>
                <a:lnTo>
                  <a:pt x="127000" y="127000"/>
                </a:lnTo>
                <a:lnTo>
                  <a:pt x="122673" y="159870"/>
                </a:lnTo>
                <a:lnTo>
                  <a:pt x="109985" y="190500"/>
                </a:lnTo>
                <a:lnTo>
                  <a:pt x="89803" y="216803"/>
                </a:lnTo>
                <a:lnTo>
                  <a:pt x="63500" y="236985"/>
                </a:lnTo>
                <a:lnTo>
                  <a:pt x="32870" y="249673"/>
                </a:lnTo>
                <a:lnTo>
                  <a:pt x="0" y="254000"/>
                </a:lnTo>
                <a:close/>
              </a:path>
            </a:pathLst>
          </a:custGeom>
          <a:solidFill>
            <a:srgbClr val="1C1C1C"/>
          </a:solidFill>
          <a:ln>
            <a:noFill/>
          </a:ln>
          <a:effectLst/>
        </p:spPr>
        <p:txBody>
          <a:bodyPr rtlCol="0" anchor="ctr"/>
          <a:lstStyle/>
          <a:p>
            <a:pPr algn="ctr"/>
          </a:p>
        </p:txBody>
      </p:sp>
      <p:sp>
        <p:nvSpPr>
          <p:cNvPr id="47" name="Rectangle 46"/>
          <p:cNvSpPr/>
          <p:nvPr/>
        </p:nvSpPr>
        <p:spPr>
          <a:xfrm>
            <a:off x="508000" y="3790950"/>
            <a:ext cx="9461500" cy="469900"/>
          </a:xfrm>
          <a:prstGeom prst="rect">
            <a:avLst/>
          </a:prstGeom>
          <a:solidFill>
            <a:srgbClr val="EFEAE1"/>
          </a:solidFill>
          <a:ln>
            <a:noFill/>
          </a:ln>
          <a:effectLst/>
        </p:spPr>
        <p:txBody>
          <a:bodyPr rtlCol="0" anchor="ctr"/>
          <a:lstStyle/>
          <a:p>
            <a:pPr algn="ctr"/>
          </a:p>
        </p:txBody>
      </p:sp>
      <p:sp>
        <p:nvSpPr>
          <p:cNvPr id="48" name="TextBox 47"/>
          <p:cNvSpPr txBox="1"/>
          <p:nvPr/>
        </p:nvSpPr>
        <p:spPr>
          <a:xfrm>
            <a:off x="635000" y="3790950"/>
            <a:ext cx="2286000" cy="469900"/>
          </a:xfrm>
          <a:prstGeom prst="rect">
            <a:avLst/>
          </a:prstGeom>
          <a:noFill/>
        </p:spPr>
        <p:txBody>
          <a:bodyPr wrap="square" lIns="0" rIns="0" tIns="0" bIns="0" anchor="ctr">
            <a:spAutoFit/>
          </a:bodyPr>
          <a:lstStyle/>
          <a:p>
            <a:pPr algn="l">
              <a:lnSpc>
                <a:spcPct val="115000"/>
              </a:lnSpc>
            </a:pPr>
            <a:r>
              <a:rPr sz="1400" b="1" i="0">
                <a:solidFill>
                  <a:srgbClr val="1C1C1C"/>
                </a:solidFill>
                <a:latin typeface="Inter"/>
              </a:rPr>
              <a:t>Stade et Mondial 2030</a:t>
            </a:r>
          </a:p>
        </p:txBody>
      </p:sp>
      <p:sp>
        <p:nvSpPr>
          <p:cNvPr id="49" name="Oval 48"/>
          <p:cNvSpPr/>
          <p:nvPr/>
        </p:nvSpPr>
        <p:spPr>
          <a:xfrm>
            <a:off x="3651250" y="38989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50" name="Oval 49"/>
          <p:cNvSpPr/>
          <p:nvPr/>
        </p:nvSpPr>
        <p:spPr>
          <a:xfrm>
            <a:off x="3651250" y="3898900"/>
            <a:ext cx="254000" cy="254000"/>
          </a:xfrm>
          <a:prstGeom prst="ellipse">
            <a:avLst/>
          </a:prstGeom>
          <a:solidFill>
            <a:srgbClr val="1C1C1C"/>
          </a:solidFill>
          <a:ln w="19050">
            <a:solidFill>
              <a:srgbClr val="1C1C1C"/>
            </a:solidFill>
          </a:ln>
          <a:effectLst/>
        </p:spPr>
        <p:txBody>
          <a:bodyPr rtlCol="0" anchor="ctr"/>
          <a:lstStyle/>
          <a:p>
            <a:pPr algn="ctr"/>
          </a:p>
        </p:txBody>
      </p:sp>
      <p:sp>
        <p:nvSpPr>
          <p:cNvPr id="51" name="Oval 50"/>
          <p:cNvSpPr/>
          <p:nvPr/>
        </p:nvSpPr>
        <p:spPr>
          <a:xfrm>
            <a:off x="5429250" y="38989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52" name="Oval 51"/>
          <p:cNvSpPr/>
          <p:nvPr/>
        </p:nvSpPr>
        <p:spPr>
          <a:xfrm>
            <a:off x="5429250" y="3898900"/>
            <a:ext cx="254000" cy="254000"/>
          </a:xfrm>
          <a:prstGeom prst="ellipse">
            <a:avLst/>
          </a:prstGeom>
          <a:solidFill>
            <a:srgbClr val="1C1C1C"/>
          </a:solidFill>
          <a:ln w="19050">
            <a:solidFill>
              <a:srgbClr val="1C1C1C"/>
            </a:solidFill>
          </a:ln>
          <a:effectLst/>
        </p:spPr>
        <p:txBody>
          <a:bodyPr rtlCol="0" anchor="ctr"/>
          <a:lstStyle/>
          <a:p>
            <a:pPr algn="ctr"/>
          </a:p>
        </p:txBody>
      </p:sp>
      <p:sp>
        <p:nvSpPr>
          <p:cNvPr id="53" name="Oval 52"/>
          <p:cNvSpPr/>
          <p:nvPr/>
        </p:nvSpPr>
        <p:spPr>
          <a:xfrm>
            <a:off x="7207250" y="38989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54" name="Oval 53"/>
          <p:cNvSpPr/>
          <p:nvPr/>
        </p:nvSpPr>
        <p:spPr>
          <a:xfrm>
            <a:off x="8985250" y="38989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55" name="Rectangle 54"/>
          <p:cNvSpPr/>
          <p:nvPr/>
        </p:nvSpPr>
        <p:spPr>
          <a:xfrm>
            <a:off x="508000" y="4324350"/>
            <a:ext cx="9461500" cy="469900"/>
          </a:xfrm>
          <a:prstGeom prst="rect">
            <a:avLst/>
          </a:prstGeom>
          <a:solidFill>
            <a:srgbClr val="FFFFFF"/>
          </a:solidFill>
          <a:ln>
            <a:noFill/>
          </a:ln>
          <a:effectLst/>
        </p:spPr>
        <p:txBody>
          <a:bodyPr rtlCol="0" anchor="ctr"/>
          <a:lstStyle/>
          <a:p>
            <a:pPr algn="ctr"/>
          </a:p>
        </p:txBody>
      </p:sp>
      <p:sp>
        <p:nvSpPr>
          <p:cNvPr id="56" name="TextBox 55"/>
          <p:cNvSpPr txBox="1"/>
          <p:nvPr/>
        </p:nvSpPr>
        <p:spPr>
          <a:xfrm>
            <a:off x="635000" y="4324350"/>
            <a:ext cx="2286000" cy="469900"/>
          </a:xfrm>
          <a:prstGeom prst="rect">
            <a:avLst/>
          </a:prstGeom>
          <a:noFill/>
        </p:spPr>
        <p:txBody>
          <a:bodyPr wrap="square" lIns="0" rIns="0" tIns="0" bIns="0" anchor="ctr">
            <a:spAutoFit/>
          </a:bodyPr>
          <a:lstStyle/>
          <a:p>
            <a:pPr algn="l">
              <a:lnSpc>
                <a:spcPct val="115000"/>
              </a:lnSpc>
            </a:pPr>
            <a:r>
              <a:rPr sz="1400" b="1" i="0">
                <a:solidFill>
                  <a:srgbClr val="1C1C1C"/>
                </a:solidFill>
                <a:latin typeface="Inter"/>
              </a:rPr>
              <a:t>TGV Al Boraq</a:t>
            </a:r>
          </a:p>
        </p:txBody>
      </p:sp>
      <p:sp>
        <p:nvSpPr>
          <p:cNvPr id="57" name="Oval 56"/>
          <p:cNvSpPr/>
          <p:nvPr/>
        </p:nvSpPr>
        <p:spPr>
          <a:xfrm>
            <a:off x="3651250" y="44323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58" name="Oval 57"/>
          <p:cNvSpPr/>
          <p:nvPr/>
        </p:nvSpPr>
        <p:spPr>
          <a:xfrm>
            <a:off x="3651250" y="4432300"/>
            <a:ext cx="254000" cy="254000"/>
          </a:xfrm>
          <a:prstGeom prst="ellipse">
            <a:avLst/>
          </a:prstGeom>
          <a:solidFill>
            <a:srgbClr val="1C1C1C"/>
          </a:solidFill>
          <a:ln w="19050">
            <a:solidFill>
              <a:srgbClr val="1C1C1C"/>
            </a:solidFill>
          </a:ln>
          <a:effectLst/>
        </p:spPr>
        <p:txBody>
          <a:bodyPr rtlCol="0" anchor="ctr"/>
          <a:lstStyle/>
          <a:p>
            <a:pPr algn="ctr"/>
          </a:p>
        </p:txBody>
      </p:sp>
      <p:sp>
        <p:nvSpPr>
          <p:cNvPr id="59" name="Oval 58"/>
          <p:cNvSpPr/>
          <p:nvPr/>
        </p:nvSpPr>
        <p:spPr>
          <a:xfrm>
            <a:off x="5429250" y="44323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60" name="Oval 59"/>
          <p:cNvSpPr/>
          <p:nvPr/>
        </p:nvSpPr>
        <p:spPr>
          <a:xfrm>
            <a:off x="5429250" y="4432300"/>
            <a:ext cx="254000" cy="254000"/>
          </a:xfrm>
          <a:prstGeom prst="ellipse">
            <a:avLst/>
          </a:prstGeom>
          <a:solidFill>
            <a:srgbClr val="1C1C1C"/>
          </a:solidFill>
          <a:ln w="19050">
            <a:solidFill>
              <a:srgbClr val="1C1C1C"/>
            </a:solidFill>
          </a:ln>
          <a:effectLst/>
        </p:spPr>
        <p:txBody>
          <a:bodyPr rtlCol="0" anchor="ctr"/>
          <a:lstStyle/>
          <a:p>
            <a:pPr algn="ctr"/>
          </a:p>
        </p:txBody>
      </p:sp>
      <p:sp>
        <p:nvSpPr>
          <p:cNvPr id="61" name="Oval 60"/>
          <p:cNvSpPr/>
          <p:nvPr/>
        </p:nvSpPr>
        <p:spPr>
          <a:xfrm>
            <a:off x="7207250" y="44323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62" name="Freeform 61"/>
          <p:cNvSpPr/>
          <p:nvPr/>
        </p:nvSpPr>
        <p:spPr>
          <a:xfrm>
            <a:off x="7334250" y="4432300"/>
            <a:ext cx="127000" cy="254000"/>
          </a:xfrm>
          <a:custGeom>
            <a:avLst/>
            <a:gdLst/>
            <a:ahLst/>
            <a:cxnLst/>
            <a:rect l="l" t="t" r="r" b="b"/>
            <a:pathLst>
              <a:path w="127000" h="254000">
                <a:moveTo>
                  <a:pt x="0" y="0"/>
                </a:moveTo>
                <a:lnTo>
                  <a:pt x="0" y="0"/>
                </a:lnTo>
                <a:lnTo>
                  <a:pt x="32870" y="4327"/>
                </a:lnTo>
                <a:lnTo>
                  <a:pt x="63500" y="17015"/>
                </a:lnTo>
                <a:lnTo>
                  <a:pt x="89803" y="37197"/>
                </a:lnTo>
                <a:lnTo>
                  <a:pt x="109985" y="63500"/>
                </a:lnTo>
                <a:lnTo>
                  <a:pt x="122673" y="94130"/>
                </a:lnTo>
                <a:lnTo>
                  <a:pt x="127000" y="127000"/>
                </a:lnTo>
                <a:lnTo>
                  <a:pt x="122673" y="159870"/>
                </a:lnTo>
                <a:lnTo>
                  <a:pt x="109985" y="190500"/>
                </a:lnTo>
                <a:lnTo>
                  <a:pt x="89803" y="216803"/>
                </a:lnTo>
                <a:lnTo>
                  <a:pt x="63500" y="236985"/>
                </a:lnTo>
                <a:lnTo>
                  <a:pt x="32870" y="249673"/>
                </a:lnTo>
                <a:lnTo>
                  <a:pt x="0" y="254000"/>
                </a:lnTo>
                <a:close/>
              </a:path>
            </a:pathLst>
          </a:custGeom>
          <a:solidFill>
            <a:srgbClr val="1C1C1C"/>
          </a:solidFill>
          <a:ln>
            <a:noFill/>
          </a:ln>
          <a:effectLst/>
        </p:spPr>
        <p:txBody>
          <a:bodyPr rtlCol="0" anchor="ctr"/>
          <a:lstStyle/>
          <a:p>
            <a:pPr algn="ctr"/>
          </a:p>
        </p:txBody>
      </p:sp>
      <p:sp>
        <p:nvSpPr>
          <p:cNvPr id="63" name="Oval 62"/>
          <p:cNvSpPr/>
          <p:nvPr/>
        </p:nvSpPr>
        <p:spPr>
          <a:xfrm>
            <a:off x="8985250" y="44323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64" name="Rectangle 63"/>
          <p:cNvSpPr/>
          <p:nvPr/>
        </p:nvSpPr>
        <p:spPr>
          <a:xfrm>
            <a:off x="508000" y="4857750"/>
            <a:ext cx="9461500" cy="469900"/>
          </a:xfrm>
          <a:prstGeom prst="rect">
            <a:avLst/>
          </a:prstGeom>
          <a:solidFill>
            <a:srgbClr val="EFEAE1"/>
          </a:solidFill>
          <a:ln>
            <a:noFill/>
          </a:ln>
          <a:effectLst/>
        </p:spPr>
        <p:txBody>
          <a:bodyPr rtlCol="0" anchor="ctr"/>
          <a:lstStyle/>
          <a:p>
            <a:pPr algn="ctr"/>
          </a:p>
        </p:txBody>
      </p:sp>
      <p:sp>
        <p:nvSpPr>
          <p:cNvPr id="65" name="TextBox 64"/>
          <p:cNvSpPr txBox="1"/>
          <p:nvPr/>
        </p:nvSpPr>
        <p:spPr>
          <a:xfrm>
            <a:off x="635000" y="4857750"/>
            <a:ext cx="2286000" cy="469900"/>
          </a:xfrm>
          <a:prstGeom prst="rect">
            <a:avLst/>
          </a:prstGeom>
          <a:noFill/>
        </p:spPr>
        <p:txBody>
          <a:bodyPr wrap="square" lIns="0" rIns="0" tIns="0" bIns="0" anchor="ctr">
            <a:spAutoFit/>
          </a:bodyPr>
          <a:lstStyle/>
          <a:p>
            <a:pPr algn="l">
              <a:lnSpc>
                <a:spcPct val="115000"/>
              </a:lnSpc>
            </a:pPr>
            <a:r>
              <a:rPr sz="1400" b="1" i="0">
                <a:solidFill>
                  <a:srgbClr val="1C1C1C"/>
                </a:solidFill>
                <a:latin typeface="Inter"/>
              </a:rPr>
              <a:t>Ville nouvelle Chrafate</a:t>
            </a:r>
          </a:p>
        </p:txBody>
      </p:sp>
      <p:sp>
        <p:nvSpPr>
          <p:cNvPr id="66" name="Oval 65"/>
          <p:cNvSpPr/>
          <p:nvPr/>
        </p:nvSpPr>
        <p:spPr>
          <a:xfrm>
            <a:off x="3651250" y="49657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67" name="Oval 66"/>
          <p:cNvSpPr/>
          <p:nvPr/>
        </p:nvSpPr>
        <p:spPr>
          <a:xfrm>
            <a:off x="5429250" y="49657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68" name="Freeform 67"/>
          <p:cNvSpPr/>
          <p:nvPr/>
        </p:nvSpPr>
        <p:spPr>
          <a:xfrm>
            <a:off x="5556250" y="4965700"/>
            <a:ext cx="127000" cy="254000"/>
          </a:xfrm>
          <a:custGeom>
            <a:avLst/>
            <a:gdLst/>
            <a:ahLst/>
            <a:cxnLst/>
            <a:rect l="l" t="t" r="r" b="b"/>
            <a:pathLst>
              <a:path w="127000" h="254000">
                <a:moveTo>
                  <a:pt x="0" y="0"/>
                </a:moveTo>
                <a:lnTo>
                  <a:pt x="0" y="0"/>
                </a:lnTo>
                <a:lnTo>
                  <a:pt x="32870" y="4327"/>
                </a:lnTo>
                <a:lnTo>
                  <a:pt x="63500" y="17015"/>
                </a:lnTo>
                <a:lnTo>
                  <a:pt x="89803" y="37197"/>
                </a:lnTo>
                <a:lnTo>
                  <a:pt x="109985" y="63500"/>
                </a:lnTo>
                <a:lnTo>
                  <a:pt x="122673" y="94130"/>
                </a:lnTo>
                <a:lnTo>
                  <a:pt x="127000" y="127000"/>
                </a:lnTo>
                <a:lnTo>
                  <a:pt x="122673" y="159870"/>
                </a:lnTo>
                <a:lnTo>
                  <a:pt x="109985" y="190500"/>
                </a:lnTo>
                <a:lnTo>
                  <a:pt x="89803" y="216803"/>
                </a:lnTo>
                <a:lnTo>
                  <a:pt x="63500" y="236985"/>
                </a:lnTo>
                <a:lnTo>
                  <a:pt x="32870" y="249673"/>
                </a:lnTo>
                <a:lnTo>
                  <a:pt x="0" y="254000"/>
                </a:lnTo>
                <a:close/>
              </a:path>
            </a:pathLst>
          </a:custGeom>
          <a:solidFill>
            <a:srgbClr val="1C1C1C"/>
          </a:solidFill>
          <a:ln>
            <a:noFill/>
          </a:ln>
          <a:effectLst/>
        </p:spPr>
        <p:txBody>
          <a:bodyPr rtlCol="0" anchor="ctr"/>
          <a:lstStyle/>
          <a:p>
            <a:pPr algn="ctr"/>
          </a:p>
        </p:txBody>
      </p:sp>
      <p:sp>
        <p:nvSpPr>
          <p:cNvPr id="69" name="Oval 68"/>
          <p:cNvSpPr/>
          <p:nvPr/>
        </p:nvSpPr>
        <p:spPr>
          <a:xfrm>
            <a:off x="7207250" y="49657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70" name="Oval 69"/>
          <p:cNvSpPr/>
          <p:nvPr/>
        </p:nvSpPr>
        <p:spPr>
          <a:xfrm>
            <a:off x="8985250" y="4965700"/>
            <a:ext cx="254000" cy="254000"/>
          </a:xfrm>
          <a:prstGeom prst="ellipse">
            <a:avLst/>
          </a:prstGeom>
          <a:solidFill>
            <a:srgbClr val="FFFFFF"/>
          </a:solidFill>
          <a:ln w="19050">
            <a:solidFill>
              <a:srgbClr val="1C1C1C"/>
            </a:solidFill>
          </a:ln>
          <a:effectLst/>
        </p:spPr>
        <p:txBody>
          <a:bodyPr rtlCol="0" anchor="ctr"/>
          <a:lstStyle/>
          <a:p>
            <a:pPr algn="ctr"/>
          </a:p>
        </p:txBody>
      </p:sp>
      <p:sp>
        <p:nvSpPr>
          <p:cNvPr id="71" name="TextBox 70"/>
          <p:cNvSpPr txBox="1"/>
          <p:nvPr/>
        </p:nvSpPr>
        <p:spPr>
          <a:xfrm>
            <a:off x="10160000" y="158750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CLÉ</a:t>
            </a:r>
          </a:p>
        </p:txBody>
      </p:sp>
      <p:sp>
        <p:nvSpPr>
          <p:cNvPr id="72" name="Oval 71"/>
          <p:cNvSpPr/>
          <p:nvPr/>
        </p:nvSpPr>
        <p:spPr>
          <a:xfrm>
            <a:off x="10185400" y="1803400"/>
            <a:ext cx="203200" cy="203200"/>
          </a:xfrm>
          <a:prstGeom prst="ellipse">
            <a:avLst/>
          </a:prstGeom>
          <a:solidFill>
            <a:srgbClr val="1C1C1C"/>
          </a:solidFill>
          <a:ln w="19050">
            <a:solidFill>
              <a:srgbClr val="1C1C1C"/>
            </a:solidFill>
          </a:ln>
          <a:effectLst/>
        </p:spPr>
        <p:txBody>
          <a:bodyPr rtlCol="0" anchor="ctr"/>
          <a:lstStyle/>
          <a:p>
            <a:pPr algn="ctr"/>
          </a:p>
        </p:txBody>
      </p:sp>
      <p:sp>
        <p:nvSpPr>
          <p:cNvPr id="73" name="TextBox 72"/>
          <p:cNvSpPr txBox="1"/>
          <p:nvPr/>
        </p:nvSpPr>
        <p:spPr>
          <a:xfrm>
            <a:off x="10477500" y="1822450"/>
            <a:ext cx="1270000" cy="165100"/>
          </a:xfrm>
          <a:prstGeom prst="rect">
            <a:avLst/>
          </a:prstGeom>
          <a:noFill/>
        </p:spPr>
        <p:txBody>
          <a:bodyPr wrap="square" lIns="0" rIns="0" tIns="0" bIns="0" anchor="t">
            <a:spAutoFit/>
          </a:bodyPr>
          <a:lstStyle/>
          <a:p>
            <a:pPr algn="l">
              <a:lnSpc>
                <a:spcPct val="115000"/>
              </a:lnSpc>
            </a:pPr>
            <a:r>
              <a:rPr sz="1200" b="0" i="0">
                <a:solidFill>
                  <a:srgbClr val="1C1C1C"/>
                </a:solidFill>
                <a:latin typeface="Inter"/>
              </a:rPr>
              <a:t>bénéfice fort</a:t>
            </a:r>
          </a:p>
        </p:txBody>
      </p:sp>
      <p:sp>
        <p:nvSpPr>
          <p:cNvPr id="74" name="Oval 73"/>
          <p:cNvSpPr/>
          <p:nvPr/>
        </p:nvSpPr>
        <p:spPr>
          <a:xfrm>
            <a:off x="10185400" y="2120900"/>
            <a:ext cx="203200" cy="203200"/>
          </a:xfrm>
          <a:prstGeom prst="ellipse">
            <a:avLst/>
          </a:prstGeom>
          <a:solidFill>
            <a:srgbClr val="FFFFFF"/>
          </a:solidFill>
          <a:ln w="19050">
            <a:solidFill>
              <a:srgbClr val="1C1C1C"/>
            </a:solidFill>
          </a:ln>
          <a:effectLst/>
        </p:spPr>
        <p:txBody>
          <a:bodyPr rtlCol="0" anchor="ctr"/>
          <a:lstStyle/>
          <a:p>
            <a:pPr algn="ctr"/>
          </a:p>
        </p:txBody>
      </p:sp>
      <p:sp>
        <p:nvSpPr>
          <p:cNvPr id="75" name="Freeform 74"/>
          <p:cNvSpPr/>
          <p:nvPr/>
        </p:nvSpPr>
        <p:spPr>
          <a:xfrm>
            <a:off x="10287000" y="2120900"/>
            <a:ext cx="101600" cy="203200"/>
          </a:xfrm>
          <a:custGeom>
            <a:avLst/>
            <a:gdLst/>
            <a:ahLst/>
            <a:cxnLst/>
            <a:rect l="l" t="t" r="r" b="b"/>
            <a:pathLst>
              <a:path w="101600" h="203200">
                <a:moveTo>
                  <a:pt x="0" y="0"/>
                </a:moveTo>
                <a:lnTo>
                  <a:pt x="0" y="0"/>
                </a:lnTo>
                <a:lnTo>
                  <a:pt x="26296" y="3462"/>
                </a:lnTo>
                <a:lnTo>
                  <a:pt x="50800" y="13612"/>
                </a:lnTo>
                <a:lnTo>
                  <a:pt x="71842" y="29758"/>
                </a:lnTo>
                <a:lnTo>
                  <a:pt x="87988" y="50800"/>
                </a:lnTo>
                <a:lnTo>
                  <a:pt x="98138" y="75304"/>
                </a:lnTo>
                <a:lnTo>
                  <a:pt x="101600" y="101600"/>
                </a:lnTo>
                <a:lnTo>
                  <a:pt x="98138" y="127896"/>
                </a:lnTo>
                <a:lnTo>
                  <a:pt x="87988" y="152400"/>
                </a:lnTo>
                <a:lnTo>
                  <a:pt x="71842" y="173442"/>
                </a:lnTo>
                <a:lnTo>
                  <a:pt x="50800" y="189588"/>
                </a:lnTo>
                <a:lnTo>
                  <a:pt x="26296" y="199738"/>
                </a:lnTo>
                <a:lnTo>
                  <a:pt x="0" y="203200"/>
                </a:lnTo>
                <a:close/>
              </a:path>
            </a:pathLst>
          </a:custGeom>
          <a:solidFill>
            <a:srgbClr val="1C1C1C"/>
          </a:solidFill>
          <a:ln>
            <a:noFill/>
          </a:ln>
          <a:effectLst/>
        </p:spPr>
        <p:txBody>
          <a:bodyPr rtlCol="0" anchor="ctr"/>
          <a:lstStyle/>
          <a:p>
            <a:pPr algn="ctr"/>
          </a:p>
        </p:txBody>
      </p:sp>
      <p:sp>
        <p:nvSpPr>
          <p:cNvPr id="76" name="TextBox 75"/>
          <p:cNvSpPr txBox="1"/>
          <p:nvPr/>
        </p:nvSpPr>
        <p:spPr>
          <a:xfrm>
            <a:off x="10477500" y="2139950"/>
            <a:ext cx="1270000" cy="165100"/>
          </a:xfrm>
          <a:prstGeom prst="rect">
            <a:avLst/>
          </a:prstGeom>
          <a:noFill/>
        </p:spPr>
        <p:txBody>
          <a:bodyPr wrap="square" lIns="0" rIns="0" tIns="0" bIns="0" anchor="t">
            <a:spAutoFit/>
          </a:bodyPr>
          <a:lstStyle/>
          <a:p>
            <a:pPr algn="l">
              <a:lnSpc>
                <a:spcPct val="115000"/>
              </a:lnSpc>
            </a:pPr>
            <a:r>
              <a:rPr sz="1200" b="0" i="0">
                <a:solidFill>
                  <a:srgbClr val="1C1C1C"/>
                </a:solidFill>
                <a:latin typeface="Inter"/>
              </a:rPr>
              <a:t>partiel</a:t>
            </a:r>
          </a:p>
        </p:txBody>
      </p:sp>
      <p:sp>
        <p:nvSpPr>
          <p:cNvPr id="77" name="Oval 76"/>
          <p:cNvSpPr/>
          <p:nvPr/>
        </p:nvSpPr>
        <p:spPr>
          <a:xfrm>
            <a:off x="10185400" y="2438400"/>
            <a:ext cx="203200" cy="203200"/>
          </a:xfrm>
          <a:prstGeom prst="ellipse">
            <a:avLst/>
          </a:prstGeom>
          <a:solidFill>
            <a:srgbClr val="FFFFFF"/>
          </a:solidFill>
          <a:ln w="19050">
            <a:solidFill>
              <a:srgbClr val="1C1C1C"/>
            </a:solidFill>
          </a:ln>
          <a:effectLst/>
        </p:spPr>
        <p:txBody>
          <a:bodyPr rtlCol="0" anchor="ctr"/>
          <a:lstStyle/>
          <a:p>
            <a:pPr algn="ctr"/>
          </a:p>
        </p:txBody>
      </p:sp>
      <p:sp>
        <p:nvSpPr>
          <p:cNvPr id="78" name="TextBox 77"/>
          <p:cNvSpPr txBox="1"/>
          <p:nvPr/>
        </p:nvSpPr>
        <p:spPr>
          <a:xfrm>
            <a:off x="10477500" y="2457450"/>
            <a:ext cx="1270000" cy="165100"/>
          </a:xfrm>
          <a:prstGeom prst="rect">
            <a:avLst/>
          </a:prstGeom>
          <a:noFill/>
        </p:spPr>
        <p:txBody>
          <a:bodyPr wrap="square" lIns="0" rIns="0" tIns="0" bIns="0" anchor="t">
            <a:spAutoFit/>
          </a:bodyPr>
          <a:lstStyle/>
          <a:p>
            <a:pPr algn="l">
              <a:lnSpc>
                <a:spcPct val="115000"/>
              </a:lnSpc>
            </a:pPr>
            <a:r>
              <a:rPr sz="1200" b="0" i="0">
                <a:solidFill>
                  <a:srgbClr val="1C1C1C"/>
                </a:solidFill>
                <a:latin typeface="Inter"/>
              </a:rPr>
              <a:t>faible ou nul</a:t>
            </a:r>
          </a:p>
        </p:txBody>
      </p:sp>
      <p:sp>
        <p:nvSpPr>
          <p:cNvPr id="79" name="TextBox 78"/>
          <p:cNvSpPr txBox="1"/>
          <p:nvPr/>
        </p:nvSpPr>
        <p:spPr>
          <a:xfrm>
            <a:off x="10160000" y="2984500"/>
            <a:ext cx="1524000" cy="1651000"/>
          </a:xfrm>
          <a:prstGeom prst="rect">
            <a:avLst/>
          </a:prstGeom>
          <a:noFill/>
        </p:spPr>
        <p:txBody>
          <a:bodyPr wrap="square" lIns="0" rIns="0" tIns="0" bIns="0" anchor="t">
            <a:spAutoFit/>
          </a:bodyPr>
          <a:lstStyle/>
          <a:p>
            <a:pPr algn="l">
              <a:lnSpc>
                <a:spcPct val="115000"/>
              </a:lnSpc>
            </a:pPr>
            <a:r>
              <a:rPr sz="1050" b="0" i="1">
                <a:solidFill>
                  <a:srgbClr val="6E6A64"/>
                </a:solidFill>
                <a:latin typeface="Inter"/>
              </a:rPr>
              <a:t>Évaluation qualitative de l'auteur, à partir des chiffres et observations des pages 3 à 14.</a:t>
            </a:r>
          </a:p>
        </p:txBody>
      </p:sp>
      <p:sp>
        <p:nvSpPr>
          <p:cNvPr id="80" name="Rounded Rectangle 79"/>
          <p:cNvSpPr/>
          <p:nvPr/>
        </p:nvSpPr>
        <p:spPr>
          <a:xfrm>
            <a:off x="508000" y="5524500"/>
            <a:ext cx="11176000" cy="508000"/>
          </a:xfrm>
          <a:prstGeom prst="roundRect">
            <a:avLst>
              <a:gd name="adj" fmla="val 10000"/>
            </a:avLst>
          </a:prstGeom>
          <a:solidFill>
            <a:srgbClr val="C8462B"/>
          </a:solidFill>
          <a:ln>
            <a:noFill/>
          </a:ln>
          <a:effectLst/>
        </p:spPr>
        <p:txBody>
          <a:bodyPr rtlCol="0" anchor="ctr"/>
          <a:lstStyle/>
          <a:p>
            <a:pPr algn="ctr"/>
          </a:p>
        </p:txBody>
      </p:sp>
      <p:sp>
        <p:nvSpPr>
          <p:cNvPr id="81" name="TextBox 80"/>
          <p:cNvSpPr txBox="1"/>
          <p:nvPr/>
        </p:nvSpPr>
        <p:spPr>
          <a:xfrm>
            <a:off x="698500" y="5524500"/>
            <a:ext cx="10795000" cy="508000"/>
          </a:xfrm>
          <a:prstGeom prst="rect">
            <a:avLst/>
          </a:prstGeom>
          <a:noFill/>
        </p:spPr>
        <p:txBody>
          <a:bodyPr wrap="square" lIns="0" rIns="0" tIns="0" bIns="0" anchor="ctr">
            <a:spAutoFit/>
          </a:bodyPr>
          <a:lstStyle/>
          <a:p>
            <a:pPr algn="l">
              <a:lnSpc>
                <a:spcPct val="115000"/>
              </a:lnSpc>
            </a:pPr>
            <a:r>
              <a:rPr sz="1350" b="1" i="0">
                <a:solidFill>
                  <a:srgbClr val="FFFFFF"/>
                </a:solidFill>
                <a:latin typeface="Inter"/>
              </a:rPr>
              <a:t>CONSTAT : colonnes rouges pleines, colonnes bleues presque vides. Plus un projet est visible, moins il sert la périphérie.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PROPOSITIONS</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Retourner la vitrine vers les habitants</a:t>
            </a:r>
          </a:p>
        </p:txBody>
      </p:sp>
      <p:sp>
        <p:nvSpPr>
          <p:cNvPr id="5" name="TextBox 4"/>
          <p:cNvSpPr txBox="1"/>
          <p:nvPr/>
        </p:nvSpPr>
        <p:spPr>
          <a:xfrm>
            <a:off x="508000" y="952500"/>
            <a:ext cx="11176000" cy="444500"/>
          </a:xfrm>
          <a:prstGeom prst="rect">
            <a:avLst/>
          </a:prstGeom>
          <a:noFill/>
        </p:spPr>
        <p:txBody>
          <a:bodyPr wrap="square" lIns="0" rIns="0" tIns="0" bIns="0" anchor="t">
            <a:spAutoFit/>
          </a:bodyPr>
          <a:lstStyle/>
          <a:p>
            <a:pPr algn="l">
              <a:lnSpc>
                <a:spcPct val="115000"/>
              </a:lnSpc>
            </a:pPr>
            <a:r>
              <a:rPr sz="1250" b="0" i="0">
                <a:solidFill>
                  <a:srgbClr val="6E6A64"/>
                </a:solidFill>
                <a:latin typeface="Inter"/>
              </a:rPr>
              <a:t>Cinq interventions localisées, et une règle : juger chaque projet touristique à ce qu'il apporte au quartier le plus éloigné.</a:t>
            </a:r>
          </a:p>
        </p:txBody>
      </p:sp>
      <p:cxnSp>
        <p:nvCxnSpPr>
          <p:cNvPr id="6" name="Connector 5"/>
          <p:cNvCxnSpPr/>
          <p:nvPr/>
        </p:nvCxnSpPr>
        <p:spPr>
          <a:xfrm>
            <a:off x="508000" y="1409700"/>
            <a:ext cx="11176000" cy="0"/>
          </a:xfrm>
          <a:prstGeom prst="line">
            <a:avLst/>
          </a:prstGeom>
          <a:ln w="12700">
            <a:solidFill>
              <a:srgbClr val="CFC8BC"/>
            </a:solidFill>
          </a:ln>
        </p:spPr>
      </p:cxnSp>
      <p:cxnSp>
        <p:nvCxnSpPr>
          <p:cNvPr id="7" name="Connector 6"/>
          <p:cNvCxnSpPr/>
          <p:nvPr/>
        </p:nvCxnSpPr>
        <p:spPr>
          <a:xfrm>
            <a:off x="508000" y="6464300"/>
            <a:ext cx="11176000" cy="0"/>
          </a:xfrm>
          <a:prstGeom prst="line">
            <a:avLst/>
          </a:prstGeom>
          <a:ln w="9525">
            <a:solidFill>
              <a:srgbClr val="CFC8BC"/>
            </a:solidFill>
          </a:ln>
        </p:spPr>
      </p:cxnSp>
      <p:sp>
        <p:nvSpPr>
          <p:cNvPr id="8" name="TextBox 7"/>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9" name="TextBox 8"/>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10" name="TextBox 9"/>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16 / 17</a:t>
            </a:r>
          </a:p>
        </p:txBody>
      </p:sp>
      <p:sp>
        <p:nvSpPr>
          <p:cNvPr id="11" name="Rectangle 10"/>
          <p:cNvSpPr/>
          <p:nvPr/>
        </p:nvSpPr>
        <p:spPr>
          <a:xfrm>
            <a:off x="508000" y="1460500"/>
            <a:ext cx="7493000" cy="4572000"/>
          </a:xfrm>
          <a:prstGeom prst="rect">
            <a:avLst/>
          </a:prstGeom>
          <a:solidFill>
            <a:srgbClr val="D3E3EA"/>
          </a:solidFill>
          <a:ln>
            <a:noFill/>
          </a:ln>
          <a:effectLst/>
        </p:spPr>
        <p:txBody>
          <a:bodyPr rtlCol="0" anchor="ctr"/>
          <a:lstStyle/>
          <a:p>
            <a:pPr algn="ctr"/>
          </a:p>
        </p:txBody>
      </p:sp>
      <p:sp>
        <p:nvSpPr>
          <p:cNvPr id="12" name="Freeform 11"/>
          <p:cNvSpPr/>
          <p:nvPr/>
        </p:nvSpPr>
        <p:spPr>
          <a:xfrm>
            <a:off x="508000" y="1765300"/>
            <a:ext cx="7493000" cy="4267200"/>
          </a:xfrm>
          <a:custGeom>
            <a:avLst/>
            <a:gdLst/>
            <a:ahLst/>
            <a:cxnLst/>
            <a:rect l="l" t="t" r="r" b="b"/>
            <a:pathLst>
              <a:path w="7493000" h="4267200">
                <a:moveTo>
                  <a:pt x="0" y="91440"/>
                </a:moveTo>
                <a:lnTo>
                  <a:pt x="48913" y="78493"/>
                </a:lnTo>
                <a:lnTo>
                  <a:pt x="116558" y="58138"/>
                </a:lnTo>
                <a:lnTo>
                  <a:pt x="196691" y="35242"/>
                </a:lnTo>
                <a:lnTo>
                  <a:pt x="283069" y="14676"/>
                </a:lnTo>
                <a:lnTo>
                  <a:pt x="369447" y="1305"/>
                </a:lnTo>
                <a:lnTo>
                  <a:pt x="449580" y="0"/>
                </a:lnTo>
                <a:lnTo>
                  <a:pt x="523643" y="14182"/>
                </a:lnTo>
                <a:lnTo>
                  <a:pt x="596665" y="40640"/>
                </a:lnTo>
                <a:lnTo>
                  <a:pt x="669687" y="74295"/>
                </a:lnTo>
                <a:lnTo>
                  <a:pt x="743750" y="110067"/>
                </a:lnTo>
                <a:lnTo>
                  <a:pt x="819894" y="142875"/>
                </a:lnTo>
                <a:lnTo>
                  <a:pt x="899160" y="167640"/>
                </a:lnTo>
                <a:lnTo>
                  <a:pt x="982242" y="183444"/>
                </a:lnTo>
                <a:lnTo>
                  <a:pt x="1068446" y="194169"/>
                </a:lnTo>
                <a:lnTo>
                  <a:pt x="1156732" y="201930"/>
                </a:lnTo>
                <a:lnTo>
                  <a:pt x="1246058" y="208844"/>
                </a:lnTo>
                <a:lnTo>
                  <a:pt x="1335384" y="217029"/>
                </a:lnTo>
                <a:lnTo>
                  <a:pt x="1423670" y="228600"/>
                </a:lnTo>
                <a:lnTo>
                  <a:pt x="1511088" y="243911"/>
                </a:lnTo>
                <a:lnTo>
                  <a:pt x="1598507" y="261338"/>
                </a:lnTo>
                <a:lnTo>
                  <a:pt x="1685925" y="280035"/>
                </a:lnTo>
                <a:lnTo>
                  <a:pt x="1773343" y="299156"/>
                </a:lnTo>
                <a:lnTo>
                  <a:pt x="1860762" y="317853"/>
                </a:lnTo>
                <a:lnTo>
                  <a:pt x="1948180" y="335280"/>
                </a:lnTo>
                <a:lnTo>
                  <a:pt x="2035598" y="351049"/>
                </a:lnTo>
                <a:lnTo>
                  <a:pt x="2123017" y="365760"/>
                </a:lnTo>
                <a:lnTo>
                  <a:pt x="2210435" y="380048"/>
                </a:lnTo>
                <a:lnTo>
                  <a:pt x="2297853" y="394547"/>
                </a:lnTo>
                <a:lnTo>
                  <a:pt x="2385272" y="409892"/>
                </a:lnTo>
                <a:lnTo>
                  <a:pt x="2472690" y="426720"/>
                </a:lnTo>
                <a:lnTo>
                  <a:pt x="2561843" y="445276"/>
                </a:lnTo>
                <a:lnTo>
                  <a:pt x="2653077" y="465102"/>
                </a:lnTo>
                <a:lnTo>
                  <a:pt x="2744311" y="485775"/>
                </a:lnTo>
                <a:lnTo>
                  <a:pt x="2833464" y="506871"/>
                </a:lnTo>
                <a:lnTo>
                  <a:pt x="2918454" y="527967"/>
                </a:lnTo>
                <a:lnTo>
                  <a:pt x="2997200" y="548640"/>
                </a:lnTo>
                <a:lnTo>
                  <a:pt x="3069615" y="568431"/>
                </a:lnTo>
                <a:lnTo>
                  <a:pt x="3137347" y="587587"/>
                </a:lnTo>
                <a:lnTo>
                  <a:pt x="3200916" y="606742"/>
                </a:lnTo>
                <a:lnTo>
                  <a:pt x="3260843" y="626533"/>
                </a:lnTo>
                <a:lnTo>
                  <a:pt x="3317647" y="647594"/>
                </a:lnTo>
                <a:lnTo>
                  <a:pt x="3371850" y="670560"/>
                </a:lnTo>
                <a:lnTo>
                  <a:pt x="3423364" y="695590"/>
                </a:lnTo>
                <a:lnTo>
                  <a:pt x="3471757" y="722207"/>
                </a:lnTo>
                <a:lnTo>
                  <a:pt x="3517027" y="750094"/>
                </a:lnTo>
                <a:lnTo>
                  <a:pt x="3559175" y="778933"/>
                </a:lnTo>
                <a:lnTo>
                  <a:pt x="3598201" y="808408"/>
                </a:lnTo>
                <a:lnTo>
                  <a:pt x="3634105" y="838200"/>
                </a:lnTo>
                <a:lnTo>
                  <a:pt x="3667320" y="870832"/>
                </a:lnTo>
                <a:lnTo>
                  <a:pt x="3697934" y="907062"/>
                </a:lnTo>
                <a:lnTo>
                  <a:pt x="3725426" y="943928"/>
                </a:lnTo>
                <a:lnTo>
                  <a:pt x="3749275" y="978464"/>
                </a:lnTo>
                <a:lnTo>
                  <a:pt x="3768962" y="1007710"/>
                </a:lnTo>
                <a:lnTo>
                  <a:pt x="3783965" y="1028700"/>
                </a:lnTo>
                <a:lnTo>
                  <a:pt x="3802611" y="1066271"/>
                </a:lnTo>
                <a:lnTo>
                  <a:pt x="3826980" y="1118447"/>
                </a:lnTo>
                <a:lnTo>
                  <a:pt x="3856553" y="1180148"/>
                </a:lnTo>
                <a:lnTo>
                  <a:pt x="3890810" y="1246293"/>
                </a:lnTo>
                <a:lnTo>
                  <a:pt x="3929229" y="1311804"/>
                </a:lnTo>
                <a:lnTo>
                  <a:pt x="3971290" y="1371600"/>
                </a:lnTo>
                <a:lnTo>
                  <a:pt x="4017081" y="1427674"/>
                </a:lnTo>
                <a:lnTo>
                  <a:pt x="4067034" y="1484489"/>
                </a:lnTo>
                <a:lnTo>
                  <a:pt x="4121150" y="1540669"/>
                </a:lnTo>
                <a:lnTo>
                  <a:pt x="4179429" y="1594838"/>
                </a:lnTo>
                <a:lnTo>
                  <a:pt x="4241871" y="1645620"/>
                </a:lnTo>
                <a:lnTo>
                  <a:pt x="4308475" y="1691640"/>
                </a:lnTo>
                <a:lnTo>
                  <a:pt x="4380543" y="1733479"/>
                </a:lnTo>
                <a:lnTo>
                  <a:pt x="4458335" y="1772356"/>
                </a:lnTo>
                <a:lnTo>
                  <a:pt x="4540290" y="1807845"/>
                </a:lnTo>
                <a:lnTo>
                  <a:pt x="4624846" y="1839524"/>
                </a:lnTo>
                <a:lnTo>
                  <a:pt x="4710443" y="1866971"/>
                </a:lnTo>
                <a:lnTo>
                  <a:pt x="4795520" y="1889760"/>
                </a:lnTo>
                <a:lnTo>
                  <a:pt x="4881204" y="1908140"/>
                </a:lnTo>
                <a:lnTo>
                  <a:pt x="4968969" y="1922498"/>
                </a:lnTo>
                <a:lnTo>
                  <a:pt x="5057775" y="1932622"/>
                </a:lnTo>
                <a:lnTo>
                  <a:pt x="5146581" y="1938302"/>
                </a:lnTo>
                <a:lnTo>
                  <a:pt x="5234346" y="1939325"/>
                </a:lnTo>
                <a:lnTo>
                  <a:pt x="5320030" y="1935480"/>
                </a:lnTo>
                <a:lnTo>
                  <a:pt x="5404240" y="1926096"/>
                </a:lnTo>
                <a:lnTo>
                  <a:pt x="5487929" y="1911209"/>
                </a:lnTo>
                <a:lnTo>
                  <a:pt x="5570577" y="1891665"/>
                </a:lnTo>
                <a:lnTo>
                  <a:pt x="5651665" y="1868311"/>
                </a:lnTo>
                <a:lnTo>
                  <a:pt x="5730671" y="1841994"/>
                </a:lnTo>
                <a:lnTo>
                  <a:pt x="5807075" y="1813560"/>
                </a:lnTo>
                <a:lnTo>
                  <a:pt x="5881398" y="1782780"/>
                </a:lnTo>
                <a:lnTo>
                  <a:pt x="5954160" y="1748931"/>
                </a:lnTo>
                <a:lnTo>
                  <a:pt x="6024840" y="1712119"/>
                </a:lnTo>
                <a:lnTo>
                  <a:pt x="6092919" y="1672449"/>
                </a:lnTo>
                <a:lnTo>
                  <a:pt x="6157876" y="1630027"/>
                </a:lnTo>
                <a:lnTo>
                  <a:pt x="6219190" y="1584960"/>
                </a:lnTo>
                <a:lnTo>
                  <a:pt x="6276949" y="1536259"/>
                </a:lnTo>
                <a:lnTo>
                  <a:pt x="6331585" y="1483642"/>
                </a:lnTo>
                <a:lnTo>
                  <a:pt x="6383099" y="1428274"/>
                </a:lnTo>
                <a:lnTo>
                  <a:pt x="6431492" y="1371318"/>
                </a:lnTo>
                <a:lnTo>
                  <a:pt x="6476762" y="1313938"/>
                </a:lnTo>
                <a:lnTo>
                  <a:pt x="6518910" y="1257300"/>
                </a:lnTo>
                <a:lnTo>
                  <a:pt x="6556202" y="1199268"/>
                </a:lnTo>
                <a:lnTo>
                  <a:pt x="6588290" y="1138484"/>
                </a:lnTo>
                <a:lnTo>
                  <a:pt x="6617256" y="1077278"/>
                </a:lnTo>
                <a:lnTo>
                  <a:pt x="6645181" y="1017976"/>
                </a:lnTo>
                <a:lnTo>
                  <a:pt x="6674147" y="962907"/>
                </a:lnTo>
                <a:lnTo>
                  <a:pt x="6706235" y="914400"/>
                </a:lnTo>
                <a:lnTo>
                  <a:pt x="6740665" y="872243"/>
                </a:lnTo>
                <a:lnTo>
                  <a:pt x="6775615" y="834531"/>
                </a:lnTo>
                <a:lnTo>
                  <a:pt x="6811605" y="801052"/>
                </a:lnTo>
                <a:lnTo>
                  <a:pt x="6849157" y="771596"/>
                </a:lnTo>
                <a:lnTo>
                  <a:pt x="6888790" y="745949"/>
                </a:lnTo>
                <a:lnTo>
                  <a:pt x="6931025" y="723900"/>
                </a:lnTo>
                <a:lnTo>
                  <a:pt x="6977076" y="706102"/>
                </a:lnTo>
                <a:lnTo>
                  <a:pt x="7026769" y="692856"/>
                </a:lnTo>
                <a:lnTo>
                  <a:pt x="7078543" y="683419"/>
                </a:lnTo>
                <a:lnTo>
                  <a:pt x="7130838" y="677051"/>
                </a:lnTo>
                <a:lnTo>
                  <a:pt x="7182093" y="673012"/>
                </a:lnTo>
                <a:lnTo>
                  <a:pt x="7230745" y="670560"/>
                </a:lnTo>
                <a:lnTo>
                  <a:pt x="7279658" y="671142"/>
                </a:lnTo>
                <a:lnTo>
                  <a:pt x="7330652" y="675640"/>
                </a:lnTo>
                <a:lnTo>
                  <a:pt x="7380605" y="682466"/>
                </a:lnTo>
                <a:lnTo>
                  <a:pt x="7426396" y="690033"/>
                </a:lnTo>
                <a:lnTo>
                  <a:pt x="7464901" y="696754"/>
                </a:lnTo>
                <a:lnTo>
                  <a:pt x="7493000" y="701040"/>
                </a:lnTo>
                <a:lnTo>
                  <a:pt x="7493000" y="4267200"/>
                </a:lnTo>
                <a:lnTo>
                  <a:pt x="0" y="4267200"/>
                </a:lnTo>
                <a:close/>
              </a:path>
            </a:pathLst>
          </a:custGeom>
          <a:solidFill>
            <a:srgbClr val="EFE9DE"/>
          </a:solidFill>
          <a:ln>
            <a:noFill/>
          </a:ln>
          <a:effectLst/>
        </p:spPr>
        <p:txBody>
          <a:bodyPr rtlCol="0" anchor="ctr"/>
          <a:lstStyle/>
          <a:p>
            <a:pPr algn="ctr"/>
          </a:p>
        </p:txBody>
      </p:sp>
      <p:sp>
        <p:nvSpPr>
          <p:cNvPr id="13" name="Freeform 12"/>
          <p:cNvSpPr/>
          <p:nvPr/>
        </p:nvSpPr>
        <p:spPr>
          <a:xfrm>
            <a:off x="508000" y="1765300"/>
            <a:ext cx="7493000" cy="1939325"/>
          </a:xfrm>
          <a:custGeom>
            <a:avLst/>
            <a:gdLst/>
            <a:ahLst/>
            <a:cxnLst/>
            <a:rect l="l" t="t" r="r" b="b"/>
            <a:pathLst>
              <a:path w="7493000" h="1939325">
                <a:moveTo>
                  <a:pt x="0" y="91440"/>
                </a:moveTo>
                <a:lnTo>
                  <a:pt x="48913" y="78493"/>
                </a:lnTo>
                <a:lnTo>
                  <a:pt x="116558" y="58138"/>
                </a:lnTo>
                <a:lnTo>
                  <a:pt x="196691" y="35242"/>
                </a:lnTo>
                <a:lnTo>
                  <a:pt x="283069" y="14676"/>
                </a:lnTo>
                <a:lnTo>
                  <a:pt x="369447" y="1305"/>
                </a:lnTo>
                <a:lnTo>
                  <a:pt x="449580" y="0"/>
                </a:lnTo>
                <a:lnTo>
                  <a:pt x="523643" y="14182"/>
                </a:lnTo>
                <a:lnTo>
                  <a:pt x="596665" y="40640"/>
                </a:lnTo>
                <a:lnTo>
                  <a:pt x="669687" y="74295"/>
                </a:lnTo>
                <a:lnTo>
                  <a:pt x="743750" y="110067"/>
                </a:lnTo>
                <a:lnTo>
                  <a:pt x="819894" y="142875"/>
                </a:lnTo>
                <a:lnTo>
                  <a:pt x="899160" y="167640"/>
                </a:lnTo>
                <a:lnTo>
                  <a:pt x="982242" y="183444"/>
                </a:lnTo>
                <a:lnTo>
                  <a:pt x="1068446" y="194169"/>
                </a:lnTo>
                <a:lnTo>
                  <a:pt x="1156732" y="201930"/>
                </a:lnTo>
                <a:lnTo>
                  <a:pt x="1246058" y="208844"/>
                </a:lnTo>
                <a:lnTo>
                  <a:pt x="1335384" y="217029"/>
                </a:lnTo>
                <a:lnTo>
                  <a:pt x="1423670" y="228600"/>
                </a:lnTo>
                <a:lnTo>
                  <a:pt x="1511088" y="243911"/>
                </a:lnTo>
                <a:lnTo>
                  <a:pt x="1598507" y="261338"/>
                </a:lnTo>
                <a:lnTo>
                  <a:pt x="1685925" y="280035"/>
                </a:lnTo>
                <a:lnTo>
                  <a:pt x="1773343" y="299156"/>
                </a:lnTo>
                <a:lnTo>
                  <a:pt x="1860762" y="317853"/>
                </a:lnTo>
                <a:lnTo>
                  <a:pt x="1948180" y="335280"/>
                </a:lnTo>
                <a:lnTo>
                  <a:pt x="2035598" y="351049"/>
                </a:lnTo>
                <a:lnTo>
                  <a:pt x="2123017" y="365760"/>
                </a:lnTo>
                <a:lnTo>
                  <a:pt x="2210435" y="380048"/>
                </a:lnTo>
                <a:lnTo>
                  <a:pt x="2297853" y="394547"/>
                </a:lnTo>
                <a:lnTo>
                  <a:pt x="2385272" y="409892"/>
                </a:lnTo>
                <a:lnTo>
                  <a:pt x="2472690" y="426720"/>
                </a:lnTo>
                <a:lnTo>
                  <a:pt x="2561843" y="445276"/>
                </a:lnTo>
                <a:lnTo>
                  <a:pt x="2653077" y="465102"/>
                </a:lnTo>
                <a:lnTo>
                  <a:pt x="2744311" y="485775"/>
                </a:lnTo>
                <a:lnTo>
                  <a:pt x="2833464" y="506871"/>
                </a:lnTo>
                <a:lnTo>
                  <a:pt x="2918454" y="527967"/>
                </a:lnTo>
                <a:lnTo>
                  <a:pt x="2997200" y="548640"/>
                </a:lnTo>
                <a:lnTo>
                  <a:pt x="3069615" y="568431"/>
                </a:lnTo>
                <a:lnTo>
                  <a:pt x="3137347" y="587587"/>
                </a:lnTo>
                <a:lnTo>
                  <a:pt x="3200916" y="606742"/>
                </a:lnTo>
                <a:lnTo>
                  <a:pt x="3260843" y="626533"/>
                </a:lnTo>
                <a:lnTo>
                  <a:pt x="3317647" y="647594"/>
                </a:lnTo>
                <a:lnTo>
                  <a:pt x="3371850" y="670560"/>
                </a:lnTo>
                <a:lnTo>
                  <a:pt x="3423364" y="695590"/>
                </a:lnTo>
                <a:lnTo>
                  <a:pt x="3471757" y="722207"/>
                </a:lnTo>
                <a:lnTo>
                  <a:pt x="3517027" y="750094"/>
                </a:lnTo>
                <a:lnTo>
                  <a:pt x="3559175" y="778933"/>
                </a:lnTo>
                <a:lnTo>
                  <a:pt x="3598201" y="808408"/>
                </a:lnTo>
                <a:lnTo>
                  <a:pt x="3634105" y="838200"/>
                </a:lnTo>
                <a:lnTo>
                  <a:pt x="3667320" y="870832"/>
                </a:lnTo>
                <a:lnTo>
                  <a:pt x="3697934" y="907062"/>
                </a:lnTo>
                <a:lnTo>
                  <a:pt x="3725426" y="943928"/>
                </a:lnTo>
                <a:lnTo>
                  <a:pt x="3749275" y="978464"/>
                </a:lnTo>
                <a:lnTo>
                  <a:pt x="3768962" y="1007710"/>
                </a:lnTo>
                <a:lnTo>
                  <a:pt x="3783965" y="1028700"/>
                </a:lnTo>
                <a:lnTo>
                  <a:pt x="3802611" y="1066271"/>
                </a:lnTo>
                <a:lnTo>
                  <a:pt x="3826980" y="1118447"/>
                </a:lnTo>
                <a:lnTo>
                  <a:pt x="3856553" y="1180148"/>
                </a:lnTo>
                <a:lnTo>
                  <a:pt x="3890810" y="1246293"/>
                </a:lnTo>
                <a:lnTo>
                  <a:pt x="3929229" y="1311804"/>
                </a:lnTo>
                <a:lnTo>
                  <a:pt x="3971290" y="1371600"/>
                </a:lnTo>
                <a:lnTo>
                  <a:pt x="4017081" y="1427674"/>
                </a:lnTo>
                <a:lnTo>
                  <a:pt x="4067034" y="1484489"/>
                </a:lnTo>
                <a:lnTo>
                  <a:pt x="4121150" y="1540669"/>
                </a:lnTo>
                <a:lnTo>
                  <a:pt x="4179429" y="1594838"/>
                </a:lnTo>
                <a:lnTo>
                  <a:pt x="4241871" y="1645620"/>
                </a:lnTo>
                <a:lnTo>
                  <a:pt x="4308475" y="1691640"/>
                </a:lnTo>
                <a:lnTo>
                  <a:pt x="4380543" y="1733479"/>
                </a:lnTo>
                <a:lnTo>
                  <a:pt x="4458335" y="1772356"/>
                </a:lnTo>
                <a:lnTo>
                  <a:pt x="4540290" y="1807845"/>
                </a:lnTo>
                <a:lnTo>
                  <a:pt x="4624846" y="1839524"/>
                </a:lnTo>
                <a:lnTo>
                  <a:pt x="4710443" y="1866971"/>
                </a:lnTo>
                <a:lnTo>
                  <a:pt x="4795520" y="1889760"/>
                </a:lnTo>
                <a:lnTo>
                  <a:pt x="4881204" y="1908140"/>
                </a:lnTo>
                <a:lnTo>
                  <a:pt x="4968969" y="1922498"/>
                </a:lnTo>
                <a:lnTo>
                  <a:pt x="5057775" y="1932622"/>
                </a:lnTo>
                <a:lnTo>
                  <a:pt x="5146581" y="1938302"/>
                </a:lnTo>
                <a:lnTo>
                  <a:pt x="5234346" y="1939325"/>
                </a:lnTo>
                <a:lnTo>
                  <a:pt x="5320030" y="1935480"/>
                </a:lnTo>
                <a:lnTo>
                  <a:pt x="5404240" y="1926096"/>
                </a:lnTo>
                <a:lnTo>
                  <a:pt x="5487929" y="1911209"/>
                </a:lnTo>
                <a:lnTo>
                  <a:pt x="5570577" y="1891665"/>
                </a:lnTo>
                <a:lnTo>
                  <a:pt x="5651665" y="1868311"/>
                </a:lnTo>
                <a:lnTo>
                  <a:pt x="5730671" y="1841994"/>
                </a:lnTo>
                <a:lnTo>
                  <a:pt x="5807075" y="1813560"/>
                </a:lnTo>
                <a:lnTo>
                  <a:pt x="5881398" y="1782780"/>
                </a:lnTo>
                <a:lnTo>
                  <a:pt x="5954160" y="1748931"/>
                </a:lnTo>
                <a:lnTo>
                  <a:pt x="6024840" y="1712119"/>
                </a:lnTo>
                <a:lnTo>
                  <a:pt x="6092919" y="1672449"/>
                </a:lnTo>
                <a:lnTo>
                  <a:pt x="6157876" y="1630027"/>
                </a:lnTo>
                <a:lnTo>
                  <a:pt x="6219190" y="1584960"/>
                </a:lnTo>
                <a:lnTo>
                  <a:pt x="6276949" y="1536259"/>
                </a:lnTo>
                <a:lnTo>
                  <a:pt x="6331585" y="1483642"/>
                </a:lnTo>
                <a:lnTo>
                  <a:pt x="6383099" y="1428274"/>
                </a:lnTo>
                <a:lnTo>
                  <a:pt x="6431492" y="1371318"/>
                </a:lnTo>
                <a:lnTo>
                  <a:pt x="6476762" y="1313938"/>
                </a:lnTo>
                <a:lnTo>
                  <a:pt x="6518910" y="1257300"/>
                </a:lnTo>
                <a:lnTo>
                  <a:pt x="6556202" y="1199268"/>
                </a:lnTo>
                <a:lnTo>
                  <a:pt x="6588290" y="1138484"/>
                </a:lnTo>
                <a:lnTo>
                  <a:pt x="6617256" y="1077278"/>
                </a:lnTo>
                <a:lnTo>
                  <a:pt x="6645181" y="1017976"/>
                </a:lnTo>
                <a:lnTo>
                  <a:pt x="6674147" y="962907"/>
                </a:lnTo>
                <a:lnTo>
                  <a:pt x="6706235" y="914400"/>
                </a:lnTo>
                <a:lnTo>
                  <a:pt x="6740665" y="872243"/>
                </a:lnTo>
                <a:lnTo>
                  <a:pt x="6775615" y="834531"/>
                </a:lnTo>
                <a:lnTo>
                  <a:pt x="6811605" y="801052"/>
                </a:lnTo>
                <a:lnTo>
                  <a:pt x="6849157" y="771596"/>
                </a:lnTo>
                <a:lnTo>
                  <a:pt x="6888790" y="745949"/>
                </a:lnTo>
                <a:lnTo>
                  <a:pt x="6931025" y="723900"/>
                </a:lnTo>
                <a:lnTo>
                  <a:pt x="6977076" y="706102"/>
                </a:lnTo>
                <a:lnTo>
                  <a:pt x="7026769" y="692856"/>
                </a:lnTo>
                <a:lnTo>
                  <a:pt x="7078543" y="683419"/>
                </a:lnTo>
                <a:lnTo>
                  <a:pt x="7130838" y="677051"/>
                </a:lnTo>
                <a:lnTo>
                  <a:pt x="7182093" y="673012"/>
                </a:lnTo>
                <a:lnTo>
                  <a:pt x="7230745" y="670560"/>
                </a:lnTo>
                <a:lnTo>
                  <a:pt x="7279658" y="671142"/>
                </a:lnTo>
                <a:lnTo>
                  <a:pt x="7330652" y="675640"/>
                </a:lnTo>
                <a:lnTo>
                  <a:pt x="7380605" y="682466"/>
                </a:lnTo>
                <a:lnTo>
                  <a:pt x="7426396" y="690033"/>
                </a:lnTo>
                <a:lnTo>
                  <a:pt x="7464901" y="696754"/>
                </a:lnTo>
                <a:lnTo>
                  <a:pt x="7493000" y="701040"/>
                </a:lnTo>
              </a:path>
            </a:pathLst>
          </a:custGeom>
          <a:noFill/>
          <a:ln w="15875">
            <a:solidFill>
              <a:srgbClr val="8C9AA0"/>
            </a:solidFill>
          </a:ln>
          <a:effectLst/>
        </p:spPr>
        <p:txBody>
          <a:bodyPr rtlCol="0" anchor="ctr"/>
          <a:lstStyle/>
          <a:p>
            <a:pPr algn="ctr"/>
          </a:p>
        </p:txBody>
      </p:sp>
      <p:sp>
        <p:nvSpPr>
          <p:cNvPr id="14" name="TextBox 13"/>
          <p:cNvSpPr txBox="1"/>
          <p:nvPr/>
        </p:nvSpPr>
        <p:spPr>
          <a:xfrm>
            <a:off x="2381250" y="1521460"/>
            <a:ext cx="2540000" cy="152400"/>
          </a:xfrm>
          <a:prstGeom prst="rect">
            <a:avLst/>
          </a:prstGeom>
          <a:noFill/>
        </p:spPr>
        <p:txBody>
          <a:bodyPr wrap="square" lIns="0" rIns="0" tIns="0" bIns="0" anchor="t">
            <a:spAutoFit/>
          </a:bodyPr>
          <a:lstStyle/>
          <a:p>
            <a:pPr algn="l">
              <a:lnSpc>
                <a:spcPct val="115000"/>
              </a:lnSpc>
            </a:pPr>
            <a:r>
              <a:rPr sz="1000" b="1" i="1">
                <a:solidFill>
                  <a:srgbClr val="5C7884"/>
                </a:solidFill>
                <a:latin typeface="Inter"/>
              </a:rPr>
              <a:t>DÉTROIT DE GIBRALTAR</a:t>
            </a:r>
          </a:p>
        </p:txBody>
      </p:sp>
      <p:sp>
        <p:nvSpPr>
          <p:cNvPr id="15" name="TextBox 14"/>
          <p:cNvSpPr txBox="1"/>
          <p:nvPr/>
        </p:nvSpPr>
        <p:spPr>
          <a:xfrm>
            <a:off x="5303520" y="2603500"/>
            <a:ext cx="1651000" cy="152400"/>
          </a:xfrm>
          <a:prstGeom prst="rect">
            <a:avLst/>
          </a:prstGeom>
          <a:noFill/>
        </p:spPr>
        <p:txBody>
          <a:bodyPr wrap="square" lIns="0" rIns="0" tIns="0" bIns="0" anchor="t">
            <a:spAutoFit/>
          </a:bodyPr>
          <a:lstStyle/>
          <a:p>
            <a:pPr algn="l">
              <a:lnSpc>
                <a:spcPct val="115000"/>
              </a:lnSpc>
            </a:pPr>
            <a:r>
              <a:rPr sz="1000" b="0" i="1">
                <a:solidFill>
                  <a:srgbClr val="5C7884"/>
                </a:solidFill>
                <a:latin typeface="Inter"/>
              </a:rPr>
              <a:t>Baie de Tanger</a:t>
            </a:r>
          </a:p>
        </p:txBody>
      </p:sp>
      <p:sp>
        <p:nvSpPr>
          <p:cNvPr id="16" name="Rectangle 15"/>
          <p:cNvSpPr/>
          <p:nvPr/>
        </p:nvSpPr>
        <p:spPr>
          <a:xfrm>
            <a:off x="508000" y="1460500"/>
            <a:ext cx="7493000" cy="4572000"/>
          </a:xfrm>
          <a:prstGeom prst="rect">
            <a:avLst/>
          </a:prstGeom>
          <a:noFill/>
          <a:ln w="9525">
            <a:solidFill>
              <a:srgbClr val="CFC8BC"/>
            </a:solidFill>
          </a:ln>
          <a:effectLst/>
        </p:spPr>
        <p:txBody>
          <a:bodyPr rtlCol="0" anchor="ctr"/>
          <a:lstStyle/>
          <a:p>
            <a:pPr algn="ctr"/>
          </a:p>
        </p:txBody>
      </p:sp>
      <p:sp>
        <p:nvSpPr>
          <p:cNvPr id="17" name="Freeform 16"/>
          <p:cNvSpPr/>
          <p:nvPr/>
        </p:nvSpPr>
        <p:spPr>
          <a:xfrm>
            <a:off x="4078987" y="3577627"/>
            <a:ext cx="1273810" cy="835275"/>
          </a:xfrm>
          <a:custGeom>
            <a:avLst/>
            <a:gdLst/>
            <a:ahLst/>
            <a:cxnLst/>
            <a:rect l="l" t="t" r="r" b="b"/>
            <a:pathLst>
              <a:path w="1273810" h="835275">
                <a:moveTo>
                  <a:pt x="1273810" y="397473"/>
                </a:moveTo>
                <a:lnTo>
                  <a:pt x="1272799" y="451166"/>
                </a:lnTo>
                <a:lnTo>
                  <a:pt x="1263319" y="507464"/>
                </a:lnTo>
                <a:lnTo>
                  <a:pt x="1244702" y="563320"/>
                </a:lnTo>
                <a:lnTo>
                  <a:pt x="1216279" y="615686"/>
                </a:lnTo>
                <a:lnTo>
                  <a:pt x="1177381" y="661513"/>
                </a:lnTo>
                <a:lnTo>
                  <a:pt x="1125036" y="701359"/>
                </a:lnTo>
                <a:lnTo>
                  <a:pt x="1059689" y="737257"/>
                </a:lnTo>
                <a:lnTo>
                  <a:pt x="985800" y="768370"/>
                </a:lnTo>
                <a:lnTo>
                  <a:pt x="907824" y="793861"/>
                </a:lnTo>
                <a:lnTo>
                  <a:pt x="830220" y="812894"/>
                </a:lnTo>
                <a:lnTo>
                  <a:pt x="750171" y="825993"/>
                </a:lnTo>
                <a:lnTo>
                  <a:pt x="664707" y="833715"/>
                </a:lnTo>
                <a:lnTo>
                  <a:pt x="578050" y="835275"/>
                </a:lnTo>
                <a:lnTo>
                  <a:pt x="494424" y="829888"/>
                </a:lnTo>
                <a:lnTo>
                  <a:pt x="418052" y="816771"/>
                </a:lnTo>
                <a:lnTo>
                  <a:pt x="347760" y="794107"/>
                </a:lnTo>
                <a:lnTo>
                  <a:pt x="280733" y="762419"/>
                </a:lnTo>
                <a:lnTo>
                  <a:pt x="218732" y="724431"/>
                </a:lnTo>
                <a:lnTo>
                  <a:pt x="163517" y="682868"/>
                </a:lnTo>
                <a:lnTo>
                  <a:pt x="116851" y="640455"/>
                </a:lnTo>
                <a:lnTo>
                  <a:pt x="77463" y="595896"/>
                </a:lnTo>
                <a:lnTo>
                  <a:pt x="44180" y="547374"/>
                </a:lnTo>
                <a:lnTo>
                  <a:pt x="18905" y="496833"/>
                </a:lnTo>
                <a:lnTo>
                  <a:pt x="3544" y="446218"/>
                </a:lnTo>
                <a:lnTo>
                  <a:pt x="0" y="397473"/>
                </a:lnTo>
                <a:lnTo>
                  <a:pt x="10206" y="349618"/>
                </a:lnTo>
                <a:lnTo>
                  <a:pt x="32894" y="301358"/>
                </a:lnTo>
                <a:lnTo>
                  <a:pt x="65162" y="254162"/>
                </a:lnTo>
                <a:lnTo>
                  <a:pt x="104113" y="209496"/>
                </a:lnTo>
                <a:lnTo>
                  <a:pt x="146847" y="168831"/>
                </a:lnTo>
                <a:lnTo>
                  <a:pt x="194285" y="130863"/>
                </a:lnTo>
                <a:lnTo>
                  <a:pt x="248359" y="94613"/>
                </a:lnTo>
                <a:lnTo>
                  <a:pt x="307689" y="62035"/>
                </a:lnTo>
                <a:lnTo>
                  <a:pt x="370893" y="35085"/>
                </a:lnTo>
                <a:lnTo>
                  <a:pt x="436591" y="15719"/>
                </a:lnTo>
                <a:lnTo>
                  <a:pt x="506777" y="4458"/>
                </a:lnTo>
                <a:lnTo>
                  <a:pt x="582372" y="0"/>
                </a:lnTo>
                <a:lnTo>
                  <a:pt x="660384" y="1560"/>
                </a:lnTo>
                <a:lnTo>
                  <a:pt x="737818" y="8353"/>
                </a:lnTo>
                <a:lnTo>
                  <a:pt x="811681" y="19596"/>
                </a:lnTo>
                <a:lnTo>
                  <a:pt x="884691" y="35332"/>
                </a:lnTo>
                <a:lnTo>
                  <a:pt x="958844" y="56084"/>
                </a:lnTo>
                <a:lnTo>
                  <a:pt x="1030062" y="81787"/>
                </a:lnTo>
                <a:lnTo>
                  <a:pt x="1094268" y="112372"/>
                </a:lnTo>
                <a:lnTo>
                  <a:pt x="1147385" y="147774"/>
                </a:lnTo>
                <a:lnTo>
                  <a:pt x="1189629" y="189707"/>
                </a:lnTo>
                <a:lnTo>
                  <a:pt x="1223720" y="238216"/>
                </a:lnTo>
                <a:lnTo>
                  <a:pt x="1249331" y="290728"/>
                </a:lnTo>
                <a:lnTo>
                  <a:pt x="1266136" y="344671"/>
                </a:lnTo>
                <a:close/>
              </a:path>
            </a:pathLst>
          </a:custGeom>
          <a:solidFill>
            <a:srgbClr val="D4CCBE"/>
          </a:solidFill>
          <a:ln>
            <a:noFill/>
          </a:ln>
          <a:effectLst/>
        </p:spPr>
        <p:txBody>
          <a:bodyPr rtlCol="0" anchor="ctr"/>
          <a:lstStyle/>
          <a:p>
            <a:pPr algn="ctr"/>
          </a:p>
        </p:txBody>
      </p:sp>
      <p:sp>
        <p:nvSpPr>
          <p:cNvPr id="18" name="Freeform 17"/>
          <p:cNvSpPr/>
          <p:nvPr/>
        </p:nvSpPr>
        <p:spPr>
          <a:xfrm>
            <a:off x="2937139" y="3835297"/>
            <a:ext cx="1426565" cy="1079374"/>
          </a:xfrm>
          <a:custGeom>
            <a:avLst/>
            <a:gdLst/>
            <a:ahLst/>
            <a:cxnLst/>
            <a:rect l="l" t="t" r="r" b="b"/>
            <a:pathLst>
              <a:path w="1426565" h="1079374">
                <a:moveTo>
                  <a:pt x="1423670" y="520803"/>
                </a:moveTo>
                <a:lnTo>
                  <a:pt x="1426490" y="592990"/>
                </a:lnTo>
                <a:lnTo>
                  <a:pt x="1426565" y="669067"/>
                </a:lnTo>
                <a:lnTo>
                  <a:pt x="1418895" y="744024"/>
                </a:lnTo>
                <a:lnTo>
                  <a:pt x="1398480" y="812851"/>
                </a:lnTo>
                <a:lnTo>
                  <a:pt x="1360319" y="870538"/>
                </a:lnTo>
                <a:lnTo>
                  <a:pt x="1299159" y="915776"/>
                </a:lnTo>
                <a:lnTo>
                  <a:pt x="1218332" y="951904"/>
                </a:lnTo>
                <a:lnTo>
                  <a:pt x="1125719" y="980887"/>
                </a:lnTo>
                <a:lnTo>
                  <a:pt x="1029205" y="1004690"/>
                </a:lnTo>
                <a:lnTo>
                  <a:pt x="936668" y="1025279"/>
                </a:lnTo>
                <a:lnTo>
                  <a:pt x="845077" y="1045590"/>
                </a:lnTo>
                <a:lnTo>
                  <a:pt x="749177" y="1064313"/>
                </a:lnTo>
                <a:lnTo>
                  <a:pt x="653518" y="1077043"/>
                </a:lnTo>
                <a:lnTo>
                  <a:pt x="562650" y="1079374"/>
                </a:lnTo>
                <a:lnTo>
                  <a:pt x="481125" y="1066903"/>
                </a:lnTo>
                <a:lnTo>
                  <a:pt x="409633" y="1035458"/>
                </a:lnTo>
                <a:lnTo>
                  <a:pt x="345141" y="987976"/>
                </a:lnTo>
                <a:lnTo>
                  <a:pt x="286611" y="930713"/>
                </a:lnTo>
                <a:lnTo>
                  <a:pt x="233009" y="869923"/>
                </a:lnTo>
                <a:lnTo>
                  <a:pt x="183297" y="811864"/>
                </a:lnTo>
                <a:lnTo>
                  <a:pt x="133038" y="755737"/>
                </a:lnTo>
                <a:lnTo>
                  <a:pt x="82923" y="697373"/>
                </a:lnTo>
                <a:lnTo>
                  <a:pt x="39609" y="637967"/>
                </a:lnTo>
                <a:lnTo>
                  <a:pt x="9749" y="578712"/>
                </a:lnTo>
                <a:lnTo>
                  <a:pt x="0" y="520803"/>
                </a:lnTo>
                <a:lnTo>
                  <a:pt x="15357" y="463748"/>
                </a:lnTo>
                <a:lnTo>
                  <a:pt x="51383" y="406751"/>
                </a:lnTo>
                <a:lnTo>
                  <a:pt x="100586" y="350549"/>
                </a:lnTo>
                <a:lnTo>
                  <a:pt x="155471" y="295883"/>
                </a:lnTo>
                <a:lnTo>
                  <a:pt x="208546" y="243489"/>
                </a:lnTo>
                <a:lnTo>
                  <a:pt x="258908" y="189690"/>
                </a:lnTo>
                <a:lnTo>
                  <a:pt x="311551" y="133993"/>
                </a:lnTo>
                <a:lnTo>
                  <a:pt x="367831" y="81916"/>
                </a:lnTo>
                <a:lnTo>
                  <a:pt x="429106" y="38976"/>
                </a:lnTo>
                <a:lnTo>
                  <a:pt x="496730" y="10692"/>
                </a:lnTo>
                <a:lnTo>
                  <a:pt x="573048" y="0"/>
                </a:lnTo>
                <a:lnTo>
                  <a:pt x="657156" y="3221"/>
                </a:lnTo>
                <a:lnTo>
                  <a:pt x="745538" y="15951"/>
                </a:lnTo>
                <a:lnTo>
                  <a:pt x="834679" y="33784"/>
                </a:lnTo>
                <a:lnTo>
                  <a:pt x="921063" y="52316"/>
                </a:lnTo>
                <a:lnTo>
                  <a:pt x="1009732" y="69743"/>
                </a:lnTo>
                <a:lnTo>
                  <a:pt x="1103029" y="89005"/>
                </a:lnTo>
                <a:lnTo>
                  <a:pt x="1193392" y="112802"/>
                </a:lnTo>
                <a:lnTo>
                  <a:pt x="1273260" y="143837"/>
                </a:lnTo>
                <a:lnTo>
                  <a:pt x="1335070" y="184814"/>
                </a:lnTo>
                <a:lnTo>
                  <a:pt x="1376047" y="238769"/>
                </a:lnTo>
                <a:lnTo>
                  <a:pt x="1401233" y="303899"/>
                </a:lnTo>
                <a:lnTo>
                  <a:pt x="1414790" y="375650"/>
                </a:lnTo>
                <a:lnTo>
                  <a:pt x="1420882" y="449470"/>
                </a:lnTo>
                <a:close/>
              </a:path>
            </a:pathLst>
          </a:custGeom>
          <a:solidFill>
            <a:srgbClr val="C9D5E3"/>
          </a:solidFill>
          <a:ln>
            <a:noFill/>
          </a:ln>
          <a:effectLst/>
        </p:spPr>
        <p:txBody>
          <a:bodyPr rtlCol="0" anchor="ctr"/>
          <a:lstStyle/>
          <a:p>
            <a:pPr algn="ctr"/>
          </a:p>
        </p:txBody>
      </p:sp>
      <p:sp>
        <p:nvSpPr>
          <p:cNvPr id="19" name="Freeform 18"/>
          <p:cNvSpPr/>
          <p:nvPr/>
        </p:nvSpPr>
        <p:spPr>
          <a:xfrm>
            <a:off x="2095359" y="3483050"/>
            <a:ext cx="1198880" cy="848999"/>
          </a:xfrm>
          <a:custGeom>
            <a:avLst/>
            <a:gdLst/>
            <a:ahLst/>
            <a:cxnLst/>
            <a:rect l="l" t="t" r="r" b="b"/>
            <a:pathLst>
              <a:path w="1198880" h="848999">
                <a:moveTo>
                  <a:pt x="1198880" y="415850"/>
                </a:moveTo>
                <a:lnTo>
                  <a:pt x="1191111" y="467411"/>
                </a:lnTo>
                <a:lnTo>
                  <a:pt x="1168005" y="520623"/>
                </a:lnTo>
                <a:lnTo>
                  <a:pt x="1133582" y="573387"/>
                </a:lnTo>
                <a:lnTo>
                  <a:pt x="1091862" y="623606"/>
                </a:lnTo>
                <a:lnTo>
                  <a:pt x="1046864" y="669181"/>
                </a:lnTo>
                <a:lnTo>
                  <a:pt x="997439" y="712167"/>
                </a:lnTo>
                <a:lnTo>
                  <a:pt x="940909" y="753965"/>
                </a:lnTo>
                <a:lnTo>
                  <a:pt x="878995" y="791489"/>
                </a:lnTo>
                <a:lnTo>
                  <a:pt x="813420" y="821657"/>
                </a:lnTo>
                <a:lnTo>
                  <a:pt x="745906" y="841384"/>
                </a:lnTo>
                <a:lnTo>
                  <a:pt x="674020" y="848999"/>
                </a:lnTo>
                <a:lnTo>
                  <a:pt x="596613" y="846556"/>
                </a:lnTo>
                <a:lnTo>
                  <a:pt x="517336" y="836565"/>
                </a:lnTo>
                <a:lnTo>
                  <a:pt x="439838" y="821535"/>
                </a:lnTo>
                <a:lnTo>
                  <a:pt x="367771" y="803975"/>
                </a:lnTo>
                <a:lnTo>
                  <a:pt x="298515" y="783854"/>
                </a:lnTo>
                <a:lnTo>
                  <a:pt x="229635" y="759501"/>
                </a:lnTo>
                <a:lnTo>
                  <a:pt x="165062" y="730960"/>
                </a:lnTo>
                <a:lnTo>
                  <a:pt x="108725" y="698277"/>
                </a:lnTo>
                <a:lnTo>
                  <a:pt x="64554" y="661497"/>
                </a:lnTo>
                <a:lnTo>
                  <a:pt x="34105" y="618870"/>
                </a:lnTo>
                <a:lnTo>
                  <a:pt x="14757" y="570364"/>
                </a:lnTo>
                <a:lnTo>
                  <a:pt x="4177" y="518608"/>
                </a:lnTo>
                <a:lnTo>
                  <a:pt x="36" y="466227"/>
                </a:lnTo>
                <a:lnTo>
                  <a:pt x="0" y="415850"/>
                </a:lnTo>
                <a:lnTo>
                  <a:pt x="2789" y="365864"/>
                </a:lnTo>
                <a:lnTo>
                  <a:pt x="9958" y="314517"/>
                </a:lnTo>
                <a:lnTo>
                  <a:pt x="23427" y="264229"/>
                </a:lnTo>
                <a:lnTo>
                  <a:pt x="45117" y="217417"/>
                </a:lnTo>
                <a:lnTo>
                  <a:pt x="76949" y="176499"/>
                </a:lnTo>
                <a:lnTo>
                  <a:pt x="121438" y="141671"/>
                </a:lnTo>
                <a:lnTo>
                  <a:pt x="177304" y="111320"/>
                </a:lnTo>
                <a:lnTo>
                  <a:pt x="240773" y="85155"/>
                </a:lnTo>
                <a:lnTo>
                  <a:pt x="308074" y="62882"/>
                </a:lnTo>
                <a:lnTo>
                  <a:pt x="375432" y="44209"/>
                </a:lnTo>
                <a:lnTo>
                  <a:pt x="444943" y="27464"/>
                </a:lnTo>
                <a:lnTo>
                  <a:pt x="519122" y="12841"/>
                </a:lnTo>
                <a:lnTo>
                  <a:pt x="594827" y="2850"/>
                </a:lnTo>
                <a:lnTo>
                  <a:pt x="668915" y="0"/>
                </a:lnTo>
                <a:lnTo>
                  <a:pt x="738246" y="6799"/>
                </a:lnTo>
                <a:lnTo>
                  <a:pt x="803861" y="25079"/>
                </a:lnTo>
                <a:lnTo>
                  <a:pt x="867856" y="53166"/>
                </a:lnTo>
                <a:lnTo>
                  <a:pt x="928666" y="88315"/>
                </a:lnTo>
                <a:lnTo>
                  <a:pt x="984726" y="127780"/>
                </a:lnTo>
                <a:lnTo>
                  <a:pt x="1034469" y="168816"/>
                </a:lnTo>
                <a:lnTo>
                  <a:pt x="1080850" y="212681"/>
                </a:lnTo>
                <a:lnTo>
                  <a:pt x="1124912" y="261206"/>
                </a:lnTo>
                <a:lnTo>
                  <a:pt x="1162225" y="312502"/>
                </a:lnTo>
                <a:lnTo>
                  <a:pt x="1188358" y="364680"/>
                </a:lnTo>
                <a:close/>
              </a:path>
            </a:pathLst>
          </a:custGeom>
          <a:solidFill>
            <a:srgbClr val="C9D5E3"/>
          </a:solidFill>
          <a:ln>
            <a:noFill/>
          </a:ln>
          <a:effectLst/>
        </p:spPr>
        <p:txBody>
          <a:bodyPr rtlCol="0" anchor="ctr"/>
          <a:lstStyle/>
          <a:p>
            <a:pPr algn="ctr"/>
          </a:p>
        </p:txBody>
      </p:sp>
      <p:sp>
        <p:nvSpPr>
          <p:cNvPr id="20" name="Freeform 19"/>
          <p:cNvSpPr/>
          <p:nvPr/>
        </p:nvSpPr>
        <p:spPr>
          <a:xfrm>
            <a:off x="4434629" y="4460735"/>
            <a:ext cx="1274708" cy="860907"/>
          </a:xfrm>
          <a:custGeom>
            <a:avLst/>
            <a:gdLst/>
            <a:ahLst/>
            <a:cxnLst/>
            <a:rect l="l" t="t" r="r" b="b"/>
            <a:pathLst>
              <a:path w="1274708" h="860907">
                <a:moveTo>
                  <a:pt x="1274708" y="428765"/>
                </a:moveTo>
                <a:lnTo>
                  <a:pt x="1263163" y="479183"/>
                </a:lnTo>
                <a:lnTo>
                  <a:pt x="1232216" y="530749"/>
                </a:lnTo>
                <a:lnTo>
                  <a:pt x="1188170" y="581814"/>
                </a:lnTo>
                <a:lnTo>
                  <a:pt x="1137325" y="630730"/>
                </a:lnTo>
                <a:lnTo>
                  <a:pt x="1085986" y="675846"/>
                </a:lnTo>
                <a:lnTo>
                  <a:pt x="1033699" y="719803"/>
                </a:lnTo>
                <a:lnTo>
                  <a:pt x="976261" y="763700"/>
                </a:lnTo>
                <a:lnTo>
                  <a:pt x="914354" y="803577"/>
                </a:lnTo>
                <a:lnTo>
                  <a:pt x="848656" y="835474"/>
                </a:lnTo>
                <a:lnTo>
                  <a:pt x="779849" y="855429"/>
                </a:lnTo>
                <a:lnTo>
                  <a:pt x="705491" y="860907"/>
                </a:lnTo>
                <a:lnTo>
                  <a:pt x="625129" y="854547"/>
                </a:lnTo>
                <a:lnTo>
                  <a:pt x="542425" y="840154"/>
                </a:lnTo>
                <a:lnTo>
                  <a:pt x="461038" y="821535"/>
                </a:lnTo>
                <a:lnTo>
                  <a:pt x="384631" y="802494"/>
                </a:lnTo>
                <a:lnTo>
                  <a:pt x="309743" y="783767"/>
                </a:lnTo>
                <a:lnTo>
                  <a:pt x="233933" y="762816"/>
                </a:lnTo>
                <a:lnTo>
                  <a:pt x="162392" y="738540"/>
                </a:lnTo>
                <a:lnTo>
                  <a:pt x="100311" y="709833"/>
                </a:lnTo>
                <a:lnTo>
                  <a:pt x="52881" y="675595"/>
                </a:lnTo>
                <a:lnTo>
                  <a:pt x="22875" y="633885"/>
                </a:lnTo>
                <a:lnTo>
                  <a:pt x="6831" y="585439"/>
                </a:lnTo>
                <a:lnTo>
                  <a:pt x="592" y="533165"/>
                </a:lnTo>
                <a:lnTo>
                  <a:pt x="0" y="479971"/>
                </a:lnTo>
                <a:lnTo>
                  <a:pt x="898" y="428765"/>
                </a:lnTo>
                <a:lnTo>
                  <a:pt x="571" y="377635"/>
                </a:lnTo>
                <a:lnTo>
                  <a:pt x="1791" y="324643"/>
                </a:lnTo>
                <a:lnTo>
                  <a:pt x="8630" y="272656"/>
                </a:lnTo>
                <a:lnTo>
                  <a:pt x="25159" y="224541"/>
                </a:lnTo>
                <a:lnTo>
                  <a:pt x="55452" y="183164"/>
                </a:lnTo>
                <a:lnTo>
                  <a:pt x="102948" y="149307"/>
                </a:lnTo>
                <a:lnTo>
                  <a:pt x="164931" y="121056"/>
                </a:lnTo>
                <a:lnTo>
                  <a:pt x="236243" y="97243"/>
                </a:lnTo>
                <a:lnTo>
                  <a:pt x="311726" y="76699"/>
                </a:lnTo>
                <a:lnTo>
                  <a:pt x="386220" y="58254"/>
                </a:lnTo>
                <a:lnTo>
                  <a:pt x="462097" y="39372"/>
                </a:lnTo>
                <a:lnTo>
                  <a:pt x="542795" y="20832"/>
                </a:lnTo>
                <a:lnTo>
                  <a:pt x="624759" y="6440"/>
                </a:lnTo>
                <a:lnTo>
                  <a:pt x="704433" y="0"/>
                </a:lnTo>
                <a:lnTo>
                  <a:pt x="778260" y="5318"/>
                </a:lnTo>
                <a:lnTo>
                  <a:pt x="846674" y="24991"/>
                </a:lnTo>
                <a:lnTo>
                  <a:pt x="912043" y="56482"/>
                </a:lnTo>
                <a:lnTo>
                  <a:pt x="973722" y="95895"/>
                </a:lnTo>
                <a:lnTo>
                  <a:pt x="1031062" y="139337"/>
                </a:lnTo>
                <a:lnTo>
                  <a:pt x="1083415" y="182913"/>
                </a:lnTo>
                <a:lnTo>
                  <a:pt x="1135041" y="227695"/>
                </a:lnTo>
                <a:lnTo>
                  <a:pt x="1186371" y="276280"/>
                </a:lnTo>
                <a:lnTo>
                  <a:pt x="1231018" y="327059"/>
                </a:lnTo>
                <a:lnTo>
                  <a:pt x="1262592" y="378424"/>
                </a:lnTo>
                <a:close/>
              </a:path>
            </a:pathLst>
          </a:custGeom>
          <a:solidFill>
            <a:srgbClr val="C9D5E3"/>
          </a:solidFill>
          <a:ln>
            <a:noFill/>
          </a:ln>
          <a:effectLst/>
        </p:spPr>
        <p:txBody>
          <a:bodyPr rtlCol="0" anchor="ctr"/>
          <a:lstStyle/>
          <a:p>
            <a:pPr algn="ctr"/>
          </a:p>
        </p:txBody>
      </p:sp>
      <p:sp>
        <p:nvSpPr>
          <p:cNvPr id="21" name="Freeform 20"/>
          <p:cNvSpPr/>
          <p:nvPr/>
        </p:nvSpPr>
        <p:spPr>
          <a:xfrm>
            <a:off x="1606186" y="4844969"/>
            <a:ext cx="1423670" cy="839960"/>
          </a:xfrm>
          <a:custGeom>
            <a:avLst/>
            <a:gdLst/>
            <a:ahLst/>
            <a:cxnLst/>
            <a:rect l="l" t="t" r="r" b="b"/>
            <a:pathLst>
              <a:path w="1423670" h="839960">
                <a:moveTo>
                  <a:pt x="1423670" y="425531"/>
                </a:moveTo>
                <a:lnTo>
                  <a:pt x="1420777" y="481436"/>
                </a:lnTo>
                <a:lnTo>
                  <a:pt x="1412065" y="539502"/>
                </a:lnTo>
                <a:lnTo>
                  <a:pt x="1394713" y="596250"/>
                </a:lnTo>
                <a:lnTo>
                  <a:pt x="1365902" y="648205"/>
                </a:lnTo>
                <a:lnTo>
                  <a:pt x="1322812" y="691887"/>
                </a:lnTo>
                <a:lnTo>
                  <a:pt x="1260859" y="726492"/>
                </a:lnTo>
                <a:lnTo>
                  <a:pt x="1181923" y="754338"/>
                </a:lnTo>
                <a:lnTo>
                  <a:pt x="1092880" y="776633"/>
                </a:lnTo>
                <a:lnTo>
                  <a:pt x="1000609" y="794587"/>
                </a:lnTo>
                <a:lnTo>
                  <a:pt x="911986" y="809410"/>
                </a:lnTo>
                <a:lnTo>
                  <a:pt x="824449" y="822722"/>
                </a:lnTo>
                <a:lnTo>
                  <a:pt x="733414" y="833715"/>
                </a:lnTo>
                <a:lnTo>
                  <a:pt x="642723" y="839960"/>
                </a:lnTo>
                <a:lnTo>
                  <a:pt x="556221" y="839029"/>
                </a:lnTo>
                <a:lnTo>
                  <a:pt x="477752" y="828492"/>
                </a:lnTo>
                <a:lnTo>
                  <a:pt x="407627" y="805822"/>
                </a:lnTo>
                <a:lnTo>
                  <a:pt x="343286" y="772641"/>
                </a:lnTo>
                <a:lnTo>
                  <a:pt x="284258" y="732735"/>
                </a:lnTo>
                <a:lnTo>
                  <a:pt x="230075" y="689895"/>
                </a:lnTo>
                <a:lnTo>
                  <a:pt x="180268" y="647909"/>
                </a:lnTo>
                <a:lnTo>
                  <a:pt x="131092" y="606171"/>
                </a:lnTo>
                <a:lnTo>
                  <a:pt x="82859" y="562156"/>
                </a:lnTo>
                <a:lnTo>
                  <a:pt x="41187" y="516772"/>
                </a:lnTo>
                <a:lnTo>
                  <a:pt x="11695" y="470928"/>
                </a:lnTo>
                <a:lnTo>
                  <a:pt x="0" y="425531"/>
                </a:lnTo>
                <a:lnTo>
                  <a:pt x="9645" y="379889"/>
                </a:lnTo>
                <a:lnTo>
                  <a:pt x="36883" y="333396"/>
                </a:lnTo>
                <a:lnTo>
                  <a:pt x="76403" y="287092"/>
                </a:lnTo>
                <a:lnTo>
                  <a:pt x="122892" y="242015"/>
                </a:lnTo>
                <a:lnTo>
                  <a:pt x="171039" y="199206"/>
                </a:lnTo>
                <a:lnTo>
                  <a:pt x="220608" y="155996"/>
                </a:lnTo>
                <a:lnTo>
                  <a:pt x="275142" y="111693"/>
                </a:lnTo>
                <a:lnTo>
                  <a:pt x="334992" y="70298"/>
                </a:lnTo>
                <a:lnTo>
                  <a:pt x="400510" y="35812"/>
                </a:lnTo>
                <a:lnTo>
                  <a:pt x="472048" y="12235"/>
                </a:lnTo>
                <a:lnTo>
                  <a:pt x="552420" y="1186"/>
                </a:lnTo>
                <a:lnTo>
                  <a:pt x="641393" y="0"/>
                </a:lnTo>
                <a:lnTo>
                  <a:pt x="734743" y="6245"/>
                </a:lnTo>
                <a:lnTo>
                  <a:pt x="828250" y="17494"/>
                </a:lnTo>
                <a:lnTo>
                  <a:pt x="917690" y="31316"/>
                </a:lnTo>
                <a:lnTo>
                  <a:pt x="1007726" y="47047"/>
                </a:lnTo>
                <a:lnTo>
                  <a:pt x="1101174" y="66306"/>
                </a:lnTo>
                <a:lnTo>
                  <a:pt x="1191038" y="90091"/>
                </a:lnTo>
                <a:lnTo>
                  <a:pt x="1270326" y="119398"/>
                </a:lnTo>
                <a:lnTo>
                  <a:pt x="1332041" y="155227"/>
                </a:lnTo>
                <a:lnTo>
                  <a:pt x="1374101" y="199982"/>
                </a:lnTo>
                <a:lnTo>
                  <a:pt x="1401168" y="252998"/>
                </a:lnTo>
                <a:lnTo>
                  <a:pt x="1416368" y="310667"/>
                </a:lnTo>
                <a:lnTo>
                  <a:pt x="1422827" y="369381"/>
                </a:lnTo>
                <a:close/>
              </a:path>
            </a:pathLst>
          </a:custGeom>
          <a:solidFill>
            <a:srgbClr val="C9D5E3"/>
          </a:solidFill>
          <a:ln>
            <a:noFill/>
          </a:ln>
          <a:effectLst/>
        </p:spPr>
        <p:txBody>
          <a:bodyPr rtlCol="0" anchor="ctr"/>
          <a:lstStyle/>
          <a:p>
            <a:pPr algn="ctr"/>
          </a:p>
        </p:txBody>
      </p:sp>
      <p:sp>
        <p:nvSpPr>
          <p:cNvPr id="22" name="Freeform 21"/>
          <p:cNvSpPr/>
          <p:nvPr/>
        </p:nvSpPr>
        <p:spPr>
          <a:xfrm>
            <a:off x="1007165" y="2171556"/>
            <a:ext cx="1648460" cy="839220"/>
          </a:xfrm>
          <a:custGeom>
            <a:avLst/>
            <a:gdLst/>
            <a:ahLst/>
            <a:cxnLst/>
            <a:rect l="l" t="t" r="r" b="b"/>
            <a:pathLst>
              <a:path w="1648460" h="839220">
                <a:moveTo>
                  <a:pt x="1648460" y="431944"/>
                </a:moveTo>
                <a:lnTo>
                  <a:pt x="1643061" y="487094"/>
                </a:lnTo>
                <a:lnTo>
                  <a:pt x="1629965" y="544059"/>
                </a:lnTo>
                <a:lnTo>
                  <a:pt x="1606694" y="599590"/>
                </a:lnTo>
                <a:lnTo>
                  <a:pt x="1570772" y="650439"/>
                </a:lnTo>
                <a:lnTo>
                  <a:pt x="1519725" y="693357"/>
                </a:lnTo>
                <a:lnTo>
                  <a:pt x="1448627" y="727646"/>
                </a:lnTo>
                <a:lnTo>
                  <a:pt x="1359129" y="755473"/>
                </a:lnTo>
                <a:lnTo>
                  <a:pt x="1258618" y="777883"/>
                </a:lnTo>
                <a:lnTo>
                  <a:pt x="1154481" y="795925"/>
                </a:lnTo>
                <a:lnTo>
                  <a:pt x="1054104" y="810646"/>
                </a:lnTo>
                <a:lnTo>
                  <a:pt x="954698" y="823475"/>
                </a:lnTo>
                <a:lnTo>
                  <a:pt x="851339" y="833714"/>
                </a:lnTo>
                <a:lnTo>
                  <a:pt x="748211" y="839220"/>
                </a:lnTo>
                <a:lnTo>
                  <a:pt x="649496" y="837847"/>
                </a:lnTo>
                <a:lnTo>
                  <a:pt x="559376" y="827453"/>
                </a:lnTo>
                <a:lnTo>
                  <a:pt x="477941" y="805791"/>
                </a:lnTo>
                <a:lnTo>
                  <a:pt x="402402" y="774290"/>
                </a:lnTo>
                <a:lnTo>
                  <a:pt x="332626" y="736320"/>
                </a:lnTo>
                <a:lnTo>
                  <a:pt x="268481" y="695247"/>
                </a:lnTo>
                <a:lnTo>
                  <a:pt x="209838" y="654441"/>
                </a:lnTo>
                <a:lnTo>
                  <a:pt x="152594" y="613249"/>
                </a:lnTo>
                <a:lnTo>
                  <a:pt x="96839" y="569426"/>
                </a:lnTo>
                <a:lnTo>
                  <a:pt x="48722" y="523949"/>
                </a:lnTo>
                <a:lnTo>
                  <a:pt x="14393" y="477796"/>
                </a:lnTo>
                <a:lnTo>
                  <a:pt x="0" y="431944"/>
                </a:lnTo>
                <a:lnTo>
                  <a:pt x="9119" y="385547"/>
                </a:lnTo>
                <a:lnTo>
                  <a:pt x="37649" y="337953"/>
                </a:lnTo>
                <a:lnTo>
                  <a:pt x="80230" y="290431"/>
                </a:lnTo>
                <a:lnTo>
                  <a:pt x="131498" y="244250"/>
                </a:lnTo>
                <a:lnTo>
                  <a:pt x="186093" y="200676"/>
                </a:lnTo>
                <a:lnTo>
                  <a:pt x="244126" y="157150"/>
                </a:lnTo>
                <a:lnTo>
                  <a:pt x="309173" y="112828"/>
                </a:lnTo>
                <a:lnTo>
                  <a:pt x="381064" y="71548"/>
                </a:lnTo>
                <a:lnTo>
                  <a:pt x="459630" y="37149"/>
                </a:lnTo>
                <a:lnTo>
                  <a:pt x="544701" y="13470"/>
                </a:lnTo>
                <a:lnTo>
                  <a:pt x="639717" y="1940"/>
                </a:lnTo>
                <a:lnTo>
                  <a:pt x="744789" y="0"/>
                </a:lnTo>
                <a:lnTo>
                  <a:pt x="854761" y="5505"/>
                </a:lnTo>
                <a:lnTo>
                  <a:pt x="964476" y="16312"/>
                </a:lnTo>
                <a:lnTo>
                  <a:pt x="1068779" y="30277"/>
                </a:lnTo>
                <a:lnTo>
                  <a:pt x="1172793" y="47015"/>
                </a:lnTo>
                <a:lnTo>
                  <a:pt x="1279956" y="67956"/>
                </a:lnTo>
                <a:lnTo>
                  <a:pt x="1382582" y="93675"/>
                </a:lnTo>
                <a:lnTo>
                  <a:pt x="1472983" y="124751"/>
                </a:lnTo>
                <a:lnTo>
                  <a:pt x="1543470" y="161759"/>
                </a:lnTo>
                <a:lnTo>
                  <a:pt x="1591868" y="207059"/>
                </a:lnTo>
                <a:lnTo>
                  <a:pt x="1623303" y="260267"/>
                </a:lnTo>
                <a:lnTo>
                  <a:pt x="1641038" y="317844"/>
                </a:lnTo>
                <a:lnTo>
                  <a:pt x="1648335" y="376249"/>
                </a:lnTo>
                <a:close/>
              </a:path>
            </a:pathLst>
          </a:custGeom>
          <a:solidFill>
            <a:srgbClr val="D5E3CC"/>
          </a:solidFill>
          <a:ln w="12700">
            <a:solidFill>
              <a:srgbClr val="8FAE82"/>
            </a:solidFill>
          </a:ln>
          <a:effectLst/>
        </p:spPr>
        <p:txBody>
          <a:bodyPr rtlCol="0" anchor="ctr"/>
          <a:lstStyle/>
          <a:p>
            <a:pPr algn="ctr"/>
          </a:p>
        </p:txBody>
      </p:sp>
      <p:sp>
        <p:nvSpPr>
          <p:cNvPr id="23" name="Freeform 22"/>
          <p:cNvSpPr/>
          <p:nvPr/>
        </p:nvSpPr>
        <p:spPr>
          <a:xfrm>
            <a:off x="6608066" y="2898307"/>
            <a:ext cx="753061" cy="531625"/>
          </a:xfrm>
          <a:custGeom>
            <a:avLst/>
            <a:gdLst/>
            <a:ahLst/>
            <a:cxnLst/>
            <a:rect l="l" t="t" r="r" b="b"/>
            <a:pathLst>
              <a:path w="753061" h="531625">
                <a:moveTo>
                  <a:pt x="753061" y="276693"/>
                </a:moveTo>
                <a:lnTo>
                  <a:pt x="744265" y="306919"/>
                </a:lnTo>
                <a:lnTo>
                  <a:pt x="723780" y="337327"/>
                </a:lnTo>
                <a:lnTo>
                  <a:pt x="695731" y="367169"/>
                </a:lnTo>
                <a:lnTo>
                  <a:pt x="664244" y="395696"/>
                </a:lnTo>
                <a:lnTo>
                  <a:pt x="633443" y="422159"/>
                </a:lnTo>
                <a:lnTo>
                  <a:pt x="603313" y="448140"/>
                </a:lnTo>
                <a:lnTo>
                  <a:pt x="571103" y="474137"/>
                </a:lnTo>
                <a:lnTo>
                  <a:pt x="536837" y="497779"/>
                </a:lnTo>
                <a:lnTo>
                  <a:pt x="500539" y="516695"/>
                </a:lnTo>
                <a:lnTo>
                  <a:pt x="462234" y="528512"/>
                </a:lnTo>
                <a:lnTo>
                  <a:pt x="420721" y="531625"/>
                </a:lnTo>
                <a:lnTo>
                  <a:pt x="375985" y="527613"/>
                </a:lnTo>
                <a:lnTo>
                  <a:pt x="329824" y="518887"/>
                </a:lnTo>
                <a:lnTo>
                  <a:pt x="284040" y="507858"/>
                </a:lnTo>
                <a:lnTo>
                  <a:pt x="240430" y="496937"/>
                </a:lnTo>
                <a:lnTo>
                  <a:pt x="196855" y="486837"/>
                </a:lnTo>
                <a:lnTo>
                  <a:pt x="152115" y="475952"/>
                </a:lnTo>
                <a:lnTo>
                  <a:pt x="109420" y="463211"/>
                </a:lnTo>
                <a:lnTo>
                  <a:pt x="71982" y="447541"/>
                </a:lnTo>
                <a:lnTo>
                  <a:pt x="43011" y="427873"/>
                </a:lnTo>
                <a:lnTo>
                  <a:pt x="24035" y="403019"/>
                </a:lnTo>
                <a:lnTo>
                  <a:pt x="12912" y="373694"/>
                </a:lnTo>
                <a:lnTo>
                  <a:pt x="7352" y="341677"/>
                </a:lnTo>
                <a:lnTo>
                  <a:pt x="5065" y="308750"/>
                </a:lnTo>
                <a:lnTo>
                  <a:pt x="3761" y="276693"/>
                </a:lnTo>
                <a:lnTo>
                  <a:pt x="1564" y="244144"/>
                </a:lnTo>
                <a:lnTo>
                  <a:pt x="0" y="209916"/>
                </a:lnTo>
                <a:lnTo>
                  <a:pt x="1884" y="176053"/>
                </a:lnTo>
                <a:lnTo>
                  <a:pt x="10029" y="144597"/>
                </a:lnTo>
                <a:lnTo>
                  <a:pt x="27247" y="117592"/>
                </a:lnTo>
                <a:lnTo>
                  <a:pt x="55812" y="95469"/>
                </a:lnTo>
                <a:lnTo>
                  <a:pt x="93849" y="76866"/>
                </a:lnTo>
                <a:lnTo>
                  <a:pt x="137948" y="61136"/>
                </a:lnTo>
                <a:lnTo>
                  <a:pt x="184698" y="47634"/>
                </a:lnTo>
                <a:lnTo>
                  <a:pt x="230687" y="35713"/>
                </a:lnTo>
                <a:lnTo>
                  <a:pt x="277548" y="23766"/>
                </a:lnTo>
                <a:lnTo>
                  <a:pt x="327553" y="12225"/>
                </a:lnTo>
                <a:lnTo>
                  <a:pt x="378256" y="3500"/>
                </a:lnTo>
                <a:lnTo>
                  <a:pt x="427213" y="0"/>
                </a:lnTo>
                <a:lnTo>
                  <a:pt x="471977" y="4138"/>
                </a:lnTo>
                <a:lnTo>
                  <a:pt x="512697" y="17776"/>
                </a:lnTo>
                <a:lnTo>
                  <a:pt x="551004" y="39309"/>
                </a:lnTo>
                <a:lnTo>
                  <a:pt x="586673" y="65940"/>
                </a:lnTo>
                <a:lnTo>
                  <a:pt x="619483" y="94871"/>
                </a:lnTo>
                <a:lnTo>
                  <a:pt x="649208" y="123306"/>
                </a:lnTo>
                <a:lnTo>
                  <a:pt x="678250" y="151921"/>
                </a:lnTo>
                <a:lnTo>
                  <a:pt x="706759" y="182578"/>
                </a:lnTo>
                <a:lnTo>
                  <a:pt x="731132" y="214266"/>
                </a:lnTo>
                <a:lnTo>
                  <a:pt x="747766" y="245975"/>
                </a:lnTo>
                <a:close/>
              </a:path>
            </a:pathLst>
          </a:custGeom>
          <a:solidFill>
            <a:srgbClr val="D4CCBE"/>
          </a:solidFill>
          <a:ln>
            <a:noFill/>
          </a:ln>
          <a:effectLst/>
        </p:spPr>
        <p:txBody>
          <a:bodyPr rtlCol="0" anchor="ctr"/>
          <a:lstStyle/>
          <a:p>
            <a:pPr algn="ctr"/>
          </a:p>
        </p:txBody>
      </p:sp>
      <p:sp>
        <p:nvSpPr>
          <p:cNvPr id="24" name="TextBox 23"/>
          <p:cNvSpPr txBox="1"/>
          <p:nvPr/>
        </p:nvSpPr>
        <p:spPr>
          <a:xfrm>
            <a:off x="2956560" y="43942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Beni Makada</a:t>
            </a:r>
          </a:p>
        </p:txBody>
      </p:sp>
      <p:sp>
        <p:nvSpPr>
          <p:cNvPr id="25" name="TextBox 24"/>
          <p:cNvSpPr txBox="1"/>
          <p:nvPr/>
        </p:nvSpPr>
        <p:spPr>
          <a:xfrm>
            <a:off x="1945005" y="39370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Mesnana</a:t>
            </a:r>
          </a:p>
        </p:txBody>
      </p:sp>
      <p:sp>
        <p:nvSpPr>
          <p:cNvPr id="26" name="TextBox 25"/>
          <p:cNvSpPr txBox="1"/>
          <p:nvPr/>
        </p:nvSpPr>
        <p:spPr>
          <a:xfrm>
            <a:off x="4380230" y="49276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Bir Chifa</a:t>
            </a:r>
          </a:p>
        </p:txBody>
      </p:sp>
      <p:sp>
        <p:nvSpPr>
          <p:cNvPr id="27" name="TextBox 26"/>
          <p:cNvSpPr txBox="1"/>
          <p:nvPr/>
        </p:nvSpPr>
        <p:spPr>
          <a:xfrm>
            <a:off x="1607820" y="5308600"/>
            <a:ext cx="1397000" cy="254000"/>
          </a:xfrm>
          <a:prstGeom prst="rect">
            <a:avLst/>
          </a:prstGeom>
          <a:noFill/>
        </p:spPr>
        <p:txBody>
          <a:bodyPr wrap="square" lIns="0" rIns="0" tIns="0" bIns="0" anchor="t">
            <a:spAutoFit/>
          </a:bodyPr>
          <a:lstStyle/>
          <a:p>
            <a:pPr algn="ctr">
              <a:lnSpc>
                <a:spcPct val="115000"/>
              </a:lnSpc>
            </a:pPr>
            <a:r>
              <a:rPr sz="1100" b="1" i="0">
                <a:solidFill>
                  <a:srgbClr val="1F3A5F"/>
                </a:solidFill>
                <a:latin typeface="Inter"/>
              </a:rPr>
              <a:t>Gzenaya</a:t>
            </a:r>
          </a:p>
        </p:txBody>
      </p:sp>
      <p:sp>
        <p:nvSpPr>
          <p:cNvPr id="28" name="Freeform 27"/>
          <p:cNvSpPr/>
          <p:nvPr/>
        </p:nvSpPr>
        <p:spPr>
          <a:xfrm>
            <a:off x="4104640" y="3022600"/>
            <a:ext cx="1049020" cy="609600"/>
          </a:xfrm>
          <a:custGeom>
            <a:avLst/>
            <a:gdLst/>
            <a:ahLst/>
            <a:cxnLst/>
            <a:rect l="l" t="t" r="r" b="b"/>
            <a:pathLst>
              <a:path w="1049020" h="609600">
                <a:moveTo>
                  <a:pt x="0" y="0"/>
                </a:moveTo>
                <a:lnTo>
                  <a:pt x="40762" y="25055"/>
                </a:lnTo>
                <a:lnTo>
                  <a:pt x="98308" y="59924"/>
                </a:lnTo>
                <a:lnTo>
                  <a:pt x="165445" y="101316"/>
                </a:lnTo>
                <a:lnTo>
                  <a:pt x="234980" y="145938"/>
                </a:lnTo>
                <a:lnTo>
                  <a:pt x="299720" y="190500"/>
                </a:lnTo>
                <a:lnTo>
                  <a:pt x="357266" y="236952"/>
                </a:lnTo>
                <a:lnTo>
                  <a:pt x="412415" y="287487"/>
                </a:lnTo>
                <a:lnTo>
                  <a:pt x="468762" y="339181"/>
                </a:lnTo>
                <a:lnTo>
                  <a:pt x="529905" y="389108"/>
                </a:lnTo>
                <a:lnTo>
                  <a:pt x="599440" y="434340"/>
                </a:lnTo>
                <a:lnTo>
                  <a:pt x="686958" y="476585"/>
                </a:lnTo>
                <a:lnTo>
                  <a:pt x="790062" y="517794"/>
                </a:lnTo>
                <a:lnTo>
                  <a:pt x="894364" y="555407"/>
                </a:lnTo>
                <a:lnTo>
                  <a:pt x="985479" y="586862"/>
                </a:lnTo>
                <a:lnTo>
                  <a:pt x="1049020" y="609600"/>
                </a:lnTo>
              </a:path>
            </a:pathLst>
          </a:custGeom>
          <a:noFill/>
          <a:ln w="50800">
            <a:solidFill>
              <a:srgbClr val="C8462B"/>
            </a:solidFill>
          </a:ln>
          <a:effectLst/>
        </p:spPr>
        <p:txBody>
          <a:bodyPr rtlCol="0" anchor="ctr"/>
          <a:lstStyle/>
          <a:p>
            <a:pPr algn="ctr"/>
          </a:p>
        </p:txBody>
      </p:sp>
      <p:sp>
        <p:nvSpPr>
          <p:cNvPr id="29" name="Freeform 28"/>
          <p:cNvSpPr/>
          <p:nvPr/>
        </p:nvSpPr>
        <p:spPr>
          <a:xfrm>
            <a:off x="3931090" y="2859493"/>
            <a:ext cx="453166" cy="344457"/>
          </a:xfrm>
          <a:custGeom>
            <a:avLst/>
            <a:gdLst/>
            <a:ahLst/>
            <a:cxnLst/>
            <a:rect l="l" t="t" r="r" b="b"/>
            <a:pathLst>
              <a:path w="453166" h="344457">
                <a:moveTo>
                  <a:pt x="453166" y="163107"/>
                </a:moveTo>
                <a:lnTo>
                  <a:pt x="450093" y="182425"/>
                </a:lnTo>
                <a:lnTo>
                  <a:pt x="439982" y="202375"/>
                </a:lnTo>
                <a:lnTo>
                  <a:pt x="425170" y="222408"/>
                </a:lnTo>
                <a:lnTo>
                  <a:pt x="407993" y="241971"/>
                </a:lnTo>
                <a:lnTo>
                  <a:pt x="390789" y="260514"/>
                </a:lnTo>
                <a:lnTo>
                  <a:pt x="373636" y="279403"/>
                </a:lnTo>
                <a:lnTo>
                  <a:pt x="354975" y="299008"/>
                </a:lnTo>
                <a:lnTo>
                  <a:pt x="334689" y="317275"/>
                </a:lnTo>
                <a:lnTo>
                  <a:pt x="312663" y="332154"/>
                </a:lnTo>
                <a:lnTo>
                  <a:pt x="288779" y="341594"/>
                </a:lnTo>
                <a:lnTo>
                  <a:pt x="262022" y="344457"/>
                </a:lnTo>
                <a:lnTo>
                  <a:pt x="232468" y="342111"/>
                </a:lnTo>
                <a:lnTo>
                  <a:pt x="201643" y="336261"/>
                </a:lnTo>
                <a:lnTo>
                  <a:pt x="171072" y="328614"/>
                </a:lnTo>
                <a:lnTo>
                  <a:pt x="142278" y="320874"/>
                </a:lnTo>
                <a:lnTo>
                  <a:pt x="113708" y="313426"/>
                </a:lnTo>
                <a:lnTo>
                  <a:pt x="84344" y="305135"/>
                </a:lnTo>
                <a:lnTo>
                  <a:pt x="56519" y="295421"/>
                </a:lnTo>
                <a:lnTo>
                  <a:pt x="32566" y="283707"/>
                </a:lnTo>
                <a:lnTo>
                  <a:pt x="14817" y="269413"/>
                </a:lnTo>
                <a:lnTo>
                  <a:pt x="4577" y="251555"/>
                </a:lnTo>
                <a:lnTo>
                  <a:pt x="290" y="230520"/>
                </a:lnTo>
                <a:lnTo>
                  <a:pt x="0" y="207784"/>
                </a:lnTo>
                <a:lnTo>
                  <a:pt x="1750" y="184821"/>
                </a:lnTo>
                <a:lnTo>
                  <a:pt x="3586" y="163107"/>
                </a:lnTo>
                <a:lnTo>
                  <a:pt x="4472" y="141806"/>
                </a:lnTo>
                <a:lnTo>
                  <a:pt x="5714" y="119933"/>
                </a:lnTo>
                <a:lnTo>
                  <a:pt x="8862" y="98745"/>
                </a:lnTo>
                <a:lnTo>
                  <a:pt x="15464" y="79495"/>
                </a:lnTo>
                <a:lnTo>
                  <a:pt x="27071" y="63441"/>
                </a:lnTo>
                <a:lnTo>
                  <a:pt x="45135" y="51205"/>
                </a:lnTo>
                <a:lnTo>
                  <a:pt x="68623" y="41950"/>
                </a:lnTo>
                <a:lnTo>
                  <a:pt x="95356" y="34741"/>
                </a:lnTo>
                <a:lnTo>
                  <a:pt x="123158" y="28644"/>
                </a:lnTo>
                <a:lnTo>
                  <a:pt x="149852" y="22723"/>
                </a:lnTo>
                <a:lnTo>
                  <a:pt x="176118" y="15843"/>
                </a:lnTo>
                <a:lnTo>
                  <a:pt x="203409" y="8625"/>
                </a:lnTo>
                <a:lnTo>
                  <a:pt x="230702" y="2776"/>
                </a:lnTo>
                <a:lnTo>
                  <a:pt x="256975" y="0"/>
                </a:lnTo>
                <a:lnTo>
                  <a:pt x="281206" y="2003"/>
                </a:lnTo>
                <a:lnTo>
                  <a:pt x="303212" y="9916"/>
                </a:lnTo>
                <a:lnTo>
                  <a:pt x="323677" y="22601"/>
                </a:lnTo>
                <a:lnTo>
                  <a:pt x="342871" y="38364"/>
                </a:lnTo>
                <a:lnTo>
                  <a:pt x="361066" y="55508"/>
                </a:lnTo>
                <a:lnTo>
                  <a:pt x="378535" y="72340"/>
                </a:lnTo>
                <a:lnTo>
                  <a:pt x="397106" y="89080"/>
                </a:lnTo>
                <a:lnTo>
                  <a:pt x="416598" y="106857"/>
                </a:lnTo>
                <a:lnTo>
                  <a:pt x="434267" y="125341"/>
                </a:lnTo>
                <a:lnTo>
                  <a:pt x="447371" y="144202"/>
                </a:lnTo>
                <a:close/>
              </a:path>
            </a:pathLst>
          </a:custGeom>
          <a:noFill/>
          <a:ln w="25400">
            <a:solidFill>
              <a:srgbClr val="C8462B"/>
            </a:solidFill>
          </a:ln>
          <a:effectLst/>
        </p:spPr>
        <p:txBody>
          <a:bodyPr rtlCol="0" anchor="ctr"/>
          <a:lstStyle/>
          <a:p>
            <a:pPr algn="ctr"/>
          </a:p>
        </p:txBody>
      </p:sp>
      <p:sp>
        <p:nvSpPr>
          <p:cNvPr id="30" name="Freeform 29"/>
          <p:cNvSpPr/>
          <p:nvPr/>
        </p:nvSpPr>
        <p:spPr>
          <a:xfrm>
            <a:off x="2306320" y="3893256"/>
            <a:ext cx="3971290" cy="1377244"/>
          </a:xfrm>
          <a:custGeom>
            <a:avLst/>
            <a:gdLst/>
            <a:ahLst/>
            <a:cxnLst/>
            <a:rect l="l" t="t" r="r" b="b"/>
            <a:pathLst>
              <a:path w="3971290" h="1377244">
                <a:moveTo>
                  <a:pt x="0" y="1377244"/>
                </a:moveTo>
                <a:lnTo>
                  <a:pt x="43709" y="1287286"/>
                </a:lnTo>
                <a:lnTo>
                  <a:pt x="99907" y="1157111"/>
                </a:lnTo>
                <a:lnTo>
                  <a:pt x="168592" y="1005769"/>
                </a:lnTo>
                <a:lnTo>
                  <a:pt x="249767" y="852311"/>
                </a:lnTo>
                <a:lnTo>
                  <a:pt x="343429" y="715786"/>
                </a:lnTo>
                <a:lnTo>
                  <a:pt x="449580" y="615244"/>
                </a:lnTo>
                <a:lnTo>
                  <a:pt x="571688" y="557212"/>
                </a:lnTo>
                <a:lnTo>
                  <a:pt x="710447" y="527755"/>
                </a:lnTo>
                <a:lnTo>
                  <a:pt x="861695" y="515232"/>
                </a:lnTo>
                <a:lnTo>
                  <a:pt x="1021268" y="508000"/>
                </a:lnTo>
                <a:lnTo>
                  <a:pt x="1185004" y="494418"/>
                </a:lnTo>
                <a:lnTo>
                  <a:pt x="1348740" y="462844"/>
                </a:lnTo>
                <a:lnTo>
                  <a:pt x="1516639" y="409045"/>
                </a:lnTo>
                <a:lnTo>
                  <a:pt x="1692863" y="341488"/>
                </a:lnTo>
                <a:lnTo>
                  <a:pt x="1873250" y="267582"/>
                </a:lnTo>
                <a:lnTo>
                  <a:pt x="2053637" y="194733"/>
                </a:lnTo>
                <a:lnTo>
                  <a:pt x="2229861" y="130351"/>
                </a:lnTo>
                <a:lnTo>
                  <a:pt x="2397760" y="81844"/>
                </a:lnTo>
                <a:lnTo>
                  <a:pt x="2558894" y="50623"/>
                </a:lnTo>
                <a:lnTo>
                  <a:pt x="2716906" y="31044"/>
                </a:lnTo>
                <a:lnTo>
                  <a:pt x="2870756" y="19932"/>
                </a:lnTo>
                <a:lnTo>
                  <a:pt x="3019401" y="14111"/>
                </a:lnTo>
                <a:lnTo>
                  <a:pt x="3161803" y="10406"/>
                </a:lnTo>
                <a:lnTo>
                  <a:pt x="3296920" y="5644"/>
                </a:lnTo>
                <a:lnTo>
                  <a:pt x="3430129" y="1234"/>
                </a:lnTo>
                <a:lnTo>
                  <a:pt x="3563338" y="0"/>
                </a:lnTo>
                <a:lnTo>
                  <a:pt x="3690302" y="882"/>
                </a:lnTo>
                <a:lnTo>
                  <a:pt x="3804779" y="2822"/>
                </a:lnTo>
                <a:lnTo>
                  <a:pt x="3900523" y="4762"/>
                </a:lnTo>
                <a:lnTo>
                  <a:pt x="3971290" y="5644"/>
                </a:lnTo>
              </a:path>
            </a:pathLst>
          </a:custGeom>
          <a:noFill/>
          <a:ln w="57150">
            <a:solidFill>
              <a:srgbClr val="1C1C1C"/>
            </a:solidFill>
          </a:ln>
          <a:effectLst/>
        </p:spPr>
        <p:txBody>
          <a:bodyPr rtlCol="0" anchor="ctr"/>
          <a:lstStyle/>
          <a:p>
            <a:pPr algn="ctr"/>
          </a:p>
        </p:txBody>
      </p:sp>
      <p:sp>
        <p:nvSpPr>
          <p:cNvPr id="31" name="Oval 30"/>
          <p:cNvSpPr/>
          <p:nvPr/>
        </p:nvSpPr>
        <p:spPr>
          <a:xfrm>
            <a:off x="2242820" y="5207000"/>
            <a:ext cx="127000" cy="127000"/>
          </a:xfrm>
          <a:prstGeom prst="ellipse">
            <a:avLst/>
          </a:prstGeom>
          <a:solidFill>
            <a:srgbClr val="FFFFFF"/>
          </a:solidFill>
          <a:ln w="25400">
            <a:solidFill>
              <a:srgbClr val="1C1C1C"/>
            </a:solidFill>
          </a:ln>
          <a:effectLst/>
        </p:spPr>
        <p:txBody>
          <a:bodyPr rtlCol="0" anchor="ctr"/>
          <a:lstStyle/>
          <a:p>
            <a:pPr algn="ctr"/>
          </a:p>
        </p:txBody>
      </p:sp>
      <p:sp>
        <p:nvSpPr>
          <p:cNvPr id="32" name="Oval 31"/>
          <p:cNvSpPr/>
          <p:nvPr/>
        </p:nvSpPr>
        <p:spPr>
          <a:xfrm>
            <a:off x="2692400" y="4445000"/>
            <a:ext cx="127000" cy="127000"/>
          </a:xfrm>
          <a:prstGeom prst="ellipse">
            <a:avLst/>
          </a:prstGeom>
          <a:solidFill>
            <a:srgbClr val="FFFFFF"/>
          </a:solidFill>
          <a:ln w="25400">
            <a:solidFill>
              <a:srgbClr val="1C1C1C"/>
            </a:solidFill>
          </a:ln>
          <a:effectLst/>
        </p:spPr>
        <p:txBody>
          <a:bodyPr rtlCol="0" anchor="ctr"/>
          <a:lstStyle/>
          <a:p>
            <a:pPr algn="ctr"/>
          </a:p>
        </p:txBody>
      </p:sp>
      <p:sp>
        <p:nvSpPr>
          <p:cNvPr id="33" name="Oval 32"/>
          <p:cNvSpPr/>
          <p:nvPr/>
        </p:nvSpPr>
        <p:spPr>
          <a:xfrm>
            <a:off x="3591560" y="4292600"/>
            <a:ext cx="127000" cy="127000"/>
          </a:xfrm>
          <a:prstGeom prst="ellipse">
            <a:avLst/>
          </a:prstGeom>
          <a:solidFill>
            <a:srgbClr val="FFFFFF"/>
          </a:solidFill>
          <a:ln w="25400">
            <a:solidFill>
              <a:srgbClr val="1C1C1C"/>
            </a:solidFill>
          </a:ln>
          <a:effectLst/>
        </p:spPr>
        <p:txBody>
          <a:bodyPr rtlCol="0" anchor="ctr"/>
          <a:lstStyle/>
          <a:p>
            <a:pPr algn="ctr"/>
          </a:p>
        </p:txBody>
      </p:sp>
      <p:sp>
        <p:nvSpPr>
          <p:cNvPr id="34" name="Oval 33"/>
          <p:cNvSpPr/>
          <p:nvPr/>
        </p:nvSpPr>
        <p:spPr>
          <a:xfrm>
            <a:off x="4640580" y="3911600"/>
            <a:ext cx="127000" cy="127000"/>
          </a:xfrm>
          <a:prstGeom prst="ellipse">
            <a:avLst/>
          </a:prstGeom>
          <a:solidFill>
            <a:srgbClr val="FFFFFF"/>
          </a:solidFill>
          <a:ln w="25400">
            <a:solidFill>
              <a:srgbClr val="1C1C1C"/>
            </a:solidFill>
          </a:ln>
          <a:effectLst/>
        </p:spPr>
        <p:txBody>
          <a:bodyPr rtlCol="0" anchor="ctr"/>
          <a:lstStyle/>
          <a:p>
            <a:pPr algn="ctr"/>
          </a:p>
        </p:txBody>
      </p:sp>
      <p:sp>
        <p:nvSpPr>
          <p:cNvPr id="35" name="Oval 34"/>
          <p:cNvSpPr/>
          <p:nvPr/>
        </p:nvSpPr>
        <p:spPr>
          <a:xfrm>
            <a:off x="5539740" y="3835400"/>
            <a:ext cx="127000" cy="127000"/>
          </a:xfrm>
          <a:prstGeom prst="ellipse">
            <a:avLst/>
          </a:prstGeom>
          <a:solidFill>
            <a:srgbClr val="FFFFFF"/>
          </a:solidFill>
          <a:ln w="25400">
            <a:solidFill>
              <a:srgbClr val="1C1C1C"/>
            </a:solidFill>
          </a:ln>
          <a:effectLst/>
        </p:spPr>
        <p:txBody>
          <a:bodyPr rtlCol="0" anchor="ctr"/>
          <a:lstStyle/>
          <a:p>
            <a:pPr algn="ctr"/>
          </a:p>
        </p:txBody>
      </p:sp>
      <p:sp>
        <p:nvSpPr>
          <p:cNvPr id="36" name="Oval 35"/>
          <p:cNvSpPr/>
          <p:nvPr/>
        </p:nvSpPr>
        <p:spPr>
          <a:xfrm>
            <a:off x="6214110" y="3835400"/>
            <a:ext cx="127000" cy="127000"/>
          </a:xfrm>
          <a:prstGeom prst="ellipse">
            <a:avLst/>
          </a:prstGeom>
          <a:solidFill>
            <a:srgbClr val="FFFFFF"/>
          </a:solidFill>
          <a:ln w="25400">
            <a:solidFill>
              <a:srgbClr val="1C1C1C"/>
            </a:solidFill>
          </a:ln>
          <a:effectLst/>
        </p:spPr>
        <p:txBody>
          <a:bodyPr rtlCol="0" anchor="ctr"/>
          <a:lstStyle/>
          <a:p>
            <a:pPr algn="ctr"/>
          </a:p>
        </p:txBody>
      </p:sp>
      <p:sp>
        <p:nvSpPr>
          <p:cNvPr id="37" name="Freeform 36"/>
          <p:cNvSpPr/>
          <p:nvPr/>
        </p:nvSpPr>
        <p:spPr>
          <a:xfrm>
            <a:off x="822594" y="2014485"/>
            <a:ext cx="2023110" cy="1144391"/>
          </a:xfrm>
          <a:custGeom>
            <a:avLst/>
            <a:gdLst/>
            <a:ahLst/>
            <a:cxnLst/>
            <a:rect l="l" t="t" r="r" b="b"/>
            <a:pathLst>
              <a:path w="2023110" h="1144391">
                <a:moveTo>
                  <a:pt x="2023110" y="589015"/>
                </a:moveTo>
                <a:lnTo>
                  <a:pt x="2016485" y="664220"/>
                </a:lnTo>
                <a:lnTo>
                  <a:pt x="2000412" y="741899"/>
                </a:lnTo>
                <a:lnTo>
                  <a:pt x="1971852" y="817623"/>
                </a:lnTo>
                <a:lnTo>
                  <a:pt x="1927767" y="886962"/>
                </a:lnTo>
                <a:lnTo>
                  <a:pt x="1865118" y="945487"/>
                </a:lnTo>
                <a:lnTo>
                  <a:pt x="1777861" y="992246"/>
                </a:lnTo>
                <a:lnTo>
                  <a:pt x="1668023" y="1030190"/>
                </a:lnTo>
                <a:lnTo>
                  <a:pt x="1544669" y="1060750"/>
                </a:lnTo>
                <a:lnTo>
                  <a:pt x="1416863" y="1085352"/>
                </a:lnTo>
                <a:lnTo>
                  <a:pt x="1293673" y="1105426"/>
                </a:lnTo>
                <a:lnTo>
                  <a:pt x="1171675" y="1122921"/>
                </a:lnTo>
                <a:lnTo>
                  <a:pt x="1044826" y="1136884"/>
                </a:lnTo>
                <a:lnTo>
                  <a:pt x="918259" y="1144391"/>
                </a:lnTo>
                <a:lnTo>
                  <a:pt x="797109" y="1142520"/>
                </a:lnTo>
                <a:lnTo>
                  <a:pt x="686508" y="1128345"/>
                </a:lnTo>
                <a:lnTo>
                  <a:pt x="586565" y="1098806"/>
                </a:lnTo>
                <a:lnTo>
                  <a:pt x="493857" y="1055851"/>
                </a:lnTo>
                <a:lnTo>
                  <a:pt x="408223" y="1004073"/>
                </a:lnTo>
                <a:lnTo>
                  <a:pt x="329501" y="948065"/>
                </a:lnTo>
                <a:lnTo>
                  <a:pt x="257528" y="892419"/>
                </a:lnTo>
                <a:lnTo>
                  <a:pt x="187275" y="836249"/>
                </a:lnTo>
                <a:lnTo>
                  <a:pt x="118849" y="776490"/>
                </a:lnTo>
                <a:lnTo>
                  <a:pt x="59796" y="714477"/>
                </a:lnTo>
                <a:lnTo>
                  <a:pt x="17664" y="651541"/>
                </a:lnTo>
                <a:lnTo>
                  <a:pt x="0" y="589015"/>
                </a:lnTo>
                <a:lnTo>
                  <a:pt x="11192" y="525746"/>
                </a:lnTo>
                <a:lnTo>
                  <a:pt x="46206" y="460846"/>
                </a:lnTo>
                <a:lnTo>
                  <a:pt x="98464" y="396043"/>
                </a:lnTo>
                <a:lnTo>
                  <a:pt x="161385" y="333068"/>
                </a:lnTo>
                <a:lnTo>
                  <a:pt x="228387" y="273649"/>
                </a:lnTo>
                <a:lnTo>
                  <a:pt x="299610" y="214296"/>
                </a:lnTo>
                <a:lnTo>
                  <a:pt x="379440" y="153857"/>
                </a:lnTo>
                <a:lnTo>
                  <a:pt x="467669" y="97566"/>
                </a:lnTo>
                <a:lnTo>
                  <a:pt x="564091" y="50659"/>
                </a:lnTo>
                <a:lnTo>
                  <a:pt x="668498" y="18369"/>
                </a:lnTo>
                <a:lnTo>
                  <a:pt x="785108" y="2646"/>
                </a:lnTo>
                <a:lnTo>
                  <a:pt x="914060" y="0"/>
                </a:lnTo>
                <a:lnTo>
                  <a:pt x="1049025" y="7507"/>
                </a:lnTo>
                <a:lnTo>
                  <a:pt x="1183676" y="22245"/>
                </a:lnTo>
                <a:lnTo>
                  <a:pt x="1311683" y="41288"/>
                </a:lnTo>
                <a:lnTo>
                  <a:pt x="1439337" y="64112"/>
                </a:lnTo>
                <a:lnTo>
                  <a:pt x="1570856" y="92667"/>
                </a:lnTo>
                <a:lnTo>
                  <a:pt x="1696806" y="127739"/>
                </a:lnTo>
                <a:lnTo>
                  <a:pt x="1807752" y="170115"/>
                </a:lnTo>
                <a:lnTo>
                  <a:pt x="1894259" y="220581"/>
                </a:lnTo>
                <a:lnTo>
                  <a:pt x="1953657" y="282354"/>
                </a:lnTo>
                <a:lnTo>
                  <a:pt x="1992236" y="354911"/>
                </a:lnTo>
                <a:lnTo>
                  <a:pt x="2014001" y="433424"/>
                </a:lnTo>
                <a:lnTo>
                  <a:pt x="2022958" y="513067"/>
                </a:lnTo>
                <a:close/>
              </a:path>
            </a:pathLst>
          </a:custGeom>
          <a:noFill/>
          <a:ln w="31750">
            <a:solidFill>
              <a:srgbClr val="8FAE82"/>
            </a:solidFill>
            <a:prstDash val="dash"/>
          </a:ln>
          <a:effectLst/>
        </p:spPr>
        <p:txBody>
          <a:bodyPr rtlCol="0" anchor="ctr"/>
          <a:lstStyle/>
          <a:p>
            <a:pPr algn="ctr"/>
          </a:p>
        </p:txBody>
      </p:sp>
      <p:sp>
        <p:nvSpPr>
          <p:cNvPr id="38" name="Rectangle 37"/>
          <p:cNvSpPr/>
          <p:nvPr/>
        </p:nvSpPr>
        <p:spPr>
          <a:xfrm>
            <a:off x="3959860" y="4591050"/>
            <a:ext cx="139700" cy="139700"/>
          </a:xfrm>
          <a:prstGeom prst="rect">
            <a:avLst/>
          </a:prstGeom>
          <a:solidFill>
            <a:srgbClr val="D9A441"/>
          </a:solidFill>
          <a:ln w="12700">
            <a:solidFill>
              <a:srgbClr val="FFFFFF"/>
            </a:solidFill>
          </a:ln>
          <a:effectLst/>
        </p:spPr>
        <p:txBody>
          <a:bodyPr rtlCol="0" anchor="ctr"/>
          <a:lstStyle/>
          <a:p>
            <a:pPr algn="ctr"/>
          </a:p>
        </p:txBody>
      </p:sp>
      <p:sp>
        <p:nvSpPr>
          <p:cNvPr id="39" name="Rectangle 38"/>
          <p:cNvSpPr/>
          <p:nvPr/>
        </p:nvSpPr>
        <p:spPr>
          <a:xfrm>
            <a:off x="2910840" y="4095750"/>
            <a:ext cx="139700" cy="139700"/>
          </a:xfrm>
          <a:prstGeom prst="rect">
            <a:avLst/>
          </a:prstGeom>
          <a:solidFill>
            <a:srgbClr val="D9A441"/>
          </a:solidFill>
          <a:ln w="12700">
            <a:solidFill>
              <a:srgbClr val="FFFFFF"/>
            </a:solidFill>
          </a:ln>
          <a:effectLst/>
        </p:spPr>
        <p:txBody>
          <a:bodyPr rtlCol="0" anchor="ctr"/>
          <a:lstStyle/>
          <a:p>
            <a:pPr algn="ctr"/>
          </a:p>
        </p:txBody>
      </p:sp>
      <p:sp>
        <p:nvSpPr>
          <p:cNvPr id="40" name="Rectangle 39"/>
          <p:cNvSpPr/>
          <p:nvPr/>
        </p:nvSpPr>
        <p:spPr>
          <a:xfrm>
            <a:off x="5383530" y="5048250"/>
            <a:ext cx="139700" cy="139700"/>
          </a:xfrm>
          <a:prstGeom prst="rect">
            <a:avLst/>
          </a:prstGeom>
          <a:solidFill>
            <a:srgbClr val="D9A441"/>
          </a:solidFill>
          <a:ln w="12700">
            <a:solidFill>
              <a:srgbClr val="FFFFFF"/>
            </a:solidFill>
          </a:ln>
          <a:effectLst/>
        </p:spPr>
        <p:txBody>
          <a:bodyPr rtlCol="0" anchor="ctr"/>
          <a:lstStyle/>
          <a:p>
            <a:pPr algn="ctr"/>
          </a:p>
        </p:txBody>
      </p:sp>
      <p:sp>
        <p:nvSpPr>
          <p:cNvPr id="41" name="Rectangle 40"/>
          <p:cNvSpPr/>
          <p:nvPr/>
        </p:nvSpPr>
        <p:spPr>
          <a:xfrm>
            <a:off x="2686050" y="5505450"/>
            <a:ext cx="139700" cy="139700"/>
          </a:xfrm>
          <a:prstGeom prst="rect">
            <a:avLst/>
          </a:prstGeom>
          <a:solidFill>
            <a:srgbClr val="D9A441"/>
          </a:solidFill>
          <a:ln w="12700">
            <a:solidFill>
              <a:srgbClr val="FFFFFF"/>
            </a:solidFill>
          </a:ln>
          <a:effectLst/>
        </p:spPr>
        <p:txBody>
          <a:bodyPr rtlCol="0" anchor="ctr"/>
          <a:lstStyle/>
          <a:p>
            <a:pPr algn="ctr"/>
          </a:p>
        </p:txBody>
      </p:sp>
      <p:sp>
        <p:nvSpPr>
          <p:cNvPr id="42" name="Oval 41"/>
          <p:cNvSpPr/>
          <p:nvPr/>
        </p:nvSpPr>
        <p:spPr>
          <a:xfrm>
            <a:off x="4876800" y="3238500"/>
            <a:ext cx="254000" cy="254000"/>
          </a:xfrm>
          <a:prstGeom prst="ellipse">
            <a:avLst/>
          </a:prstGeom>
          <a:solidFill>
            <a:srgbClr val="1C1C1C"/>
          </a:solidFill>
          <a:ln w="19050">
            <a:solidFill>
              <a:srgbClr val="FFFFFF"/>
            </a:solidFill>
          </a:ln>
          <a:effectLst/>
        </p:spPr>
        <p:txBody>
          <a:bodyPr rtlCol="0" anchor="ctr"/>
          <a:lstStyle/>
          <a:p>
            <a:pPr algn="ctr"/>
          </a:p>
        </p:txBody>
      </p:sp>
      <p:sp>
        <p:nvSpPr>
          <p:cNvPr id="43" name="TextBox 42"/>
          <p:cNvSpPr txBox="1"/>
          <p:nvPr/>
        </p:nvSpPr>
        <p:spPr>
          <a:xfrm>
            <a:off x="4876800" y="3238500"/>
            <a:ext cx="254000" cy="254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1</a:t>
            </a:r>
          </a:p>
        </p:txBody>
      </p:sp>
      <p:sp>
        <p:nvSpPr>
          <p:cNvPr id="44" name="Oval 43"/>
          <p:cNvSpPr/>
          <p:nvPr/>
        </p:nvSpPr>
        <p:spPr>
          <a:xfrm>
            <a:off x="3902710" y="3162300"/>
            <a:ext cx="254000" cy="254000"/>
          </a:xfrm>
          <a:prstGeom prst="ellipse">
            <a:avLst/>
          </a:prstGeom>
          <a:solidFill>
            <a:srgbClr val="1C1C1C"/>
          </a:solidFill>
          <a:ln w="19050">
            <a:solidFill>
              <a:srgbClr val="FFFFFF"/>
            </a:solidFill>
          </a:ln>
          <a:effectLst/>
        </p:spPr>
        <p:txBody>
          <a:bodyPr rtlCol="0" anchor="ctr"/>
          <a:lstStyle/>
          <a:p>
            <a:pPr algn="ctr"/>
          </a:p>
        </p:txBody>
      </p:sp>
      <p:sp>
        <p:nvSpPr>
          <p:cNvPr id="45" name="TextBox 44"/>
          <p:cNvSpPr txBox="1"/>
          <p:nvPr/>
        </p:nvSpPr>
        <p:spPr>
          <a:xfrm>
            <a:off x="3902710" y="3162300"/>
            <a:ext cx="254000" cy="254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2</a:t>
            </a:r>
          </a:p>
        </p:txBody>
      </p:sp>
      <p:sp>
        <p:nvSpPr>
          <p:cNvPr id="46" name="Oval 45"/>
          <p:cNvSpPr/>
          <p:nvPr/>
        </p:nvSpPr>
        <p:spPr>
          <a:xfrm>
            <a:off x="5626100" y="4076700"/>
            <a:ext cx="254000" cy="254000"/>
          </a:xfrm>
          <a:prstGeom prst="ellipse">
            <a:avLst/>
          </a:prstGeom>
          <a:solidFill>
            <a:srgbClr val="1C1C1C"/>
          </a:solidFill>
          <a:ln w="19050">
            <a:solidFill>
              <a:srgbClr val="FFFFFF"/>
            </a:solidFill>
          </a:ln>
          <a:effectLst/>
        </p:spPr>
        <p:txBody>
          <a:bodyPr rtlCol="0" anchor="ctr"/>
          <a:lstStyle/>
          <a:p>
            <a:pPr algn="ctr"/>
          </a:p>
        </p:txBody>
      </p:sp>
      <p:sp>
        <p:nvSpPr>
          <p:cNvPr id="47" name="TextBox 46"/>
          <p:cNvSpPr txBox="1"/>
          <p:nvPr/>
        </p:nvSpPr>
        <p:spPr>
          <a:xfrm>
            <a:off x="5626100" y="4076700"/>
            <a:ext cx="254000" cy="254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3</a:t>
            </a:r>
          </a:p>
        </p:txBody>
      </p:sp>
      <p:sp>
        <p:nvSpPr>
          <p:cNvPr id="48" name="Oval 47"/>
          <p:cNvSpPr/>
          <p:nvPr/>
        </p:nvSpPr>
        <p:spPr>
          <a:xfrm>
            <a:off x="1280160" y="2857500"/>
            <a:ext cx="254000" cy="254000"/>
          </a:xfrm>
          <a:prstGeom prst="ellipse">
            <a:avLst/>
          </a:prstGeom>
          <a:solidFill>
            <a:srgbClr val="1C1C1C"/>
          </a:solidFill>
          <a:ln w="19050">
            <a:solidFill>
              <a:srgbClr val="FFFFFF"/>
            </a:solidFill>
          </a:ln>
          <a:effectLst/>
        </p:spPr>
        <p:txBody>
          <a:bodyPr rtlCol="0" anchor="ctr"/>
          <a:lstStyle/>
          <a:p>
            <a:pPr algn="ctr"/>
          </a:p>
        </p:txBody>
      </p:sp>
      <p:sp>
        <p:nvSpPr>
          <p:cNvPr id="49" name="TextBox 48"/>
          <p:cNvSpPr txBox="1"/>
          <p:nvPr/>
        </p:nvSpPr>
        <p:spPr>
          <a:xfrm>
            <a:off x="1280160" y="2857500"/>
            <a:ext cx="254000" cy="254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4</a:t>
            </a:r>
          </a:p>
        </p:txBody>
      </p:sp>
      <p:sp>
        <p:nvSpPr>
          <p:cNvPr id="50" name="Oval 49"/>
          <p:cNvSpPr/>
          <p:nvPr/>
        </p:nvSpPr>
        <p:spPr>
          <a:xfrm>
            <a:off x="3078480" y="4762500"/>
            <a:ext cx="254000" cy="254000"/>
          </a:xfrm>
          <a:prstGeom prst="ellipse">
            <a:avLst/>
          </a:prstGeom>
          <a:solidFill>
            <a:srgbClr val="1C1C1C"/>
          </a:solidFill>
          <a:ln w="19050">
            <a:solidFill>
              <a:srgbClr val="FFFFFF"/>
            </a:solidFill>
          </a:ln>
          <a:effectLst/>
        </p:spPr>
        <p:txBody>
          <a:bodyPr rtlCol="0" anchor="ctr"/>
          <a:lstStyle/>
          <a:p>
            <a:pPr algn="ctr"/>
          </a:p>
        </p:txBody>
      </p:sp>
      <p:sp>
        <p:nvSpPr>
          <p:cNvPr id="51" name="TextBox 50"/>
          <p:cNvSpPr txBox="1"/>
          <p:nvPr/>
        </p:nvSpPr>
        <p:spPr>
          <a:xfrm>
            <a:off x="3078480" y="4762500"/>
            <a:ext cx="254000" cy="254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5</a:t>
            </a:r>
          </a:p>
        </p:txBody>
      </p:sp>
      <p:sp>
        <p:nvSpPr>
          <p:cNvPr id="52" name="Freeform 51"/>
          <p:cNvSpPr/>
          <p:nvPr/>
        </p:nvSpPr>
        <p:spPr>
          <a:xfrm>
            <a:off x="7607300" y="5461000"/>
            <a:ext cx="152400" cy="215900"/>
          </a:xfrm>
          <a:custGeom>
            <a:avLst/>
            <a:gdLst/>
            <a:ahLst/>
            <a:cxnLst/>
            <a:rect l="l" t="t" r="r" b="b"/>
            <a:pathLst>
              <a:path w="152400" h="215900">
                <a:moveTo>
                  <a:pt x="76200" y="0"/>
                </a:moveTo>
                <a:lnTo>
                  <a:pt x="152400" y="215900"/>
                </a:lnTo>
                <a:lnTo>
                  <a:pt x="76200" y="165100"/>
                </a:lnTo>
                <a:lnTo>
                  <a:pt x="0" y="215900"/>
                </a:lnTo>
                <a:close/>
              </a:path>
            </a:pathLst>
          </a:custGeom>
          <a:solidFill>
            <a:srgbClr val="1C1C1C"/>
          </a:solidFill>
          <a:ln>
            <a:noFill/>
          </a:ln>
          <a:effectLst/>
        </p:spPr>
        <p:txBody>
          <a:bodyPr rtlCol="0" anchor="ctr"/>
          <a:lstStyle/>
          <a:p>
            <a:pPr algn="ctr"/>
          </a:p>
        </p:txBody>
      </p:sp>
      <p:sp>
        <p:nvSpPr>
          <p:cNvPr id="53" name="TextBox 52"/>
          <p:cNvSpPr txBox="1"/>
          <p:nvPr/>
        </p:nvSpPr>
        <p:spPr>
          <a:xfrm>
            <a:off x="7556500" y="5702300"/>
            <a:ext cx="254000" cy="127000"/>
          </a:xfrm>
          <a:prstGeom prst="rect">
            <a:avLst/>
          </a:prstGeom>
          <a:noFill/>
        </p:spPr>
        <p:txBody>
          <a:bodyPr wrap="square" lIns="0" rIns="0" tIns="0" bIns="0" anchor="t">
            <a:spAutoFit/>
          </a:bodyPr>
          <a:lstStyle/>
          <a:p>
            <a:pPr algn="ctr">
              <a:lnSpc>
                <a:spcPct val="115000"/>
              </a:lnSpc>
            </a:pPr>
            <a:r>
              <a:rPr sz="1100" b="1" i="0">
                <a:solidFill>
                  <a:srgbClr val="1C1C1C"/>
                </a:solidFill>
                <a:latin typeface="Inter"/>
              </a:rPr>
              <a:t>N</a:t>
            </a:r>
          </a:p>
        </p:txBody>
      </p:sp>
      <p:sp>
        <p:nvSpPr>
          <p:cNvPr id="54" name="TextBox 53"/>
          <p:cNvSpPr txBox="1"/>
          <p:nvPr/>
        </p:nvSpPr>
        <p:spPr>
          <a:xfrm>
            <a:off x="508000" y="6083300"/>
            <a:ext cx="7493000" cy="152400"/>
          </a:xfrm>
          <a:prstGeom prst="rect">
            <a:avLst/>
          </a:prstGeom>
          <a:noFill/>
        </p:spPr>
        <p:txBody>
          <a:bodyPr wrap="square" lIns="0" rIns="0" tIns="0" bIns="0" anchor="t">
            <a:spAutoFit/>
          </a:bodyPr>
          <a:lstStyle/>
          <a:p>
            <a:pPr algn="l">
              <a:lnSpc>
                <a:spcPct val="115000"/>
              </a:lnSpc>
            </a:pPr>
            <a:r>
              <a:rPr sz="900" b="0" i="1">
                <a:solidFill>
                  <a:srgbClr val="6E6A64"/>
                </a:solidFill>
                <a:latin typeface="Inter"/>
              </a:rPr>
              <a:t>Schéma de propositions de l'auteur, sans échelle.</a:t>
            </a:r>
          </a:p>
        </p:txBody>
      </p:sp>
      <p:sp>
        <p:nvSpPr>
          <p:cNvPr id="55" name="Oval 54"/>
          <p:cNvSpPr/>
          <p:nvPr/>
        </p:nvSpPr>
        <p:spPr>
          <a:xfrm>
            <a:off x="8318500" y="1536700"/>
            <a:ext cx="254000" cy="254000"/>
          </a:xfrm>
          <a:prstGeom prst="ellipse">
            <a:avLst/>
          </a:prstGeom>
          <a:solidFill>
            <a:srgbClr val="1C1C1C"/>
          </a:solidFill>
          <a:ln w="19050">
            <a:solidFill>
              <a:srgbClr val="FFFFFF"/>
            </a:solidFill>
          </a:ln>
          <a:effectLst/>
        </p:spPr>
        <p:txBody>
          <a:bodyPr rtlCol="0" anchor="ctr"/>
          <a:lstStyle/>
          <a:p>
            <a:pPr algn="ctr"/>
          </a:p>
        </p:txBody>
      </p:sp>
      <p:sp>
        <p:nvSpPr>
          <p:cNvPr id="56" name="TextBox 55"/>
          <p:cNvSpPr txBox="1"/>
          <p:nvPr/>
        </p:nvSpPr>
        <p:spPr>
          <a:xfrm>
            <a:off x="8318500" y="1536700"/>
            <a:ext cx="254000" cy="254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1</a:t>
            </a:r>
          </a:p>
        </p:txBody>
      </p:sp>
      <p:sp>
        <p:nvSpPr>
          <p:cNvPr id="57" name="Rectangle 56"/>
          <p:cNvSpPr/>
          <p:nvPr/>
        </p:nvSpPr>
        <p:spPr>
          <a:xfrm>
            <a:off x="8648700" y="1574800"/>
            <a:ext cx="50800" cy="177800"/>
          </a:xfrm>
          <a:prstGeom prst="rect">
            <a:avLst/>
          </a:prstGeom>
          <a:solidFill>
            <a:srgbClr val="C8462B"/>
          </a:solidFill>
          <a:ln>
            <a:noFill/>
          </a:ln>
          <a:effectLst/>
        </p:spPr>
        <p:txBody>
          <a:bodyPr rtlCol="0" anchor="ctr"/>
          <a:lstStyle/>
          <a:p>
            <a:pPr algn="ctr"/>
          </a:p>
        </p:txBody>
      </p:sp>
      <p:sp>
        <p:nvSpPr>
          <p:cNvPr id="58" name="TextBox 57"/>
          <p:cNvSpPr txBox="1"/>
          <p:nvPr/>
        </p:nvSpPr>
        <p:spPr>
          <a:xfrm>
            <a:off x="8763000" y="1574800"/>
            <a:ext cx="2984500" cy="190500"/>
          </a:xfrm>
          <a:prstGeom prst="rect">
            <a:avLst/>
          </a:prstGeom>
          <a:noFill/>
        </p:spPr>
        <p:txBody>
          <a:bodyPr wrap="square" lIns="0" rIns="0" tIns="0" bIns="0" anchor="t">
            <a:spAutoFit/>
          </a:bodyPr>
          <a:lstStyle/>
          <a:p>
            <a:pPr algn="l">
              <a:lnSpc>
                <a:spcPct val="115000"/>
              </a:lnSpc>
            </a:pPr>
            <a:r>
              <a:rPr sz="1500" b="1" i="0">
                <a:solidFill>
                  <a:srgbClr val="1C1C1C"/>
                </a:solidFill>
                <a:latin typeface="Inter"/>
              </a:rPr>
              <a:t>Reconnecter</a:t>
            </a:r>
          </a:p>
        </p:txBody>
      </p:sp>
      <p:sp>
        <p:nvSpPr>
          <p:cNvPr id="59" name="TextBox 58"/>
          <p:cNvSpPr txBox="1"/>
          <p:nvPr/>
        </p:nvSpPr>
        <p:spPr>
          <a:xfrm>
            <a:off x="8648700" y="1816100"/>
            <a:ext cx="3111500" cy="5080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Passage piéton sûr et continu entre médina, port et corniche, en apaisant la route littorale.</a:t>
            </a:r>
          </a:p>
        </p:txBody>
      </p:sp>
      <p:sp>
        <p:nvSpPr>
          <p:cNvPr id="60" name="Oval 59"/>
          <p:cNvSpPr/>
          <p:nvPr/>
        </p:nvSpPr>
        <p:spPr>
          <a:xfrm>
            <a:off x="8318500" y="2425700"/>
            <a:ext cx="254000" cy="254000"/>
          </a:xfrm>
          <a:prstGeom prst="ellipse">
            <a:avLst/>
          </a:prstGeom>
          <a:solidFill>
            <a:srgbClr val="1C1C1C"/>
          </a:solidFill>
          <a:ln w="19050">
            <a:solidFill>
              <a:srgbClr val="FFFFFF"/>
            </a:solidFill>
          </a:ln>
          <a:effectLst/>
        </p:spPr>
        <p:txBody>
          <a:bodyPr rtlCol="0" anchor="ctr"/>
          <a:lstStyle/>
          <a:p>
            <a:pPr algn="ctr"/>
          </a:p>
        </p:txBody>
      </p:sp>
      <p:sp>
        <p:nvSpPr>
          <p:cNvPr id="61" name="TextBox 60"/>
          <p:cNvSpPr txBox="1"/>
          <p:nvPr/>
        </p:nvSpPr>
        <p:spPr>
          <a:xfrm>
            <a:off x="8318500" y="2425700"/>
            <a:ext cx="254000" cy="254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2</a:t>
            </a:r>
          </a:p>
        </p:txBody>
      </p:sp>
      <p:sp>
        <p:nvSpPr>
          <p:cNvPr id="62" name="Rectangle 61"/>
          <p:cNvSpPr/>
          <p:nvPr/>
        </p:nvSpPr>
        <p:spPr>
          <a:xfrm>
            <a:off x="8648700" y="2463800"/>
            <a:ext cx="50800" cy="177800"/>
          </a:xfrm>
          <a:prstGeom prst="rect">
            <a:avLst/>
          </a:prstGeom>
          <a:solidFill>
            <a:srgbClr val="C8462B"/>
          </a:solidFill>
          <a:ln>
            <a:noFill/>
          </a:ln>
          <a:effectLst/>
        </p:spPr>
        <p:txBody>
          <a:bodyPr rtlCol="0" anchor="ctr"/>
          <a:lstStyle/>
          <a:p>
            <a:pPr algn="ctr"/>
          </a:p>
        </p:txBody>
      </p:sp>
      <p:sp>
        <p:nvSpPr>
          <p:cNvPr id="63" name="TextBox 62"/>
          <p:cNvSpPr txBox="1"/>
          <p:nvPr/>
        </p:nvSpPr>
        <p:spPr>
          <a:xfrm>
            <a:off x="8763000" y="2463800"/>
            <a:ext cx="2984500" cy="190500"/>
          </a:xfrm>
          <a:prstGeom prst="rect">
            <a:avLst/>
          </a:prstGeom>
          <a:noFill/>
        </p:spPr>
        <p:txBody>
          <a:bodyPr wrap="square" lIns="0" rIns="0" tIns="0" bIns="0" anchor="t">
            <a:spAutoFit/>
          </a:bodyPr>
          <a:lstStyle/>
          <a:p>
            <a:pPr algn="l">
              <a:lnSpc>
                <a:spcPct val="115000"/>
              </a:lnSpc>
            </a:pPr>
            <a:r>
              <a:rPr sz="1500" b="1" i="0">
                <a:solidFill>
                  <a:srgbClr val="1C1C1C"/>
                </a:solidFill>
                <a:latin typeface="Inter"/>
              </a:rPr>
              <a:t>Habiter la médina</a:t>
            </a:r>
          </a:p>
        </p:txBody>
      </p:sp>
      <p:sp>
        <p:nvSpPr>
          <p:cNvPr id="64" name="TextBox 63"/>
          <p:cNvSpPr txBox="1"/>
          <p:nvPr/>
        </p:nvSpPr>
        <p:spPr>
          <a:xfrm>
            <a:off x="8648700" y="2705100"/>
            <a:ext cx="3111500" cy="5080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Logement d'abord : restauration des 328 bâtiments en péril, quota de logements, encadrement des locations courtes.</a:t>
            </a:r>
          </a:p>
        </p:txBody>
      </p:sp>
      <p:sp>
        <p:nvSpPr>
          <p:cNvPr id="65" name="Oval 64"/>
          <p:cNvSpPr/>
          <p:nvPr/>
        </p:nvSpPr>
        <p:spPr>
          <a:xfrm>
            <a:off x="8318500" y="3314700"/>
            <a:ext cx="254000" cy="254000"/>
          </a:xfrm>
          <a:prstGeom prst="ellipse">
            <a:avLst/>
          </a:prstGeom>
          <a:solidFill>
            <a:srgbClr val="1C1C1C"/>
          </a:solidFill>
          <a:ln w="19050">
            <a:solidFill>
              <a:srgbClr val="FFFFFF"/>
            </a:solidFill>
          </a:ln>
          <a:effectLst/>
        </p:spPr>
        <p:txBody>
          <a:bodyPr rtlCol="0" anchor="ctr"/>
          <a:lstStyle/>
          <a:p>
            <a:pPr algn="ctr"/>
          </a:p>
        </p:txBody>
      </p:sp>
      <p:sp>
        <p:nvSpPr>
          <p:cNvPr id="66" name="TextBox 65"/>
          <p:cNvSpPr txBox="1"/>
          <p:nvPr/>
        </p:nvSpPr>
        <p:spPr>
          <a:xfrm>
            <a:off x="8318500" y="3314700"/>
            <a:ext cx="254000" cy="254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3</a:t>
            </a:r>
          </a:p>
        </p:txBody>
      </p:sp>
      <p:sp>
        <p:nvSpPr>
          <p:cNvPr id="67" name="Rectangle 66"/>
          <p:cNvSpPr/>
          <p:nvPr/>
        </p:nvSpPr>
        <p:spPr>
          <a:xfrm>
            <a:off x="8648700" y="3352800"/>
            <a:ext cx="50800" cy="177800"/>
          </a:xfrm>
          <a:prstGeom prst="rect">
            <a:avLst/>
          </a:prstGeom>
          <a:solidFill>
            <a:srgbClr val="1C1C1C"/>
          </a:solidFill>
          <a:ln>
            <a:noFill/>
          </a:ln>
          <a:effectLst/>
        </p:spPr>
        <p:txBody>
          <a:bodyPr rtlCol="0" anchor="ctr"/>
          <a:lstStyle/>
          <a:p>
            <a:pPr algn="ctr"/>
          </a:p>
        </p:txBody>
      </p:sp>
      <p:sp>
        <p:nvSpPr>
          <p:cNvPr id="68" name="TextBox 67"/>
          <p:cNvSpPr txBox="1"/>
          <p:nvPr/>
        </p:nvSpPr>
        <p:spPr>
          <a:xfrm>
            <a:off x="8763000" y="3352800"/>
            <a:ext cx="2984500" cy="190500"/>
          </a:xfrm>
          <a:prstGeom prst="rect">
            <a:avLst/>
          </a:prstGeom>
          <a:noFill/>
        </p:spPr>
        <p:txBody>
          <a:bodyPr wrap="square" lIns="0" rIns="0" tIns="0" bIns="0" anchor="t">
            <a:spAutoFit/>
          </a:bodyPr>
          <a:lstStyle/>
          <a:p>
            <a:pPr algn="l">
              <a:lnSpc>
                <a:spcPct val="115000"/>
              </a:lnSpc>
            </a:pPr>
            <a:r>
              <a:rPr sz="1500" b="1" i="0">
                <a:solidFill>
                  <a:srgbClr val="1C1C1C"/>
                </a:solidFill>
                <a:latin typeface="Inter"/>
              </a:rPr>
              <a:t>Relier les quartiers</a:t>
            </a:r>
          </a:p>
        </p:txBody>
      </p:sp>
      <p:sp>
        <p:nvSpPr>
          <p:cNvPr id="69" name="TextBox 68"/>
          <p:cNvSpPr txBox="1"/>
          <p:nvPr/>
        </p:nvSpPr>
        <p:spPr>
          <a:xfrm>
            <a:off x="8648700" y="3594100"/>
            <a:ext cx="3111500" cy="5080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Une ligne structurante (tram ou BHNS) : Gzenaya, Mesnana, Beni Makada, centre, gare.</a:t>
            </a:r>
          </a:p>
        </p:txBody>
      </p:sp>
      <p:sp>
        <p:nvSpPr>
          <p:cNvPr id="70" name="Oval 69"/>
          <p:cNvSpPr/>
          <p:nvPr/>
        </p:nvSpPr>
        <p:spPr>
          <a:xfrm>
            <a:off x="8318500" y="4203700"/>
            <a:ext cx="254000" cy="254000"/>
          </a:xfrm>
          <a:prstGeom prst="ellipse">
            <a:avLst/>
          </a:prstGeom>
          <a:solidFill>
            <a:srgbClr val="1C1C1C"/>
          </a:solidFill>
          <a:ln w="19050">
            <a:solidFill>
              <a:srgbClr val="FFFFFF"/>
            </a:solidFill>
          </a:ln>
          <a:effectLst/>
        </p:spPr>
        <p:txBody>
          <a:bodyPr rtlCol="0" anchor="ctr"/>
          <a:lstStyle/>
          <a:p>
            <a:pPr algn="ctr"/>
          </a:p>
        </p:txBody>
      </p:sp>
      <p:sp>
        <p:nvSpPr>
          <p:cNvPr id="71" name="TextBox 70"/>
          <p:cNvSpPr txBox="1"/>
          <p:nvPr/>
        </p:nvSpPr>
        <p:spPr>
          <a:xfrm>
            <a:off x="8318500" y="4203700"/>
            <a:ext cx="254000" cy="254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4</a:t>
            </a:r>
          </a:p>
        </p:txBody>
      </p:sp>
      <p:sp>
        <p:nvSpPr>
          <p:cNvPr id="72" name="Rectangle 71"/>
          <p:cNvSpPr/>
          <p:nvPr/>
        </p:nvSpPr>
        <p:spPr>
          <a:xfrm>
            <a:off x="8648700" y="4241800"/>
            <a:ext cx="50800" cy="177800"/>
          </a:xfrm>
          <a:prstGeom prst="rect">
            <a:avLst/>
          </a:prstGeom>
          <a:solidFill>
            <a:srgbClr val="8FAE82"/>
          </a:solidFill>
          <a:ln>
            <a:noFill/>
          </a:ln>
          <a:effectLst/>
        </p:spPr>
        <p:txBody>
          <a:bodyPr rtlCol="0" anchor="ctr"/>
          <a:lstStyle/>
          <a:p>
            <a:pPr algn="ctr"/>
          </a:p>
        </p:txBody>
      </p:sp>
      <p:sp>
        <p:nvSpPr>
          <p:cNvPr id="73" name="TextBox 72"/>
          <p:cNvSpPr txBox="1"/>
          <p:nvPr/>
        </p:nvSpPr>
        <p:spPr>
          <a:xfrm>
            <a:off x="8763000" y="4241800"/>
            <a:ext cx="2984500" cy="190500"/>
          </a:xfrm>
          <a:prstGeom prst="rect">
            <a:avLst/>
          </a:prstGeom>
          <a:noFill/>
        </p:spPr>
        <p:txBody>
          <a:bodyPr wrap="square" lIns="0" rIns="0" tIns="0" bIns="0" anchor="t">
            <a:spAutoFit/>
          </a:bodyPr>
          <a:lstStyle/>
          <a:p>
            <a:pPr algn="l">
              <a:lnSpc>
                <a:spcPct val="115000"/>
              </a:lnSpc>
            </a:pPr>
            <a:r>
              <a:rPr sz="1500" b="1" i="0">
                <a:solidFill>
                  <a:srgbClr val="1C1C1C"/>
                </a:solidFill>
                <a:latin typeface="Inter"/>
              </a:rPr>
              <a:t>Protéger</a:t>
            </a:r>
          </a:p>
        </p:txBody>
      </p:sp>
      <p:sp>
        <p:nvSpPr>
          <p:cNvPr id="74" name="TextBox 73"/>
          <p:cNvSpPr txBox="1"/>
          <p:nvPr/>
        </p:nvSpPr>
        <p:spPr>
          <a:xfrm>
            <a:off x="8648700" y="4483100"/>
            <a:ext cx="3111500" cy="5080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Limite verte ferme autour de Rmilat et du cap Spartel ; rivage public garanti.</a:t>
            </a:r>
          </a:p>
        </p:txBody>
      </p:sp>
      <p:sp>
        <p:nvSpPr>
          <p:cNvPr id="75" name="Oval 74"/>
          <p:cNvSpPr/>
          <p:nvPr/>
        </p:nvSpPr>
        <p:spPr>
          <a:xfrm>
            <a:off x="8318500" y="5092700"/>
            <a:ext cx="254000" cy="254000"/>
          </a:xfrm>
          <a:prstGeom prst="ellipse">
            <a:avLst/>
          </a:prstGeom>
          <a:solidFill>
            <a:srgbClr val="1C1C1C"/>
          </a:solidFill>
          <a:ln w="19050">
            <a:solidFill>
              <a:srgbClr val="FFFFFF"/>
            </a:solidFill>
          </a:ln>
          <a:effectLst/>
        </p:spPr>
        <p:txBody>
          <a:bodyPr rtlCol="0" anchor="ctr"/>
          <a:lstStyle/>
          <a:p>
            <a:pPr algn="ctr"/>
          </a:p>
        </p:txBody>
      </p:sp>
      <p:sp>
        <p:nvSpPr>
          <p:cNvPr id="76" name="TextBox 75"/>
          <p:cNvSpPr txBox="1"/>
          <p:nvPr/>
        </p:nvSpPr>
        <p:spPr>
          <a:xfrm>
            <a:off x="8318500" y="5092700"/>
            <a:ext cx="254000" cy="254000"/>
          </a:xfrm>
          <a:prstGeom prst="rect">
            <a:avLst/>
          </a:prstGeom>
          <a:noFill/>
        </p:spPr>
        <p:txBody>
          <a:bodyPr wrap="square" lIns="0" rIns="0" tIns="0" bIns="0" anchor="ctr">
            <a:spAutoFit/>
          </a:bodyPr>
          <a:lstStyle/>
          <a:p>
            <a:pPr algn="ctr">
              <a:lnSpc>
                <a:spcPct val="115000"/>
              </a:lnSpc>
            </a:pPr>
            <a:r>
              <a:rPr sz="1300" b="1" i="0">
                <a:solidFill>
                  <a:srgbClr val="FFFFFF"/>
                </a:solidFill>
                <a:latin typeface="Inter"/>
              </a:rPr>
              <a:t>5</a:t>
            </a:r>
          </a:p>
        </p:txBody>
      </p:sp>
      <p:sp>
        <p:nvSpPr>
          <p:cNvPr id="77" name="Rectangle 76"/>
          <p:cNvSpPr/>
          <p:nvPr/>
        </p:nvSpPr>
        <p:spPr>
          <a:xfrm>
            <a:off x="8648700" y="5130800"/>
            <a:ext cx="50800" cy="177800"/>
          </a:xfrm>
          <a:prstGeom prst="rect">
            <a:avLst/>
          </a:prstGeom>
          <a:solidFill>
            <a:srgbClr val="D9A441"/>
          </a:solidFill>
          <a:ln>
            <a:noFill/>
          </a:ln>
          <a:effectLst/>
        </p:spPr>
        <p:txBody>
          <a:bodyPr rtlCol="0" anchor="ctr"/>
          <a:lstStyle/>
          <a:p>
            <a:pPr algn="ctr"/>
          </a:p>
        </p:txBody>
      </p:sp>
      <p:sp>
        <p:nvSpPr>
          <p:cNvPr id="78" name="TextBox 77"/>
          <p:cNvSpPr txBox="1"/>
          <p:nvPr/>
        </p:nvSpPr>
        <p:spPr>
          <a:xfrm>
            <a:off x="8763000" y="5130800"/>
            <a:ext cx="2984500" cy="190500"/>
          </a:xfrm>
          <a:prstGeom prst="rect">
            <a:avLst/>
          </a:prstGeom>
          <a:noFill/>
        </p:spPr>
        <p:txBody>
          <a:bodyPr wrap="square" lIns="0" rIns="0" tIns="0" bIns="0" anchor="t">
            <a:spAutoFit/>
          </a:bodyPr>
          <a:lstStyle/>
          <a:p>
            <a:pPr algn="l">
              <a:lnSpc>
                <a:spcPct val="115000"/>
              </a:lnSpc>
            </a:pPr>
            <a:r>
              <a:rPr sz="1500" b="1" i="0">
                <a:solidFill>
                  <a:srgbClr val="1C1C1C"/>
                </a:solidFill>
                <a:latin typeface="Inter"/>
              </a:rPr>
              <a:t>Héritage Mondial</a:t>
            </a:r>
          </a:p>
        </p:txBody>
      </p:sp>
      <p:sp>
        <p:nvSpPr>
          <p:cNvPr id="79" name="TextBox 78"/>
          <p:cNvSpPr txBox="1"/>
          <p:nvPr/>
        </p:nvSpPr>
        <p:spPr>
          <a:xfrm>
            <a:off x="8648700" y="5372100"/>
            <a:ext cx="3111500" cy="5080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Chaque dirham dépensé pour l'événement couplé à un équipement de quartier (école, santé, parc).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1EA"/>
          </a:solidFill>
          <a:ln>
            <a:noFill/>
          </a:ln>
          <a:effectLst/>
        </p:spPr>
        <p:txBody>
          <a:bodyPr rtlCol="0" anchor="ctr"/>
          <a:lstStyle/>
          <a:p>
            <a:pPr algn="ctr"/>
          </a:p>
        </p:txBody>
      </p:sp>
      <p:sp>
        <p:nvSpPr>
          <p:cNvPr id="3" name="TextBox 2"/>
          <p:cNvSpPr txBox="1"/>
          <p:nvPr/>
        </p:nvSpPr>
        <p:spPr>
          <a:xfrm>
            <a:off x="508000" y="317500"/>
            <a:ext cx="7620000" cy="190500"/>
          </a:xfrm>
          <a:prstGeom prst="rect">
            <a:avLst/>
          </a:prstGeom>
          <a:noFill/>
        </p:spPr>
        <p:txBody>
          <a:bodyPr wrap="square" lIns="0" rIns="0" tIns="0" bIns="0" anchor="t">
            <a:spAutoFit/>
          </a:bodyPr>
          <a:lstStyle/>
          <a:p>
            <a:pPr algn="l">
              <a:lnSpc>
                <a:spcPct val="115000"/>
              </a:lnSpc>
            </a:pPr>
            <a:r>
              <a:rPr sz="1100" b="1" i="0">
                <a:solidFill>
                  <a:srgbClr val="C8462B"/>
                </a:solidFill>
                <a:latin typeface="Inter"/>
              </a:rPr>
              <a:t>CONCLUSION</a:t>
            </a:r>
          </a:p>
        </p:txBody>
      </p:sp>
      <p:sp>
        <p:nvSpPr>
          <p:cNvPr id="4" name="TextBox 3"/>
          <p:cNvSpPr txBox="1"/>
          <p:nvPr/>
        </p:nvSpPr>
        <p:spPr>
          <a:xfrm>
            <a:off x="508000" y="508000"/>
            <a:ext cx="11176000" cy="444500"/>
          </a:xfrm>
          <a:prstGeom prst="rect">
            <a:avLst/>
          </a:prstGeom>
          <a:noFill/>
        </p:spPr>
        <p:txBody>
          <a:bodyPr wrap="square" lIns="0" rIns="0" tIns="0" bIns="0" anchor="t">
            <a:spAutoFit/>
          </a:bodyPr>
          <a:lstStyle/>
          <a:p>
            <a:pPr algn="l">
              <a:lnSpc>
                <a:spcPct val="100000"/>
              </a:lnSpc>
            </a:pPr>
            <a:r>
              <a:rPr sz="2800" b="1" i="0">
                <a:solidFill>
                  <a:srgbClr val="1C1C1C"/>
                </a:solidFill>
                <a:latin typeface="Inter"/>
              </a:rPr>
              <a:t>Une ville à vivre, pas seulement à voir</a:t>
            </a:r>
          </a:p>
        </p:txBody>
      </p:sp>
      <p:cxnSp>
        <p:nvCxnSpPr>
          <p:cNvPr id="5" name="Connector 4"/>
          <p:cNvCxnSpPr/>
          <p:nvPr/>
        </p:nvCxnSpPr>
        <p:spPr>
          <a:xfrm>
            <a:off x="508000" y="1409700"/>
            <a:ext cx="11176000" cy="0"/>
          </a:xfrm>
          <a:prstGeom prst="line">
            <a:avLst/>
          </a:prstGeom>
          <a:ln w="12700">
            <a:solidFill>
              <a:srgbClr val="CFC8BC"/>
            </a:solidFill>
          </a:ln>
        </p:spPr>
      </p:cxnSp>
      <p:cxnSp>
        <p:nvCxnSpPr>
          <p:cNvPr id="6" name="Connector 5"/>
          <p:cNvCxnSpPr/>
          <p:nvPr/>
        </p:nvCxnSpPr>
        <p:spPr>
          <a:xfrm>
            <a:off x="508000" y="6464300"/>
            <a:ext cx="11176000" cy="0"/>
          </a:xfrm>
          <a:prstGeom prst="line">
            <a:avLst/>
          </a:prstGeom>
          <a:ln w="9525">
            <a:solidFill>
              <a:srgbClr val="CFC8BC"/>
            </a:solidFill>
          </a:ln>
        </p:spPr>
      </p:cxnSp>
      <p:sp>
        <p:nvSpPr>
          <p:cNvPr id="7" name="TextBox 6"/>
          <p:cNvSpPr txBox="1"/>
          <p:nvPr/>
        </p:nvSpPr>
        <p:spPr>
          <a:xfrm>
            <a:off x="508000" y="6540500"/>
            <a:ext cx="5080000" cy="152400"/>
          </a:xfrm>
          <a:prstGeom prst="rect">
            <a:avLst/>
          </a:prstGeom>
          <a:noFill/>
        </p:spPr>
        <p:txBody>
          <a:bodyPr wrap="square" lIns="0" rIns="0" tIns="0" bIns="0" anchor="t">
            <a:spAutoFit/>
          </a:bodyPr>
          <a:lstStyle/>
          <a:p>
            <a:pPr algn="l">
              <a:lnSpc>
                <a:spcPct val="115000"/>
              </a:lnSpc>
            </a:pPr>
            <a:r>
              <a:rPr sz="900" b="1" i="0">
                <a:solidFill>
                  <a:srgbClr val="6E6A64"/>
                </a:solidFill>
                <a:latin typeface="Inter"/>
              </a:rPr>
              <a:t>TANGER, VILLE-VITRINE  ·  CRITIQUE URBAINE</a:t>
            </a:r>
          </a:p>
        </p:txBody>
      </p:sp>
      <p:sp>
        <p:nvSpPr>
          <p:cNvPr id="8" name="TextBox 7"/>
          <p:cNvSpPr txBox="1"/>
          <p:nvPr/>
        </p:nvSpPr>
        <p:spPr>
          <a:xfrm>
            <a:off x="4826000" y="6540500"/>
            <a:ext cx="2540000" cy="152400"/>
          </a:xfrm>
          <a:prstGeom prst="rect">
            <a:avLst/>
          </a:prstGeom>
          <a:noFill/>
        </p:spPr>
        <p:txBody>
          <a:bodyPr wrap="square" lIns="0" rIns="0" tIns="0" bIns="0" anchor="t">
            <a:spAutoFit/>
          </a:bodyPr>
          <a:lstStyle/>
          <a:p>
            <a:pPr algn="ctr">
              <a:lnSpc>
                <a:spcPct val="115000"/>
              </a:lnSpc>
            </a:pPr>
            <a:r>
              <a:rPr sz="900" b="0" i="0">
                <a:solidFill>
                  <a:srgbClr val="6E6A64"/>
                </a:solidFill>
                <a:latin typeface="Inter"/>
              </a:rPr>
              <a:t>[Nom]  ·  [Cours]  ·  [Date]</a:t>
            </a:r>
          </a:p>
        </p:txBody>
      </p:sp>
      <p:sp>
        <p:nvSpPr>
          <p:cNvPr id="9" name="TextBox 8"/>
          <p:cNvSpPr txBox="1"/>
          <p:nvPr/>
        </p:nvSpPr>
        <p:spPr>
          <a:xfrm>
            <a:off x="9779000" y="6540500"/>
            <a:ext cx="1905000" cy="152400"/>
          </a:xfrm>
          <a:prstGeom prst="rect">
            <a:avLst/>
          </a:prstGeom>
          <a:noFill/>
        </p:spPr>
        <p:txBody>
          <a:bodyPr wrap="square" lIns="0" rIns="0" tIns="0" bIns="0" anchor="t">
            <a:spAutoFit/>
          </a:bodyPr>
          <a:lstStyle/>
          <a:p>
            <a:pPr algn="r">
              <a:lnSpc>
                <a:spcPct val="115000"/>
              </a:lnSpc>
            </a:pPr>
            <a:r>
              <a:rPr sz="900" b="1" i="0">
                <a:solidFill>
                  <a:srgbClr val="1C1C1C"/>
                </a:solidFill>
                <a:latin typeface="Inter"/>
              </a:rPr>
              <a:t>17 / 17</a:t>
            </a:r>
          </a:p>
        </p:txBody>
      </p:sp>
      <p:sp>
        <p:nvSpPr>
          <p:cNvPr id="10" name="TextBox 9"/>
          <p:cNvSpPr txBox="1"/>
          <p:nvPr/>
        </p:nvSpPr>
        <p:spPr>
          <a:xfrm>
            <a:off x="508000" y="1587500"/>
            <a:ext cx="11176000" cy="952500"/>
          </a:xfrm>
          <a:prstGeom prst="rect">
            <a:avLst/>
          </a:prstGeom>
          <a:noFill/>
        </p:spPr>
        <p:txBody>
          <a:bodyPr wrap="square" lIns="0" rIns="0" tIns="0" bIns="0" anchor="t">
            <a:spAutoFit/>
          </a:bodyPr>
          <a:lstStyle/>
          <a:p>
            <a:pPr algn="l">
              <a:lnSpc>
                <a:spcPct val="125000"/>
              </a:lnSpc>
            </a:pPr>
            <a:r>
              <a:rPr sz="2000" b="1" i="0">
                <a:solidFill>
                  <a:srgbClr val="1C1C1C"/>
                </a:solidFill>
                <a:latin typeface="Inter"/>
              </a:rPr>
              <a:t>Tanger a été refaite pour son image, ses visiteurs et ses investisseurs. </a:t>
            </a:r>
            <a:r>
              <a:rPr sz="2000" b="1" i="0">
                <a:solidFill>
                  <a:srgbClr val="C8462B"/>
                </a:solidFill>
                <a:latin typeface="Inter"/>
              </a:rPr>
              <a:t>La prochaine décennie, et l'héritage du Mondial 2030, doivent être jugés dans ses quartiers.</a:t>
            </a:r>
          </a:p>
        </p:txBody>
      </p:sp>
      <p:sp>
        <p:nvSpPr>
          <p:cNvPr id="11" name="Rectangle 10"/>
          <p:cNvSpPr/>
          <p:nvPr/>
        </p:nvSpPr>
        <p:spPr>
          <a:xfrm>
            <a:off x="508000" y="2667000"/>
            <a:ext cx="2635250" cy="1270000"/>
          </a:xfrm>
          <a:prstGeom prst="rect">
            <a:avLst/>
          </a:prstGeom>
          <a:solidFill>
            <a:srgbClr val="FFFFFF"/>
          </a:solidFill>
          <a:ln w="9525">
            <a:solidFill>
              <a:srgbClr val="CFC8BC"/>
            </a:solidFill>
          </a:ln>
          <a:effectLst/>
        </p:spPr>
        <p:txBody>
          <a:bodyPr rtlCol="0" anchor="ctr"/>
          <a:lstStyle/>
          <a:p>
            <a:pPr algn="ctr"/>
          </a:p>
        </p:txBody>
      </p:sp>
      <p:sp>
        <p:nvSpPr>
          <p:cNvPr id="12" name="Rectangle 11"/>
          <p:cNvSpPr/>
          <p:nvPr/>
        </p:nvSpPr>
        <p:spPr>
          <a:xfrm>
            <a:off x="508000" y="2667000"/>
            <a:ext cx="2635250" cy="50800"/>
          </a:xfrm>
          <a:prstGeom prst="rect">
            <a:avLst/>
          </a:prstGeom>
          <a:solidFill>
            <a:srgbClr val="1F3A5F"/>
          </a:solidFill>
          <a:ln>
            <a:noFill/>
          </a:ln>
          <a:effectLst/>
        </p:spPr>
        <p:txBody>
          <a:bodyPr rtlCol="0" anchor="ctr"/>
          <a:lstStyle/>
          <a:p>
            <a:pPr algn="ctr"/>
          </a:p>
        </p:txBody>
      </p:sp>
      <p:sp>
        <p:nvSpPr>
          <p:cNvPr id="13" name="TextBox 12"/>
          <p:cNvSpPr txBox="1"/>
          <p:nvPr/>
        </p:nvSpPr>
        <p:spPr>
          <a:xfrm>
            <a:off x="673100" y="2844800"/>
            <a:ext cx="2413000" cy="355600"/>
          </a:xfrm>
          <a:prstGeom prst="rect">
            <a:avLst/>
          </a:prstGeom>
          <a:noFill/>
        </p:spPr>
        <p:txBody>
          <a:bodyPr wrap="square" lIns="0" rIns="0" tIns="0" bIns="0" anchor="t">
            <a:spAutoFit/>
          </a:bodyPr>
          <a:lstStyle/>
          <a:p>
            <a:pPr algn="l">
              <a:lnSpc>
                <a:spcPct val="115000"/>
              </a:lnSpc>
            </a:pPr>
            <a:r>
              <a:rPr sz="2400" b="1" i="0">
                <a:solidFill>
                  <a:srgbClr val="1F3A5F"/>
                </a:solidFill>
                <a:latin typeface="Inter"/>
              </a:rPr>
              <a:t>+40 %</a:t>
            </a:r>
          </a:p>
        </p:txBody>
      </p:sp>
      <p:sp>
        <p:nvSpPr>
          <p:cNvPr id="14" name="TextBox 13"/>
          <p:cNvSpPr txBox="1"/>
          <p:nvPr/>
        </p:nvSpPr>
        <p:spPr>
          <a:xfrm>
            <a:off x="673100" y="3302000"/>
            <a:ext cx="2349500" cy="5715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d'habitants en dix ans (1,07 → 1,49 M), sans tramway ni métro</a:t>
            </a:r>
          </a:p>
        </p:txBody>
      </p:sp>
      <p:sp>
        <p:nvSpPr>
          <p:cNvPr id="15" name="Rectangle 14"/>
          <p:cNvSpPr/>
          <p:nvPr/>
        </p:nvSpPr>
        <p:spPr>
          <a:xfrm>
            <a:off x="3333750" y="2667000"/>
            <a:ext cx="2635250" cy="1270000"/>
          </a:xfrm>
          <a:prstGeom prst="rect">
            <a:avLst/>
          </a:prstGeom>
          <a:solidFill>
            <a:srgbClr val="FFFFFF"/>
          </a:solidFill>
          <a:ln w="9525">
            <a:solidFill>
              <a:srgbClr val="CFC8BC"/>
            </a:solidFill>
          </a:ln>
          <a:effectLst/>
        </p:spPr>
        <p:txBody>
          <a:bodyPr rtlCol="0" anchor="ctr"/>
          <a:lstStyle/>
          <a:p>
            <a:pPr algn="ctr"/>
          </a:p>
        </p:txBody>
      </p:sp>
      <p:sp>
        <p:nvSpPr>
          <p:cNvPr id="16" name="Rectangle 15"/>
          <p:cNvSpPr/>
          <p:nvPr/>
        </p:nvSpPr>
        <p:spPr>
          <a:xfrm>
            <a:off x="3333750" y="2667000"/>
            <a:ext cx="2635250" cy="50800"/>
          </a:xfrm>
          <a:prstGeom prst="rect">
            <a:avLst/>
          </a:prstGeom>
          <a:solidFill>
            <a:srgbClr val="1F3A5F"/>
          </a:solidFill>
          <a:ln>
            <a:noFill/>
          </a:ln>
          <a:effectLst/>
        </p:spPr>
        <p:txBody>
          <a:bodyPr rtlCol="0" anchor="ctr"/>
          <a:lstStyle/>
          <a:p>
            <a:pPr algn="ctr"/>
          </a:p>
        </p:txBody>
      </p:sp>
      <p:sp>
        <p:nvSpPr>
          <p:cNvPr id="17" name="TextBox 16"/>
          <p:cNvSpPr txBox="1"/>
          <p:nvPr/>
        </p:nvSpPr>
        <p:spPr>
          <a:xfrm>
            <a:off x="3498850" y="2844800"/>
            <a:ext cx="2413000" cy="355600"/>
          </a:xfrm>
          <a:prstGeom prst="rect">
            <a:avLst/>
          </a:prstGeom>
          <a:noFill/>
        </p:spPr>
        <p:txBody>
          <a:bodyPr wrap="square" lIns="0" rIns="0" tIns="0" bIns="0" anchor="t">
            <a:spAutoFit/>
          </a:bodyPr>
          <a:lstStyle/>
          <a:p>
            <a:pPr algn="l">
              <a:lnSpc>
                <a:spcPct val="115000"/>
              </a:lnSpc>
            </a:pPr>
            <a:r>
              <a:rPr sz="2400" b="1" i="0">
                <a:solidFill>
                  <a:srgbClr val="1F3A5F"/>
                </a:solidFill>
                <a:latin typeface="Inter"/>
              </a:rPr>
              <a:t>36 / 150 000</a:t>
            </a:r>
          </a:p>
        </p:txBody>
      </p:sp>
      <p:sp>
        <p:nvSpPr>
          <p:cNvPr id="18" name="TextBox 17"/>
          <p:cNvSpPr txBox="1"/>
          <p:nvPr/>
        </p:nvSpPr>
        <p:spPr>
          <a:xfrm>
            <a:off x="3498850" y="3302000"/>
            <a:ext cx="2349500" cy="5715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habitants comptés vs prévus à Chrafate</a:t>
            </a:r>
          </a:p>
        </p:txBody>
      </p:sp>
      <p:sp>
        <p:nvSpPr>
          <p:cNvPr id="19" name="Rectangle 18"/>
          <p:cNvSpPr/>
          <p:nvPr/>
        </p:nvSpPr>
        <p:spPr>
          <a:xfrm>
            <a:off x="6159500" y="2667000"/>
            <a:ext cx="2635250" cy="1270000"/>
          </a:xfrm>
          <a:prstGeom prst="rect">
            <a:avLst/>
          </a:prstGeom>
          <a:solidFill>
            <a:srgbClr val="FFFFFF"/>
          </a:solidFill>
          <a:ln w="9525">
            <a:solidFill>
              <a:srgbClr val="CFC8BC"/>
            </a:solidFill>
          </a:ln>
          <a:effectLst/>
        </p:spPr>
        <p:txBody>
          <a:bodyPr rtlCol="0" anchor="ctr"/>
          <a:lstStyle/>
          <a:p>
            <a:pPr algn="ctr"/>
          </a:p>
        </p:txBody>
      </p:sp>
      <p:sp>
        <p:nvSpPr>
          <p:cNvPr id="20" name="Rectangle 19"/>
          <p:cNvSpPr/>
          <p:nvPr/>
        </p:nvSpPr>
        <p:spPr>
          <a:xfrm>
            <a:off x="6159500" y="2667000"/>
            <a:ext cx="2635250" cy="50800"/>
          </a:xfrm>
          <a:prstGeom prst="rect">
            <a:avLst/>
          </a:prstGeom>
          <a:solidFill>
            <a:srgbClr val="C8462B"/>
          </a:solidFill>
          <a:ln>
            <a:noFill/>
          </a:ln>
          <a:effectLst/>
        </p:spPr>
        <p:txBody>
          <a:bodyPr rtlCol="0" anchor="ctr"/>
          <a:lstStyle/>
          <a:p>
            <a:pPr algn="ctr"/>
          </a:p>
        </p:txBody>
      </p:sp>
      <p:sp>
        <p:nvSpPr>
          <p:cNvPr id="21" name="TextBox 20"/>
          <p:cNvSpPr txBox="1"/>
          <p:nvPr/>
        </p:nvSpPr>
        <p:spPr>
          <a:xfrm>
            <a:off x="6324600" y="2844800"/>
            <a:ext cx="2413000" cy="355600"/>
          </a:xfrm>
          <a:prstGeom prst="rect">
            <a:avLst/>
          </a:prstGeom>
          <a:noFill/>
        </p:spPr>
        <p:txBody>
          <a:bodyPr wrap="square" lIns="0" rIns="0" tIns="0" bIns="0" anchor="t">
            <a:spAutoFit/>
          </a:bodyPr>
          <a:lstStyle/>
          <a:p>
            <a:pPr algn="l">
              <a:lnSpc>
                <a:spcPct val="115000"/>
              </a:lnSpc>
            </a:pPr>
            <a:r>
              <a:rPr sz="2400" b="1" i="0">
                <a:solidFill>
                  <a:srgbClr val="C8462B"/>
                </a:solidFill>
                <a:latin typeface="Inter"/>
              </a:rPr>
              <a:t>850 vs 98</a:t>
            </a:r>
          </a:p>
        </p:txBody>
      </p:sp>
      <p:sp>
        <p:nvSpPr>
          <p:cNvPr id="22" name="TextBox 21"/>
          <p:cNvSpPr txBox="1"/>
          <p:nvPr/>
        </p:nvSpPr>
        <p:spPr>
          <a:xfrm>
            <a:off x="6324600" y="3302000"/>
            <a:ext cx="2349500" cy="5715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M MAD : décor de la médina vs bâtiments menaçant ruine</a:t>
            </a:r>
          </a:p>
        </p:txBody>
      </p:sp>
      <p:sp>
        <p:nvSpPr>
          <p:cNvPr id="23" name="Rectangle 22"/>
          <p:cNvSpPr/>
          <p:nvPr/>
        </p:nvSpPr>
        <p:spPr>
          <a:xfrm>
            <a:off x="8985250" y="2667000"/>
            <a:ext cx="2635250" cy="1270000"/>
          </a:xfrm>
          <a:prstGeom prst="rect">
            <a:avLst/>
          </a:prstGeom>
          <a:solidFill>
            <a:srgbClr val="FFFFFF"/>
          </a:solidFill>
          <a:ln w="9525">
            <a:solidFill>
              <a:srgbClr val="CFC8BC"/>
            </a:solidFill>
          </a:ln>
          <a:effectLst/>
        </p:spPr>
        <p:txBody>
          <a:bodyPr rtlCol="0" anchor="ctr"/>
          <a:lstStyle/>
          <a:p>
            <a:pPr algn="ctr"/>
          </a:p>
        </p:txBody>
      </p:sp>
      <p:sp>
        <p:nvSpPr>
          <p:cNvPr id="24" name="Rectangle 23"/>
          <p:cNvSpPr/>
          <p:nvPr/>
        </p:nvSpPr>
        <p:spPr>
          <a:xfrm>
            <a:off x="8985250" y="2667000"/>
            <a:ext cx="2635250" cy="50800"/>
          </a:xfrm>
          <a:prstGeom prst="rect">
            <a:avLst/>
          </a:prstGeom>
          <a:solidFill>
            <a:srgbClr val="C8462B"/>
          </a:solidFill>
          <a:ln>
            <a:noFill/>
          </a:ln>
          <a:effectLst/>
        </p:spPr>
        <p:txBody>
          <a:bodyPr rtlCol="0" anchor="ctr"/>
          <a:lstStyle/>
          <a:p>
            <a:pPr algn="ctr"/>
          </a:p>
        </p:txBody>
      </p:sp>
      <p:sp>
        <p:nvSpPr>
          <p:cNvPr id="25" name="TextBox 24"/>
          <p:cNvSpPr txBox="1"/>
          <p:nvPr/>
        </p:nvSpPr>
        <p:spPr>
          <a:xfrm>
            <a:off x="9150350" y="2844800"/>
            <a:ext cx="2413000" cy="355600"/>
          </a:xfrm>
          <a:prstGeom prst="rect">
            <a:avLst/>
          </a:prstGeom>
          <a:noFill/>
        </p:spPr>
        <p:txBody>
          <a:bodyPr wrap="square" lIns="0" rIns="0" tIns="0" bIns="0" anchor="t">
            <a:spAutoFit/>
          </a:bodyPr>
          <a:lstStyle/>
          <a:p>
            <a:pPr algn="l">
              <a:lnSpc>
                <a:spcPct val="115000"/>
              </a:lnSpc>
            </a:pPr>
            <a:r>
              <a:rPr sz="2400" b="1" i="0">
                <a:solidFill>
                  <a:srgbClr val="C8462B"/>
                </a:solidFill>
                <a:latin typeface="Inter"/>
              </a:rPr>
              <a:t>167 k / 750 k</a:t>
            </a:r>
          </a:p>
        </p:txBody>
      </p:sp>
      <p:sp>
        <p:nvSpPr>
          <p:cNvPr id="26" name="TextBox 25"/>
          <p:cNvSpPr txBox="1"/>
          <p:nvPr/>
        </p:nvSpPr>
        <p:spPr>
          <a:xfrm>
            <a:off x="9150350" y="3302000"/>
            <a:ext cx="2349500" cy="571500"/>
          </a:xfrm>
          <a:prstGeom prst="rect">
            <a:avLst/>
          </a:prstGeom>
          <a:noFill/>
        </p:spPr>
        <p:txBody>
          <a:bodyPr wrap="square" lIns="0" rIns="0" tIns="0" bIns="0" anchor="t">
            <a:spAutoFit/>
          </a:bodyPr>
          <a:lstStyle/>
          <a:p>
            <a:pPr algn="l">
              <a:lnSpc>
                <a:spcPct val="120000"/>
              </a:lnSpc>
            </a:pPr>
            <a:r>
              <a:rPr sz="1150" b="0" i="0">
                <a:solidFill>
                  <a:srgbClr val="1C1C1C"/>
                </a:solidFill>
                <a:latin typeface="Inter"/>
              </a:rPr>
              <a:t>croisiéristes réels vs promis pour 2025</a:t>
            </a:r>
          </a:p>
        </p:txBody>
      </p:sp>
      <p:sp>
        <p:nvSpPr>
          <p:cNvPr id="27" name="TextBox 26"/>
          <p:cNvSpPr txBox="1"/>
          <p:nvPr/>
        </p:nvSpPr>
        <p:spPr>
          <a:xfrm>
            <a:off x="508000" y="4127500"/>
            <a:ext cx="11176000" cy="381000"/>
          </a:xfrm>
          <a:prstGeom prst="rect">
            <a:avLst/>
          </a:prstGeom>
          <a:noFill/>
        </p:spPr>
        <p:txBody>
          <a:bodyPr wrap="square" lIns="0" rIns="0" tIns="0" bIns="0" anchor="t">
            <a:spAutoFit/>
          </a:bodyPr>
          <a:lstStyle/>
          <a:p>
            <a:pPr algn="ctr">
              <a:lnSpc>
                <a:spcPct val="115000"/>
              </a:lnSpc>
            </a:pPr>
            <a:r>
              <a:rPr sz="1600" b="0" i="1">
                <a:solidFill>
                  <a:srgbClr val="1C1C1C"/>
                </a:solidFill>
                <a:latin typeface="Inter"/>
              </a:rPr>
              <a:t>« Une ville se juge moins à son front de mer qu'à la vie quotidienne de son quartier le plus éloigné. »</a:t>
            </a:r>
          </a:p>
        </p:txBody>
      </p:sp>
      <p:cxnSp>
        <p:nvCxnSpPr>
          <p:cNvPr id="28" name="Connector 27"/>
          <p:cNvCxnSpPr/>
          <p:nvPr/>
        </p:nvCxnSpPr>
        <p:spPr>
          <a:xfrm>
            <a:off x="508000" y="4635500"/>
            <a:ext cx="11176000" cy="0"/>
          </a:xfrm>
          <a:prstGeom prst="line">
            <a:avLst/>
          </a:prstGeom>
          <a:ln w="9525">
            <a:solidFill>
              <a:srgbClr val="CFC8BC"/>
            </a:solidFill>
          </a:ln>
        </p:spPr>
      </p:cxnSp>
      <p:sp>
        <p:nvSpPr>
          <p:cNvPr id="29" name="TextBox 28"/>
          <p:cNvSpPr txBox="1"/>
          <p:nvPr/>
        </p:nvSpPr>
        <p:spPr>
          <a:xfrm>
            <a:off x="508000" y="4730750"/>
            <a:ext cx="3810000" cy="139700"/>
          </a:xfrm>
          <a:prstGeom prst="rect">
            <a:avLst/>
          </a:prstGeom>
          <a:noFill/>
        </p:spPr>
        <p:txBody>
          <a:bodyPr wrap="square" lIns="0" rIns="0" tIns="0" bIns="0" anchor="t">
            <a:spAutoFit/>
          </a:bodyPr>
          <a:lstStyle/>
          <a:p>
            <a:pPr algn="l">
              <a:lnSpc>
                <a:spcPct val="115000"/>
              </a:lnSpc>
            </a:pPr>
            <a:r>
              <a:rPr sz="1050" b="1" i="0">
                <a:solidFill>
                  <a:srgbClr val="1C1C1C"/>
                </a:solidFill>
                <a:latin typeface="Inter"/>
              </a:rPr>
              <a:t>SOURCES</a:t>
            </a:r>
          </a:p>
        </p:txBody>
      </p:sp>
      <p:sp>
        <p:nvSpPr>
          <p:cNvPr id="30" name="TextBox 29"/>
          <p:cNvSpPr txBox="1"/>
          <p:nvPr/>
        </p:nvSpPr>
        <p:spPr>
          <a:xfrm>
            <a:off x="508000" y="4921250"/>
            <a:ext cx="11176000" cy="1397000"/>
          </a:xfrm>
          <a:prstGeom prst="rect">
            <a:avLst/>
          </a:prstGeom>
          <a:noFill/>
        </p:spPr>
        <p:txBody>
          <a:bodyPr wrap="square" lIns="0" rIns="0" tIns="0" bIns="0" anchor="t">
            <a:spAutoFit/>
          </a:bodyPr>
          <a:lstStyle/>
          <a:p>
            <a:pPr algn="l">
              <a:lnSpc>
                <a:spcPct val="135000"/>
              </a:lnSpc>
            </a:pPr>
            <a:r>
              <a:rPr sz="950" b="0" i="0">
                <a:solidFill>
                  <a:srgbClr val="6E6A64"/>
                </a:solidFill>
                <a:latin typeface="Inter"/>
              </a:rPr>
              <a:t>HCP, Recensement général de la population et de l'habitat 2014 et 2024  ·  Observatoire national du tourisme, via Hespress FR (nov. 2025) : nuitées Tanger-Assilah</a:t>
            </a:r>
          </a:p>
          <a:p>
            <a:pPr algn="l">
              <a:lnSpc>
                <a:spcPct val="135000"/>
              </a:lnSpc>
            </a:pPr>
            <a:r>
              <a:rPr sz="950" b="0" i="0">
                <a:solidFill>
                  <a:srgbClr val="6E6A64"/>
                </a:solidFill>
                <a:latin typeface="Inter"/>
              </a:rPr>
              <a:t>Finances News Hebdo (2025) et Le360 : croisières au port de Tanger Ville  ·  Medias24 (2024) : stade Ibn Batouta  ·  Bladi (2024) : évaluation FIFA, permis exceptionnels</a:t>
            </a:r>
          </a:p>
          <a:p>
            <a:pPr algn="l">
              <a:lnSpc>
                <a:spcPct val="135000"/>
              </a:lnSpc>
            </a:pPr>
            <a:r>
              <a:rPr sz="950" b="0" i="0">
                <a:solidFill>
                  <a:srgbClr val="6E6A64"/>
                </a:solidFill>
                <a:latin typeface="Inter"/>
              </a:rPr>
              <a:t>Ministère de l'Économie et des Finances (2018), Médias24 (2013-2014) : Tanger Métropole  ·  Le360, Finances News, Médias24 (juin 2018) : port, Tanja Marina Bay</a:t>
            </a:r>
          </a:p>
          <a:p>
            <a:pPr algn="l">
              <a:lnSpc>
                <a:spcPct val="135000"/>
              </a:lnSpc>
            </a:pPr>
            <a:r>
              <a:rPr sz="950" b="0" i="0">
                <a:solidFill>
                  <a:srgbClr val="6E6A64"/>
                </a:solidFill>
                <a:latin typeface="Inter"/>
              </a:rPr>
              <a:t>Médias24 (2020), Infomédiaire : programme médina 2020-2024  ·  TelQuel (2024) : bâtiments menaçant ruine  ·  Le Desk (2025), Cour des comptes (2024) : Chrafate</a:t>
            </a:r>
          </a:p>
          <a:p>
            <a:pPr algn="l">
              <a:lnSpc>
                <a:spcPct val="135000"/>
              </a:lnSpc>
            </a:pPr>
            <a:r>
              <a:rPr sz="950" b="0" i="0">
                <a:solidFill>
                  <a:srgbClr val="6E6A64"/>
                </a:solidFill>
                <a:latin typeface="Inter"/>
              </a:rPr>
              <a:t>Escher et Petermann : touristification des médinas marocaines  ·  Observations de terrain, photographies et dessins de l'auteur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