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 Id="rId8" Type="http://schemas.openxmlformats.org/officeDocument/2006/relationships/image" Target="../media/image11.jpg"/><Relationship Id="rId9" Type="http://schemas.openxmlformats.org/officeDocument/2006/relationships/image" Target="../media/image12.jpg"/><Relationship Id="rId10"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40.jpg"/><Relationship Id="rId6" Type="http://schemas.openxmlformats.org/officeDocument/2006/relationships/image" Target="../media/image4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jpg"/><Relationship Id="rId4" Type="http://schemas.openxmlformats.org/officeDocument/2006/relationships/image" Target="../media/image4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jpg"/><Relationship Id="rId4" Type="http://schemas.openxmlformats.org/officeDocument/2006/relationships/image" Target="../media/image4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jpg"/><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jpg"/><Relationship Id="rId4" Type="http://schemas.openxmlformats.org/officeDocument/2006/relationships/image" Target="../media/image55.jpg"/><Relationship Id="rId5"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jpg"/><Relationship Id="rId4" Type="http://schemas.openxmlformats.org/officeDocument/2006/relationships/image" Target="../media/image61.jpg"/><Relationship Id="rId5" Type="http://schemas.openxmlformats.org/officeDocument/2006/relationships/image" Target="../media/image6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image" Target="../media/image66.jpg"/><Relationship Id="rId6" Type="http://schemas.openxmlformats.org/officeDocument/2006/relationships/image" Target="../media/image6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jpg"/><Relationship Id="rId4"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7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_cover.jpg"/>
          <p:cNvPicPr>
            <a:picLocks noChangeAspect="1"/>
          </p:cNvPicPr>
          <p:nvPr/>
        </p:nvPicPr>
        <p:blipFill>
          <a:blip r:embed="rId2"/>
          <a:stretch>
            <a:fillRect/>
          </a:stretch>
        </p:blipFill>
        <p:spPr>
          <a:xfrm>
            <a:off x="0" y="0"/>
            <a:ext cx="12192000" cy="7000240"/>
          </a:xfrm>
          <a:prstGeom prst="rect">
            <a:avLst/>
          </a:prstGeom>
        </p:spPr>
      </p:pic>
      <p:sp>
        <p:nvSpPr>
          <p:cNvPr id="3" name="Rectangle 2"/>
          <p:cNvSpPr/>
          <p:nvPr/>
        </p:nvSpPr>
        <p:spPr>
          <a:xfrm>
            <a:off x="0" y="0"/>
            <a:ext cx="4826000" cy="6858000"/>
          </a:xfrm>
          <a:prstGeom prst="rect">
            <a:avLst/>
          </a:prstGeom>
          <a:solidFill>
            <a:srgbClr val="1F2A32"/>
          </a:solidFill>
          <a:ln>
            <a:noFill/>
          </a:ln>
        </p:spPr>
        <p:txBody>
          <a:bodyPr rtlCol="0" anchor="ctr"/>
          <a:lstStyle/>
          <a:p>
            <a:pPr algn="ctr"/>
          </a:p>
        </p:txBody>
      </p:sp>
      <p:sp>
        <p:nvSpPr>
          <p:cNvPr id="4" name="TextBox 3"/>
          <p:cNvSpPr txBox="1"/>
          <p:nvPr/>
        </p:nvSpPr>
        <p:spPr>
          <a:xfrm>
            <a:off x="444500" y="393700"/>
            <a:ext cx="1905000" cy="215900"/>
          </a:xfrm>
          <a:prstGeom prst="rect">
            <a:avLst/>
          </a:prstGeom>
          <a:noFill/>
        </p:spPr>
        <p:txBody>
          <a:bodyPr wrap="square" lIns="0" rIns="0" tIns="0" bIns="0" anchor="t">
            <a:spAutoFit/>
          </a:bodyPr>
          <a:lstStyle/>
          <a:p>
            <a:pPr algn="l">
              <a:lnSpc>
                <a:spcPct val="120000"/>
              </a:lnSpc>
            </a:pPr>
            <a:r>
              <a:rPr sz="2000" b="1" i="0" spc="700">
                <a:solidFill>
                  <a:srgbClr val="FFFFFF"/>
                </a:solidFill>
                <a:latin typeface="Barlow Condensed"/>
              </a:rPr>
              <a:t>ENAT</a:t>
            </a:r>
          </a:p>
        </p:txBody>
      </p:sp>
      <p:cxnSp>
        <p:nvCxnSpPr>
          <p:cNvPr id="5" name="Connector 4"/>
          <p:cNvCxnSpPr/>
          <p:nvPr/>
        </p:nvCxnSpPr>
        <p:spPr>
          <a:xfrm>
            <a:off x="457200" y="660400"/>
            <a:ext cx="495300" cy="0"/>
          </a:xfrm>
          <a:prstGeom prst="line">
            <a:avLst/>
          </a:prstGeom>
          <a:ln w="15875">
            <a:solidFill>
              <a:srgbClr val="D08A5C"/>
            </a:solidFill>
          </a:ln>
        </p:spPr>
      </p:cxnSp>
      <p:sp>
        <p:nvSpPr>
          <p:cNvPr id="6" name="TextBox 5"/>
          <p:cNvSpPr txBox="1"/>
          <p:nvPr/>
        </p:nvSpPr>
        <p:spPr>
          <a:xfrm>
            <a:off x="444500" y="723900"/>
            <a:ext cx="3302000" cy="127000"/>
          </a:xfrm>
          <a:prstGeom prst="rect">
            <a:avLst/>
          </a:prstGeom>
          <a:noFill/>
        </p:spPr>
        <p:txBody>
          <a:bodyPr wrap="square" lIns="0" rIns="0" tIns="0" bIns="0" anchor="t">
            <a:spAutoFit/>
          </a:bodyPr>
          <a:lstStyle/>
          <a:p>
            <a:pPr algn="l">
              <a:lnSpc>
                <a:spcPct val="120000"/>
              </a:lnSpc>
            </a:pPr>
            <a:r>
              <a:rPr sz="850" b="0" i="0">
                <a:solidFill>
                  <a:srgbClr val="A6A29B"/>
                </a:solidFill>
                <a:latin typeface="Barlow"/>
              </a:rPr>
              <a:t>École Nationale d'Architecture de Tétouan</a:t>
            </a:r>
          </a:p>
        </p:txBody>
      </p:sp>
      <p:sp>
        <p:nvSpPr>
          <p:cNvPr id="7" name="TextBox 6"/>
          <p:cNvSpPr txBox="1"/>
          <p:nvPr/>
        </p:nvSpPr>
        <p:spPr>
          <a:xfrm>
            <a:off x="444500" y="1270000"/>
            <a:ext cx="4191000" cy="317500"/>
          </a:xfrm>
          <a:prstGeom prst="rect">
            <a:avLst/>
          </a:prstGeom>
          <a:noFill/>
        </p:spPr>
        <p:txBody>
          <a:bodyPr wrap="square" lIns="0" rIns="0" tIns="0" bIns="0" anchor="t">
            <a:spAutoFit/>
          </a:bodyPr>
          <a:lstStyle/>
          <a:p>
            <a:pPr algn="l">
              <a:lnSpc>
                <a:spcPct val="130000"/>
              </a:lnSpc>
            </a:pPr>
            <a:r>
              <a:rPr sz="1100" b="0" i="0" spc="350">
                <a:solidFill>
                  <a:srgbClr val="D08A5C"/>
                </a:solidFill>
                <a:latin typeface="Barlow Condensed"/>
              </a:rPr>
              <a:t>SÉMINAIRE  ·  URBANISATION ENTRE</a:t>
            </a:r>
          </a:p>
          <a:p>
            <a:pPr algn="l">
              <a:lnSpc>
                <a:spcPct val="130000"/>
              </a:lnSpc>
            </a:pPr>
            <a:r>
              <a:rPr sz="1100" b="0" i="0" spc="350">
                <a:solidFill>
                  <a:srgbClr val="D08A5C"/>
                </a:solidFill>
                <a:latin typeface="Barlow Condensed"/>
              </a:rPr>
              <a:t>RÉGLEMENTATION ET EXPÉRIMENTATION</a:t>
            </a:r>
          </a:p>
        </p:txBody>
      </p:sp>
      <p:sp>
        <p:nvSpPr>
          <p:cNvPr id="8" name="TextBox 7"/>
          <p:cNvSpPr txBox="1"/>
          <p:nvPr/>
        </p:nvSpPr>
        <p:spPr>
          <a:xfrm>
            <a:off x="444500" y="1778000"/>
            <a:ext cx="4318000" cy="1397000"/>
          </a:xfrm>
          <a:prstGeom prst="rect">
            <a:avLst/>
          </a:prstGeom>
          <a:noFill/>
        </p:spPr>
        <p:txBody>
          <a:bodyPr wrap="square" lIns="0" rIns="0" tIns="0" bIns="0" anchor="t">
            <a:spAutoFit/>
          </a:bodyPr>
          <a:lstStyle/>
          <a:p>
            <a:pPr algn="l">
              <a:lnSpc>
                <a:spcPct val="100000"/>
              </a:lnSpc>
            </a:pPr>
            <a:r>
              <a:rPr sz="4600" b="0" i="0" spc="300">
                <a:solidFill>
                  <a:srgbClr val="FFFFFF"/>
                </a:solidFill>
                <a:latin typeface="Barlow Condensed"/>
              </a:rPr>
              <a:t>TANGER,</a:t>
            </a:r>
          </a:p>
          <a:p>
            <a:pPr algn="l">
              <a:lnSpc>
                <a:spcPct val="100000"/>
              </a:lnSpc>
            </a:pPr>
            <a:r>
              <a:rPr sz="4600" b="0" i="0" spc="300">
                <a:solidFill>
                  <a:srgbClr val="FFFFFF"/>
                </a:solidFill>
                <a:latin typeface="Barlow Condensed"/>
              </a:rPr>
              <a:t>VILLE-VITRINE</a:t>
            </a:r>
          </a:p>
        </p:txBody>
      </p:sp>
      <p:sp>
        <p:nvSpPr>
          <p:cNvPr id="9" name="TextBox 8"/>
          <p:cNvSpPr txBox="1"/>
          <p:nvPr/>
        </p:nvSpPr>
        <p:spPr>
          <a:xfrm>
            <a:off x="444500" y="3175000"/>
            <a:ext cx="3810000" cy="762000"/>
          </a:xfrm>
          <a:prstGeom prst="rect">
            <a:avLst/>
          </a:prstGeom>
          <a:noFill/>
        </p:spPr>
        <p:txBody>
          <a:bodyPr wrap="square" lIns="0" rIns="0" tIns="0" bIns="0" anchor="t">
            <a:spAutoFit/>
          </a:bodyPr>
          <a:lstStyle/>
          <a:p>
            <a:pPr algn="l">
              <a:lnSpc>
                <a:spcPct val="135000"/>
              </a:lnSpc>
            </a:pPr>
            <a:r>
              <a:rPr sz="1400" b="0" i="0">
                <a:solidFill>
                  <a:srgbClr val="D6D2CB"/>
                </a:solidFill>
                <a:latin typeface="Barlow"/>
              </a:rPr>
              <a:t>Quand la règle et l'exception servent le tourisme. Lecture critique de la transformation de la ville, 2007-2030.</a:t>
            </a:r>
          </a:p>
        </p:txBody>
      </p:sp>
      <p:cxnSp>
        <p:nvCxnSpPr>
          <p:cNvPr id="10" name="Connector 9"/>
          <p:cNvCxnSpPr/>
          <p:nvPr/>
        </p:nvCxnSpPr>
        <p:spPr>
          <a:xfrm>
            <a:off x="444500" y="4127500"/>
            <a:ext cx="635000" cy="0"/>
          </a:xfrm>
          <a:prstGeom prst="line">
            <a:avLst/>
          </a:prstGeom>
          <a:ln w="19050">
            <a:solidFill>
              <a:srgbClr val="D08A5C"/>
            </a:solidFill>
          </a:ln>
        </p:spPr>
      </p:cxnSp>
      <p:sp>
        <p:nvSpPr>
          <p:cNvPr id="11" name="TextBox 10"/>
          <p:cNvSpPr txBox="1"/>
          <p:nvPr/>
        </p:nvSpPr>
        <p:spPr>
          <a:xfrm>
            <a:off x="444500" y="4305300"/>
            <a:ext cx="3810000" cy="165100"/>
          </a:xfrm>
          <a:prstGeom prst="rect">
            <a:avLst/>
          </a:prstGeom>
          <a:noFill/>
        </p:spPr>
        <p:txBody>
          <a:bodyPr wrap="square" lIns="0" rIns="0" tIns="0" bIns="0" anchor="t">
            <a:spAutoFit/>
          </a:bodyPr>
          <a:lstStyle/>
          <a:p>
            <a:pPr algn="l">
              <a:lnSpc>
                <a:spcPct val="120000"/>
              </a:lnSpc>
            </a:pPr>
            <a:r>
              <a:rPr sz="1050" b="1" i="0" spc="350">
                <a:solidFill>
                  <a:srgbClr val="FFFFFF"/>
                </a:solidFill>
                <a:latin typeface="Barlow Condensed"/>
              </a:rPr>
              <a:t>ATELIER S7  ·  GROUPE 4</a:t>
            </a:r>
          </a:p>
        </p:txBody>
      </p:sp>
      <p:sp>
        <p:nvSpPr>
          <p:cNvPr id="12" name="TextBox 11"/>
          <p:cNvSpPr txBox="1"/>
          <p:nvPr/>
        </p:nvSpPr>
        <p:spPr>
          <a:xfrm>
            <a:off x="444500" y="4546600"/>
            <a:ext cx="3810000" cy="444500"/>
          </a:xfrm>
          <a:prstGeom prst="rect">
            <a:avLst/>
          </a:prstGeom>
          <a:noFill/>
        </p:spPr>
        <p:txBody>
          <a:bodyPr wrap="square" lIns="0" rIns="0" tIns="0" bIns="0" anchor="t">
            <a:spAutoFit/>
          </a:bodyPr>
          <a:lstStyle/>
          <a:p>
            <a:pPr algn="l">
              <a:lnSpc>
                <a:spcPct val="140000"/>
              </a:lnSpc>
            </a:pPr>
            <a:r>
              <a:rPr sz="1400" b="0" i="0">
                <a:solidFill>
                  <a:srgbClr val="EDEDED"/>
                </a:solidFill>
                <a:latin typeface="Barlow"/>
              </a:rPr>
              <a:t>Ilaf Sefiani</a:t>
            </a:r>
          </a:p>
          <a:p>
            <a:pPr algn="l">
              <a:lnSpc>
                <a:spcPct val="140000"/>
              </a:lnSpc>
            </a:pPr>
            <a:r>
              <a:rPr sz="1400" b="0" i="0">
                <a:solidFill>
                  <a:srgbClr val="EDEDED"/>
                </a:solidFill>
                <a:latin typeface="Barlow"/>
              </a:rPr>
              <a:t>Aymane Azarkan</a:t>
            </a:r>
          </a:p>
        </p:txBody>
      </p:sp>
      <p:sp>
        <p:nvSpPr>
          <p:cNvPr id="13" name="TextBox 12"/>
          <p:cNvSpPr txBox="1"/>
          <p:nvPr/>
        </p:nvSpPr>
        <p:spPr>
          <a:xfrm>
            <a:off x="444500" y="5080000"/>
            <a:ext cx="3810000" cy="165100"/>
          </a:xfrm>
          <a:prstGeom prst="rect">
            <a:avLst/>
          </a:prstGeom>
          <a:noFill/>
        </p:spPr>
        <p:txBody>
          <a:bodyPr wrap="square" lIns="0" rIns="0" tIns="0" bIns="0" anchor="t">
            <a:spAutoFit/>
          </a:bodyPr>
          <a:lstStyle/>
          <a:p>
            <a:pPr algn="l">
              <a:lnSpc>
                <a:spcPct val="120000"/>
              </a:lnSpc>
            </a:pPr>
            <a:r>
              <a:rPr sz="1200" b="0" i="0">
                <a:solidFill>
                  <a:srgbClr val="D6D2CB"/>
                </a:solidFill>
                <a:latin typeface="Barlow"/>
              </a:rPr>
              <a:t>Encadrant : M. H. Bahouss</a:t>
            </a:r>
          </a:p>
        </p:txBody>
      </p:sp>
      <p:sp>
        <p:nvSpPr>
          <p:cNvPr id="14" name="TextBox 13"/>
          <p:cNvSpPr txBox="1"/>
          <p:nvPr/>
        </p:nvSpPr>
        <p:spPr>
          <a:xfrm>
            <a:off x="444500" y="5295900"/>
            <a:ext cx="3810000" cy="165100"/>
          </a:xfrm>
          <a:prstGeom prst="rect">
            <a:avLst/>
          </a:prstGeom>
          <a:noFill/>
        </p:spPr>
        <p:txBody>
          <a:bodyPr wrap="square" lIns="0" rIns="0" tIns="0" bIns="0" anchor="t">
            <a:spAutoFit/>
          </a:bodyPr>
          <a:lstStyle/>
          <a:p>
            <a:pPr algn="l">
              <a:lnSpc>
                <a:spcPct val="120000"/>
              </a:lnSpc>
            </a:pPr>
            <a:r>
              <a:rPr sz="1000" b="0" i="0">
                <a:solidFill>
                  <a:srgbClr val="A6A29B"/>
                </a:solidFill>
                <a:latin typeface="Barlow"/>
              </a:rPr>
              <a:t>Année universitaire 2026-2027</a:t>
            </a:r>
          </a:p>
        </p:txBody>
      </p:sp>
      <p:sp>
        <p:nvSpPr>
          <p:cNvPr id="15" name="TextBox 14"/>
          <p:cNvSpPr txBox="1"/>
          <p:nvPr/>
        </p:nvSpPr>
        <p:spPr>
          <a:xfrm>
            <a:off x="444500" y="5969000"/>
            <a:ext cx="3937000" cy="508000"/>
          </a:xfrm>
          <a:prstGeom prst="rect">
            <a:avLst/>
          </a:prstGeom>
          <a:noFill/>
        </p:spPr>
        <p:txBody>
          <a:bodyPr wrap="square" lIns="0" rIns="0" tIns="0" bIns="0" anchor="t">
            <a:spAutoFit/>
          </a:bodyPr>
          <a:lstStyle/>
          <a:p>
            <a:pPr algn="l">
              <a:lnSpc>
                <a:spcPct val="135000"/>
              </a:lnSpc>
            </a:pPr>
            <a:r>
              <a:rPr sz="950" b="0" i="0">
                <a:solidFill>
                  <a:srgbClr val="A6A29B"/>
                </a:solidFill>
                <a:latin typeface="Barlow"/>
              </a:rPr>
              <a:t>Cartes et coupes produites à partir de données réelles : OpenStreetMap / Overture Maps, ESA WorldCover, Copernicus DEM, Sentinel-2, Landsat, HCP.</a:t>
            </a:r>
          </a:p>
        </p:txBody>
      </p:sp>
      <p:sp>
        <p:nvSpPr>
          <p:cNvPr id="16" name="TextBox 15"/>
          <p:cNvSpPr txBox="1"/>
          <p:nvPr/>
        </p:nvSpPr>
        <p:spPr>
          <a:xfrm>
            <a:off x="7493000" y="6604000"/>
            <a:ext cx="4445000" cy="127000"/>
          </a:xfrm>
          <a:prstGeom prst="rect">
            <a:avLst/>
          </a:prstGeom>
          <a:noFill/>
        </p:spPr>
        <p:txBody>
          <a:bodyPr wrap="square" lIns="0" rIns="0" tIns="0" bIns="0" anchor="t">
            <a:spAutoFit/>
          </a:bodyPr>
          <a:lstStyle/>
          <a:p>
            <a:pPr algn="r">
              <a:lnSpc>
                <a:spcPct val="120000"/>
              </a:lnSpc>
            </a:pPr>
            <a:r>
              <a:rPr sz="800" b="0" i="0" spc="200">
                <a:solidFill>
                  <a:srgbClr val="D6D2CB"/>
                </a:solidFill>
                <a:latin typeface="Barlow Condensed"/>
              </a:rPr>
              <a:t>Image : Sentinel-2 L2A, 19 juillet 2025 (Copernicus / ESA)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03A"/>
          </a:solidFill>
          <a:ln>
            <a:noFill/>
          </a:ln>
        </p:spPr>
        <p:txBody>
          <a:bodyPr rtlCol="0" anchor="ctr"/>
          <a:lstStyle/>
          <a:p>
            <a:pPr algn="ctr"/>
          </a:p>
        </p:txBody>
      </p:sp>
      <p:pic>
        <p:nvPicPr>
          <p:cNvPr id="3" name="Picture 2" descr="p_hero.jpg"/>
          <p:cNvPicPr>
            <a:picLocks noChangeAspect="1"/>
          </p:cNvPicPr>
          <p:nvPr/>
        </p:nvPicPr>
        <p:blipFill>
          <a:blip r:embed="rId2"/>
          <a:stretch>
            <a:fillRect/>
          </a:stretch>
        </p:blipFill>
        <p:spPr>
          <a:xfrm>
            <a:off x="-1663700" y="0"/>
            <a:ext cx="15527547" cy="6858000"/>
          </a:xfrm>
          <a:prstGeom prst="rect">
            <a:avLst/>
          </a:prstGeom>
        </p:spPr>
      </p:pic>
      <p:sp>
        <p:nvSpPr>
          <p:cNvPr id="4" name="TextBox 3"/>
          <p:cNvSpPr txBox="1"/>
          <p:nvPr/>
        </p:nvSpPr>
        <p:spPr>
          <a:xfrm>
            <a:off x="444500" y="254000"/>
            <a:ext cx="7620000" cy="698500"/>
          </a:xfrm>
          <a:prstGeom prst="rect">
            <a:avLst/>
          </a:prstGeom>
          <a:noFill/>
        </p:spPr>
        <p:txBody>
          <a:bodyPr wrap="square" lIns="0" rIns="0" tIns="0" bIns="0" anchor="t">
            <a:spAutoFit/>
          </a:bodyPr>
          <a:lstStyle/>
          <a:p>
            <a:pPr algn="l">
              <a:lnSpc>
                <a:spcPct val="120000"/>
              </a:lnSpc>
            </a:pPr>
            <a:r>
              <a:rPr sz="6600" b="1" i="0" spc="900">
                <a:solidFill>
                  <a:srgbClr val="FFFFFF"/>
                </a:solidFill>
                <a:latin typeface="Barlow Condensed"/>
              </a:rPr>
              <a:t>TANGER</a:t>
            </a:r>
          </a:p>
        </p:txBody>
      </p:sp>
      <p:sp>
        <p:nvSpPr>
          <p:cNvPr id="5" name="TextBox 4"/>
          <p:cNvSpPr txBox="1"/>
          <p:nvPr/>
        </p:nvSpPr>
        <p:spPr>
          <a:xfrm>
            <a:off x="469900" y="1270000"/>
            <a:ext cx="7620000" cy="254000"/>
          </a:xfrm>
          <a:prstGeom prst="rect">
            <a:avLst/>
          </a:prstGeom>
          <a:noFill/>
        </p:spPr>
        <p:txBody>
          <a:bodyPr wrap="square" lIns="0" rIns="0" tIns="0" bIns="0" anchor="t">
            <a:spAutoFit/>
          </a:bodyPr>
          <a:lstStyle/>
          <a:p>
            <a:pPr algn="l">
              <a:lnSpc>
                <a:spcPct val="120000"/>
              </a:lnSpc>
            </a:pPr>
            <a:r>
              <a:rPr sz="1700" b="0" i="0">
                <a:solidFill>
                  <a:srgbClr val="FFFFFF"/>
                </a:solidFill>
                <a:latin typeface="Barlow"/>
              </a:rPr>
              <a:t>Entre deux mers et deux continents, une ville refaite pour être vue.</a:t>
            </a:r>
          </a:p>
        </p:txBody>
      </p:sp>
      <p:sp>
        <p:nvSpPr>
          <p:cNvPr id="6" name="Rectangle 5"/>
          <p:cNvSpPr/>
          <p:nvPr/>
        </p:nvSpPr>
        <p:spPr>
          <a:xfrm>
            <a:off x="8636000" y="6565900"/>
            <a:ext cx="3429000" cy="190500"/>
          </a:xfrm>
          <a:prstGeom prst="rect">
            <a:avLst/>
          </a:prstGeom>
          <a:solidFill>
            <a:srgbClr val="23303A"/>
          </a:solidFill>
          <a:ln>
            <a:noFill/>
          </a:ln>
        </p:spPr>
        <p:txBody>
          <a:bodyPr rtlCol="0" anchor="ctr"/>
          <a:lstStyle/>
          <a:p>
            <a:pPr algn="ctr"/>
          </a:p>
        </p:txBody>
      </p:sp>
      <p:sp>
        <p:nvSpPr>
          <p:cNvPr id="7" name="TextBox 6"/>
          <p:cNvSpPr txBox="1"/>
          <p:nvPr/>
        </p:nvSpPr>
        <p:spPr>
          <a:xfrm>
            <a:off x="8699500" y="6597650"/>
            <a:ext cx="3302000" cy="127000"/>
          </a:xfrm>
          <a:prstGeom prst="rect">
            <a:avLst/>
          </a:prstGeom>
          <a:noFill/>
        </p:spPr>
        <p:txBody>
          <a:bodyPr wrap="square" lIns="0" rIns="0" tIns="0" bIns="0" anchor="t">
            <a:spAutoFit/>
          </a:bodyPr>
          <a:lstStyle/>
          <a:p>
            <a:pPr algn="r">
              <a:lnSpc>
                <a:spcPct val="120000"/>
              </a:lnSpc>
            </a:pPr>
            <a:r>
              <a:rPr sz="800" b="0" i="0">
                <a:solidFill>
                  <a:srgbClr val="D6D2CB"/>
                </a:solidFill>
                <a:latin typeface="Barlow"/>
              </a:rPr>
              <a:t>Vue de Tanger depuis le port · Mike McBey, CC BY 2.0, Wikimedia Commons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PROBLÉMATIQUE : LA RÈGLE, L'EXCEPTION, LA VITRINE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Le séminaire interroge l'urbanisation entre réglementation et expérimentation. À Tanger, cette tension a un bénéficiaire : le tourisme.</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2030</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Mondial :</a:t>
            </a:r>
          </a:p>
          <a:p>
            <a:pPr algn="r">
              <a:lnSpc>
                <a:spcPct val="110000"/>
              </a:lnSpc>
            </a:pPr>
            <a:r>
              <a:rPr sz="850" b="0" i="0">
                <a:solidFill>
                  <a:srgbClr val="7B746B"/>
                </a:solidFill>
                <a:latin typeface="Barlow"/>
              </a:rPr>
              <a:t>l'exception</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2013</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Tanger-Métropole :</a:t>
            </a:r>
          </a:p>
          <a:p>
            <a:pPr algn="r">
              <a:lnSpc>
                <a:spcPct val="110000"/>
              </a:lnSpc>
            </a:pPr>
            <a:r>
              <a:rPr sz="850" b="0" i="0">
                <a:solidFill>
                  <a:srgbClr val="7B746B"/>
                </a:solidFill>
                <a:latin typeface="Barlow"/>
              </a:rPr>
              <a:t>le projet</a:t>
            </a:r>
          </a:p>
        </p:txBody>
      </p:sp>
      <p:sp>
        <p:nvSpPr>
          <p:cNvPr id="9" name="TextBox 8"/>
          <p:cNvSpPr txBox="1"/>
          <p:nvPr/>
        </p:nvSpPr>
        <p:spPr>
          <a:xfrm>
            <a:off x="92202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1992</a:t>
            </a:r>
          </a:p>
        </p:txBody>
      </p:sp>
      <p:sp>
        <p:nvSpPr>
          <p:cNvPr id="10" name="TextBox 9"/>
          <p:cNvSpPr txBox="1"/>
          <p:nvPr/>
        </p:nvSpPr>
        <p:spPr>
          <a:xfrm>
            <a:off x="92202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loi 12-90 :</a:t>
            </a:r>
          </a:p>
          <a:p>
            <a:pPr algn="r">
              <a:lnSpc>
                <a:spcPct val="110000"/>
              </a:lnSpc>
            </a:pPr>
            <a:r>
              <a:rPr sz="850" b="0" i="0">
                <a:solidFill>
                  <a:srgbClr val="7B746B"/>
                </a:solidFill>
                <a:latin typeface="Barlow"/>
              </a:rPr>
              <a:t>la règle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03 / 32</a:t>
            </a:r>
          </a:p>
        </p:txBody>
      </p:sp>
      <p:sp>
        <p:nvSpPr>
          <p:cNvPr id="14" name="TextBox 13"/>
          <p:cNvSpPr txBox="1"/>
          <p:nvPr/>
        </p:nvSpPr>
        <p:spPr>
          <a:xfrm>
            <a:off x="254000" y="1016000"/>
            <a:ext cx="11684000" cy="698500"/>
          </a:xfrm>
          <a:prstGeom prst="rect">
            <a:avLst/>
          </a:prstGeom>
          <a:noFill/>
        </p:spPr>
        <p:txBody>
          <a:bodyPr wrap="square" lIns="0" rIns="0" tIns="0" bIns="0" anchor="t">
            <a:spAutoFit/>
          </a:bodyPr>
          <a:lstStyle/>
          <a:p>
            <a:pPr algn="l">
              <a:lnSpc>
                <a:spcPct val="110000"/>
              </a:lnSpc>
            </a:pPr>
            <a:r>
              <a:rPr sz="2500" b="1" i="0">
                <a:solidFill>
                  <a:srgbClr val="23303A"/>
                </a:solidFill>
                <a:latin typeface="Barlow Condensed"/>
              </a:rPr>
              <a:t>« À Tanger, l'expérimentation urbaine (projets, programmes d'exception, dérogations) sert-elle la ville habitée, ou d'abord la ville montrée ? »</a:t>
            </a:r>
          </a:p>
        </p:txBody>
      </p:sp>
      <p:sp>
        <p:nvSpPr>
          <p:cNvPr id="15" name="Rectangle 14"/>
          <p:cNvSpPr/>
          <p:nvPr/>
        </p:nvSpPr>
        <p:spPr>
          <a:xfrm>
            <a:off x="254000" y="1905000"/>
            <a:ext cx="3778250" cy="2095500"/>
          </a:xfrm>
          <a:prstGeom prst="rect">
            <a:avLst/>
          </a:prstGeom>
          <a:solidFill>
            <a:srgbClr val="F8F5EF"/>
          </a:solidFill>
          <a:ln w="6350">
            <a:solidFill>
              <a:srgbClr val="CFC6B8"/>
            </a:solidFill>
          </a:ln>
        </p:spPr>
        <p:txBody>
          <a:bodyPr rtlCol="0" anchor="ctr"/>
          <a:lstStyle/>
          <a:p>
            <a:pPr algn="ctr"/>
          </a:p>
        </p:txBody>
      </p:sp>
      <p:sp>
        <p:nvSpPr>
          <p:cNvPr id="16" name="Rectangle 15"/>
          <p:cNvSpPr/>
          <p:nvPr/>
        </p:nvSpPr>
        <p:spPr>
          <a:xfrm>
            <a:off x="254000" y="1905000"/>
            <a:ext cx="3778250" cy="38100"/>
          </a:xfrm>
          <a:prstGeom prst="rect">
            <a:avLst/>
          </a:prstGeom>
          <a:solidFill>
            <a:srgbClr val="3E5A6E"/>
          </a:solidFill>
          <a:ln>
            <a:noFill/>
          </a:ln>
        </p:spPr>
        <p:txBody>
          <a:bodyPr rtlCol="0" anchor="ctr"/>
          <a:lstStyle/>
          <a:p>
            <a:pPr algn="ctr"/>
          </a:p>
        </p:txBody>
      </p:sp>
      <p:sp>
        <p:nvSpPr>
          <p:cNvPr id="17" name="TextBox 16"/>
          <p:cNvSpPr txBox="1"/>
          <p:nvPr/>
        </p:nvSpPr>
        <p:spPr>
          <a:xfrm>
            <a:off x="431800" y="2070100"/>
            <a:ext cx="3429000" cy="190500"/>
          </a:xfrm>
          <a:prstGeom prst="rect">
            <a:avLst/>
          </a:prstGeom>
          <a:noFill/>
        </p:spPr>
        <p:txBody>
          <a:bodyPr wrap="square" lIns="0" rIns="0" tIns="0" bIns="0" anchor="t">
            <a:spAutoFit/>
          </a:bodyPr>
          <a:lstStyle/>
          <a:p>
            <a:pPr algn="l">
              <a:lnSpc>
                <a:spcPct val="120000"/>
              </a:lnSpc>
            </a:pPr>
            <a:r>
              <a:rPr sz="1700" b="1" i="0" spc="300">
                <a:solidFill>
                  <a:srgbClr val="3E5A6E"/>
                </a:solidFill>
                <a:latin typeface="Barlow Condensed"/>
              </a:rPr>
              <a:t>LA RÉGLEMENTATION</a:t>
            </a:r>
          </a:p>
        </p:txBody>
      </p:sp>
      <p:sp>
        <p:nvSpPr>
          <p:cNvPr id="18" name="TextBox 17"/>
          <p:cNvSpPr txBox="1"/>
          <p:nvPr/>
        </p:nvSpPr>
        <p:spPr>
          <a:xfrm>
            <a:off x="431800" y="2298700"/>
            <a:ext cx="3429000" cy="152400"/>
          </a:xfrm>
          <a:prstGeom prst="rect">
            <a:avLst/>
          </a:prstGeom>
          <a:noFill/>
        </p:spPr>
        <p:txBody>
          <a:bodyPr wrap="square" lIns="0" rIns="0" tIns="0" bIns="0" anchor="t">
            <a:spAutoFit/>
          </a:bodyPr>
          <a:lstStyle/>
          <a:p>
            <a:pPr algn="l">
              <a:lnSpc>
                <a:spcPct val="120000"/>
              </a:lnSpc>
            </a:pPr>
            <a:r>
              <a:rPr sz="1050" b="0" i="1">
                <a:solidFill>
                  <a:srgbClr val="7B746B"/>
                </a:solidFill>
                <a:latin typeface="Barlow"/>
              </a:rPr>
              <a:t>lente, générale, opposable</a:t>
            </a:r>
          </a:p>
        </p:txBody>
      </p:sp>
      <p:sp>
        <p:nvSpPr>
          <p:cNvPr id="19" name="Oval 18"/>
          <p:cNvSpPr/>
          <p:nvPr/>
        </p:nvSpPr>
        <p:spPr>
          <a:xfrm>
            <a:off x="450850" y="2635250"/>
            <a:ext cx="63500" cy="63500"/>
          </a:xfrm>
          <a:prstGeom prst="ellipse">
            <a:avLst/>
          </a:prstGeom>
          <a:solidFill>
            <a:srgbClr val="3E5A6E"/>
          </a:solidFill>
          <a:ln>
            <a:noFill/>
          </a:ln>
        </p:spPr>
        <p:txBody>
          <a:bodyPr rtlCol="0" anchor="ctr"/>
          <a:lstStyle/>
          <a:p>
            <a:pPr algn="ctr"/>
          </a:p>
        </p:txBody>
      </p:sp>
      <p:sp>
        <p:nvSpPr>
          <p:cNvPr id="20" name="TextBox 19"/>
          <p:cNvSpPr txBox="1"/>
          <p:nvPr/>
        </p:nvSpPr>
        <p:spPr>
          <a:xfrm>
            <a:off x="596900" y="25971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SDAU et plans d'aménagement (loi 12-90)</a:t>
            </a:r>
          </a:p>
        </p:txBody>
      </p:sp>
      <p:sp>
        <p:nvSpPr>
          <p:cNvPr id="21" name="Oval 20"/>
          <p:cNvSpPr/>
          <p:nvPr/>
        </p:nvSpPr>
        <p:spPr>
          <a:xfrm>
            <a:off x="450850" y="2965450"/>
            <a:ext cx="63500" cy="63500"/>
          </a:xfrm>
          <a:prstGeom prst="ellipse">
            <a:avLst/>
          </a:prstGeom>
          <a:solidFill>
            <a:srgbClr val="3E5A6E"/>
          </a:solidFill>
          <a:ln>
            <a:noFill/>
          </a:ln>
        </p:spPr>
        <p:txBody>
          <a:bodyPr rtlCol="0" anchor="ctr"/>
          <a:lstStyle/>
          <a:p>
            <a:pPr algn="ctr"/>
          </a:p>
        </p:txBody>
      </p:sp>
      <p:sp>
        <p:nvSpPr>
          <p:cNvPr id="22" name="TextBox 21"/>
          <p:cNvSpPr txBox="1"/>
          <p:nvPr/>
        </p:nvSpPr>
        <p:spPr>
          <a:xfrm>
            <a:off x="596900" y="29273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Loi littoral 81-12 : 100 m inconstructibles</a:t>
            </a:r>
          </a:p>
        </p:txBody>
      </p:sp>
      <p:sp>
        <p:nvSpPr>
          <p:cNvPr id="23" name="Oval 22"/>
          <p:cNvSpPr/>
          <p:nvPr/>
        </p:nvSpPr>
        <p:spPr>
          <a:xfrm>
            <a:off x="450850" y="3295650"/>
            <a:ext cx="63500" cy="63500"/>
          </a:xfrm>
          <a:prstGeom prst="ellipse">
            <a:avLst/>
          </a:prstGeom>
          <a:solidFill>
            <a:srgbClr val="3E5A6E"/>
          </a:solidFill>
          <a:ln>
            <a:noFill/>
          </a:ln>
        </p:spPr>
        <p:txBody>
          <a:bodyPr rtlCol="0" anchor="ctr"/>
          <a:lstStyle/>
          <a:p>
            <a:pPr algn="ctr"/>
          </a:p>
        </p:txBody>
      </p:sp>
      <p:sp>
        <p:nvSpPr>
          <p:cNvPr id="24" name="TextBox 23"/>
          <p:cNvSpPr txBox="1"/>
          <p:nvPr/>
        </p:nvSpPr>
        <p:spPr>
          <a:xfrm>
            <a:off x="596900" y="32575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Patrimoine classé (loi 22-80)</a:t>
            </a:r>
          </a:p>
        </p:txBody>
      </p:sp>
      <p:sp>
        <p:nvSpPr>
          <p:cNvPr id="25" name="Oval 24"/>
          <p:cNvSpPr/>
          <p:nvPr/>
        </p:nvSpPr>
        <p:spPr>
          <a:xfrm>
            <a:off x="450850" y="3625850"/>
            <a:ext cx="63500" cy="63500"/>
          </a:xfrm>
          <a:prstGeom prst="ellipse">
            <a:avLst/>
          </a:prstGeom>
          <a:solidFill>
            <a:srgbClr val="3E5A6E"/>
          </a:solidFill>
          <a:ln>
            <a:noFill/>
          </a:ln>
        </p:spPr>
        <p:txBody>
          <a:bodyPr rtlCol="0" anchor="ctr"/>
          <a:lstStyle/>
          <a:p>
            <a:pPr algn="ctr"/>
          </a:p>
        </p:txBody>
      </p:sp>
      <p:sp>
        <p:nvSpPr>
          <p:cNvPr id="26" name="TextBox 25"/>
          <p:cNvSpPr txBox="1"/>
          <p:nvPr/>
        </p:nvSpPr>
        <p:spPr>
          <a:xfrm>
            <a:off x="596900" y="35877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Contrôle des infractions (loi 66-12)</a:t>
            </a:r>
          </a:p>
        </p:txBody>
      </p:sp>
      <p:cxnSp>
        <p:nvCxnSpPr>
          <p:cNvPr id="27" name="Connector 26"/>
          <p:cNvCxnSpPr/>
          <p:nvPr/>
        </p:nvCxnSpPr>
        <p:spPr>
          <a:xfrm>
            <a:off x="4044950" y="2952750"/>
            <a:ext cx="165100" cy="0"/>
          </a:xfrm>
          <a:prstGeom prst="line">
            <a:avLst/>
          </a:prstGeom>
          <a:ln w="12700">
            <a:solidFill>
              <a:srgbClr val="23303A"/>
            </a:solidFill>
            <a:tailEnd type="triangle"/>
          </a:ln>
        </p:spPr>
      </p:cxnSp>
      <p:sp>
        <p:nvSpPr>
          <p:cNvPr id="28" name="Rectangle 27"/>
          <p:cNvSpPr/>
          <p:nvPr/>
        </p:nvSpPr>
        <p:spPr>
          <a:xfrm>
            <a:off x="4222750" y="1905000"/>
            <a:ext cx="3778250" cy="2095500"/>
          </a:xfrm>
          <a:prstGeom prst="rect">
            <a:avLst/>
          </a:prstGeom>
          <a:solidFill>
            <a:srgbClr val="F8F5EF"/>
          </a:solidFill>
          <a:ln w="6350">
            <a:solidFill>
              <a:srgbClr val="CFC6B8"/>
            </a:solidFill>
          </a:ln>
        </p:spPr>
        <p:txBody>
          <a:bodyPr rtlCol="0" anchor="ctr"/>
          <a:lstStyle/>
          <a:p>
            <a:pPr algn="ctr"/>
          </a:p>
        </p:txBody>
      </p:sp>
      <p:sp>
        <p:nvSpPr>
          <p:cNvPr id="29" name="Rectangle 28"/>
          <p:cNvSpPr/>
          <p:nvPr/>
        </p:nvSpPr>
        <p:spPr>
          <a:xfrm>
            <a:off x="4222750" y="1905000"/>
            <a:ext cx="3778250" cy="38100"/>
          </a:xfrm>
          <a:prstGeom prst="rect">
            <a:avLst/>
          </a:prstGeom>
          <a:solidFill>
            <a:srgbClr val="B5563C"/>
          </a:solidFill>
          <a:ln>
            <a:noFill/>
          </a:ln>
        </p:spPr>
        <p:txBody>
          <a:bodyPr rtlCol="0" anchor="ctr"/>
          <a:lstStyle/>
          <a:p>
            <a:pPr algn="ctr"/>
          </a:p>
        </p:txBody>
      </p:sp>
      <p:sp>
        <p:nvSpPr>
          <p:cNvPr id="30" name="TextBox 29"/>
          <p:cNvSpPr txBox="1"/>
          <p:nvPr/>
        </p:nvSpPr>
        <p:spPr>
          <a:xfrm>
            <a:off x="4400550" y="2070100"/>
            <a:ext cx="3429000" cy="190500"/>
          </a:xfrm>
          <a:prstGeom prst="rect">
            <a:avLst/>
          </a:prstGeom>
          <a:noFill/>
        </p:spPr>
        <p:txBody>
          <a:bodyPr wrap="square" lIns="0" rIns="0" tIns="0" bIns="0" anchor="t">
            <a:spAutoFit/>
          </a:bodyPr>
          <a:lstStyle/>
          <a:p>
            <a:pPr algn="l">
              <a:lnSpc>
                <a:spcPct val="120000"/>
              </a:lnSpc>
            </a:pPr>
            <a:r>
              <a:rPr sz="1700" b="1" i="0" spc="300">
                <a:solidFill>
                  <a:srgbClr val="B5563C"/>
                </a:solidFill>
                <a:latin typeface="Barlow Condensed"/>
              </a:rPr>
              <a:t>L'EXPÉRIMENTATION</a:t>
            </a:r>
          </a:p>
        </p:txBody>
      </p:sp>
      <p:sp>
        <p:nvSpPr>
          <p:cNvPr id="31" name="TextBox 30"/>
          <p:cNvSpPr txBox="1"/>
          <p:nvPr/>
        </p:nvSpPr>
        <p:spPr>
          <a:xfrm>
            <a:off x="4400550" y="2298700"/>
            <a:ext cx="3429000" cy="152400"/>
          </a:xfrm>
          <a:prstGeom prst="rect">
            <a:avLst/>
          </a:prstGeom>
          <a:noFill/>
        </p:spPr>
        <p:txBody>
          <a:bodyPr wrap="square" lIns="0" rIns="0" tIns="0" bIns="0" anchor="t">
            <a:spAutoFit/>
          </a:bodyPr>
          <a:lstStyle/>
          <a:p>
            <a:pPr algn="l">
              <a:lnSpc>
                <a:spcPct val="120000"/>
              </a:lnSpc>
            </a:pPr>
            <a:r>
              <a:rPr sz="1050" b="0" i="1">
                <a:solidFill>
                  <a:srgbClr val="7B746B"/>
                </a:solidFill>
                <a:latin typeface="Barlow"/>
              </a:rPr>
              <a:t>rapide, localisée, dérogatoire</a:t>
            </a:r>
          </a:p>
        </p:txBody>
      </p:sp>
      <p:sp>
        <p:nvSpPr>
          <p:cNvPr id="32" name="Oval 31"/>
          <p:cNvSpPr/>
          <p:nvPr/>
        </p:nvSpPr>
        <p:spPr>
          <a:xfrm>
            <a:off x="4419600" y="2635250"/>
            <a:ext cx="63500" cy="63500"/>
          </a:xfrm>
          <a:prstGeom prst="ellipse">
            <a:avLst/>
          </a:prstGeom>
          <a:solidFill>
            <a:srgbClr val="B5563C"/>
          </a:solidFill>
          <a:ln>
            <a:noFill/>
          </a:ln>
        </p:spPr>
        <p:txBody>
          <a:bodyPr rtlCol="0" anchor="ctr"/>
          <a:lstStyle/>
          <a:p>
            <a:pPr algn="ctr"/>
          </a:p>
        </p:txBody>
      </p:sp>
      <p:sp>
        <p:nvSpPr>
          <p:cNvPr id="33" name="TextBox 32"/>
          <p:cNvSpPr txBox="1"/>
          <p:nvPr/>
        </p:nvSpPr>
        <p:spPr>
          <a:xfrm>
            <a:off x="4565650" y="25971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Programmes royaux : Tanger-Métropole</a:t>
            </a:r>
          </a:p>
        </p:txBody>
      </p:sp>
      <p:sp>
        <p:nvSpPr>
          <p:cNvPr id="34" name="Oval 33"/>
          <p:cNvSpPr/>
          <p:nvPr/>
        </p:nvSpPr>
        <p:spPr>
          <a:xfrm>
            <a:off x="4419600" y="2965450"/>
            <a:ext cx="63500" cy="63500"/>
          </a:xfrm>
          <a:prstGeom prst="ellipse">
            <a:avLst/>
          </a:prstGeom>
          <a:solidFill>
            <a:srgbClr val="B5563C"/>
          </a:solidFill>
          <a:ln>
            <a:noFill/>
          </a:ln>
        </p:spPr>
        <p:txBody>
          <a:bodyPr rtlCol="0" anchor="ctr"/>
          <a:lstStyle/>
          <a:p>
            <a:pPr algn="ctr"/>
          </a:p>
        </p:txBody>
      </p:sp>
      <p:sp>
        <p:nvSpPr>
          <p:cNvPr id="35" name="TextBox 34"/>
          <p:cNvSpPr txBox="1"/>
          <p:nvPr/>
        </p:nvSpPr>
        <p:spPr>
          <a:xfrm>
            <a:off x="4565650" y="29273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Sociétés dédiées : reconversion du port</a:t>
            </a:r>
          </a:p>
        </p:txBody>
      </p:sp>
      <p:sp>
        <p:nvSpPr>
          <p:cNvPr id="36" name="Oval 35"/>
          <p:cNvSpPr/>
          <p:nvPr/>
        </p:nvSpPr>
        <p:spPr>
          <a:xfrm>
            <a:off x="4419600" y="3295650"/>
            <a:ext cx="63500" cy="63500"/>
          </a:xfrm>
          <a:prstGeom prst="ellipse">
            <a:avLst/>
          </a:prstGeom>
          <a:solidFill>
            <a:srgbClr val="B5563C"/>
          </a:solidFill>
          <a:ln>
            <a:noFill/>
          </a:ln>
        </p:spPr>
        <p:txBody>
          <a:bodyPr rtlCol="0" anchor="ctr"/>
          <a:lstStyle/>
          <a:p>
            <a:pPr algn="ctr"/>
          </a:p>
        </p:txBody>
      </p:sp>
      <p:sp>
        <p:nvSpPr>
          <p:cNvPr id="37" name="TextBox 36"/>
          <p:cNvSpPr txBox="1"/>
          <p:nvPr/>
        </p:nvSpPr>
        <p:spPr>
          <a:xfrm>
            <a:off x="4565650" y="32575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Dérogations d'urbanisme (CRI)</a:t>
            </a:r>
          </a:p>
        </p:txBody>
      </p:sp>
      <p:sp>
        <p:nvSpPr>
          <p:cNvPr id="38" name="Oval 37"/>
          <p:cNvSpPr/>
          <p:nvPr/>
        </p:nvSpPr>
        <p:spPr>
          <a:xfrm>
            <a:off x="4419600" y="3625850"/>
            <a:ext cx="63500" cy="63500"/>
          </a:xfrm>
          <a:prstGeom prst="ellipse">
            <a:avLst/>
          </a:prstGeom>
          <a:solidFill>
            <a:srgbClr val="B5563C"/>
          </a:solidFill>
          <a:ln>
            <a:noFill/>
          </a:ln>
        </p:spPr>
        <p:txBody>
          <a:bodyPr rtlCol="0" anchor="ctr"/>
          <a:lstStyle/>
          <a:p>
            <a:pPr algn="ctr"/>
          </a:p>
        </p:txBody>
      </p:sp>
      <p:sp>
        <p:nvSpPr>
          <p:cNvPr id="39" name="TextBox 38"/>
          <p:cNvSpPr txBox="1"/>
          <p:nvPr/>
        </p:nvSpPr>
        <p:spPr>
          <a:xfrm>
            <a:off x="4565650" y="35877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Grands événements : CAN 2025, Mondial 2030</a:t>
            </a:r>
          </a:p>
        </p:txBody>
      </p:sp>
      <p:sp>
        <p:nvSpPr>
          <p:cNvPr id="40" name="Rectangle 39"/>
          <p:cNvSpPr/>
          <p:nvPr/>
        </p:nvSpPr>
        <p:spPr>
          <a:xfrm>
            <a:off x="8191500" y="1905000"/>
            <a:ext cx="3778250" cy="2095500"/>
          </a:xfrm>
          <a:prstGeom prst="rect">
            <a:avLst/>
          </a:prstGeom>
          <a:solidFill>
            <a:srgbClr val="F8F5EF"/>
          </a:solidFill>
          <a:ln w="6350">
            <a:solidFill>
              <a:srgbClr val="CFC6B8"/>
            </a:solidFill>
          </a:ln>
        </p:spPr>
        <p:txBody>
          <a:bodyPr rtlCol="0" anchor="ctr"/>
          <a:lstStyle/>
          <a:p>
            <a:pPr algn="ctr"/>
          </a:p>
        </p:txBody>
      </p:sp>
      <p:sp>
        <p:nvSpPr>
          <p:cNvPr id="41" name="Rectangle 40"/>
          <p:cNvSpPr/>
          <p:nvPr/>
        </p:nvSpPr>
        <p:spPr>
          <a:xfrm>
            <a:off x="8191500" y="1905000"/>
            <a:ext cx="3778250" cy="38100"/>
          </a:xfrm>
          <a:prstGeom prst="rect">
            <a:avLst/>
          </a:prstGeom>
          <a:solidFill>
            <a:srgbClr val="23303A"/>
          </a:solidFill>
          <a:ln>
            <a:noFill/>
          </a:ln>
        </p:spPr>
        <p:txBody>
          <a:bodyPr rtlCol="0" anchor="ctr"/>
          <a:lstStyle/>
          <a:p>
            <a:pPr algn="ctr"/>
          </a:p>
        </p:txBody>
      </p:sp>
      <p:sp>
        <p:nvSpPr>
          <p:cNvPr id="42" name="TextBox 41"/>
          <p:cNvSpPr txBox="1"/>
          <p:nvPr/>
        </p:nvSpPr>
        <p:spPr>
          <a:xfrm>
            <a:off x="8369300" y="2070100"/>
            <a:ext cx="3429000" cy="190500"/>
          </a:xfrm>
          <a:prstGeom prst="rect">
            <a:avLst/>
          </a:prstGeom>
          <a:noFill/>
        </p:spPr>
        <p:txBody>
          <a:bodyPr wrap="square" lIns="0" rIns="0" tIns="0" bIns="0" anchor="t">
            <a:spAutoFit/>
          </a:bodyPr>
          <a:lstStyle/>
          <a:p>
            <a:pPr algn="l">
              <a:lnSpc>
                <a:spcPct val="120000"/>
              </a:lnSpc>
            </a:pPr>
            <a:r>
              <a:rPr sz="1700" b="1" i="0" spc="300">
                <a:solidFill>
                  <a:srgbClr val="23303A"/>
                </a:solidFill>
                <a:latin typeface="Barlow Condensed"/>
              </a:rPr>
              <a:t>HYPOTHÈSE</a:t>
            </a:r>
          </a:p>
        </p:txBody>
      </p:sp>
      <p:sp>
        <p:nvSpPr>
          <p:cNvPr id="43" name="TextBox 42"/>
          <p:cNvSpPr txBox="1"/>
          <p:nvPr/>
        </p:nvSpPr>
        <p:spPr>
          <a:xfrm>
            <a:off x="8369300" y="2298700"/>
            <a:ext cx="3429000" cy="152400"/>
          </a:xfrm>
          <a:prstGeom prst="rect">
            <a:avLst/>
          </a:prstGeom>
          <a:noFill/>
        </p:spPr>
        <p:txBody>
          <a:bodyPr wrap="square" lIns="0" rIns="0" tIns="0" bIns="0" anchor="t">
            <a:spAutoFit/>
          </a:bodyPr>
          <a:lstStyle/>
          <a:p>
            <a:pPr algn="l">
              <a:lnSpc>
                <a:spcPct val="120000"/>
              </a:lnSpc>
            </a:pPr>
            <a:r>
              <a:rPr sz="1050" b="0" i="1">
                <a:solidFill>
                  <a:srgbClr val="7B746B"/>
                </a:solidFill>
                <a:latin typeface="Barlow"/>
              </a:rPr>
              <a:t>une ville à deux vitesses</a:t>
            </a:r>
          </a:p>
        </p:txBody>
      </p:sp>
      <p:sp>
        <p:nvSpPr>
          <p:cNvPr id="44" name="Oval 43"/>
          <p:cNvSpPr/>
          <p:nvPr/>
        </p:nvSpPr>
        <p:spPr>
          <a:xfrm>
            <a:off x="8388350" y="2635250"/>
            <a:ext cx="63500" cy="63500"/>
          </a:xfrm>
          <a:prstGeom prst="ellipse">
            <a:avLst/>
          </a:prstGeom>
          <a:solidFill>
            <a:srgbClr val="23303A"/>
          </a:solidFill>
          <a:ln>
            <a:noFill/>
          </a:ln>
        </p:spPr>
        <p:txBody>
          <a:bodyPr rtlCol="0" anchor="ctr"/>
          <a:lstStyle/>
          <a:p>
            <a:pPr algn="ctr"/>
          </a:p>
        </p:txBody>
      </p:sp>
      <p:sp>
        <p:nvSpPr>
          <p:cNvPr id="45" name="TextBox 44"/>
          <p:cNvSpPr txBox="1"/>
          <p:nvPr/>
        </p:nvSpPr>
        <p:spPr>
          <a:xfrm>
            <a:off x="8534400" y="25971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L'exception se concentre sur la vitrine : littoral, médina, port, stade</a:t>
            </a:r>
          </a:p>
        </p:txBody>
      </p:sp>
      <p:sp>
        <p:nvSpPr>
          <p:cNvPr id="46" name="Oval 45"/>
          <p:cNvSpPr/>
          <p:nvPr/>
        </p:nvSpPr>
        <p:spPr>
          <a:xfrm>
            <a:off x="8388350" y="2965450"/>
            <a:ext cx="63500" cy="63500"/>
          </a:xfrm>
          <a:prstGeom prst="ellipse">
            <a:avLst/>
          </a:prstGeom>
          <a:solidFill>
            <a:srgbClr val="23303A"/>
          </a:solidFill>
          <a:ln>
            <a:noFill/>
          </a:ln>
        </p:spPr>
        <p:txBody>
          <a:bodyPr rtlCol="0" anchor="ctr"/>
          <a:lstStyle/>
          <a:p>
            <a:pPr algn="ctr"/>
          </a:p>
        </p:txBody>
      </p:sp>
      <p:sp>
        <p:nvSpPr>
          <p:cNvPr id="47" name="TextBox 46"/>
          <p:cNvSpPr txBox="1"/>
          <p:nvPr/>
        </p:nvSpPr>
        <p:spPr>
          <a:xfrm>
            <a:off x="8534400" y="29273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La règle, tardive, s'applique d'abord à la ville ordinaire</a:t>
            </a:r>
          </a:p>
        </p:txBody>
      </p:sp>
      <p:sp>
        <p:nvSpPr>
          <p:cNvPr id="48" name="Oval 47"/>
          <p:cNvSpPr/>
          <p:nvPr/>
        </p:nvSpPr>
        <p:spPr>
          <a:xfrm>
            <a:off x="8388350" y="3295650"/>
            <a:ext cx="63500" cy="63500"/>
          </a:xfrm>
          <a:prstGeom prst="ellipse">
            <a:avLst/>
          </a:prstGeom>
          <a:solidFill>
            <a:srgbClr val="23303A"/>
          </a:solidFill>
          <a:ln>
            <a:noFill/>
          </a:ln>
        </p:spPr>
        <p:txBody>
          <a:bodyPr rtlCol="0" anchor="ctr"/>
          <a:lstStyle/>
          <a:p>
            <a:pPr algn="ctr"/>
          </a:p>
        </p:txBody>
      </p:sp>
      <p:sp>
        <p:nvSpPr>
          <p:cNvPr id="49" name="TextBox 48"/>
          <p:cNvSpPr txBox="1"/>
          <p:nvPr/>
        </p:nvSpPr>
        <p:spPr>
          <a:xfrm>
            <a:off x="8534400" y="3257550"/>
            <a:ext cx="3302000" cy="304800"/>
          </a:xfrm>
          <a:prstGeom prst="rect">
            <a:avLst/>
          </a:prstGeom>
          <a:noFill/>
        </p:spPr>
        <p:txBody>
          <a:bodyPr wrap="square" lIns="0" rIns="0" tIns="0" bIns="0" anchor="t">
            <a:spAutoFit/>
          </a:bodyPr>
          <a:lstStyle/>
          <a:p>
            <a:pPr algn="l">
              <a:lnSpc>
                <a:spcPct val="110000"/>
              </a:lnSpc>
            </a:pPr>
            <a:r>
              <a:rPr sz="1100" b="0" i="0">
                <a:solidFill>
                  <a:srgbClr val="23303A"/>
                </a:solidFill>
                <a:latin typeface="Barlow"/>
              </a:rPr>
              <a:t>La croissance réelle se fait en périphérie, sous-équipée</a:t>
            </a:r>
          </a:p>
        </p:txBody>
      </p:sp>
      <p:sp>
        <p:nvSpPr>
          <p:cNvPr id="50" name="TextBox 49"/>
          <p:cNvSpPr txBox="1"/>
          <p:nvPr/>
        </p:nvSpPr>
        <p:spPr>
          <a:xfrm>
            <a:off x="254000" y="4254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DÉMARCHE</a:t>
            </a:r>
          </a:p>
        </p:txBody>
      </p:sp>
      <p:sp>
        <p:nvSpPr>
          <p:cNvPr id="51" name="Rectangle 50"/>
          <p:cNvSpPr/>
          <p:nvPr/>
        </p:nvSpPr>
        <p:spPr>
          <a:xfrm>
            <a:off x="254000" y="4470400"/>
            <a:ext cx="2222500" cy="812800"/>
          </a:xfrm>
          <a:prstGeom prst="rect">
            <a:avLst/>
          </a:prstGeom>
          <a:solidFill>
            <a:srgbClr val="FFFFFF"/>
          </a:solidFill>
          <a:ln w="6350">
            <a:solidFill>
              <a:srgbClr val="CFC6B8"/>
            </a:solidFill>
          </a:ln>
        </p:spPr>
        <p:txBody>
          <a:bodyPr rtlCol="0" anchor="ctr"/>
          <a:lstStyle/>
          <a:p>
            <a:pPr algn="ctr"/>
          </a:p>
        </p:txBody>
      </p:sp>
      <p:sp>
        <p:nvSpPr>
          <p:cNvPr id="52" name="TextBox 51"/>
          <p:cNvSpPr txBox="1"/>
          <p:nvPr/>
        </p:nvSpPr>
        <p:spPr>
          <a:xfrm>
            <a:off x="381000" y="45339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01</a:t>
            </a:r>
          </a:p>
        </p:txBody>
      </p:sp>
      <p:sp>
        <p:nvSpPr>
          <p:cNvPr id="53" name="TextBox 52"/>
          <p:cNvSpPr txBox="1"/>
          <p:nvPr/>
        </p:nvSpPr>
        <p:spPr>
          <a:xfrm>
            <a:off x="381000" y="4851400"/>
            <a:ext cx="20320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CADRE</a:t>
            </a:r>
          </a:p>
        </p:txBody>
      </p:sp>
      <p:sp>
        <p:nvSpPr>
          <p:cNvPr id="54" name="TextBox 53"/>
          <p:cNvSpPr txBox="1"/>
          <p:nvPr/>
        </p:nvSpPr>
        <p:spPr>
          <a:xfrm>
            <a:off x="381000" y="5029200"/>
            <a:ext cx="2032000" cy="1905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La règle et les projets</a:t>
            </a:r>
          </a:p>
        </p:txBody>
      </p:sp>
      <p:cxnSp>
        <p:nvCxnSpPr>
          <p:cNvPr id="55" name="Connector 54"/>
          <p:cNvCxnSpPr/>
          <p:nvPr/>
        </p:nvCxnSpPr>
        <p:spPr>
          <a:xfrm>
            <a:off x="2489200" y="4876800"/>
            <a:ext cx="114300" cy="0"/>
          </a:xfrm>
          <a:prstGeom prst="line">
            <a:avLst/>
          </a:prstGeom>
          <a:ln w="9525">
            <a:solidFill>
              <a:srgbClr val="23303A"/>
            </a:solidFill>
            <a:tailEnd type="triangle"/>
          </a:ln>
        </p:spPr>
      </p:cxnSp>
      <p:sp>
        <p:nvSpPr>
          <p:cNvPr id="56" name="Rectangle 55"/>
          <p:cNvSpPr/>
          <p:nvPr/>
        </p:nvSpPr>
        <p:spPr>
          <a:xfrm>
            <a:off x="2616200" y="4470400"/>
            <a:ext cx="2222500" cy="812800"/>
          </a:xfrm>
          <a:prstGeom prst="rect">
            <a:avLst/>
          </a:prstGeom>
          <a:solidFill>
            <a:srgbClr val="FFFFFF"/>
          </a:solidFill>
          <a:ln w="6350">
            <a:solidFill>
              <a:srgbClr val="CFC6B8"/>
            </a:solidFill>
          </a:ln>
        </p:spPr>
        <p:txBody>
          <a:bodyPr rtlCol="0" anchor="ctr"/>
          <a:lstStyle/>
          <a:p>
            <a:pPr algn="ctr"/>
          </a:p>
        </p:txBody>
      </p:sp>
      <p:sp>
        <p:nvSpPr>
          <p:cNvPr id="57" name="TextBox 56"/>
          <p:cNvSpPr txBox="1"/>
          <p:nvPr/>
        </p:nvSpPr>
        <p:spPr>
          <a:xfrm>
            <a:off x="2743200" y="45339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02</a:t>
            </a:r>
          </a:p>
        </p:txBody>
      </p:sp>
      <p:sp>
        <p:nvSpPr>
          <p:cNvPr id="58" name="TextBox 57"/>
          <p:cNvSpPr txBox="1"/>
          <p:nvPr/>
        </p:nvSpPr>
        <p:spPr>
          <a:xfrm>
            <a:off x="2743200" y="4851400"/>
            <a:ext cx="20320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TERRITOIRE</a:t>
            </a:r>
          </a:p>
        </p:txBody>
      </p:sp>
      <p:sp>
        <p:nvSpPr>
          <p:cNvPr id="59" name="TextBox 58"/>
          <p:cNvSpPr txBox="1"/>
          <p:nvPr/>
        </p:nvSpPr>
        <p:spPr>
          <a:xfrm>
            <a:off x="2743200" y="5029200"/>
            <a:ext cx="2032000" cy="1905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Détroit, croissance, étalement</a:t>
            </a:r>
          </a:p>
        </p:txBody>
      </p:sp>
      <p:cxnSp>
        <p:nvCxnSpPr>
          <p:cNvPr id="60" name="Connector 59"/>
          <p:cNvCxnSpPr/>
          <p:nvPr/>
        </p:nvCxnSpPr>
        <p:spPr>
          <a:xfrm>
            <a:off x="4851400" y="4876800"/>
            <a:ext cx="114300" cy="0"/>
          </a:xfrm>
          <a:prstGeom prst="line">
            <a:avLst/>
          </a:prstGeom>
          <a:ln w="9525">
            <a:solidFill>
              <a:srgbClr val="23303A"/>
            </a:solidFill>
            <a:tailEnd type="triangle"/>
          </a:ln>
        </p:spPr>
      </p:cxnSp>
      <p:sp>
        <p:nvSpPr>
          <p:cNvPr id="61" name="Rectangle 60"/>
          <p:cNvSpPr/>
          <p:nvPr/>
        </p:nvSpPr>
        <p:spPr>
          <a:xfrm>
            <a:off x="4978400" y="4470400"/>
            <a:ext cx="2222500" cy="812800"/>
          </a:xfrm>
          <a:prstGeom prst="rect">
            <a:avLst/>
          </a:prstGeom>
          <a:solidFill>
            <a:srgbClr val="FFFFFF"/>
          </a:solidFill>
          <a:ln w="6350">
            <a:solidFill>
              <a:srgbClr val="CFC6B8"/>
            </a:solidFill>
          </a:ln>
        </p:spPr>
        <p:txBody>
          <a:bodyPr rtlCol="0" anchor="ctr"/>
          <a:lstStyle/>
          <a:p>
            <a:pPr algn="ctr"/>
          </a:p>
        </p:txBody>
      </p:sp>
      <p:sp>
        <p:nvSpPr>
          <p:cNvPr id="62" name="TextBox 61"/>
          <p:cNvSpPr txBox="1"/>
          <p:nvPr/>
        </p:nvSpPr>
        <p:spPr>
          <a:xfrm>
            <a:off x="5105400" y="45339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03</a:t>
            </a:r>
          </a:p>
        </p:txBody>
      </p:sp>
      <p:sp>
        <p:nvSpPr>
          <p:cNvPr id="63" name="TextBox 62"/>
          <p:cNvSpPr txBox="1"/>
          <p:nvPr/>
        </p:nvSpPr>
        <p:spPr>
          <a:xfrm>
            <a:off x="5105400" y="4851400"/>
            <a:ext cx="20320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VILLE</a:t>
            </a:r>
          </a:p>
        </p:txBody>
      </p:sp>
      <p:sp>
        <p:nvSpPr>
          <p:cNvPr id="64" name="TextBox 63"/>
          <p:cNvSpPr txBox="1"/>
          <p:nvPr/>
        </p:nvSpPr>
        <p:spPr>
          <a:xfrm>
            <a:off x="5105400" y="5029200"/>
            <a:ext cx="2032000" cy="1905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Occupation, usages, équipements</a:t>
            </a:r>
          </a:p>
        </p:txBody>
      </p:sp>
      <p:cxnSp>
        <p:nvCxnSpPr>
          <p:cNvPr id="65" name="Connector 64"/>
          <p:cNvCxnSpPr/>
          <p:nvPr/>
        </p:nvCxnSpPr>
        <p:spPr>
          <a:xfrm>
            <a:off x="7213600" y="4876800"/>
            <a:ext cx="114300" cy="0"/>
          </a:xfrm>
          <a:prstGeom prst="line">
            <a:avLst/>
          </a:prstGeom>
          <a:ln w="9525">
            <a:solidFill>
              <a:srgbClr val="23303A"/>
            </a:solidFill>
            <a:tailEnd type="triangle"/>
          </a:ln>
        </p:spPr>
      </p:cxnSp>
      <p:sp>
        <p:nvSpPr>
          <p:cNvPr id="66" name="Rectangle 65"/>
          <p:cNvSpPr/>
          <p:nvPr/>
        </p:nvSpPr>
        <p:spPr>
          <a:xfrm>
            <a:off x="7340600" y="4470400"/>
            <a:ext cx="2222500" cy="812800"/>
          </a:xfrm>
          <a:prstGeom prst="rect">
            <a:avLst/>
          </a:prstGeom>
          <a:solidFill>
            <a:srgbClr val="FFFFFF"/>
          </a:solidFill>
          <a:ln w="6350">
            <a:solidFill>
              <a:srgbClr val="CFC6B8"/>
            </a:solidFill>
          </a:ln>
        </p:spPr>
        <p:txBody>
          <a:bodyPr rtlCol="0" anchor="ctr"/>
          <a:lstStyle/>
          <a:p>
            <a:pPr algn="ctr"/>
          </a:p>
        </p:txBody>
      </p:sp>
      <p:sp>
        <p:nvSpPr>
          <p:cNvPr id="67" name="TextBox 66"/>
          <p:cNvSpPr txBox="1"/>
          <p:nvPr/>
        </p:nvSpPr>
        <p:spPr>
          <a:xfrm>
            <a:off x="7467600" y="45339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04</a:t>
            </a:r>
          </a:p>
        </p:txBody>
      </p:sp>
      <p:sp>
        <p:nvSpPr>
          <p:cNvPr id="68" name="TextBox 67"/>
          <p:cNvSpPr txBox="1"/>
          <p:nvPr/>
        </p:nvSpPr>
        <p:spPr>
          <a:xfrm>
            <a:off x="7467600" y="4851400"/>
            <a:ext cx="20320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CAS ET COUPES</a:t>
            </a:r>
          </a:p>
        </p:txBody>
      </p:sp>
      <p:sp>
        <p:nvSpPr>
          <p:cNvPr id="69" name="TextBox 68"/>
          <p:cNvSpPr txBox="1"/>
          <p:nvPr/>
        </p:nvSpPr>
        <p:spPr>
          <a:xfrm>
            <a:off x="7467600" y="5029200"/>
            <a:ext cx="2032000" cy="1905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Port, médina, stade, quartiers</a:t>
            </a:r>
          </a:p>
        </p:txBody>
      </p:sp>
      <p:cxnSp>
        <p:nvCxnSpPr>
          <p:cNvPr id="70" name="Connector 69"/>
          <p:cNvCxnSpPr/>
          <p:nvPr/>
        </p:nvCxnSpPr>
        <p:spPr>
          <a:xfrm>
            <a:off x="9575800" y="4876800"/>
            <a:ext cx="114300" cy="0"/>
          </a:xfrm>
          <a:prstGeom prst="line">
            <a:avLst/>
          </a:prstGeom>
          <a:ln w="9525">
            <a:solidFill>
              <a:srgbClr val="23303A"/>
            </a:solidFill>
            <a:tailEnd type="triangle"/>
          </a:ln>
        </p:spPr>
      </p:cxnSp>
      <p:sp>
        <p:nvSpPr>
          <p:cNvPr id="71" name="Rectangle 70"/>
          <p:cNvSpPr/>
          <p:nvPr/>
        </p:nvSpPr>
        <p:spPr>
          <a:xfrm>
            <a:off x="9702800" y="4470400"/>
            <a:ext cx="2222500" cy="812800"/>
          </a:xfrm>
          <a:prstGeom prst="rect">
            <a:avLst/>
          </a:prstGeom>
          <a:solidFill>
            <a:srgbClr val="FFFFFF"/>
          </a:solidFill>
          <a:ln w="6350">
            <a:solidFill>
              <a:srgbClr val="CFC6B8"/>
            </a:solidFill>
          </a:ln>
        </p:spPr>
        <p:txBody>
          <a:bodyPr rtlCol="0" anchor="ctr"/>
          <a:lstStyle/>
          <a:p>
            <a:pPr algn="ctr"/>
          </a:p>
        </p:txBody>
      </p:sp>
      <p:sp>
        <p:nvSpPr>
          <p:cNvPr id="72" name="TextBox 71"/>
          <p:cNvSpPr txBox="1"/>
          <p:nvPr/>
        </p:nvSpPr>
        <p:spPr>
          <a:xfrm>
            <a:off x="9829800" y="45339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05</a:t>
            </a:r>
          </a:p>
        </p:txBody>
      </p:sp>
      <p:sp>
        <p:nvSpPr>
          <p:cNvPr id="73" name="TextBox 72"/>
          <p:cNvSpPr txBox="1"/>
          <p:nvPr/>
        </p:nvSpPr>
        <p:spPr>
          <a:xfrm>
            <a:off x="9829800" y="4851400"/>
            <a:ext cx="20320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PROPOSITIONS</a:t>
            </a:r>
          </a:p>
        </p:txBody>
      </p:sp>
      <p:sp>
        <p:nvSpPr>
          <p:cNvPr id="74" name="TextBox 73"/>
          <p:cNvSpPr txBox="1"/>
          <p:nvPr/>
        </p:nvSpPr>
        <p:spPr>
          <a:xfrm>
            <a:off x="9829800" y="5029200"/>
            <a:ext cx="2032000" cy="1905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Un autre plan d'aménagement</a:t>
            </a:r>
          </a:p>
        </p:txBody>
      </p:sp>
      <p:sp>
        <p:nvSpPr>
          <p:cNvPr id="75" name="TextBox 74"/>
          <p:cNvSpPr txBox="1"/>
          <p:nvPr/>
        </p:nvSpPr>
        <p:spPr>
          <a:xfrm>
            <a:off x="254000" y="5524500"/>
            <a:ext cx="11684000" cy="762000"/>
          </a:xfrm>
          <a:prstGeom prst="rect">
            <a:avLst/>
          </a:prstGeom>
          <a:noFill/>
        </p:spPr>
        <p:txBody>
          <a:bodyPr wrap="square" lIns="0" rIns="0" tIns="0" bIns="0" anchor="t">
            <a:spAutoFit/>
          </a:bodyPr>
          <a:lstStyle/>
          <a:p>
            <a:pPr algn="l">
              <a:lnSpc>
                <a:spcPct val="140000"/>
              </a:lnSpc>
            </a:pPr>
            <a:r>
              <a:rPr sz="1000" b="1" i="0">
                <a:solidFill>
                  <a:srgbClr val="23303A"/>
                </a:solidFill>
                <a:latin typeface="Barlow"/>
              </a:rPr>
              <a:t>Données. </a:t>
            </a:r>
            <a:r>
              <a:rPr sz="1000" b="0" i="0">
                <a:solidFill>
                  <a:srgbClr val="23303A"/>
                </a:solidFill>
                <a:latin typeface="Barlow"/>
              </a:rPr>
              <a:t>OpenStreetMap / Overture Maps (2026-09) · ESA WorldCover 2021 · Copernicus DEM GLO-30 · Sentinel-2 (2017, 2025) · Landsat (2004-2021) · HCP, RGPH 2014 et 2024 · textes officiels (SGG, Adala, Bulletin officiel) et presse (2013-2025). </a:t>
            </a:r>
            <a:r>
              <a:rPr sz="1000" b="0" i="0">
                <a:solidFill>
                  <a:srgbClr val="7B746B"/>
                </a:solidFill>
                <a:latin typeface="Barlow"/>
              </a:rPr>
              <a:t>Les lieux recensés sont incomplets dans les quartiers populaires : les écarts mesurés sont des ordres de grandeur.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 CADRE RÉGLEMENTAIRE : CE QUE DIT LA RÈGLE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Une chaîne de documents, de l'échelle nationale à la parcelle, et des lois sectorielles qui protègent, en théorie, le littoral et le patrimoine.</a:t>
            </a:r>
          </a:p>
        </p:txBody>
      </p:sp>
      <p:pic>
        <p:nvPicPr>
          <p:cNvPr id="5" name="Picture 4" descr="nc_sk_minaret.png"/>
          <p:cNvPicPr>
            <a:picLocks noChangeAspect="1"/>
          </p:cNvPicPr>
          <p:nvPr/>
        </p:nvPicPr>
        <p:blipFill>
          <a:blip r:embed="rId2"/>
          <a:stretch>
            <a:fillRect/>
          </a:stretch>
        </p:blipFill>
        <p:spPr>
          <a:xfrm>
            <a:off x="11186160" y="139700"/>
            <a:ext cx="751840" cy="711200"/>
          </a:xfrm>
          <a:prstGeom prst="rect">
            <a:avLst/>
          </a:prstGeom>
        </p:spPr>
      </p:pic>
      <p:sp>
        <p:nvSpPr>
          <p:cNvPr id="6" name="TextBox 5"/>
          <p:cNvSpPr txBox="1"/>
          <p:nvPr/>
        </p:nvSpPr>
        <p:spPr>
          <a:xfrm>
            <a:off x="1017016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100 m</a:t>
            </a:r>
          </a:p>
        </p:txBody>
      </p:sp>
      <p:sp>
        <p:nvSpPr>
          <p:cNvPr id="7" name="TextBox 6"/>
          <p:cNvSpPr txBox="1"/>
          <p:nvPr/>
        </p:nvSpPr>
        <p:spPr>
          <a:xfrm>
            <a:off x="1017016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bande littorale</a:t>
            </a:r>
          </a:p>
          <a:p>
            <a:pPr algn="r">
              <a:lnSpc>
                <a:spcPct val="110000"/>
              </a:lnSpc>
            </a:pPr>
            <a:r>
              <a:rPr sz="850" b="0" i="0">
                <a:solidFill>
                  <a:srgbClr val="7B746B"/>
                </a:solidFill>
                <a:latin typeface="Barlow"/>
              </a:rPr>
              <a:t>inconstructible</a:t>
            </a:r>
          </a:p>
        </p:txBody>
      </p:sp>
      <p:sp>
        <p:nvSpPr>
          <p:cNvPr id="8" name="TextBox 7"/>
          <p:cNvSpPr txBox="1"/>
          <p:nvPr/>
        </p:nvSpPr>
        <p:spPr>
          <a:xfrm>
            <a:off x="909066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10 ans</a:t>
            </a:r>
          </a:p>
        </p:txBody>
      </p:sp>
      <p:sp>
        <p:nvSpPr>
          <p:cNvPr id="9" name="TextBox 8"/>
          <p:cNvSpPr txBox="1"/>
          <p:nvPr/>
        </p:nvSpPr>
        <p:spPr>
          <a:xfrm>
            <a:off x="909066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effets d'un PA</a:t>
            </a:r>
          </a:p>
          <a:p>
            <a:pPr algn="r">
              <a:lnSpc>
                <a:spcPct val="110000"/>
              </a:lnSpc>
            </a:pPr>
            <a:r>
              <a:rPr sz="850" b="0" i="0">
                <a:solidFill>
                  <a:srgbClr val="7B746B"/>
                </a:solidFill>
                <a:latin typeface="Barlow"/>
              </a:rPr>
              <a:t>(utilité publique)</a:t>
            </a:r>
          </a:p>
        </p:txBody>
      </p:sp>
      <p:sp>
        <p:nvSpPr>
          <p:cNvPr id="10" name="TextBox 9"/>
          <p:cNvSpPr txBox="1"/>
          <p:nvPr/>
        </p:nvSpPr>
        <p:spPr>
          <a:xfrm>
            <a:off x="801116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25 ans</a:t>
            </a:r>
          </a:p>
        </p:txBody>
      </p:sp>
      <p:sp>
        <p:nvSpPr>
          <p:cNvPr id="11" name="TextBox 10"/>
          <p:cNvSpPr txBox="1"/>
          <p:nvPr/>
        </p:nvSpPr>
        <p:spPr>
          <a:xfrm>
            <a:off x="801116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horizon maximal</a:t>
            </a:r>
          </a:p>
          <a:p>
            <a:pPr algn="r">
              <a:lnSpc>
                <a:spcPct val="110000"/>
              </a:lnSpc>
            </a:pPr>
            <a:r>
              <a:rPr sz="850" b="0" i="0">
                <a:solidFill>
                  <a:srgbClr val="7B746B"/>
                </a:solidFill>
                <a:latin typeface="Barlow"/>
              </a:rPr>
              <a:t>d'un SDAU</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04 / 32</a:t>
            </a:r>
          </a:p>
        </p:txBody>
      </p:sp>
      <p:sp>
        <p:nvSpPr>
          <p:cNvPr id="15" name="TextBox 14"/>
          <p:cNvSpPr txBox="1"/>
          <p:nvPr/>
        </p:nvSpPr>
        <p:spPr>
          <a:xfrm>
            <a:off x="254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DE L'ÉCHELLE NATIONALE À LA PARCELLE : OÙ EN EST TANGER ?</a:t>
            </a:r>
          </a:p>
        </p:txBody>
      </p:sp>
      <p:sp>
        <p:nvSpPr>
          <p:cNvPr id="16" name="Rectangle 15"/>
          <p:cNvSpPr/>
          <p:nvPr/>
        </p:nvSpPr>
        <p:spPr>
          <a:xfrm>
            <a:off x="254000" y="1244600"/>
            <a:ext cx="3810000" cy="584200"/>
          </a:xfrm>
          <a:prstGeom prst="rect">
            <a:avLst/>
          </a:prstGeom>
          <a:solidFill>
            <a:srgbClr val="9AA8B2"/>
          </a:solidFill>
          <a:ln>
            <a:noFill/>
          </a:ln>
        </p:spPr>
        <p:txBody>
          <a:bodyPr rtlCol="0" anchor="ctr"/>
          <a:lstStyle/>
          <a:p>
            <a:pPr algn="ctr"/>
          </a:p>
        </p:txBody>
      </p:sp>
      <p:sp>
        <p:nvSpPr>
          <p:cNvPr id="17" name="TextBox 16"/>
          <p:cNvSpPr txBox="1"/>
          <p:nvPr/>
        </p:nvSpPr>
        <p:spPr>
          <a:xfrm>
            <a:off x="254000" y="1270000"/>
            <a:ext cx="3810000" cy="254000"/>
          </a:xfrm>
          <a:prstGeom prst="rect">
            <a:avLst/>
          </a:prstGeom>
          <a:noFill/>
        </p:spPr>
        <p:txBody>
          <a:bodyPr wrap="square" lIns="0" rIns="0" tIns="0" bIns="0" anchor="t">
            <a:spAutoFit/>
          </a:bodyPr>
          <a:lstStyle/>
          <a:p>
            <a:pPr algn="ctr">
              <a:lnSpc>
                <a:spcPct val="120000"/>
              </a:lnSpc>
            </a:pPr>
            <a:r>
              <a:rPr sz="2400" b="1" i="0" spc="300">
                <a:solidFill>
                  <a:srgbClr val="FFFFFF"/>
                </a:solidFill>
                <a:latin typeface="Barlow Condensed"/>
              </a:rPr>
              <a:t>SNAT</a:t>
            </a:r>
          </a:p>
        </p:txBody>
      </p:sp>
      <p:sp>
        <p:nvSpPr>
          <p:cNvPr id="18" name="TextBox 17"/>
          <p:cNvSpPr txBox="1"/>
          <p:nvPr/>
        </p:nvSpPr>
        <p:spPr>
          <a:xfrm>
            <a:off x="317500" y="1638300"/>
            <a:ext cx="3683000" cy="177800"/>
          </a:xfrm>
          <a:prstGeom prst="rect">
            <a:avLst/>
          </a:prstGeom>
          <a:noFill/>
        </p:spPr>
        <p:txBody>
          <a:bodyPr wrap="square" lIns="0" rIns="0" tIns="0" bIns="0" anchor="t">
            <a:spAutoFit/>
          </a:bodyPr>
          <a:lstStyle/>
          <a:p>
            <a:pPr algn="ctr">
              <a:lnSpc>
                <a:spcPct val="105000"/>
              </a:lnSpc>
            </a:pPr>
            <a:r>
              <a:rPr sz="850" b="0" i="0">
                <a:solidFill>
                  <a:srgbClr val="EDEDED"/>
                </a:solidFill>
                <a:latin typeface="Barlow"/>
              </a:rPr>
              <a:t>Schéma national d'aménagement du territoire</a:t>
            </a:r>
          </a:p>
        </p:txBody>
      </p:sp>
      <p:cxnSp>
        <p:nvCxnSpPr>
          <p:cNvPr id="19" name="Connector 18"/>
          <p:cNvCxnSpPr/>
          <p:nvPr/>
        </p:nvCxnSpPr>
        <p:spPr>
          <a:xfrm>
            <a:off x="4102100" y="1536700"/>
            <a:ext cx="215900" cy="0"/>
          </a:xfrm>
          <a:prstGeom prst="line">
            <a:avLst/>
          </a:prstGeom>
          <a:ln w="6350">
            <a:solidFill>
              <a:srgbClr val="CFC6B8"/>
            </a:solidFill>
            <a:prstDash val="dash"/>
          </a:ln>
        </p:spPr>
      </p:cxnSp>
      <p:sp>
        <p:nvSpPr>
          <p:cNvPr id="20" name="TextBox 19"/>
          <p:cNvSpPr txBox="1"/>
          <p:nvPr/>
        </p:nvSpPr>
        <p:spPr>
          <a:xfrm>
            <a:off x="4381500" y="1358900"/>
            <a:ext cx="2540000" cy="444500"/>
          </a:xfrm>
          <a:prstGeom prst="rect">
            <a:avLst/>
          </a:prstGeom>
          <a:noFill/>
        </p:spPr>
        <p:txBody>
          <a:bodyPr wrap="square" lIns="0" rIns="0" tIns="0" bIns="0" anchor="t">
            <a:spAutoFit/>
          </a:bodyPr>
          <a:lstStyle/>
          <a:p>
            <a:pPr algn="l">
              <a:lnSpc>
                <a:spcPct val="125000"/>
              </a:lnSpc>
            </a:pPr>
            <a:r>
              <a:rPr sz="1050" b="0" i="0">
                <a:solidFill>
                  <a:srgbClr val="23303A"/>
                </a:solidFill>
                <a:latin typeface="Barlow"/>
              </a:rPr>
              <a:t>années 2000 ; actualisation lancée en 2019</a:t>
            </a:r>
          </a:p>
        </p:txBody>
      </p:sp>
      <p:sp>
        <p:nvSpPr>
          <p:cNvPr id="21" name="Rectangle 20"/>
          <p:cNvSpPr/>
          <p:nvPr/>
        </p:nvSpPr>
        <p:spPr>
          <a:xfrm>
            <a:off x="428625" y="1955800"/>
            <a:ext cx="3460750" cy="584200"/>
          </a:xfrm>
          <a:prstGeom prst="rect">
            <a:avLst/>
          </a:prstGeom>
          <a:solidFill>
            <a:srgbClr val="7F93A1"/>
          </a:solidFill>
          <a:ln>
            <a:noFill/>
          </a:ln>
        </p:spPr>
        <p:txBody>
          <a:bodyPr rtlCol="0" anchor="ctr"/>
          <a:lstStyle/>
          <a:p>
            <a:pPr algn="ctr"/>
          </a:p>
        </p:txBody>
      </p:sp>
      <p:sp>
        <p:nvSpPr>
          <p:cNvPr id="22" name="TextBox 21"/>
          <p:cNvSpPr txBox="1"/>
          <p:nvPr/>
        </p:nvSpPr>
        <p:spPr>
          <a:xfrm>
            <a:off x="428625" y="1981200"/>
            <a:ext cx="3460750" cy="254000"/>
          </a:xfrm>
          <a:prstGeom prst="rect">
            <a:avLst/>
          </a:prstGeom>
          <a:noFill/>
        </p:spPr>
        <p:txBody>
          <a:bodyPr wrap="square" lIns="0" rIns="0" tIns="0" bIns="0" anchor="t">
            <a:spAutoFit/>
          </a:bodyPr>
          <a:lstStyle/>
          <a:p>
            <a:pPr algn="ctr">
              <a:lnSpc>
                <a:spcPct val="120000"/>
              </a:lnSpc>
            </a:pPr>
            <a:r>
              <a:rPr sz="2400" b="1" i="0" spc="300">
                <a:solidFill>
                  <a:srgbClr val="FFFFFF"/>
                </a:solidFill>
                <a:latin typeface="Barlow Condensed"/>
              </a:rPr>
              <a:t>SRAT</a:t>
            </a:r>
          </a:p>
        </p:txBody>
      </p:sp>
      <p:sp>
        <p:nvSpPr>
          <p:cNvPr id="23" name="TextBox 22"/>
          <p:cNvSpPr txBox="1"/>
          <p:nvPr/>
        </p:nvSpPr>
        <p:spPr>
          <a:xfrm>
            <a:off x="492125" y="2349500"/>
            <a:ext cx="3333750" cy="177800"/>
          </a:xfrm>
          <a:prstGeom prst="rect">
            <a:avLst/>
          </a:prstGeom>
          <a:noFill/>
        </p:spPr>
        <p:txBody>
          <a:bodyPr wrap="square" lIns="0" rIns="0" tIns="0" bIns="0" anchor="t">
            <a:spAutoFit/>
          </a:bodyPr>
          <a:lstStyle/>
          <a:p>
            <a:pPr algn="ctr">
              <a:lnSpc>
                <a:spcPct val="105000"/>
              </a:lnSpc>
            </a:pPr>
            <a:r>
              <a:rPr sz="850" b="0" i="0">
                <a:solidFill>
                  <a:srgbClr val="EDEDED"/>
                </a:solidFill>
                <a:latin typeface="Barlow"/>
              </a:rPr>
              <a:t>Schéma régional Tanger-Tétouan-Al Hoceïma</a:t>
            </a:r>
          </a:p>
        </p:txBody>
      </p:sp>
      <p:cxnSp>
        <p:nvCxnSpPr>
          <p:cNvPr id="24" name="Connector 23"/>
          <p:cNvCxnSpPr/>
          <p:nvPr/>
        </p:nvCxnSpPr>
        <p:spPr>
          <a:xfrm>
            <a:off x="3927475" y="2247900"/>
            <a:ext cx="390525" cy="0"/>
          </a:xfrm>
          <a:prstGeom prst="line">
            <a:avLst/>
          </a:prstGeom>
          <a:ln w="6350">
            <a:solidFill>
              <a:srgbClr val="CFC6B8"/>
            </a:solidFill>
            <a:prstDash val="dash"/>
          </a:ln>
        </p:spPr>
      </p:cxnSp>
      <p:sp>
        <p:nvSpPr>
          <p:cNvPr id="25" name="TextBox 24"/>
          <p:cNvSpPr txBox="1"/>
          <p:nvPr/>
        </p:nvSpPr>
        <p:spPr>
          <a:xfrm>
            <a:off x="4381500" y="2070100"/>
            <a:ext cx="2540000" cy="444500"/>
          </a:xfrm>
          <a:prstGeom prst="rect">
            <a:avLst/>
          </a:prstGeom>
          <a:noFill/>
        </p:spPr>
        <p:txBody>
          <a:bodyPr wrap="square" lIns="0" rIns="0" tIns="0" bIns="0" anchor="t">
            <a:spAutoFit/>
          </a:bodyPr>
          <a:lstStyle/>
          <a:p>
            <a:pPr algn="l">
              <a:lnSpc>
                <a:spcPct val="125000"/>
              </a:lnSpc>
            </a:pPr>
            <a:r>
              <a:rPr sz="1050" b="0" i="0">
                <a:solidFill>
                  <a:srgbClr val="23303A"/>
                </a:solidFill>
                <a:latin typeface="Barlow"/>
              </a:rPr>
              <a:t>adopté le 13 janvier 2021, horizon 2046</a:t>
            </a:r>
          </a:p>
        </p:txBody>
      </p:sp>
      <p:sp>
        <p:nvSpPr>
          <p:cNvPr id="26" name="Rectangle 25"/>
          <p:cNvSpPr/>
          <p:nvPr/>
        </p:nvSpPr>
        <p:spPr>
          <a:xfrm>
            <a:off x="603250" y="2667000"/>
            <a:ext cx="3111500" cy="584200"/>
          </a:xfrm>
          <a:prstGeom prst="rect">
            <a:avLst/>
          </a:prstGeom>
          <a:solidFill>
            <a:srgbClr val="62798A"/>
          </a:solidFill>
          <a:ln>
            <a:noFill/>
          </a:ln>
        </p:spPr>
        <p:txBody>
          <a:bodyPr rtlCol="0" anchor="ctr"/>
          <a:lstStyle/>
          <a:p>
            <a:pPr algn="ctr"/>
          </a:p>
        </p:txBody>
      </p:sp>
      <p:sp>
        <p:nvSpPr>
          <p:cNvPr id="27" name="TextBox 26"/>
          <p:cNvSpPr txBox="1"/>
          <p:nvPr/>
        </p:nvSpPr>
        <p:spPr>
          <a:xfrm>
            <a:off x="603250" y="2692400"/>
            <a:ext cx="3111500" cy="254000"/>
          </a:xfrm>
          <a:prstGeom prst="rect">
            <a:avLst/>
          </a:prstGeom>
          <a:noFill/>
        </p:spPr>
        <p:txBody>
          <a:bodyPr wrap="square" lIns="0" rIns="0" tIns="0" bIns="0" anchor="t">
            <a:spAutoFit/>
          </a:bodyPr>
          <a:lstStyle/>
          <a:p>
            <a:pPr algn="ctr">
              <a:lnSpc>
                <a:spcPct val="120000"/>
              </a:lnSpc>
            </a:pPr>
            <a:r>
              <a:rPr sz="2400" b="1" i="0" spc="300">
                <a:solidFill>
                  <a:srgbClr val="FFFFFF"/>
                </a:solidFill>
                <a:latin typeface="Barlow Condensed"/>
              </a:rPr>
              <a:t>SDAU</a:t>
            </a:r>
          </a:p>
        </p:txBody>
      </p:sp>
      <p:sp>
        <p:nvSpPr>
          <p:cNvPr id="28" name="TextBox 27"/>
          <p:cNvSpPr txBox="1"/>
          <p:nvPr/>
        </p:nvSpPr>
        <p:spPr>
          <a:xfrm>
            <a:off x="666750" y="3060700"/>
            <a:ext cx="2984500" cy="177800"/>
          </a:xfrm>
          <a:prstGeom prst="rect">
            <a:avLst/>
          </a:prstGeom>
          <a:noFill/>
        </p:spPr>
        <p:txBody>
          <a:bodyPr wrap="square" lIns="0" rIns="0" tIns="0" bIns="0" anchor="t">
            <a:spAutoFit/>
          </a:bodyPr>
          <a:lstStyle/>
          <a:p>
            <a:pPr algn="ctr">
              <a:lnSpc>
                <a:spcPct val="105000"/>
              </a:lnSpc>
            </a:pPr>
            <a:r>
              <a:rPr sz="850" b="0" i="0">
                <a:solidFill>
                  <a:srgbClr val="EDEDED"/>
                </a:solidFill>
                <a:latin typeface="Barlow"/>
              </a:rPr>
              <a:t>Schéma directeur (loi 12-90, art. 4), 25 ans au plus</a:t>
            </a:r>
          </a:p>
        </p:txBody>
      </p:sp>
      <p:cxnSp>
        <p:nvCxnSpPr>
          <p:cNvPr id="29" name="Connector 28"/>
          <p:cNvCxnSpPr/>
          <p:nvPr/>
        </p:nvCxnSpPr>
        <p:spPr>
          <a:xfrm>
            <a:off x="3752850" y="2959100"/>
            <a:ext cx="565150" cy="0"/>
          </a:xfrm>
          <a:prstGeom prst="line">
            <a:avLst/>
          </a:prstGeom>
          <a:ln w="6350">
            <a:solidFill>
              <a:srgbClr val="CFC6B8"/>
            </a:solidFill>
            <a:prstDash val="dash"/>
          </a:ln>
        </p:spPr>
      </p:cxnSp>
      <p:sp>
        <p:nvSpPr>
          <p:cNvPr id="30" name="TextBox 29"/>
          <p:cNvSpPr txBox="1"/>
          <p:nvPr/>
        </p:nvSpPr>
        <p:spPr>
          <a:xfrm>
            <a:off x="4381500" y="2781300"/>
            <a:ext cx="2540000" cy="444500"/>
          </a:xfrm>
          <a:prstGeom prst="rect">
            <a:avLst/>
          </a:prstGeom>
          <a:noFill/>
        </p:spPr>
        <p:txBody>
          <a:bodyPr wrap="square" lIns="0" rIns="0" tIns="0" bIns="0" anchor="t">
            <a:spAutoFit/>
          </a:bodyPr>
          <a:lstStyle/>
          <a:p>
            <a:pPr algn="l">
              <a:lnSpc>
                <a:spcPct val="125000"/>
              </a:lnSpc>
            </a:pPr>
            <a:r>
              <a:rPr sz="1050" b="0" i="0">
                <a:solidFill>
                  <a:srgbClr val="23303A"/>
                </a:solidFill>
                <a:latin typeface="Barlow"/>
              </a:rPr>
              <a:t>nouveau SDAU du Grand Tanger lancé en octobre 2025</a:t>
            </a:r>
          </a:p>
        </p:txBody>
      </p:sp>
      <p:sp>
        <p:nvSpPr>
          <p:cNvPr id="31" name="Rectangle 30"/>
          <p:cNvSpPr/>
          <p:nvPr/>
        </p:nvSpPr>
        <p:spPr>
          <a:xfrm>
            <a:off x="777875" y="3378200"/>
            <a:ext cx="2762250" cy="584200"/>
          </a:xfrm>
          <a:prstGeom prst="rect">
            <a:avLst/>
          </a:prstGeom>
          <a:solidFill>
            <a:srgbClr val="4A6274"/>
          </a:solidFill>
          <a:ln>
            <a:noFill/>
          </a:ln>
        </p:spPr>
        <p:txBody>
          <a:bodyPr rtlCol="0" anchor="ctr"/>
          <a:lstStyle/>
          <a:p>
            <a:pPr algn="ctr"/>
          </a:p>
        </p:txBody>
      </p:sp>
      <p:sp>
        <p:nvSpPr>
          <p:cNvPr id="32" name="TextBox 31"/>
          <p:cNvSpPr txBox="1"/>
          <p:nvPr/>
        </p:nvSpPr>
        <p:spPr>
          <a:xfrm>
            <a:off x="777875" y="3403600"/>
            <a:ext cx="2762250" cy="254000"/>
          </a:xfrm>
          <a:prstGeom prst="rect">
            <a:avLst/>
          </a:prstGeom>
          <a:noFill/>
        </p:spPr>
        <p:txBody>
          <a:bodyPr wrap="square" lIns="0" rIns="0" tIns="0" bIns="0" anchor="t">
            <a:spAutoFit/>
          </a:bodyPr>
          <a:lstStyle/>
          <a:p>
            <a:pPr algn="ctr">
              <a:lnSpc>
                <a:spcPct val="120000"/>
              </a:lnSpc>
            </a:pPr>
            <a:r>
              <a:rPr sz="2400" b="1" i="0" spc="300">
                <a:solidFill>
                  <a:srgbClr val="FFFFFF"/>
                </a:solidFill>
                <a:latin typeface="Barlow Condensed"/>
              </a:rPr>
              <a:t>PA</a:t>
            </a:r>
          </a:p>
        </p:txBody>
      </p:sp>
      <p:sp>
        <p:nvSpPr>
          <p:cNvPr id="33" name="TextBox 32"/>
          <p:cNvSpPr txBox="1"/>
          <p:nvPr/>
        </p:nvSpPr>
        <p:spPr>
          <a:xfrm>
            <a:off x="841375" y="3771900"/>
            <a:ext cx="2635250" cy="177800"/>
          </a:xfrm>
          <a:prstGeom prst="rect">
            <a:avLst/>
          </a:prstGeom>
          <a:noFill/>
        </p:spPr>
        <p:txBody>
          <a:bodyPr wrap="square" lIns="0" rIns="0" tIns="0" bIns="0" anchor="t">
            <a:spAutoFit/>
          </a:bodyPr>
          <a:lstStyle/>
          <a:p>
            <a:pPr algn="ctr">
              <a:lnSpc>
                <a:spcPct val="105000"/>
              </a:lnSpc>
            </a:pPr>
            <a:r>
              <a:rPr sz="850" b="0" i="0">
                <a:solidFill>
                  <a:srgbClr val="EDEDED"/>
                </a:solidFill>
                <a:latin typeface="Barlow"/>
              </a:rPr>
              <a:t>Plan d'aménagement : zonage, réserves d'équipements</a:t>
            </a:r>
          </a:p>
        </p:txBody>
      </p:sp>
      <p:cxnSp>
        <p:nvCxnSpPr>
          <p:cNvPr id="34" name="Connector 33"/>
          <p:cNvCxnSpPr/>
          <p:nvPr/>
        </p:nvCxnSpPr>
        <p:spPr>
          <a:xfrm>
            <a:off x="3578225" y="3670300"/>
            <a:ext cx="739775" cy="0"/>
          </a:xfrm>
          <a:prstGeom prst="line">
            <a:avLst/>
          </a:prstGeom>
          <a:ln w="6350">
            <a:solidFill>
              <a:srgbClr val="CFC6B8"/>
            </a:solidFill>
            <a:prstDash val="dash"/>
          </a:ln>
        </p:spPr>
      </p:cxnSp>
      <p:sp>
        <p:nvSpPr>
          <p:cNvPr id="35" name="TextBox 34"/>
          <p:cNvSpPr txBox="1"/>
          <p:nvPr/>
        </p:nvSpPr>
        <p:spPr>
          <a:xfrm>
            <a:off x="4381500" y="3492500"/>
            <a:ext cx="2540000" cy="444500"/>
          </a:xfrm>
          <a:prstGeom prst="rect">
            <a:avLst/>
          </a:prstGeom>
          <a:noFill/>
        </p:spPr>
        <p:txBody>
          <a:bodyPr wrap="square" lIns="0" rIns="0" tIns="0" bIns="0" anchor="t">
            <a:spAutoFit/>
          </a:bodyPr>
          <a:lstStyle/>
          <a:p>
            <a:pPr algn="l">
              <a:lnSpc>
                <a:spcPct val="125000"/>
              </a:lnSpc>
            </a:pPr>
            <a:r>
              <a:rPr sz="1050" b="0" i="0">
                <a:solidFill>
                  <a:srgbClr val="23303A"/>
                </a:solidFill>
                <a:latin typeface="Barlow"/>
              </a:rPr>
              <a:t>Mghogha et Souani (janv. 2023), Bni Makada (juin 2023) : premiers PA approuvés depuis 2016</a:t>
            </a:r>
          </a:p>
        </p:txBody>
      </p:sp>
      <p:sp>
        <p:nvSpPr>
          <p:cNvPr id="36" name="Rectangle 35"/>
          <p:cNvSpPr/>
          <p:nvPr/>
        </p:nvSpPr>
        <p:spPr>
          <a:xfrm>
            <a:off x="952500" y="4089400"/>
            <a:ext cx="2413000" cy="584200"/>
          </a:xfrm>
          <a:prstGeom prst="rect">
            <a:avLst/>
          </a:prstGeom>
          <a:solidFill>
            <a:srgbClr val="3E5A6E"/>
          </a:solidFill>
          <a:ln>
            <a:noFill/>
          </a:ln>
        </p:spPr>
        <p:txBody>
          <a:bodyPr rtlCol="0" anchor="ctr"/>
          <a:lstStyle/>
          <a:p>
            <a:pPr algn="ctr"/>
          </a:p>
        </p:txBody>
      </p:sp>
      <p:sp>
        <p:nvSpPr>
          <p:cNvPr id="37" name="TextBox 36"/>
          <p:cNvSpPr txBox="1"/>
          <p:nvPr/>
        </p:nvSpPr>
        <p:spPr>
          <a:xfrm>
            <a:off x="952500" y="4114800"/>
            <a:ext cx="2413000" cy="254000"/>
          </a:xfrm>
          <a:prstGeom prst="rect">
            <a:avLst/>
          </a:prstGeom>
          <a:noFill/>
        </p:spPr>
        <p:txBody>
          <a:bodyPr wrap="square" lIns="0" rIns="0" tIns="0" bIns="0" anchor="t">
            <a:spAutoFit/>
          </a:bodyPr>
          <a:lstStyle/>
          <a:p>
            <a:pPr algn="ctr">
              <a:lnSpc>
                <a:spcPct val="120000"/>
              </a:lnSpc>
            </a:pPr>
            <a:r>
              <a:rPr sz="2400" b="1" i="0" spc="300">
                <a:solidFill>
                  <a:srgbClr val="FFFFFF"/>
                </a:solidFill>
                <a:latin typeface="Barlow Condensed"/>
              </a:rPr>
              <a:t>PERMIS</a:t>
            </a:r>
          </a:p>
        </p:txBody>
      </p:sp>
      <p:sp>
        <p:nvSpPr>
          <p:cNvPr id="38" name="TextBox 37"/>
          <p:cNvSpPr txBox="1"/>
          <p:nvPr/>
        </p:nvSpPr>
        <p:spPr>
          <a:xfrm>
            <a:off x="1016000" y="4483100"/>
            <a:ext cx="2286000" cy="177800"/>
          </a:xfrm>
          <a:prstGeom prst="rect">
            <a:avLst/>
          </a:prstGeom>
          <a:noFill/>
        </p:spPr>
        <p:txBody>
          <a:bodyPr wrap="square" lIns="0" rIns="0" tIns="0" bIns="0" anchor="t">
            <a:spAutoFit/>
          </a:bodyPr>
          <a:lstStyle/>
          <a:p>
            <a:pPr algn="ctr">
              <a:lnSpc>
                <a:spcPct val="105000"/>
              </a:lnSpc>
            </a:pPr>
            <a:r>
              <a:rPr sz="850" b="0" i="0">
                <a:solidFill>
                  <a:srgbClr val="EDEDED"/>
                </a:solidFill>
                <a:latin typeface="Barlow"/>
              </a:rPr>
              <a:t>Autorisations de construire et de lotir (loi 25-90)</a:t>
            </a:r>
          </a:p>
        </p:txBody>
      </p:sp>
      <p:cxnSp>
        <p:nvCxnSpPr>
          <p:cNvPr id="39" name="Connector 38"/>
          <p:cNvCxnSpPr/>
          <p:nvPr/>
        </p:nvCxnSpPr>
        <p:spPr>
          <a:xfrm>
            <a:off x="3403600" y="4381500"/>
            <a:ext cx="914400" cy="0"/>
          </a:xfrm>
          <a:prstGeom prst="line">
            <a:avLst/>
          </a:prstGeom>
          <a:ln w="6350">
            <a:solidFill>
              <a:srgbClr val="CFC6B8"/>
            </a:solidFill>
            <a:prstDash val="dash"/>
          </a:ln>
        </p:spPr>
      </p:cxnSp>
      <p:sp>
        <p:nvSpPr>
          <p:cNvPr id="40" name="TextBox 39"/>
          <p:cNvSpPr txBox="1"/>
          <p:nvPr/>
        </p:nvSpPr>
        <p:spPr>
          <a:xfrm>
            <a:off x="4381500" y="4203700"/>
            <a:ext cx="2540000" cy="444500"/>
          </a:xfrm>
          <a:prstGeom prst="rect">
            <a:avLst/>
          </a:prstGeom>
          <a:noFill/>
        </p:spPr>
        <p:txBody>
          <a:bodyPr wrap="square" lIns="0" rIns="0" tIns="0" bIns="0" anchor="t">
            <a:spAutoFit/>
          </a:bodyPr>
          <a:lstStyle/>
          <a:p>
            <a:pPr algn="l">
              <a:lnSpc>
                <a:spcPct val="125000"/>
              </a:lnSpc>
            </a:pPr>
            <a:r>
              <a:rPr sz="1050" b="0" i="0">
                <a:solidFill>
                  <a:srgbClr val="23303A"/>
                </a:solidFill>
                <a:latin typeface="Barlow"/>
              </a:rPr>
              <a:t>Règlement général de construction, décret 2-18-577 (2019)</a:t>
            </a:r>
          </a:p>
        </p:txBody>
      </p:sp>
      <p:sp>
        <p:nvSpPr>
          <p:cNvPr id="41" name="TextBox 40"/>
          <p:cNvSpPr txBox="1"/>
          <p:nvPr/>
        </p:nvSpPr>
        <p:spPr>
          <a:xfrm>
            <a:off x="254000" y="4902200"/>
            <a:ext cx="6540500" cy="381000"/>
          </a:xfrm>
          <a:prstGeom prst="rect">
            <a:avLst/>
          </a:prstGeom>
          <a:noFill/>
        </p:spPr>
        <p:txBody>
          <a:bodyPr wrap="square" lIns="0" rIns="0" tIns="0" bIns="0" anchor="t">
            <a:spAutoFit/>
          </a:bodyPr>
          <a:lstStyle/>
          <a:p>
            <a:pPr algn="l">
              <a:lnSpc>
                <a:spcPct val="130000"/>
              </a:lnSpc>
            </a:pPr>
            <a:r>
              <a:rPr sz="950" b="0" i="0">
                <a:solidFill>
                  <a:srgbClr val="7B746B"/>
                </a:solidFill>
                <a:latin typeface="Barlow"/>
              </a:rPr>
              <a:t>Du plus général au plus précis : chaque niveau doit respecter le précédent. Le PA rend les réserves d'équipements d'utilité publique pendant 10 ans.</a:t>
            </a:r>
          </a:p>
        </p:txBody>
      </p:sp>
      <p:sp>
        <p:nvSpPr>
          <p:cNvPr id="42" name="TextBox 41"/>
          <p:cNvSpPr txBox="1"/>
          <p:nvPr/>
        </p:nvSpPr>
        <p:spPr>
          <a:xfrm>
            <a:off x="7112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LES LOIS SECTORIELLES</a:t>
            </a:r>
          </a:p>
        </p:txBody>
      </p:sp>
      <p:sp>
        <p:nvSpPr>
          <p:cNvPr id="43" name="Rectangle 42"/>
          <p:cNvSpPr/>
          <p:nvPr/>
        </p:nvSpPr>
        <p:spPr>
          <a:xfrm>
            <a:off x="7112000" y="1244600"/>
            <a:ext cx="584200" cy="254000"/>
          </a:xfrm>
          <a:prstGeom prst="rect">
            <a:avLst/>
          </a:prstGeom>
          <a:solidFill>
            <a:srgbClr val="23303A"/>
          </a:solidFill>
          <a:ln>
            <a:noFill/>
          </a:ln>
        </p:spPr>
        <p:txBody>
          <a:bodyPr rtlCol="0" anchor="ctr"/>
          <a:lstStyle/>
          <a:p>
            <a:pPr algn="ctr"/>
          </a:p>
        </p:txBody>
      </p:sp>
      <p:sp>
        <p:nvSpPr>
          <p:cNvPr id="44" name="TextBox 43"/>
          <p:cNvSpPr txBox="1"/>
          <p:nvPr/>
        </p:nvSpPr>
        <p:spPr>
          <a:xfrm>
            <a:off x="7112000" y="1257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1980</a:t>
            </a:r>
          </a:p>
        </p:txBody>
      </p:sp>
      <p:sp>
        <p:nvSpPr>
          <p:cNvPr id="45" name="TextBox 44"/>
          <p:cNvSpPr txBox="1"/>
          <p:nvPr/>
        </p:nvSpPr>
        <p:spPr>
          <a:xfrm>
            <a:off x="7823200" y="1231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Loi 22-80</a:t>
            </a:r>
          </a:p>
        </p:txBody>
      </p:sp>
      <p:sp>
        <p:nvSpPr>
          <p:cNvPr id="46" name="TextBox 45"/>
          <p:cNvSpPr txBox="1"/>
          <p:nvPr/>
        </p:nvSpPr>
        <p:spPr>
          <a:xfrm>
            <a:off x="7823200" y="1409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monuments historiques et sites : classement, servitudes autour des monuments</a:t>
            </a:r>
          </a:p>
        </p:txBody>
      </p:sp>
      <p:sp>
        <p:nvSpPr>
          <p:cNvPr id="47" name="Rectangle 46"/>
          <p:cNvSpPr/>
          <p:nvPr/>
        </p:nvSpPr>
        <p:spPr>
          <a:xfrm>
            <a:off x="7112000" y="1879600"/>
            <a:ext cx="584200" cy="254000"/>
          </a:xfrm>
          <a:prstGeom prst="rect">
            <a:avLst/>
          </a:prstGeom>
          <a:solidFill>
            <a:srgbClr val="23303A"/>
          </a:solidFill>
          <a:ln>
            <a:noFill/>
          </a:ln>
        </p:spPr>
        <p:txBody>
          <a:bodyPr rtlCol="0" anchor="ctr"/>
          <a:lstStyle/>
          <a:p>
            <a:pPr algn="ctr"/>
          </a:p>
        </p:txBody>
      </p:sp>
      <p:sp>
        <p:nvSpPr>
          <p:cNvPr id="48" name="TextBox 47"/>
          <p:cNvSpPr txBox="1"/>
          <p:nvPr/>
        </p:nvSpPr>
        <p:spPr>
          <a:xfrm>
            <a:off x="7112000" y="1892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1992</a:t>
            </a:r>
          </a:p>
        </p:txBody>
      </p:sp>
      <p:sp>
        <p:nvSpPr>
          <p:cNvPr id="49" name="TextBox 48"/>
          <p:cNvSpPr txBox="1"/>
          <p:nvPr/>
        </p:nvSpPr>
        <p:spPr>
          <a:xfrm>
            <a:off x="7823200" y="1866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Lois 12-90 et 25-90</a:t>
            </a:r>
          </a:p>
        </p:txBody>
      </p:sp>
      <p:sp>
        <p:nvSpPr>
          <p:cNvPr id="50" name="TextBox 49"/>
          <p:cNvSpPr txBox="1"/>
          <p:nvPr/>
        </p:nvSpPr>
        <p:spPr>
          <a:xfrm>
            <a:off x="7823200" y="2044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urbanisme (SDAU, PA) ; lotissements et groupes d'habitations</a:t>
            </a:r>
          </a:p>
        </p:txBody>
      </p:sp>
      <p:sp>
        <p:nvSpPr>
          <p:cNvPr id="51" name="Rectangle 50"/>
          <p:cNvSpPr/>
          <p:nvPr/>
        </p:nvSpPr>
        <p:spPr>
          <a:xfrm>
            <a:off x="7112000" y="2514600"/>
            <a:ext cx="584200" cy="254000"/>
          </a:xfrm>
          <a:prstGeom prst="rect">
            <a:avLst/>
          </a:prstGeom>
          <a:solidFill>
            <a:srgbClr val="23303A"/>
          </a:solidFill>
          <a:ln>
            <a:noFill/>
          </a:ln>
        </p:spPr>
        <p:txBody>
          <a:bodyPr rtlCol="0" anchor="ctr"/>
          <a:lstStyle/>
          <a:p>
            <a:pPr algn="ctr"/>
          </a:p>
        </p:txBody>
      </p:sp>
      <p:sp>
        <p:nvSpPr>
          <p:cNvPr id="52" name="TextBox 51"/>
          <p:cNvSpPr txBox="1"/>
          <p:nvPr/>
        </p:nvSpPr>
        <p:spPr>
          <a:xfrm>
            <a:off x="7112000" y="2527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1995</a:t>
            </a:r>
          </a:p>
        </p:txBody>
      </p:sp>
      <p:sp>
        <p:nvSpPr>
          <p:cNvPr id="53" name="TextBox 52"/>
          <p:cNvSpPr txBox="1"/>
          <p:nvPr/>
        </p:nvSpPr>
        <p:spPr>
          <a:xfrm>
            <a:off x="7823200" y="2501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Agence urbaine de Tanger</a:t>
            </a:r>
          </a:p>
        </p:txBody>
      </p:sp>
      <p:sp>
        <p:nvSpPr>
          <p:cNvPr id="54" name="TextBox 53"/>
          <p:cNvSpPr txBox="1"/>
          <p:nvPr/>
        </p:nvSpPr>
        <p:spPr>
          <a:xfrm>
            <a:off x="7823200" y="2679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instruction des documents et des autorisations (décret 2-94-334)</a:t>
            </a:r>
          </a:p>
        </p:txBody>
      </p:sp>
      <p:sp>
        <p:nvSpPr>
          <p:cNvPr id="55" name="Rectangle 54"/>
          <p:cNvSpPr/>
          <p:nvPr/>
        </p:nvSpPr>
        <p:spPr>
          <a:xfrm>
            <a:off x="7112000" y="3149600"/>
            <a:ext cx="584200" cy="254000"/>
          </a:xfrm>
          <a:prstGeom prst="rect">
            <a:avLst/>
          </a:prstGeom>
          <a:solidFill>
            <a:srgbClr val="B5563C"/>
          </a:solidFill>
          <a:ln>
            <a:noFill/>
          </a:ln>
        </p:spPr>
        <p:txBody>
          <a:bodyPr rtlCol="0" anchor="ctr"/>
          <a:lstStyle/>
          <a:p>
            <a:pPr algn="ctr"/>
          </a:p>
        </p:txBody>
      </p:sp>
      <p:sp>
        <p:nvSpPr>
          <p:cNvPr id="56" name="TextBox 55"/>
          <p:cNvSpPr txBox="1"/>
          <p:nvPr/>
        </p:nvSpPr>
        <p:spPr>
          <a:xfrm>
            <a:off x="7112000" y="3162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2015</a:t>
            </a:r>
          </a:p>
        </p:txBody>
      </p:sp>
      <p:sp>
        <p:nvSpPr>
          <p:cNvPr id="57" name="TextBox 56"/>
          <p:cNvSpPr txBox="1"/>
          <p:nvPr/>
        </p:nvSpPr>
        <p:spPr>
          <a:xfrm>
            <a:off x="7823200" y="3136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Loi 81-12 sur le littoral</a:t>
            </a:r>
          </a:p>
        </p:txBody>
      </p:sp>
      <p:sp>
        <p:nvSpPr>
          <p:cNvPr id="58" name="TextBox 57"/>
          <p:cNvSpPr txBox="1"/>
          <p:nvPr/>
        </p:nvSpPr>
        <p:spPr>
          <a:xfrm>
            <a:off x="7823200" y="3314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100 m inconstructibles depuis le rivage (art. 15) ; Plan national du littoral en 2022</a:t>
            </a:r>
          </a:p>
        </p:txBody>
      </p:sp>
      <p:sp>
        <p:nvSpPr>
          <p:cNvPr id="59" name="Rectangle 58"/>
          <p:cNvSpPr/>
          <p:nvPr/>
        </p:nvSpPr>
        <p:spPr>
          <a:xfrm>
            <a:off x="7112000" y="3784600"/>
            <a:ext cx="584200" cy="254000"/>
          </a:xfrm>
          <a:prstGeom prst="rect">
            <a:avLst/>
          </a:prstGeom>
          <a:solidFill>
            <a:srgbClr val="23303A"/>
          </a:solidFill>
          <a:ln>
            <a:noFill/>
          </a:ln>
        </p:spPr>
        <p:txBody>
          <a:bodyPr rtlCol="0" anchor="ctr"/>
          <a:lstStyle/>
          <a:p>
            <a:pPr algn="ctr"/>
          </a:p>
        </p:txBody>
      </p:sp>
      <p:sp>
        <p:nvSpPr>
          <p:cNvPr id="60" name="TextBox 59"/>
          <p:cNvSpPr txBox="1"/>
          <p:nvPr/>
        </p:nvSpPr>
        <p:spPr>
          <a:xfrm>
            <a:off x="7112000" y="3797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2016</a:t>
            </a:r>
          </a:p>
        </p:txBody>
      </p:sp>
      <p:sp>
        <p:nvSpPr>
          <p:cNvPr id="61" name="TextBox 60"/>
          <p:cNvSpPr txBox="1"/>
          <p:nvPr/>
        </p:nvSpPr>
        <p:spPr>
          <a:xfrm>
            <a:off x="7823200" y="3771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Loi 66-12</a:t>
            </a:r>
          </a:p>
        </p:txBody>
      </p:sp>
      <p:sp>
        <p:nvSpPr>
          <p:cNvPr id="62" name="TextBox 61"/>
          <p:cNvSpPr txBox="1"/>
          <p:nvPr/>
        </p:nvSpPr>
        <p:spPr>
          <a:xfrm>
            <a:off x="7823200" y="3949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contrôle et répression des infractions d'urbanisme et de construction</a:t>
            </a:r>
          </a:p>
        </p:txBody>
      </p:sp>
      <p:sp>
        <p:nvSpPr>
          <p:cNvPr id="63" name="Rectangle 62"/>
          <p:cNvSpPr/>
          <p:nvPr/>
        </p:nvSpPr>
        <p:spPr>
          <a:xfrm>
            <a:off x="7112000" y="4419600"/>
            <a:ext cx="584200" cy="254000"/>
          </a:xfrm>
          <a:prstGeom prst="rect">
            <a:avLst/>
          </a:prstGeom>
          <a:solidFill>
            <a:srgbClr val="B5563C"/>
          </a:solidFill>
          <a:ln>
            <a:noFill/>
          </a:ln>
        </p:spPr>
        <p:txBody>
          <a:bodyPr rtlCol="0" anchor="ctr"/>
          <a:lstStyle/>
          <a:p>
            <a:pPr algn="ctr"/>
          </a:p>
        </p:txBody>
      </p:sp>
      <p:sp>
        <p:nvSpPr>
          <p:cNvPr id="64" name="TextBox 63"/>
          <p:cNvSpPr txBox="1"/>
          <p:nvPr/>
        </p:nvSpPr>
        <p:spPr>
          <a:xfrm>
            <a:off x="7112000" y="4432300"/>
            <a:ext cx="584200" cy="215900"/>
          </a:xfrm>
          <a:prstGeom prst="rect">
            <a:avLst/>
          </a:prstGeom>
          <a:noFill/>
        </p:spPr>
        <p:txBody>
          <a:bodyPr wrap="square" lIns="0" rIns="0" tIns="0" bIns="0" anchor="t">
            <a:spAutoFit/>
          </a:bodyPr>
          <a:lstStyle/>
          <a:p>
            <a:pPr algn="ctr">
              <a:lnSpc>
                <a:spcPct val="120000"/>
              </a:lnSpc>
            </a:pPr>
            <a:r>
              <a:rPr sz="1600" b="1" i="0">
                <a:solidFill>
                  <a:srgbClr val="FFFFFF"/>
                </a:solidFill>
                <a:latin typeface="Barlow Condensed"/>
              </a:rPr>
              <a:t>2025</a:t>
            </a:r>
          </a:p>
        </p:txBody>
      </p:sp>
      <p:sp>
        <p:nvSpPr>
          <p:cNvPr id="65" name="TextBox 64"/>
          <p:cNvSpPr txBox="1"/>
          <p:nvPr/>
        </p:nvSpPr>
        <p:spPr>
          <a:xfrm>
            <a:off x="7823200" y="4406900"/>
            <a:ext cx="4127500" cy="165100"/>
          </a:xfrm>
          <a:prstGeom prst="rect">
            <a:avLst/>
          </a:prstGeom>
          <a:noFill/>
        </p:spPr>
        <p:txBody>
          <a:bodyPr wrap="square" lIns="0" rIns="0" tIns="0" bIns="0" anchor="t">
            <a:spAutoFit/>
          </a:bodyPr>
          <a:lstStyle/>
          <a:p>
            <a:pPr algn="l">
              <a:lnSpc>
                <a:spcPct val="120000"/>
              </a:lnSpc>
            </a:pPr>
            <a:r>
              <a:rPr sz="1200" b="1" i="0">
                <a:solidFill>
                  <a:srgbClr val="23303A"/>
                </a:solidFill>
                <a:latin typeface="Barlow"/>
              </a:rPr>
              <a:t>Loi 22-24 (CRI)</a:t>
            </a:r>
          </a:p>
        </p:txBody>
      </p:sp>
      <p:sp>
        <p:nvSpPr>
          <p:cNvPr id="66" name="TextBox 65"/>
          <p:cNvSpPr txBox="1"/>
          <p:nvPr/>
        </p:nvSpPr>
        <p:spPr>
          <a:xfrm>
            <a:off x="7823200" y="4584700"/>
            <a:ext cx="4127500" cy="381000"/>
          </a:xfrm>
          <a:prstGeom prst="rect">
            <a:avLst/>
          </a:prstGeom>
          <a:noFill/>
        </p:spPr>
        <p:txBody>
          <a:bodyPr wrap="square" lIns="0" rIns="0" tIns="0" bIns="0" anchor="t">
            <a:spAutoFit/>
          </a:bodyPr>
          <a:lstStyle/>
          <a:p>
            <a:pPr algn="l">
              <a:lnSpc>
                <a:spcPct val="125000"/>
              </a:lnSpc>
            </a:pPr>
            <a:r>
              <a:rPr sz="1000" b="0" i="0">
                <a:solidFill>
                  <a:srgbClr val="7B746B"/>
                </a:solidFill>
                <a:latin typeface="Barlow"/>
              </a:rPr>
              <a:t>les dérogations d'urbanisme restent possibles pour l'industrie et l'hôtellerie</a:t>
            </a:r>
          </a:p>
        </p:txBody>
      </p:sp>
      <p:sp>
        <p:nvSpPr>
          <p:cNvPr id="67" name="Rectangle 66"/>
          <p:cNvSpPr/>
          <p:nvPr/>
        </p:nvSpPr>
        <p:spPr>
          <a:xfrm>
            <a:off x="254000" y="5397500"/>
            <a:ext cx="11684000" cy="952500"/>
          </a:xfrm>
          <a:prstGeom prst="rect">
            <a:avLst/>
          </a:prstGeom>
          <a:solidFill>
            <a:srgbClr val="F8F5EF"/>
          </a:solidFill>
          <a:ln w="6350">
            <a:solidFill>
              <a:srgbClr val="CFC6B8"/>
            </a:solidFill>
          </a:ln>
        </p:spPr>
        <p:txBody>
          <a:bodyPr rtlCol="0" anchor="ctr"/>
          <a:lstStyle/>
          <a:p>
            <a:pPr algn="ctr"/>
          </a:p>
        </p:txBody>
      </p:sp>
      <p:sp>
        <p:nvSpPr>
          <p:cNvPr id="68" name="Rectangle 67"/>
          <p:cNvSpPr/>
          <p:nvPr/>
        </p:nvSpPr>
        <p:spPr>
          <a:xfrm>
            <a:off x="254000" y="5397500"/>
            <a:ext cx="50800" cy="952500"/>
          </a:xfrm>
          <a:prstGeom prst="rect">
            <a:avLst/>
          </a:prstGeom>
          <a:solidFill>
            <a:srgbClr val="B5563C"/>
          </a:solidFill>
          <a:ln>
            <a:noFill/>
          </a:ln>
        </p:spPr>
        <p:txBody>
          <a:bodyPr rtlCol="0" anchor="ctr"/>
          <a:lstStyle/>
          <a:p>
            <a:pPr algn="ctr"/>
          </a:p>
        </p:txBody>
      </p:sp>
      <p:sp>
        <p:nvSpPr>
          <p:cNvPr id="69" name="TextBox 68"/>
          <p:cNvSpPr txBox="1"/>
          <p:nvPr/>
        </p:nvSpPr>
        <p:spPr>
          <a:xfrm>
            <a:off x="482600" y="5537200"/>
            <a:ext cx="11303000" cy="762000"/>
          </a:xfrm>
          <a:prstGeom prst="rect">
            <a:avLst/>
          </a:prstGeom>
          <a:noFill/>
        </p:spPr>
        <p:txBody>
          <a:bodyPr wrap="square" lIns="0" rIns="0" tIns="0" bIns="0" anchor="t">
            <a:spAutoFit/>
          </a:bodyPr>
          <a:lstStyle/>
          <a:p>
            <a:pPr algn="l">
              <a:lnSpc>
                <a:spcPct val="140000"/>
              </a:lnSpc>
            </a:pPr>
            <a:r>
              <a:rPr sz="1200" b="1" i="0">
                <a:solidFill>
                  <a:srgbClr val="B5563C"/>
                </a:solidFill>
                <a:latin typeface="Barlow"/>
              </a:rPr>
              <a:t>Lecture. </a:t>
            </a:r>
            <a:r>
              <a:rPr sz="1200" b="0" i="0">
                <a:solidFill>
                  <a:srgbClr val="23303A"/>
                </a:solidFill>
                <a:latin typeface="Barlow"/>
              </a:rPr>
              <a:t>Sur le papier, la règle protège exactement ce que le tourisme convoite : le rivage (81-12), le patrimoine (22-80), les réserves d'équipements (PA). Mais, selon l'Agence urbaine, aucun nouveau plan d'aménagement n'a été approuvé à Tanger entre 2016 et 2023, au moment même où se réalisaient la corniche, la marina et le stade. Et la seule dérogation que la réforme de 2025 conserve, à côté de l'industrie, est hôtelière.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L'EXPÉRIMENTATION : GOUVERNER PAR PROJETS</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Zones franches, sociétés d'aménagement, programmes royaux, grands événements : les outils d'exception ont avancé plus vite que les plans.</a:t>
            </a:r>
          </a:p>
        </p:txBody>
      </p:sp>
      <p:sp>
        <p:nvSpPr>
          <p:cNvPr id="5" name="TextBox 4"/>
          <p:cNvSpPr txBox="1"/>
          <p:nvPr/>
        </p:nvSpPr>
        <p:spPr>
          <a:xfrm>
            <a:off x="1107440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75 500</a:t>
            </a:r>
          </a:p>
        </p:txBody>
      </p:sp>
      <p:sp>
        <p:nvSpPr>
          <p:cNvPr id="6" name="TextBox 5"/>
          <p:cNvSpPr txBox="1"/>
          <p:nvPr/>
        </p:nvSpPr>
        <p:spPr>
          <a:xfrm>
            <a:off x="1107440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places, grand</a:t>
            </a:r>
          </a:p>
          <a:p>
            <a:pPr algn="r">
              <a:lnSpc>
                <a:spcPct val="110000"/>
              </a:lnSpc>
            </a:pPr>
            <a:r>
              <a:rPr sz="850" b="0" i="0">
                <a:solidFill>
                  <a:srgbClr val="7B746B"/>
                </a:solidFill>
                <a:latin typeface="Barlow"/>
              </a:rPr>
              <a:t>stade 2025</a:t>
            </a:r>
          </a:p>
        </p:txBody>
      </p:sp>
      <p:sp>
        <p:nvSpPr>
          <p:cNvPr id="7" name="TextBox 6"/>
          <p:cNvSpPr txBox="1"/>
          <p:nvPr/>
        </p:nvSpPr>
        <p:spPr>
          <a:xfrm>
            <a:off x="100965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850 M</a:t>
            </a:r>
          </a:p>
        </p:txBody>
      </p:sp>
      <p:sp>
        <p:nvSpPr>
          <p:cNvPr id="8" name="TextBox 7"/>
          <p:cNvSpPr txBox="1"/>
          <p:nvPr/>
        </p:nvSpPr>
        <p:spPr>
          <a:xfrm>
            <a:off x="100965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médina</a:t>
            </a:r>
          </a:p>
          <a:p>
            <a:pPr algn="r">
              <a:lnSpc>
                <a:spcPct val="110000"/>
              </a:lnSpc>
            </a:pPr>
            <a:r>
              <a:rPr sz="850" b="0" i="0">
                <a:solidFill>
                  <a:srgbClr val="7B746B"/>
                </a:solidFill>
                <a:latin typeface="Barlow"/>
              </a:rPr>
              <a:t>2020-2024</a:t>
            </a:r>
          </a:p>
        </p:txBody>
      </p:sp>
      <p:sp>
        <p:nvSpPr>
          <p:cNvPr id="9" name="TextBox 8"/>
          <p:cNvSpPr txBox="1"/>
          <p:nvPr/>
        </p:nvSpPr>
        <p:spPr>
          <a:xfrm>
            <a:off x="901700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7,6 Md</a:t>
            </a:r>
          </a:p>
        </p:txBody>
      </p:sp>
      <p:sp>
        <p:nvSpPr>
          <p:cNvPr id="10" name="TextBox 9"/>
          <p:cNvSpPr txBox="1"/>
          <p:nvPr/>
        </p:nvSpPr>
        <p:spPr>
          <a:xfrm>
            <a:off x="901700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Tanger-Métropole</a:t>
            </a:r>
          </a:p>
          <a:p>
            <a:pPr algn="r">
              <a:lnSpc>
                <a:spcPct val="110000"/>
              </a:lnSpc>
            </a:pPr>
            <a:r>
              <a:rPr sz="850" b="0" i="0">
                <a:solidFill>
                  <a:srgbClr val="7B746B"/>
                </a:solidFill>
                <a:latin typeface="Barlow"/>
              </a:rPr>
              <a:t>2013-2017</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05 / 32</a:t>
            </a:r>
          </a:p>
        </p:txBody>
      </p:sp>
      <p:sp>
        <p:nvSpPr>
          <p:cNvPr id="14" name="Rectangle 13"/>
          <p:cNvSpPr/>
          <p:nvPr/>
        </p:nvSpPr>
        <p:spPr>
          <a:xfrm>
            <a:off x="8010525" y="2857500"/>
            <a:ext cx="1900238" cy="1397000"/>
          </a:xfrm>
          <a:prstGeom prst="rect">
            <a:avLst/>
          </a:prstGeom>
          <a:solidFill>
            <a:srgbClr val="F1E3D8"/>
          </a:solidFill>
          <a:ln>
            <a:noFill/>
          </a:ln>
        </p:spPr>
        <p:txBody>
          <a:bodyPr rtlCol="0" anchor="ctr"/>
          <a:lstStyle/>
          <a:p>
            <a:pPr algn="ctr"/>
          </a:p>
        </p:txBody>
      </p:sp>
      <p:sp>
        <p:nvSpPr>
          <p:cNvPr id="15" name="TextBox 14"/>
          <p:cNvSpPr txBox="1"/>
          <p:nvPr/>
        </p:nvSpPr>
        <p:spPr>
          <a:xfrm>
            <a:off x="8010525" y="2921000"/>
            <a:ext cx="1900238" cy="381000"/>
          </a:xfrm>
          <a:prstGeom prst="rect">
            <a:avLst/>
          </a:prstGeom>
          <a:noFill/>
        </p:spPr>
        <p:txBody>
          <a:bodyPr wrap="square" lIns="0" rIns="0" tIns="0" bIns="0" anchor="t">
            <a:spAutoFit/>
          </a:bodyPr>
          <a:lstStyle/>
          <a:p>
            <a:pPr algn="ctr">
              <a:lnSpc>
                <a:spcPct val="115000"/>
              </a:lnSpc>
            </a:pPr>
            <a:r>
              <a:rPr sz="1000" b="1" i="0">
                <a:solidFill>
                  <a:srgbClr val="B5563C"/>
                </a:solidFill>
                <a:latin typeface="Barlow"/>
              </a:rPr>
              <a:t>2016-2023</a:t>
            </a:r>
          </a:p>
          <a:p>
            <a:pPr algn="ctr">
              <a:lnSpc>
                <a:spcPct val="115000"/>
              </a:lnSpc>
            </a:pPr>
            <a:r>
              <a:rPr sz="1000" b="1" i="0">
                <a:solidFill>
                  <a:srgbClr val="B5563C"/>
                </a:solidFill>
                <a:latin typeface="Barlow"/>
              </a:rPr>
              <a:t>aucun nouveau PA approuvé</a:t>
            </a:r>
          </a:p>
        </p:txBody>
      </p:sp>
      <p:sp>
        <p:nvSpPr>
          <p:cNvPr id="16" name="TextBox 15"/>
          <p:cNvSpPr txBox="1"/>
          <p:nvPr/>
        </p:nvSpPr>
        <p:spPr>
          <a:xfrm>
            <a:off x="8010525" y="3213100"/>
            <a:ext cx="1900238" cy="381000"/>
          </a:xfrm>
          <a:prstGeom prst="rect">
            <a:avLst/>
          </a:prstGeom>
          <a:noFill/>
        </p:spPr>
        <p:txBody>
          <a:bodyPr wrap="square" lIns="0" rIns="0" tIns="0" bIns="0" anchor="t">
            <a:spAutoFit/>
          </a:bodyPr>
          <a:lstStyle/>
          <a:p>
            <a:pPr algn="ctr">
              <a:lnSpc>
                <a:spcPct val="120000"/>
              </a:lnSpc>
            </a:pPr>
            <a:r>
              <a:rPr sz="900" b="0" i="1">
                <a:solidFill>
                  <a:srgbClr val="B5563C"/>
                </a:solidFill>
                <a:latin typeface="Barlow"/>
              </a:rPr>
              <a:t>pendant ce temps : marina, LGV, médina, stade</a:t>
            </a:r>
          </a:p>
        </p:txBody>
      </p:sp>
      <p:cxnSp>
        <p:nvCxnSpPr>
          <p:cNvPr id="17" name="Connector 16"/>
          <p:cNvCxnSpPr/>
          <p:nvPr/>
        </p:nvCxnSpPr>
        <p:spPr>
          <a:xfrm>
            <a:off x="952500" y="2705100"/>
            <a:ext cx="0" cy="1701800"/>
          </a:xfrm>
          <a:prstGeom prst="line">
            <a:avLst/>
          </a:prstGeom>
          <a:ln w="6350">
            <a:solidFill>
              <a:srgbClr val="E2DCD1"/>
            </a:solidFill>
          </a:ln>
        </p:spPr>
      </p:cxnSp>
      <p:sp>
        <p:nvSpPr>
          <p:cNvPr id="18" name="TextBox 17"/>
          <p:cNvSpPr txBox="1"/>
          <p:nvPr/>
        </p:nvSpPr>
        <p:spPr>
          <a:xfrm>
            <a:off x="698500"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1990</a:t>
            </a:r>
          </a:p>
        </p:txBody>
      </p:sp>
      <p:cxnSp>
        <p:nvCxnSpPr>
          <p:cNvPr id="19" name="Connector 18"/>
          <p:cNvCxnSpPr/>
          <p:nvPr/>
        </p:nvCxnSpPr>
        <p:spPr>
          <a:xfrm>
            <a:off x="2309812" y="2705100"/>
            <a:ext cx="0" cy="1701800"/>
          </a:xfrm>
          <a:prstGeom prst="line">
            <a:avLst/>
          </a:prstGeom>
          <a:ln w="6350">
            <a:solidFill>
              <a:srgbClr val="E2DCD1"/>
            </a:solidFill>
          </a:ln>
        </p:spPr>
      </p:cxnSp>
      <p:sp>
        <p:nvSpPr>
          <p:cNvPr id="20" name="TextBox 19"/>
          <p:cNvSpPr txBox="1"/>
          <p:nvPr/>
        </p:nvSpPr>
        <p:spPr>
          <a:xfrm>
            <a:off x="2055812"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1995</a:t>
            </a:r>
          </a:p>
        </p:txBody>
      </p:sp>
      <p:cxnSp>
        <p:nvCxnSpPr>
          <p:cNvPr id="21" name="Connector 20"/>
          <p:cNvCxnSpPr/>
          <p:nvPr/>
        </p:nvCxnSpPr>
        <p:spPr>
          <a:xfrm>
            <a:off x="3667125" y="2705100"/>
            <a:ext cx="0" cy="1701800"/>
          </a:xfrm>
          <a:prstGeom prst="line">
            <a:avLst/>
          </a:prstGeom>
          <a:ln w="6350">
            <a:solidFill>
              <a:srgbClr val="E2DCD1"/>
            </a:solidFill>
          </a:ln>
        </p:spPr>
      </p:cxnSp>
      <p:sp>
        <p:nvSpPr>
          <p:cNvPr id="22" name="TextBox 21"/>
          <p:cNvSpPr txBox="1"/>
          <p:nvPr/>
        </p:nvSpPr>
        <p:spPr>
          <a:xfrm>
            <a:off x="3413125"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2000</a:t>
            </a:r>
          </a:p>
        </p:txBody>
      </p:sp>
      <p:cxnSp>
        <p:nvCxnSpPr>
          <p:cNvPr id="23" name="Connector 22"/>
          <p:cNvCxnSpPr/>
          <p:nvPr/>
        </p:nvCxnSpPr>
        <p:spPr>
          <a:xfrm>
            <a:off x="5024438" y="2705100"/>
            <a:ext cx="0" cy="1701800"/>
          </a:xfrm>
          <a:prstGeom prst="line">
            <a:avLst/>
          </a:prstGeom>
          <a:ln w="6350">
            <a:solidFill>
              <a:srgbClr val="E2DCD1"/>
            </a:solidFill>
          </a:ln>
        </p:spPr>
      </p:cxnSp>
      <p:sp>
        <p:nvSpPr>
          <p:cNvPr id="24" name="TextBox 23"/>
          <p:cNvSpPr txBox="1"/>
          <p:nvPr/>
        </p:nvSpPr>
        <p:spPr>
          <a:xfrm>
            <a:off x="4770438"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2005</a:t>
            </a:r>
          </a:p>
        </p:txBody>
      </p:sp>
      <p:cxnSp>
        <p:nvCxnSpPr>
          <p:cNvPr id="25" name="Connector 24"/>
          <p:cNvCxnSpPr/>
          <p:nvPr/>
        </p:nvCxnSpPr>
        <p:spPr>
          <a:xfrm>
            <a:off x="6381750" y="2705100"/>
            <a:ext cx="0" cy="1701800"/>
          </a:xfrm>
          <a:prstGeom prst="line">
            <a:avLst/>
          </a:prstGeom>
          <a:ln w="6350">
            <a:solidFill>
              <a:srgbClr val="E2DCD1"/>
            </a:solidFill>
          </a:ln>
        </p:spPr>
      </p:cxnSp>
      <p:sp>
        <p:nvSpPr>
          <p:cNvPr id="26" name="TextBox 25"/>
          <p:cNvSpPr txBox="1"/>
          <p:nvPr/>
        </p:nvSpPr>
        <p:spPr>
          <a:xfrm>
            <a:off x="6127750"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2010</a:t>
            </a:r>
          </a:p>
        </p:txBody>
      </p:sp>
      <p:cxnSp>
        <p:nvCxnSpPr>
          <p:cNvPr id="27" name="Connector 26"/>
          <p:cNvCxnSpPr/>
          <p:nvPr/>
        </p:nvCxnSpPr>
        <p:spPr>
          <a:xfrm>
            <a:off x="7739062" y="2705100"/>
            <a:ext cx="0" cy="1701800"/>
          </a:xfrm>
          <a:prstGeom prst="line">
            <a:avLst/>
          </a:prstGeom>
          <a:ln w="6350">
            <a:solidFill>
              <a:srgbClr val="E2DCD1"/>
            </a:solidFill>
          </a:ln>
        </p:spPr>
      </p:cxnSp>
      <p:sp>
        <p:nvSpPr>
          <p:cNvPr id="28" name="TextBox 27"/>
          <p:cNvSpPr txBox="1"/>
          <p:nvPr/>
        </p:nvSpPr>
        <p:spPr>
          <a:xfrm>
            <a:off x="7485062"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2015</a:t>
            </a:r>
          </a:p>
        </p:txBody>
      </p:sp>
      <p:cxnSp>
        <p:nvCxnSpPr>
          <p:cNvPr id="29" name="Connector 28"/>
          <p:cNvCxnSpPr/>
          <p:nvPr/>
        </p:nvCxnSpPr>
        <p:spPr>
          <a:xfrm>
            <a:off x="9096375" y="2705100"/>
            <a:ext cx="0" cy="1701800"/>
          </a:xfrm>
          <a:prstGeom prst="line">
            <a:avLst/>
          </a:prstGeom>
          <a:ln w="6350">
            <a:solidFill>
              <a:srgbClr val="E2DCD1"/>
            </a:solidFill>
          </a:ln>
        </p:spPr>
      </p:cxnSp>
      <p:sp>
        <p:nvSpPr>
          <p:cNvPr id="30" name="TextBox 29"/>
          <p:cNvSpPr txBox="1"/>
          <p:nvPr/>
        </p:nvSpPr>
        <p:spPr>
          <a:xfrm>
            <a:off x="8842375"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2020</a:t>
            </a:r>
          </a:p>
        </p:txBody>
      </p:sp>
      <p:cxnSp>
        <p:nvCxnSpPr>
          <p:cNvPr id="31" name="Connector 30"/>
          <p:cNvCxnSpPr/>
          <p:nvPr/>
        </p:nvCxnSpPr>
        <p:spPr>
          <a:xfrm>
            <a:off x="10453688" y="2705100"/>
            <a:ext cx="0" cy="1701800"/>
          </a:xfrm>
          <a:prstGeom prst="line">
            <a:avLst/>
          </a:prstGeom>
          <a:ln w="6350">
            <a:solidFill>
              <a:srgbClr val="E2DCD1"/>
            </a:solidFill>
          </a:ln>
        </p:spPr>
      </p:cxnSp>
      <p:sp>
        <p:nvSpPr>
          <p:cNvPr id="32" name="TextBox 31"/>
          <p:cNvSpPr txBox="1"/>
          <p:nvPr/>
        </p:nvSpPr>
        <p:spPr>
          <a:xfrm>
            <a:off x="10199688"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2025</a:t>
            </a:r>
          </a:p>
        </p:txBody>
      </p:sp>
      <p:cxnSp>
        <p:nvCxnSpPr>
          <p:cNvPr id="33" name="Connector 32"/>
          <p:cNvCxnSpPr/>
          <p:nvPr/>
        </p:nvCxnSpPr>
        <p:spPr>
          <a:xfrm>
            <a:off x="11811000" y="2705100"/>
            <a:ext cx="0" cy="1701800"/>
          </a:xfrm>
          <a:prstGeom prst="line">
            <a:avLst/>
          </a:prstGeom>
          <a:ln w="6350">
            <a:solidFill>
              <a:srgbClr val="E2DCD1"/>
            </a:solidFill>
          </a:ln>
        </p:spPr>
      </p:cxnSp>
      <p:sp>
        <p:nvSpPr>
          <p:cNvPr id="34" name="TextBox 33"/>
          <p:cNvSpPr txBox="1"/>
          <p:nvPr/>
        </p:nvSpPr>
        <p:spPr>
          <a:xfrm>
            <a:off x="11557000" y="3479800"/>
            <a:ext cx="508000" cy="152400"/>
          </a:xfrm>
          <a:prstGeom prst="rect">
            <a:avLst/>
          </a:prstGeom>
          <a:noFill/>
        </p:spPr>
        <p:txBody>
          <a:bodyPr wrap="square" lIns="0" rIns="0" tIns="0" bIns="0" anchor="t">
            <a:spAutoFit/>
          </a:bodyPr>
          <a:lstStyle/>
          <a:p>
            <a:pPr algn="ctr">
              <a:lnSpc>
                <a:spcPct val="120000"/>
              </a:lnSpc>
            </a:pPr>
            <a:r>
              <a:rPr sz="1100" b="1" i="0">
                <a:solidFill>
                  <a:srgbClr val="7B746B"/>
                </a:solidFill>
                <a:latin typeface="Barlow Condensed"/>
              </a:rPr>
              <a:t>2030</a:t>
            </a:r>
          </a:p>
        </p:txBody>
      </p:sp>
      <p:cxnSp>
        <p:nvCxnSpPr>
          <p:cNvPr id="35" name="Connector 34"/>
          <p:cNvCxnSpPr/>
          <p:nvPr/>
        </p:nvCxnSpPr>
        <p:spPr>
          <a:xfrm>
            <a:off x="952500" y="2730500"/>
            <a:ext cx="10858500" cy="0"/>
          </a:xfrm>
          <a:prstGeom prst="line">
            <a:avLst/>
          </a:prstGeom>
          <a:ln w="19050">
            <a:solidFill>
              <a:srgbClr val="B5563C"/>
            </a:solidFill>
          </a:ln>
        </p:spPr>
      </p:cxnSp>
      <p:cxnSp>
        <p:nvCxnSpPr>
          <p:cNvPr id="36" name="Connector 35"/>
          <p:cNvCxnSpPr/>
          <p:nvPr/>
        </p:nvCxnSpPr>
        <p:spPr>
          <a:xfrm>
            <a:off x="952500" y="4381500"/>
            <a:ext cx="10858500" cy="0"/>
          </a:xfrm>
          <a:prstGeom prst="line">
            <a:avLst/>
          </a:prstGeom>
          <a:ln w="19050">
            <a:solidFill>
              <a:srgbClr val="3E5A6E"/>
            </a:solidFill>
          </a:ln>
        </p:spPr>
      </p:cxnSp>
      <p:sp>
        <p:nvSpPr>
          <p:cNvPr id="37" name="TextBox 36"/>
          <p:cNvSpPr txBox="1"/>
          <p:nvPr/>
        </p:nvSpPr>
        <p:spPr>
          <a:xfrm>
            <a:off x="190500" y="2628900"/>
            <a:ext cx="730250" cy="254000"/>
          </a:xfrm>
          <a:prstGeom prst="rect">
            <a:avLst/>
          </a:prstGeom>
          <a:noFill/>
        </p:spPr>
        <p:txBody>
          <a:bodyPr wrap="square" lIns="0" rIns="0" tIns="0" bIns="0" anchor="t">
            <a:spAutoFit/>
          </a:bodyPr>
          <a:lstStyle/>
          <a:p>
            <a:pPr algn="l">
              <a:lnSpc>
                <a:spcPct val="110000"/>
              </a:lnSpc>
            </a:pPr>
            <a:r>
              <a:rPr sz="950" b="1" i="0" spc="150">
                <a:solidFill>
                  <a:srgbClr val="B5563C"/>
                </a:solidFill>
                <a:latin typeface="Barlow Condensed"/>
              </a:rPr>
              <a:t>PROJETS</a:t>
            </a:r>
          </a:p>
        </p:txBody>
      </p:sp>
      <p:sp>
        <p:nvSpPr>
          <p:cNvPr id="38" name="TextBox 37"/>
          <p:cNvSpPr txBox="1"/>
          <p:nvPr/>
        </p:nvSpPr>
        <p:spPr>
          <a:xfrm>
            <a:off x="190500" y="4279900"/>
            <a:ext cx="730250" cy="254000"/>
          </a:xfrm>
          <a:prstGeom prst="rect">
            <a:avLst/>
          </a:prstGeom>
          <a:noFill/>
        </p:spPr>
        <p:txBody>
          <a:bodyPr wrap="square" lIns="0" rIns="0" tIns="0" bIns="0" anchor="t">
            <a:spAutoFit/>
          </a:bodyPr>
          <a:lstStyle/>
          <a:p>
            <a:pPr algn="l">
              <a:lnSpc>
                <a:spcPct val="110000"/>
              </a:lnSpc>
            </a:pPr>
            <a:r>
              <a:rPr sz="950" b="1" i="0" spc="150">
                <a:solidFill>
                  <a:srgbClr val="3E5A6E"/>
                </a:solidFill>
                <a:latin typeface="Barlow Condensed"/>
              </a:rPr>
              <a:t>RÈGLES</a:t>
            </a:r>
          </a:p>
        </p:txBody>
      </p:sp>
      <p:sp>
        <p:nvSpPr>
          <p:cNvPr id="39" name="Oval 38"/>
          <p:cNvSpPr/>
          <p:nvPr/>
        </p:nvSpPr>
        <p:spPr>
          <a:xfrm>
            <a:off x="3344862"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40" name="Connector 39"/>
          <p:cNvCxnSpPr/>
          <p:nvPr/>
        </p:nvCxnSpPr>
        <p:spPr>
          <a:xfrm flipV="1">
            <a:off x="3395662" y="2628900"/>
            <a:ext cx="0" cy="38100"/>
          </a:xfrm>
          <a:prstGeom prst="line">
            <a:avLst/>
          </a:prstGeom>
          <a:ln w="5080">
            <a:solidFill>
              <a:srgbClr val="B5563C"/>
            </a:solidFill>
          </a:ln>
        </p:spPr>
      </p:cxnSp>
      <p:sp>
        <p:nvSpPr>
          <p:cNvPr id="41" name="TextBox 40"/>
          <p:cNvSpPr txBox="1"/>
          <p:nvPr/>
        </p:nvSpPr>
        <p:spPr>
          <a:xfrm>
            <a:off x="2760662" y="2311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Tanger Free Zone</a:t>
            </a:r>
          </a:p>
        </p:txBody>
      </p:sp>
      <p:sp>
        <p:nvSpPr>
          <p:cNvPr id="42" name="TextBox 41"/>
          <p:cNvSpPr txBox="1"/>
          <p:nvPr/>
        </p:nvSpPr>
        <p:spPr>
          <a:xfrm>
            <a:off x="2760662" y="2457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zone franche, 350 ha</a:t>
            </a:r>
          </a:p>
        </p:txBody>
      </p:sp>
      <p:sp>
        <p:nvSpPr>
          <p:cNvPr id="43" name="Oval 42"/>
          <p:cNvSpPr/>
          <p:nvPr/>
        </p:nvSpPr>
        <p:spPr>
          <a:xfrm>
            <a:off x="4430712"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44" name="Connector 43"/>
          <p:cNvCxnSpPr/>
          <p:nvPr/>
        </p:nvCxnSpPr>
        <p:spPr>
          <a:xfrm flipV="1">
            <a:off x="4481512" y="2247900"/>
            <a:ext cx="0" cy="419100"/>
          </a:xfrm>
          <a:prstGeom prst="line">
            <a:avLst/>
          </a:prstGeom>
          <a:ln w="5080">
            <a:solidFill>
              <a:srgbClr val="B5563C"/>
            </a:solidFill>
          </a:ln>
        </p:spPr>
      </p:cxnSp>
      <p:sp>
        <p:nvSpPr>
          <p:cNvPr id="45" name="TextBox 44"/>
          <p:cNvSpPr txBox="1"/>
          <p:nvPr/>
        </p:nvSpPr>
        <p:spPr>
          <a:xfrm>
            <a:off x="3846512" y="1930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Circulaire 3020</a:t>
            </a:r>
          </a:p>
        </p:txBody>
      </p:sp>
      <p:sp>
        <p:nvSpPr>
          <p:cNvPr id="46" name="TextBox 45"/>
          <p:cNvSpPr txBox="1"/>
          <p:nvPr/>
        </p:nvSpPr>
        <p:spPr>
          <a:xfrm>
            <a:off x="3846512" y="2076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dérogations via les CRI</a:t>
            </a:r>
          </a:p>
        </p:txBody>
      </p:sp>
      <p:sp>
        <p:nvSpPr>
          <p:cNvPr id="47" name="Oval 46"/>
          <p:cNvSpPr/>
          <p:nvPr/>
        </p:nvSpPr>
        <p:spPr>
          <a:xfrm>
            <a:off x="5516562"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48" name="Connector 47"/>
          <p:cNvCxnSpPr/>
          <p:nvPr/>
        </p:nvCxnSpPr>
        <p:spPr>
          <a:xfrm flipV="1">
            <a:off x="5567362" y="2628900"/>
            <a:ext cx="0" cy="38100"/>
          </a:xfrm>
          <a:prstGeom prst="line">
            <a:avLst/>
          </a:prstGeom>
          <a:ln w="5080">
            <a:solidFill>
              <a:srgbClr val="B5563C"/>
            </a:solidFill>
          </a:ln>
        </p:spPr>
      </p:cxnSp>
      <p:sp>
        <p:nvSpPr>
          <p:cNvPr id="49" name="TextBox 48"/>
          <p:cNvSpPr txBox="1"/>
          <p:nvPr/>
        </p:nvSpPr>
        <p:spPr>
          <a:xfrm>
            <a:off x="4932362" y="2311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Tanger Med</a:t>
            </a:r>
          </a:p>
        </p:txBody>
      </p:sp>
      <p:sp>
        <p:nvSpPr>
          <p:cNvPr id="50" name="TextBox 49"/>
          <p:cNvSpPr txBox="1"/>
          <p:nvPr/>
        </p:nvSpPr>
        <p:spPr>
          <a:xfrm>
            <a:off x="4932362" y="2457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1er terminal</a:t>
            </a:r>
          </a:p>
        </p:txBody>
      </p:sp>
      <p:sp>
        <p:nvSpPr>
          <p:cNvPr id="51" name="Oval 50"/>
          <p:cNvSpPr/>
          <p:nvPr/>
        </p:nvSpPr>
        <p:spPr>
          <a:xfrm>
            <a:off x="6330950"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52" name="Connector 51"/>
          <p:cNvCxnSpPr/>
          <p:nvPr/>
        </p:nvCxnSpPr>
        <p:spPr>
          <a:xfrm flipV="1">
            <a:off x="6381750" y="1866900"/>
            <a:ext cx="0" cy="800100"/>
          </a:xfrm>
          <a:prstGeom prst="line">
            <a:avLst/>
          </a:prstGeom>
          <a:ln w="5080">
            <a:solidFill>
              <a:srgbClr val="B5563C"/>
            </a:solidFill>
          </a:ln>
        </p:spPr>
      </p:cxnSp>
      <p:sp>
        <p:nvSpPr>
          <p:cNvPr id="53" name="TextBox 52"/>
          <p:cNvSpPr txBox="1"/>
          <p:nvPr/>
        </p:nvSpPr>
        <p:spPr>
          <a:xfrm>
            <a:off x="5746750" y="1549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SAPT</a:t>
            </a:r>
          </a:p>
        </p:txBody>
      </p:sp>
      <p:sp>
        <p:nvSpPr>
          <p:cNvPr id="54" name="TextBox 53"/>
          <p:cNvSpPr txBox="1"/>
          <p:nvPr/>
        </p:nvSpPr>
        <p:spPr>
          <a:xfrm>
            <a:off x="5746750" y="1695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reconversion du port</a:t>
            </a:r>
          </a:p>
        </p:txBody>
      </p:sp>
      <p:sp>
        <p:nvSpPr>
          <p:cNvPr id="55" name="Oval 54"/>
          <p:cNvSpPr/>
          <p:nvPr/>
        </p:nvSpPr>
        <p:spPr>
          <a:xfrm>
            <a:off x="6873875"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56" name="Connector 55"/>
          <p:cNvCxnSpPr/>
          <p:nvPr/>
        </p:nvCxnSpPr>
        <p:spPr>
          <a:xfrm flipV="1">
            <a:off x="6924675" y="2247900"/>
            <a:ext cx="0" cy="419100"/>
          </a:xfrm>
          <a:prstGeom prst="line">
            <a:avLst/>
          </a:prstGeom>
          <a:ln w="5080">
            <a:solidFill>
              <a:srgbClr val="B5563C"/>
            </a:solidFill>
          </a:ln>
        </p:spPr>
      </p:cxnSp>
      <p:sp>
        <p:nvSpPr>
          <p:cNvPr id="57" name="TextBox 56"/>
          <p:cNvSpPr txBox="1"/>
          <p:nvPr/>
        </p:nvSpPr>
        <p:spPr>
          <a:xfrm>
            <a:off x="6289675" y="1930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Renault</a:t>
            </a:r>
          </a:p>
        </p:txBody>
      </p:sp>
      <p:sp>
        <p:nvSpPr>
          <p:cNvPr id="58" name="TextBox 57"/>
          <p:cNvSpPr txBox="1"/>
          <p:nvPr/>
        </p:nvSpPr>
        <p:spPr>
          <a:xfrm>
            <a:off x="6289675" y="2076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usine de Melloussa</a:t>
            </a:r>
          </a:p>
        </p:txBody>
      </p:sp>
      <p:sp>
        <p:nvSpPr>
          <p:cNvPr id="59" name="Oval 58"/>
          <p:cNvSpPr/>
          <p:nvPr/>
        </p:nvSpPr>
        <p:spPr>
          <a:xfrm>
            <a:off x="7145338"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60" name="Connector 59"/>
          <p:cNvCxnSpPr/>
          <p:nvPr/>
        </p:nvCxnSpPr>
        <p:spPr>
          <a:xfrm flipV="1">
            <a:off x="7196138" y="2628900"/>
            <a:ext cx="0" cy="38100"/>
          </a:xfrm>
          <a:prstGeom prst="line">
            <a:avLst/>
          </a:prstGeom>
          <a:ln w="5080">
            <a:solidFill>
              <a:srgbClr val="B5563C"/>
            </a:solidFill>
          </a:ln>
        </p:spPr>
      </p:cxnSp>
      <p:sp>
        <p:nvSpPr>
          <p:cNvPr id="61" name="TextBox 60"/>
          <p:cNvSpPr txBox="1"/>
          <p:nvPr/>
        </p:nvSpPr>
        <p:spPr>
          <a:xfrm>
            <a:off x="6561138" y="2311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Tanger-Métropole</a:t>
            </a:r>
          </a:p>
        </p:txBody>
      </p:sp>
      <p:sp>
        <p:nvSpPr>
          <p:cNvPr id="62" name="TextBox 61"/>
          <p:cNvSpPr txBox="1"/>
          <p:nvPr/>
        </p:nvSpPr>
        <p:spPr>
          <a:xfrm>
            <a:off x="6561138" y="2457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7,6 Md MAD</a:t>
            </a:r>
          </a:p>
        </p:txBody>
      </p:sp>
      <p:sp>
        <p:nvSpPr>
          <p:cNvPr id="63" name="Oval 62"/>
          <p:cNvSpPr/>
          <p:nvPr/>
        </p:nvSpPr>
        <p:spPr>
          <a:xfrm>
            <a:off x="8502650"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64" name="Connector 63"/>
          <p:cNvCxnSpPr/>
          <p:nvPr/>
        </p:nvCxnSpPr>
        <p:spPr>
          <a:xfrm flipV="1">
            <a:off x="8553450" y="1866900"/>
            <a:ext cx="0" cy="800100"/>
          </a:xfrm>
          <a:prstGeom prst="line">
            <a:avLst/>
          </a:prstGeom>
          <a:ln w="5080">
            <a:solidFill>
              <a:srgbClr val="B5563C"/>
            </a:solidFill>
          </a:ln>
        </p:spPr>
      </p:cxnSp>
      <p:sp>
        <p:nvSpPr>
          <p:cNvPr id="65" name="TextBox 64"/>
          <p:cNvSpPr txBox="1"/>
          <p:nvPr/>
        </p:nvSpPr>
        <p:spPr>
          <a:xfrm>
            <a:off x="7918450" y="1549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Marina · LGV</a:t>
            </a:r>
          </a:p>
        </p:txBody>
      </p:sp>
      <p:sp>
        <p:nvSpPr>
          <p:cNvPr id="66" name="TextBox 65"/>
          <p:cNvSpPr txBox="1"/>
          <p:nvPr/>
        </p:nvSpPr>
        <p:spPr>
          <a:xfrm>
            <a:off x="7918450" y="1695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Tanja Bay, Al Boraq</a:t>
            </a:r>
          </a:p>
        </p:txBody>
      </p:sp>
      <p:sp>
        <p:nvSpPr>
          <p:cNvPr id="67" name="Oval 66"/>
          <p:cNvSpPr/>
          <p:nvPr/>
        </p:nvSpPr>
        <p:spPr>
          <a:xfrm>
            <a:off x="9045575"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68" name="Connector 67"/>
          <p:cNvCxnSpPr/>
          <p:nvPr/>
        </p:nvCxnSpPr>
        <p:spPr>
          <a:xfrm flipV="1">
            <a:off x="9096375" y="2247900"/>
            <a:ext cx="0" cy="419100"/>
          </a:xfrm>
          <a:prstGeom prst="line">
            <a:avLst/>
          </a:prstGeom>
          <a:ln w="5080">
            <a:solidFill>
              <a:srgbClr val="B5563C"/>
            </a:solidFill>
          </a:ln>
        </p:spPr>
      </p:cxnSp>
      <p:sp>
        <p:nvSpPr>
          <p:cNvPr id="69" name="TextBox 68"/>
          <p:cNvSpPr txBox="1"/>
          <p:nvPr/>
        </p:nvSpPr>
        <p:spPr>
          <a:xfrm>
            <a:off x="8461375" y="1930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Médina</a:t>
            </a:r>
          </a:p>
        </p:txBody>
      </p:sp>
      <p:sp>
        <p:nvSpPr>
          <p:cNvPr id="70" name="TextBox 69"/>
          <p:cNvSpPr txBox="1"/>
          <p:nvPr/>
        </p:nvSpPr>
        <p:spPr>
          <a:xfrm>
            <a:off x="8461375" y="2076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850 M MAD</a:t>
            </a:r>
          </a:p>
        </p:txBody>
      </p:sp>
      <p:sp>
        <p:nvSpPr>
          <p:cNvPr id="71" name="Oval 70"/>
          <p:cNvSpPr/>
          <p:nvPr/>
        </p:nvSpPr>
        <p:spPr>
          <a:xfrm>
            <a:off x="10402888"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72" name="Connector 71"/>
          <p:cNvCxnSpPr/>
          <p:nvPr/>
        </p:nvCxnSpPr>
        <p:spPr>
          <a:xfrm flipV="1">
            <a:off x="10453688" y="2628900"/>
            <a:ext cx="0" cy="38100"/>
          </a:xfrm>
          <a:prstGeom prst="line">
            <a:avLst/>
          </a:prstGeom>
          <a:ln w="5080">
            <a:solidFill>
              <a:srgbClr val="B5563C"/>
            </a:solidFill>
          </a:ln>
        </p:spPr>
      </p:cxnSp>
      <p:sp>
        <p:nvSpPr>
          <p:cNvPr id="73" name="TextBox 72"/>
          <p:cNvSpPr txBox="1"/>
          <p:nvPr/>
        </p:nvSpPr>
        <p:spPr>
          <a:xfrm>
            <a:off x="9818688" y="2311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Grand stade</a:t>
            </a:r>
          </a:p>
        </p:txBody>
      </p:sp>
      <p:sp>
        <p:nvSpPr>
          <p:cNvPr id="74" name="TextBox 73"/>
          <p:cNvSpPr txBox="1"/>
          <p:nvPr/>
        </p:nvSpPr>
        <p:spPr>
          <a:xfrm>
            <a:off x="9818688" y="2457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75 500 places</a:t>
            </a:r>
          </a:p>
        </p:txBody>
      </p:sp>
      <p:sp>
        <p:nvSpPr>
          <p:cNvPr id="75" name="Oval 74"/>
          <p:cNvSpPr/>
          <p:nvPr/>
        </p:nvSpPr>
        <p:spPr>
          <a:xfrm>
            <a:off x="11760200" y="2679700"/>
            <a:ext cx="101600" cy="101600"/>
          </a:xfrm>
          <a:prstGeom prst="ellipse">
            <a:avLst/>
          </a:prstGeom>
          <a:solidFill>
            <a:srgbClr val="B5563C"/>
          </a:solidFill>
          <a:ln w="12700">
            <a:solidFill>
              <a:srgbClr val="FFFFFF"/>
            </a:solidFill>
          </a:ln>
        </p:spPr>
        <p:txBody>
          <a:bodyPr rtlCol="0" anchor="ctr"/>
          <a:lstStyle/>
          <a:p>
            <a:pPr algn="ctr"/>
          </a:p>
        </p:txBody>
      </p:sp>
      <p:cxnSp>
        <p:nvCxnSpPr>
          <p:cNvPr id="76" name="Connector 75"/>
          <p:cNvCxnSpPr/>
          <p:nvPr/>
        </p:nvCxnSpPr>
        <p:spPr>
          <a:xfrm flipV="1">
            <a:off x="11811000" y="1866900"/>
            <a:ext cx="0" cy="800100"/>
          </a:xfrm>
          <a:prstGeom prst="line">
            <a:avLst/>
          </a:prstGeom>
          <a:ln w="5080">
            <a:solidFill>
              <a:srgbClr val="B5563C"/>
            </a:solidFill>
          </a:ln>
        </p:spPr>
      </p:cxnSp>
      <p:sp>
        <p:nvSpPr>
          <p:cNvPr id="77" name="TextBox 76"/>
          <p:cNvSpPr txBox="1"/>
          <p:nvPr/>
        </p:nvSpPr>
        <p:spPr>
          <a:xfrm>
            <a:off x="10668000" y="1549400"/>
            <a:ext cx="1270000" cy="165100"/>
          </a:xfrm>
          <a:prstGeom prst="rect">
            <a:avLst/>
          </a:prstGeom>
          <a:noFill/>
        </p:spPr>
        <p:txBody>
          <a:bodyPr wrap="square" lIns="0" rIns="0" tIns="0" bIns="0" anchor="t">
            <a:spAutoFit/>
          </a:bodyPr>
          <a:lstStyle/>
          <a:p>
            <a:pPr algn="ctr">
              <a:lnSpc>
                <a:spcPct val="120000"/>
              </a:lnSpc>
            </a:pPr>
            <a:r>
              <a:rPr sz="1000" b="1" i="0">
                <a:solidFill>
                  <a:srgbClr val="B5563C"/>
                </a:solidFill>
                <a:latin typeface="Barlow"/>
              </a:rPr>
              <a:t>Mondial</a:t>
            </a:r>
          </a:p>
        </p:txBody>
      </p:sp>
      <p:sp>
        <p:nvSpPr>
          <p:cNvPr id="78" name="TextBox 77"/>
          <p:cNvSpPr txBox="1"/>
          <p:nvPr/>
        </p:nvSpPr>
        <p:spPr>
          <a:xfrm>
            <a:off x="10668000" y="16954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Coupe du monde</a:t>
            </a:r>
          </a:p>
        </p:txBody>
      </p:sp>
      <p:sp>
        <p:nvSpPr>
          <p:cNvPr id="79" name="Oval 78"/>
          <p:cNvSpPr/>
          <p:nvPr/>
        </p:nvSpPr>
        <p:spPr>
          <a:xfrm>
            <a:off x="1444625"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80" name="Connector 79"/>
          <p:cNvCxnSpPr/>
          <p:nvPr/>
        </p:nvCxnSpPr>
        <p:spPr>
          <a:xfrm>
            <a:off x="1495425" y="4445000"/>
            <a:ext cx="0" cy="50800"/>
          </a:xfrm>
          <a:prstGeom prst="line">
            <a:avLst/>
          </a:prstGeom>
          <a:ln w="5080">
            <a:solidFill>
              <a:srgbClr val="3E5A6E"/>
            </a:solidFill>
          </a:ln>
        </p:spPr>
      </p:cxnSp>
      <p:sp>
        <p:nvSpPr>
          <p:cNvPr id="81" name="TextBox 80"/>
          <p:cNvSpPr txBox="1"/>
          <p:nvPr/>
        </p:nvSpPr>
        <p:spPr>
          <a:xfrm>
            <a:off x="860425" y="4495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Lois 12-90, 25-90</a:t>
            </a:r>
          </a:p>
        </p:txBody>
      </p:sp>
      <p:sp>
        <p:nvSpPr>
          <p:cNvPr id="82" name="TextBox 81"/>
          <p:cNvSpPr txBox="1"/>
          <p:nvPr/>
        </p:nvSpPr>
        <p:spPr>
          <a:xfrm>
            <a:off x="860425" y="4641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urbanisme, lotissements</a:t>
            </a:r>
          </a:p>
        </p:txBody>
      </p:sp>
      <p:sp>
        <p:nvSpPr>
          <p:cNvPr id="83" name="Oval 82"/>
          <p:cNvSpPr/>
          <p:nvPr/>
        </p:nvSpPr>
        <p:spPr>
          <a:xfrm>
            <a:off x="2259012"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84" name="Connector 83"/>
          <p:cNvCxnSpPr/>
          <p:nvPr/>
        </p:nvCxnSpPr>
        <p:spPr>
          <a:xfrm>
            <a:off x="2309812" y="4445000"/>
            <a:ext cx="0" cy="431800"/>
          </a:xfrm>
          <a:prstGeom prst="line">
            <a:avLst/>
          </a:prstGeom>
          <a:ln w="5080">
            <a:solidFill>
              <a:srgbClr val="3E5A6E"/>
            </a:solidFill>
          </a:ln>
        </p:spPr>
      </p:cxnSp>
      <p:sp>
        <p:nvSpPr>
          <p:cNvPr id="85" name="TextBox 84"/>
          <p:cNvSpPr txBox="1"/>
          <p:nvPr/>
        </p:nvSpPr>
        <p:spPr>
          <a:xfrm>
            <a:off x="1674812" y="4876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Agence urbaine</a:t>
            </a:r>
          </a:p>
        </p:txBody>
      </p:sp>
      <p:sp>
        <p:nvSpPr>
          <p:cNvPr id="86" name="TextBox 85"/>
          <p:cNvSpPr txBox="1"/>
          <p:nvPr/>
        </p:nvSpPr>
        <p:spPr>
          <a:xfrm>
            <a:off x="1674812" y="5022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de Tanger</a:t>
            </a:r>
          </a:p>
        </p:txBody>
      </p:sp>
      <p:sp>
        <p:nvSpPr>
          <p:cNvPr id="87" name="Oval 86"/>
          <p:cNvSpPr/>
          <p:nvPr/>
        </p:nvSpPr>
        <p:spPr>
          <a:xfrm>
            <a:off x="7688262"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88" name="Connector 87"/>
          <p:cNvCxnSpPr/>
          <p:nvPr/>
        </p:nvCxnSpPr>
        <p:spPr>
          <a:xfrm>
            <a:off x="7739062" y="4445000"/>
            <a:ext cx="0" cy="50800"/>
          </a:xfrm>
          <a:prstGeom prst="line">
            <a:avLst/>
          </a:prstGeom>
          <a:ln w="5080">
            <a:solidFill>
              <a:srgbClr val="3E5A6E"/>
            </a:solidFill>
          </a:ln>
        </p:spPr>
      </p:cxnSp>
      <p:sp>
        <p:nvSpPr>
          <p:cNvPr id="89" name="TextBox 88"/>
          <p:cNvSpPr txBox="1"/>
          <p:nvPr/>
        </p:nvSpPr>
        <p:spPr>
          <a:xfrm>
            <a:off x="7104062" y="4495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Loi 81-12</a:t>
            </a:r>
          </a:p>
        </p:txBody>
      </p:sp>
      <p:sp>
        <p:nvSpPr>
          <p:cNvPr id="90" name="TextBox 89"/>
          <p:cNvSpPr txBox="1"/>
          <p:nvPr/>
        </p:nvSpPr>
        <p:spPr>
          <a:xfrm>
            <a:off x="7104062" y="4641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littoral, 100 m</a:t>
            </a:r>
          </a:p>
        </p:txBody>
      </p:sp>
      <p:sp>
        <p:nvSpPr>
          <p:cNvPr id="91" name="Oval 90"/>
          <p:cNvSpPr/>
          <p:nvPr/>
        </p:nvSpPr>
        <p:spPr>
          <a:xfrm>
            <a:off x="7959725"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92" name="Connector 91"/>
          <p:cNvCxnSpPr/>
          <p:nvPr/>
        </p:nvCxnSpPr>
        <p:spPr>
          <a:xfrm>
            <a:off x="8010525" y="4445000"/>
            <a:ext cx="0" cy="431800"/>
          </a:xfrm>
          <a:prstGeom prst="line">
            <a:avLst/>
          </a:prstGeom>
          <a:ln w="5080">
            <a:solidFill>
              <a:srgbClr val="3E5A6E"/>
            </a:solidFill>
          </a:ln>
        </p:spPr>
      </p:cxnSp>
      <p:sp>
        <p:nvSpPr>
          <p:cNvPr id="93" name="TextBox 92"/>
          <p:cNvSpPr txBox="1"/>
          <p:nvPr/>
        </p:nvSpPr>
        <p:spPr>
          <a:xfrm>
            <a:off x="7375525" y="4876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Loi 66-12</a:t>
            </a:r>
          </a:p>
        </p:txBody>
      </p:sp>
      <p:sp>
        <p:nvSpPr>
          <p:cNvPr id="94" name="TextBox 93"/>
          <p:cNvSpPr txBox="1"/>
          <p:nvPr/>
        </p:nvSpPr>
        <p:spPr>
          <a:xfrm>
            <a:off x="7375525" y="5022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infractions</a:t>
            </a:r>
          </a:p>
        </p:txBody>
      </p:sp>
      <p:sp>
        <p:nvSpPr>
          <p:cNvPr id="95" name="Oval 94"/>
          <p:cNvSpPr/>
          <p:nvPr/>
        </p:nvSpPr>
        <p:spPr>
          <a:xfrm>
            <a:off x="8774112"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96" name="Connector 95"/>
          <p:cNvCxnSpPr/>
          <p:nvPr/>
        </p:nvCxnSpPr>
        <p:spPr>
          <a:xfrm>
            <a:off x="8824912" y="4445000"/>
            <a:ext cx="0" cy="812800"/>
          </a:xfrm>
          <a:prstGeom prst="line">
            <a:avLst/>
          </a:prstGeom>
          <a:ln w="5080">
            <a:solidFill>
              <a:srgbClr val="3E5A6E"/>
            </a:solidFill>
          </a:ln>
        </p:spPr>
      </p:cxnSp>
      <p:sp>
        <p:nvSpPr>
          <p:cNvPr id="97" name="TextBox 96"/>
          <p:cNvSpPr txBox="1"/>
          <p:nvPr/>
        </p:nvSpPr>
        <p:spPr>
          <a:xfrm>
            <a:off x="8189912" y="5257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Règlement</a:t>
            </a:r>
          </a:p>
        </p:txBody>
      </p:sp>
      <p:sp>
        <p:nvSpPr>
          <p:cNvPr id="98" name="TextBox 97"/>
          <p:cNvSpPr txBox="1"/>
          <p:nvPr/>
        </p:nvSpPr>
        <p:spPr>
          <a:xfrm>
            <a:off x="8189912" y="5403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général de construction</a:t>
            </a:r>
          </a:p>
        </p:txBody>
      </p:sp>
      <p:sp>
        <p:nvSpPr>
          <p:cNvPr id="99" name="Oval 98"/>
          <p:cNvSpPr/>
          <p:nvPr/>
        </p:nvSpPr>
        <p:spPr>
          <a:xfrm>
            <a:off x="9317038"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100" name="Connector 99"/>
          <p:cNvCxnSpPr/>
          <p:nvPr/>
        </p:nvCxnSpPr>
        <p:spPr>
          <a:xfrm>
            <a:off x="9367838" y="4445000"/>
            <a:ext cx="0" cy="50800"/>
          </a:xfrm>
          <a:prstGeom prst="line">
            <a:avLst/>
          </a:prstGeom>
          <a:ln w="5080">
            <a:solidFill>
              <a:srgbClr val="3E5A6E"/>
            </a:solidFill>
          </a:ln>
        </p:spPr>
      </p:cxnSp>
      <p:sp>
        <p:nvSpPr>
          <p:cNvPr id="101" name="TextBox 100"/>
          <p:cNvSpPr txBox="1"/>
          <p:nvPr/>
        </p:nvSpPr>
        <p:spPr>
          <a:xfrm>
            <a:off x="8732838" y="4495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SRAT</a:t>
            </a:r>
          </a:p>
        </p:txBody>
      </p:sp>
      <p:sp>
        <p:nvSpPr>
          <p:cNvPr id="102" name="TextBox 101"/>
          <p:cNvSpPr txBox="1"/>
          <p:nvPr/>
        </p:nvSpPr>
        <p:spPr>
          <a:xfrm>
            <a:off x="8732838" y="4641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région TTA, 2021-2046</a:t>
            </a:r>
          </a:p>
        </p:txBody>
      </p:sp>
      <p:sp>
        <p:nvSpPr>
          <p:cNvPr id="103" name="Oval 102"/>
          <p:cNvSpPr/>
          <p:nvPr/>
        </p:nvSpPr>
        <p:spPr>
          <a:xfrm>
            <a:off x="9859962"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104" name="Connector 103"/>
          <p:cNvCxnSpPr/>
          <p:nvPr/>
        </p:nvCxnSpPr>
        <p:spPr>
          <a:xfrm>
            <a:off x="9910762" y="4445000"/>
            <a:ext cx="0" cy="431800"/>
          </a:xfrm>
          <a:prstGeom prst="line">
            <a:avLst/>
          </a:prstGeom>
          <a:ln w="5080">
            <a:solidFill>
              <a:srgbClr val="3E5A6E"/>
            </a:solidFill>
          </a:ln>
        </p:spPr>
      </p:cxnSp>
      <p:sp>
        <p:nvSpPr>
          <p:cNvPr id="105" name="TextBox 104"/>
          <p:cNvSpPr txBox="1"/>
          <p:nvPr/>
        </p:nvSpPr>
        <p:spPr>
          <a:xfrm>
            <a:off x="9275762" y="4876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PA 2023</a:t>
            </a:r>
          </a:p>
        </p:txBody>
      </p:sp>
      <p:sp>
        <p:nvSpPr>
          <p:cNvPr id="106" name="TextBox 105"/>
          <p:cNvSpPr txBox="1"/>
          <p:nvPr/>
        </p:nvSpPr>
        <p:spPr>
          <a:xfrm>
            <a:off x="9275762" y="5022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Mghogha, Souani, Bni Makada</a:t>
            </a:r>
          </a:p>
        </p:txBody>
      </p:sp>
      <p:sp>
        <p:nvSpPr>
          <p:cNvPr id="107" name="Oval 106"/>
          <p:cNvSpPr/>
          <p:nvPr/>
        </p:nvSpPr>
        <p:spPr>
          <a:xfrm>
            <a:off x="10402888" y="4330700"/>
            <a:ext cx="101600" cy="101600"/>
          </a:xfrm>
          <a:prstGeom prst="ellipse">
            <a:avLst/>
          </a:prstGeom>
          <a:solidFill>
            <a:srgbClr val="3E5A6E"/>
          </a:solidFill>
          <a:ln w="12700">
            <a:solidFill>
              <a:srgbClr val="FFFFFF"/>
            </a:solidFill>
          </a:ln>
        </p:spPr>
        <p:txBody>
          <a:bodyPr rtlCol="0" anchor="ctr"/>
          <a:lstStyle/>
          <a:p>
            <a:pPr algn="ctr"/>
          </a:p>
        </p:txBody>
      </p:sp>
      <p:cxnSp>
        <p:nvCxnSpPr>
          <p:cNvPr id="108" name="Connector 107"/>
          <p:cNvCxnSpPr/>
          <p:nvPr/>
        </p:nvCxnSpPr>
        <p:spPr>
          <a:xfrm>
            <a:off x="10453688" y="4445000"/>
            <a:ext cx="0" cy="812800"/>
          </a:xfrm>
          <a:prstGeom prst="line">
            <a:avLst/>
          </a:prstGeom>
          <a:ln w="5080">
            <a:solidFill>
              <a:srgbClr val="3E5A6E"/>
            </a:solidFill>
          </a:ln>
        </p:spPr>
      </p:cxnSp>
      <p:sp>
        <p:nvSpPr>
          <p:cNvPr id="109" name="TextBox 108"/>
          <p:cNvSpPr txBox="1"/>
          <p:nvPr/>
        </p:nvSpPr>
        <p:spPr>
          <a:xfrm>
            <a:off x="9818688" y="5257800"/>
            <a:ext cx="1270000" cy="165100"/>
          </a:xfrm>
          <a:prstGeom prst="rect">
            <a:avLst/>
          </a:prstGeom>
          <a:noFill/>
        </p:spPr>
        <p:txBody>
          <a:bodyPr wrap="square" lIns="0" rIns="0" tIns="0" bIns="0" anchor="t">
            <a:spAutoFit/>
          </a:bodyPr>
          <a:lstStyle/>
          <a:p>
            <a:pPr algn="ctr">
              <a:lnSpc>
                <a:spcPct val="120000"/>
              </a:lnSpc>
            </a:pPr>
            <a:r>
              <a:rPr sz="1000" b="1" i="0">
                <a:solidFill>
                  <a:srgbClr val="3E5A6E"/>
                </a:solidFill>
                <a:latin typeface="Barlow"/>
              </a:rPr>
              <a:t>Loi 22-24, SDAU</a:t>
            </a:r>
          </a:p>
        </p:txBody>
      </p:sp>
      <p:sp>
        <p:nvSpPr>
          <p:cNvPr id="110" name="TextBox 109"/>
          <p:cNvSpPr txBox="1"/>
          <p:nvPr/>
        </p:nvSpPr>
        <p:spPr>
          <a:xfrm>
            <a:off x="9818688" y="5403850"/>
            <a:ext cx="1270000" cy="165100"/>
          </a:xfrm>
          <a:prstGeom prst="rect">
            <a:avLst/>
          </a:prstGeom>
          <a:noFill/>
        </p:spPr>
        <p:txBody>
          <a:bodyPr wrap="square" lIns="0" rIns="0" tIns="0" bIns="0" anchor="t">
            <a:spAutoFit/>
          </a:bodyPr>
          <a:lstStyle/>
          <a:p>
            <a:pPr algn="ctr">
              <a:lnSpc>
                <a:spcPct val="120000"/>
              </a:lnSpc>
            </a:pPr>
            <a:r>
              <a:rPr sz="850" b="0" i="0">
                <a:solidFill>
                  <a:srgbClr val="7B746B"/>
                </a:solidFill>
                <a:latin typeface="Barlow"/>
              </a:rPr>
              <a:t>dérogations ; nouveau SDAU</a:t>
            </a:r>
          </a:p>
        </p:txBody>
      </p:sp>
      <p:sp>
        <p:nvSpPr>
          <p:cNvPr id="111" name="Rectangle 110"/>
          <p:cNvSpPr/>
          <p:nvPr/>
        </p:nvSpPr>
        <p:spPr>
          <a:xfrm>
            <a:off x="254000" y="5765800"/>
            <a:ext cx="3778250" cy="635000"/>
          </a:xfrm>
          <a:prstGeom prst="rect">
            <a:avLst/>
          </a:prstGeom>
          <a:solidFill>
            <a:srgbClr val="F8F5EF"/>
          </a:solidFill>
          <a:ln w="6350">
            <a:solidFill>
              <a:srgbClr val="CFC6B8"/>
            </a:solidFill>
          </a:ln>
        </p:spPr>
        <p:txBody>
          <a:bodyPr rtlCol="0" anchor="ctr"/>
          <a:lstStyle/>
          <a:p>
            <a:pPr algn="ctr"/>
          </a:p>
        </p:txBody>
      </p:sp>
      <p:sp>
        <p:nvSpPr>
          <p:cNvPr id="112" name="Rectangle 111"/>
          <p:cNvSpPr/>
          <p:nvPr/>
        </p:nvSpPr>
        <p:spPr>
          <a:xfrm>
            <a:off x="254000" y="5765800"/>
            <a:ext cx="38100" cy="635000"/>
          </a:xfrm>
          <a:prstGeom prst="rect">
            <a:avLst/>
          </a:prstGeom>
          <a:solidFill>
            <a:srgbClr val="B5563C"/>
          </a:solidFill>
          <a:ln>
            <a:noFill/>
          </a:ln>
        </p:spPr>
        <p:txBody>
          <a:bodyPr rtlCol="0" anchor="ctr"/>
          <a:lstStyle/>
          <a:p>
            <a:pPr algn="ctr"/>
          </a:p>
        </p:txBody>
      </p:sp>
      <p:sp>
        <p:nvSpPr>
          <p:cNvPr id="113" name="TextBox 112"/>
          <p:cNvSpPr txBox="1"/>
          <p:nvPr/>
        </p:nvSpPr>
        <p:spPr>
          <a:xfrm>
            <a:off x="419100" y="5829300"/>
            <a:ext cx="3429000" cy="165100"/>
          </a:xfrm>
          <a:prstGeom prst="rect">
            <a:avLst/>
          </a:prstGeom>
          <a:noFill/>
        </p:spPr>
        <p:txBody>
          <a:bodyPr wrap="square" lIns="0" rIns="0" tIns="0" bIns="0" anchor="t">
            <a:spAutoFit/>
          </a:bodyPr>
          <a:lstStyle/>
          <a:p>
            <a:pPr algn="l">
              <a:lnSpc>
                <a:spcPct val="120000"/>
              </a:lnSpc>
            </a:pPr>
            <a:r>
              <a:rPr sz="1200" b="1" i="0" spc="300">
                <a:solidFill>
                  <a:srgbClr val="B5563C"/>
                </a:solidFill>
                <a:latin typeface="Barlow Condensed"/>
              </a:rPr>
              <a:t>VITESSE</a:t>
            </a:r>
          </a:p>
        </p:txBody>
      </p:sp>
      <p:sp>
        <p:nvSpPr>
          <p:cNvPr id="114" name="TextBox 113"/>
          <p:cNvSpPr txBox="1"/>
          <p:nvPr/>
        </p:nvSpPr>
        <p:spPr>
          <a:xfrm>
            <a:off x="419100" y="6007100"/>
            <a:ext cx="3492500" cy="381000"/>
          </a:xfrm>
          <a:prstGeom prst="rect">
            <a:avLst/>
          </a:prstGeom>
          <a:noFill/>
        </p:spPr>
        <p:txBody>
          <a:bodyPr wrap="square" lIns="0" rIns="0" tIns="0" bIns="0" anchor="t">
            <a:spAutoFit/>
          </a:bodyPr>
          <a:lstStyle/>
          <a:p>
            <a:pPr algn="l">
              <a:lnSpc>
                <a:spcPct val="125000"/>
              </a:lnSpc>
            </a:pPr>
            <a:r>
              <a:rPr sz="1000" b="0" i="0">
                <a:solidFill>
                  <a:srgbClr val="23303A"/>
                </a:solidFill>
                <a:latin typeface="Barlow"/>
              </a:rPr>
              <a:t>Un projet d'exception passe du lancement à l'inauguration en 2 à 5 ans ; un plan d'aménagement attend 7 ans son successeur.</a:t>
            </a:r>
          </a:p>
        </p:txBody>
      </p:sp>
      <p:sp>
        <p:nvSpPr>
          <p:cNvPr id="115" name="Rectangle 114"/>
          <p:cNvSpPr/>
          <p:nvPr/>
        </p:nvSpPr>
        <p:spPr>
          <a:xfrm>
            <a:off x="4222750" y="5765800"/>
            <a:ext cx="3778250" cy="635000"/>
          </a:xfrm>
          <a:prstGeom prst="rect">
            <a:avLst/>
          </a:prstGeom>
          <a:solidFill>
            <a:srgbClr val="F8F5EF"/>
          </a:solidFill>
          <a:ln w="6350">
            <a:solidFill>
              <a:srgbClr val="CFC6B8"/>
            </a:solidFill>
          </a:ln>
        </p:spPr>
        <p:txBody>
          <a:bodyPr rtlCol="0" anchor="ctr"/>
          <a:lstStyle/>
          <a:p>
            <a:pPr algn="ctr"/>
          </a:p>
        </p:txBody>
      </p:sp>
      <p:sp>
        <p:nvSpPr>
          <p:cNvPr id="116" name="Rectangle 115"/>
          <p:cNvSpPr/>
          <p:nvPr/>
        </p:nvSpPr>
        <p:spPr>
          <a:xfrm>
            <a:off x="4222750" y="5765800"/>
            <a:ext cx="38100" cy="635000"/>
          </a:xfrm>
          <a:prstGeom prst="rect">
            <a:avLst/>
          </a:prstGeom>
          <a:solidFill>
            <a:srgbClr val="B5563C"/>
          </a:solidFill>
          <a:ln>
            <a:noFill/>
          </a:ln>
        </p:spPr>
        <p:txBody>
          <a:bodyPr rtlCol="0" anchor="ctr"/>
          <a:lstStyle/>
          <a:p>
            <a:pPr algn="ctr"/>
          </a:p>
        </p:txBody>
      </p:sp>
      <p:sp>
        <p:nvSpPr>
          <p:cNvPr id="117" name="TextBox 116"/>
          <p:cNvSpPr txBox="1"/>
          <p:nvPr/>
        </p:nvSpPr>
        <p:spPr>
          <a:xfrm>
            <a:off x="4387850" y="5829300"/>
            <a:ext cx="3429000" cy="165100"/>
          </a:xfrm>
          <a:prstGeom prst="rect">
            <a:avLst/>
          </a:prstGeom>
          <a:noFill/>
        </p:spPr>
        <p:txBody>
          <a:bodyPr wrap="square" lIns="0" rIns="0" tIns="0" bIns="0" anchor="t">
            <a:spAutoFit/>
          </a:bodyPr>
          <a:lstStyle/>
          <a:p>
            <a:pPr algn="l">
              <a:lnSpc>
                <a:spcPct val="120000"/>
              </a:lnSpc>
            </a:pPr>
            <a:r>
              <a:rPr sz="1200" b="1" i="0" spc="300">
                <a:solidFill>
                  <a:srgbClr val="B5563C"/>
                </a:solidFill>
                <a:latin typeface="Barlow Condensed"/>
              </a:rPr>
              <a:t>GÉOGRAPHIE</a:t>
            </a:r>
          </a:p>
        </p:txBody>
      </p:sp>
      <p:sp>
        <p:nvSpPr>
          <p:cNvPr id="118" name="TextBox 117"/>
          <p:cNvSpPr txBox="1"/>
          <p:nvPr/>
        </p:nvSpPr>
        <p:spPr>
          <a:xfrm>
            <a:off x="4387850" y="6007100"/>
            <a:ext cx="3492500" cy="381000"/>
          </a:xfrm>
          <a:prstGeom prst="rect">
            <a:avLst/>
          </a:prstGeom>
          <a:noFill/>
        </p:spPr>
        <p:txBody>
          <a:bodyPr wrap="square" lIns="0" rIns="0" tIns="0" bIns="0" anchor="t">
            <a:spAutoFit/>
          </a:bodyPr>
          <a:lstStyle/>
          <a:p>
            <a:pPr algn="l">
              <a:lnSpc>
                <a:spcPct val="125000"/>
              </a:lnSpc>
            </a:pPr>
            <a:r>
              <a:rPr sz="1000" b="0" i="0">
                <a:solidFill>
                  <a:srgbClr val="23303A"/>
                </a:solidFill>
                <a:latin typeface="Barlow"/>
              </a:rPr>
              <a:t>L'exception se concentre sur le littoral, la médina, le port et le stade : les lieux que l'on montre.</a:t>
            </a:r>
          </a:p>
        </p:txBody>
      </p:sp>
      <p:sp>
        <p:nvSpPr>
          <p:cNvPr id="119" name="Rectangle 118"/>
          <p:cNvSpPr/>
          <p:nvPr/>
        </p:nvSpPr>
        <p:spPr>
          <a:xfrm>
            <a:off x="8191500" y="5765800"/>
            <a:ext cx="3778250" cy="635000"/>
          </a:xfrm>
          <a:prstGeom prst="rect">
            <a:avLst/>
          </a:prstGeom>
          <a:solidFill>
            <a:srgbClr val="F8F5EF"/>
          </a:solidFill>
          <a:ln w="6350">
            <a:solidFill>
              <a:srgbClr val="CFC6B8"/>
            </a:solidFill>
          </a:ln>
        </p:spPr>
        <p:txBody>
          <a:bodyPr rtlCol="0" anchor="ctr"/>
          <a:lstStyle/>
          <a:p>
            <a:pPr algn="ctr"/>
          </a:p>
        </p:txBody>
      </p:sp>
      <p:sp>
        <p:nvSpPr>
          <p:cNvPr id="120" name="Rectangle 119"/>
          <p:cNvSpPr/>
          <p:nvPr/>
        </p:nvSpPr>
        <p:spPr>
          <a:xfrm>
            <a:off x="8191500" y="5765800"/>
            <a:ext cx="38100" cy="635000"/>
          </a:xfrm>
          <a:prstGeom prst="rect">
            <a:avLst/>
          </a:prstGeom>
          <a:solidFill>
            <a:srgbClr val="B5563C"/>
          </a:solidFill>
          <a:ln>
            <a:noFill/>
          </a:ln>
        </p:spPr>
        <p:txBody>
          <a:bodyPr rtlCol="0" anchor="ctr"/>
          <a:lstStyle/>
          <a:p>
            <a:pPr algn="ctr"/>
          </a:p>
        </p:txBody>
      </p:sp>
      <p:sp>
        <p:nvSpPr>
          <p:cNvPr id="121" name="TextBox 120"/>
          <p:cNvSpPr txBox="1"/>
          <p:nvPr/>
        </p:nvSpPr>
        <p:spPr>
          <a:xfrm>
            <a:off x="8356600" y="5829300"/>
            <a:ext cx="3429000" cy="165100"/>
          </a:xfrm>
          <a:prstGeom prst="rect">
            <a:avLst/>
          </a:prstGeom>
          <a:noFill/>
        </p:spPr>
        <p:txBody>
          <a:bodyPr wrap="square" lIns="0" rIns="0" tIns="0" bIns="0" anchor="t">
            <a:spAutoFit/>
          </a:bodyPr>
          <a:lstStyle/>
          <a:p>
            <a:pPr algn="l">
              <a:lnSpc>
                <a:spcPct val="120000"/>
              </a:lnSpc>
            </a:pPr>
            <a:r>
              <a:rPr sz="1200" b="1" i="0" spc="300">
                <a:solidFill>
                  <a:srgbClr val="B5563C"/>
                </a:solidFill>
                <a:latin typeface="Barlow Condensed"/>
              </a:rPr>
              <a:t>INSTRUMENT</a:t>
            </a:r>
          </a:p>
        </p:txBody>
      </p:sp>
      <p:sp>
        <p:nvSpPr>
          <p:cNvPr id="122" name="TextBox 121"/>
          <p:cNvSpPr txBox="1"/>
          <p:nvPr/>
        </p:nvSpPr>
        <p:spPr>
          <a:xfrm>
            <a:off x="8356600" y="6007100"/>
            <a:ext cx="3492500" cy="381000"/>
          </a:xfrm>
          <a:prstGeom prst="rect">
            <a:avLst/>
          </a:prstGeom>
          <a:noFill/>
        </p:spPr>
        <p:txBody>
          <a:bodyPr wrap="square" lIns="0" rIns="0" tIns="0" bIns="0" anchor="t">
            <a:spAutoFit/>
          </a:bodyPr>
          <a:lstStyle/>
          <a:p>
            <a:pPr algn="l">
              <a:lnSpc>
                <a:spcPct val="125000"/>
              </a:lnSpc>
            </a:pPr>
            <a:r>
              <a:rPr sz="1000" b="0" i="0">
                <a:solidFill>
                  <a:srgbClr val="23303A"/>
                </a:solidFill>
                <a:latin typeface="Barlow"/>
              </a:rPr>
              <a:t>La dérogation, pensée comme exception, devient un mode de gestion : la réforme de 2025 la garde pour l'hôtellerie.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UNE RÈGLE À DEUX VITESSES</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Mêmes lois, deux traitements : la vitrine reçoit l'exception et l'investissement ; la ville vécue reçoit la règle, tardive et répressive.</a:t>
            </a:r>
          </a:p>
        </p:txBody>
      </p:sp>
      <p:pic>
        <p:nvPicPr>
          <p:cNvPr id="5" name="Picture 4" descr="nc_sk_cervantes.png"/>
          <p:cNvPicPr>
            <a:picLocks noChangeAspect="1"/>
          </p:cNvPicPr>
          <p:nvPr/>
        </p:nvPicPr>
        <p:blipFill>
          <a:blip r:embed="rId2"/>
          <a:stretch>
            <a:fillRect/>
          </a:stretch>
        </p:blipFill>
        <p:spPr>
          <a:xfrm>
            <a:off x="10985500" y="164399"/>
            <a:ext cx="952500" cy="661802"/>
          </a:xfrm>
          <a:prstGeom prst="rect">
            <a:avLst/>
          </a:prstGeom>
        </p:spPr>
      </p:pic>
      <p:sp>
        <p:nvSpPr>
          <p:cNvPr id="6" name="TextBox 5"/>
          <p:cNvSpPr txBox="1"/>
          <p:nvPr/>
        </p:nvSpPr>
        <p:spPr>
          <a:xfrm>
            <a:off x="97345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0,17 m²</a:t>
            </a:r>
          </a:p>
        </p:txBody>
      </p:sp>
      <p:sp>
        <p:nvSpPr>
          <p:cNvPr id="7" name="TextBox 6"/>
          <p:cNvSpPr txBox="1"/>
          <p:nvPr/>
        </p:nvSpPr>
        <p:spPr>
          <a:xfrm>
            <a:off x="97345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parc par habitant</a:t>
            </a:r>
          </a:p>
          <a:p>
            <a:pPr algn="r">
              <a:lnSpc>
                <a:spcPct val="110000"/>
              </a:lnSpc>
            </a:pPr>
            <a:r>
              <a:rPr sz="850" b="0" i="0">
                <a:solidFill>
                  <a:srgbClr val="7B746B"/>
                </a:solidFill>
                <a:latin typeface="Barlow"/>
              </a:rPr>
              <a:t>à Beni Makada</a:t>
            </a:r>
          </a:p>
        </p:txBody>
      </p:sp>
      <p:sp>
        <p:nvSpPr>
          <p:cNvPr id="8" name="TextBox 7"/>
          <p:cNvSpPr txBox="1"/>
          <p:nvPr/>
        </p:nvSpPr>
        <p:spPr>
          <a:xfrm>
            <a:off x="86550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7,6 Md</a:t>
            </a:r>
          </a:p>
        </p:txBody>
      </p:sp>
      <p:sp>
        <p:nvSpPr>
          <p:cNvPr id="9" name="TextBox 8"/>
          <p:cNvSpPr txBox="1"/>
          <p:nvPr/>
        </p:nvSpPr>
        <p:spPr>
          <a:xfrm>
            <a:off x="86550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pour</a:t>
            </a:r>
          </a:p>
          <a:p>
            <a:pPr algn="r">
              <a:lnSpc>
                <a:spcPct val="110000"/>
              </a:lnSpc>
            </a:pPr>
            <a:r>
              <a:rPr sz="850" b="0" i="0">
                <a:solidFill>
                  <a:srgbClr val="7B746B"/>
                </a:solidFill>
                <a:latin typeface="Barlow"/>
              </a:rPr>
              <a:t>la vitrine (2013)</a:t>
            </a:r>
          </a:p>
        </p:txBody>
      </p:sp>
      <p:cxnSp>
        <p:nvCxnSpPr>
          <p:cNvPr id="10" name="Connector 9"/>
          <p:cNvCxnSpPr/>
          <p:nvPr/>
        </p:nvCxnSpPr>
        <p:spPr>
          <a:xfrm>
            <a:off x="254000" y="6578600"/>
            <a:ext cx="11684000" cy="0"/>
          </a:xfrm>
          <a:prstGeom prst="line">
            <a:avLst/>
          </a:prstGeom>
          <a:ln w="6350">
            <a:solidFill>
              <a:srgbClr val="CFC6B8"/>
            </a:solidFill>
          </a:ln>
        </p:spPr>
      </p:cxnSp>
      <p:sp>
        <p:nvSpPr>
          <p:cNvPr id="11" name="TextBox 10"/>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2" name="TextBox 11"/>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06 / 32</a:t>
            </a:r>
          </a:p>
        </p:txBody>
      </p:sp>
      <p:sp>
        <p:nvSpPr>
          <p:cNvPr id="13" name="Rectangle 12"/>
          <p:cNvSpPr/>
          <p:nvPr/>
        </p:nvSpPr>
        <p:spPr>
          <a:xfrm>
            <a:off x="2540000" y="990600"/>
            <a:ext cx="4635500" cy="609600"/>
          </a:xfrm>
          <a:prstGeom prst="rect">
            <a:avLst/>
          </a:prstGeom>
          <a:solidFill>
            <a:srgbClr val="B5563C"/>
          </a:solidFill>
          <a:ln>
            <a:noFill/>
          </a:ln>
        </p:spPr>
        <p:txBody>
          <a:bodyPr rtlCol="0" anchor="ctr"/>
          <a:lstStyle/>
          <a:p>
            <a:pPr algn="ctr"/>
          </a:p>
        </p:txBody>
      </p:sp>
      <p:sp>
        <p:nvSpPr>
          <p:cNvPr id="14" name="TextBox 13"/>
          <p:cNvSpPr txBox="1"/>
          <p:nvPr/>
        </p:nvSpPr>
        <p:spPr>
          <a:xfrm>
            <a:off x="2705100" y="1041400"/>
            <a:ext cx="4318000" cy="215900"/>
          </a:xfrm>
          <a:prstGeom prst="rect">
            <a:avLst/>
          </a:prstGeom>
          <a:noFill/>
        </p:spPr>
        <p:txBody>
          <a:bodyPr wrap="square" lIns="0" rIns="0" tIns="0" bIns="0" anchor="t">
            <a:spAutoFit/>
          </a:bodyPr>
          <a:lstStyle/>
          <a:p>
            <a:pPr algn="l">
              <a:lnSpc>
                <a:spcPct val="120000"/>
              </a:lnSpc>
            </a:pPr>
            <a:r>
              <a:rPr sz="2000" b="1" i="0" spc="300">
                <a:solidFill>
                  <a:srgbClr val="FFFFFF"/>
                </a:solidFill>
                <a:latin typeface="Barlow Condensed"/>
              </a:rPr>
              <a:t>LA VILLE MONTRÉE</a:t>
            </a:r>
          </a:p>
        </p:txBody>
      </p:sp>
      <p:sp>
        <p:nvSpPr>
          <p:cNvPr id="15" name="TextBox 14"/>
          <p:cNvSpPr txBox="1"/>
          <p:nvPr/>
        </p:nvSpPr>
        <p:spPr>
          <a:xfrm>
            <a:off x="2705100" y="1358900"/>
            <a:ext cx="4318000" cy="152400"/>
          </a:xfrm>
          <a:prstGeom prst="rect">
            <a:avLst/>
          </a:prstGeom>
          <a:noFill/>
        </p:spPr>
        <p:txBody>
          <a:bodyPr wrap="square" lIns="0" rIns="0" tIns="0" bIns="0" anchor="t">
            <a:spAutoFit/>
          </a:bodyPr>
          <a:lstStyle/>
          <a:p>
            <a:pPr algn="l">
              <a:lnSpc>
                <a:spcPct val="120000"/>
              </a:lnSpc>
            </a:pPr>
            <a:r>
              <a:rPr sz="1100" b="0" i="0">
                <a:solidFill>
                  <a:srgbClr val="EDEDED"/>
                </a:solidFill>
                <a:latin typeface="Barlow"/>
              </a:rPr>
              <a:t>littoral, médina, port, stade</a:t>
            </a:r>
          </a:p>
        </p:txBody>
      </p:sp>
      <p:sp>
        <p:nvSpPr>
          <p:cNvPr id="16" name="Rectangle 15"/>
          <p:cNvSpPr/>
          <p:nvPr/>
        </p:nvSpPr>
        <p:spPr>
          <a:xfrm>
            <a:off x="7302500" y="990600"/>
            <a:ext cx="4635500" cy="609600"/>
          </a:xfrm>
          <a:prstGeom prst="rect">
            <a:avLst/>
          </a:prstGeom>
          <a:solidFill>
            <a:srgbClr val="3E5A6E"/>
          </a:solidFill>
          <a:ln>
            <a:noFill/>
          </a:ln>
        </p:spPr>
        <p:txBody>
          <a:bodyPr rtlCol="0" anchor="ctr"/>
          <a:lstStyle/>
          <a:p>
            <a:pPr algn="ctr"/>
          </a:p>
        </p:txBody>
      </p:sp>
      <p:sp>
        <p:nvSpPr>
          <p:cNvPr id="17" name="TextBox 16"/>
          <p:cNvSpPr txBox="1"/>
          <p:nvPr/>
        </p:nvSpPr>
        <p:spPr>
          <a:xfrm>
            <a:off x="7467600" y="1041400"/>
            <a:ext cx="4318000" cy="215900"/>
          </a:xfrm>
          <a:prstGeom prst="rect">
            <a:avLst/>
          </a:prstGeom>
          <a:noFill/>
        </p:spPr>
        <p:txBody>
          <a:bodyPr wrap="square" lIns="0" rIns="0" tIns="0" bIns="0" anchor="t">
            <a:spAutoFit/>
          </a:bodyPr>
          <a:lstStyle/>
          <a:p>
            <a:pPr algn="l">
              <a:lnSpc>
                <a:spcPct val="120000"/>
              </a:lnSpc>
            </a:pPr>
            <a:r>
              <a:rPr sz="2000" b="1" i="0" spc="300">
                <a:solidFill>
                  <a:srgbClr val="FFFFFF"/>
                </a:solidFill>
                <a:latin typeface="Barlow Condensed"/>
              </a:rPr>
              <a:t>LA VILLE VÉCUE</a:t>
            </a:r>
          </a:p>
        </p:txBody>
      </p:sp>
      <p:sp>
        <p:nvSpPr>
          <p:cNvPr id="18" name="TextBox 17"/>
          <p:cNvSpPr txBox="1"/>
          <p:nvPr/>
        </p:nvSpPr>
        <p:spPr>
          <a:xfrm>
            <a:off x="7467600" y="1358900"/>
            <a:ext cx="4318000" cy="152400"/>
          </a:xfrm>
          <a:prstGeom prst="rect">
            <a:avLst/>
          </a:prstGeom>
          <a:noFill/>
        </p:spPr>
        <p:txBody>
          <a:bodyPr wrap="square" lIns="0" rIns="0" tIns="0" bIns="0" anchor="t">
            <a:spAutoFit/>
          </a:bodyPr>
          <a:lstStyle/>
          <a:p>
            <a:pPr algn="l">
              <a:lnSpc>
                <a:spcPct val="120000"/>
              </a:lnSpc>
            </a:pPr>
            <a:r>
              <a:rPr sz="1100" b="0" i="0">
                <a:solidFill>
                  <a:srgbClr val="EDEDED"/>
                </a:solidFill>
                <a:latin typeface="Barlow"/>
              </a:rPr>
              <a:t>Beni Makada, Mghogha, périphéries</a:t>
            </a:r>
          </a:p>
        </p:txBody>
      </p:sp>
      <p:cxnSp>
        <p:nvCxnSpPr>
          <p:cNvPr id="19" name="Connector 18"/>
          <p:cNvCxnSpPr/>
          <p:nvPr/>
        </p:nvCxnSpPr>
        <p:spPr>
          <a:xfrm>
            <a:off x="254000" y="1663700"/>
            <a:ext cx="11684000" cy="0"/>
          </a:xfrm>
          <a:prstGeom prst="line">
            <a:avLst/>
          </a:prstGeom>
          <a:ln w="6350">
            <a:solidFill>
              <a:srgbClr val="CFC6B8"/>
            </a:solidFill>
          </a:ln>
        </p:spPr>
      </p:cxnSp>
      <p:sp>
        <p:nvSpPr>
          <p:cNvPr id="20" name="TextBox 19"/>
          <p:cNvSpPr txBox="1"/>
          <p:nvPr/>
        </p:nvSpPr>
        <p:spPr>
          <a:xfrm>
            <a:off x="254000" y="17780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OUTILS</a:t>
            </a:r>
          </a:p>
        </p:txBody>
      </p:sp>
      <p:sp>
        <p:nvSpPr>
          <p:cNvPr id="21" name="TextBox 20"/>
          <p:cNvSpPr txBox="1"/>
          <p:nvPr/>
        </p:nvSpPr>
        <p:spPr>
          <a:xfrm>
            <a:off x="2705100" y="17653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Programmes royaux, sociétés dédiées (SAPT), conventions de financement</a:t>
            </a:r>
          </a:p>
        </p:txBody>
      </p:sp>
      <p:sp>
        <p:nvSpPr>
          <p:cNvPr id="22" name="TextBox 21"/>
          <p:cNvSpPr txBox="1"/>
          <p:nvPr/>
        </p:nvSpPr>
        <p:spPr>
          <a:xfrm>
            <a:off x="7467600" y="17653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Plan d'aménagement, contrôle des infractions (loi 66-12), démolitions</a:t>
            </a:r>
          </a:p>
        </p:txBody>
      </p:sp>
      <p:cxnSp>
        <p:nvCxnSpPr>
          <p:cNvPr id="23" name="Connector 22"/>
          <p:cNvCxnSpPr/>
          <p:nvPr/>
        </p:nvCxnSpPr>
        <p:spPr>
          <a:xfrm>
            <a:off x="254000" y="2324100"/>
            <a:ext cx="11684000" cy="0"/>
          </a:xfrm>
          <a:prstGeom prst="line">
            <a:avLst/>
          </a:prstGeom>
          <a:ln w="6350">
            <a:solidFill>
              <a:srgbClr val="CFC6B8"/>
            </a:solidFill>
          </a:ln>
        </p:spPr>
      </p:cxnSp>
      <p:sp>
        <p:nvSpPr>
          <p:cNvPr id="24" name="TextBox 23"/>
          <p:cNvSpPr txBox="1"/>
          <p:nvPr/>
        </p:nvSpPr>
        <p:spPr>
          <a:xfrm>
            <a:off x="254000" y="24384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CALENDRIER</a:t>
            </a:r>
          </a:p>
        </p:txBody>
      </p:sp>
      <p:sp>
        <p:nvSpPr>
          <p:cNvPr id="25" name="TextBox 24"/>
          <p:cNvSpPr txBox="1"/>
          <p:nvPr/>
        </p:nvSpPr>
        <p:spPr>
          <a:xfrm>
            <a:off x="2705100" y="24257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2 à 5 ans du lancement à l'inauguration</a:t>
            </a:r>
          </a:p>
        </p:txBody>
      </p:sp>
      <p:sp>
        <p:nvSpPr>
          <p:cNvPr id="26" name="TextBox 25"/>
          <p:cNvSpPr txBox="1"/>
          <p:nvPr/>
        </p:nvSpPr>
        <p:spPr>
          <a:xfrm>
            <a:off x="7467600" y="24257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PA de Bni Makada homologué en 2023, après des décennies de croissance</a:t>
            </a:r>
          </a:p>
        </p:txBody>
      </p:sp>
      <p:cxnSp>
        <p:nvCxnSpPr>
          <p:cNvPr id="27" name="Connector 26"/>
          <p:cNvCxnSpPr/>
          <p:nvPr/>
        </p:nvCxnSpPr>
        <p:spPr>
          <a:xfrm>
            <a:off x="254000" y="2984500"/>
            <a:ext cx="11684000" cy="0"/>
          </a:xfrm>
          <a:prstGeom prst="line">
            <a:avLst/>
          </a:prstGeom>
          <a:ln w="6350">
            <a:solidFill>
              <a:srgbClr val="CFC6B8"/>
            </a:solidFill>
          </a:ln>
        </p:spPr>
      </p:cxnSp>
      <p:sp>
        <p:nvSpPr>
          <p:cNvPr id="28" name="TextBox 27"/>
          <p:cNvSpPr txBox="1"/>
          <p:nvPr/>
        </p:nvSpPr>
        <p:spPr>
          <a:xfrm>
            <a:off x="254000" y="30988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RAPPORT À LA RÈGLE</a:t>
            </a:r>
          </a:p>
        </p:txBody>
      </p:sp>
      <p:sp>
        <p:nvSpPr>
          <p:cNvPr id="29" name="TextBox 28"/>
          <p:cNvSpPr txBox="1"/>
          <p:nvPr/>
        </p:nvSpPr>
        <p:spPr>
          <a:xfrm>
            <a:off x="2705100" y="30861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Projets réalisés avant les plans ; dérogations possibles pour l'hôtellerie</a:t>
            </a:r>
          </a:p>
        </p:txBody>
      </p:sp>
      <p:sp>
        <p:nvSpPr>
          <p:cNvPr id="30" name="TextBox 29"/>
          <p:cNvSpPr txBox="1"/>
          <p:nvPr/>
        </p:nvSpPr>
        <p:spPr>
          <a:xfrm>
            <a:off x="7467600" y="30861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Règle appliquée après coup : régularisations, amendes, démolitions</a:t>
            </a:r>
          </a:p>
        </p:txBody>
      </p:sp>
      <p:cxnSp>
        <p:nvCxnSpPr>
          <p:cNvPr id="31" name="Connector 30"/>
          <p:cNvCxnSpPr/>
          <p:nvPr/>
        </p:nvCxnSpPr>
        <p:spPr>
          <a:xfrm>
            <a:off x="254000" y="3644900"/>
            <a:ext cx="11684000" cy="0"/>
          </a:xfrm>
          <a:prstGeom prst="line">
            <a:avLst/>
          </a:prstGeom>
          <a:ln w="6350">
            <a:solidFill>
              <a:srgbClr val="CFC6B8"/>
            </a:solidFill>
          </a:ln>
        </p:spPr>
      </p:cxnSp>
      <p:sp>
        <p:nvSpPr>
          <p:cNvPr id="32" name="TextBox 31"/>
          <p:cNvSpPr txBox="1"/>
          <p:nvPr/>
        </p:nvSpPr>
        <p:spPr>
          <a:xfrm>
            <a:off x="254000" y="37592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ARGENT PUBLIC</a:t>
            </a:r>
          </a:p>
        </p:txBody>
      </p:sp>
      <p:sp>
        <p:nvSpPr>
          <p:cNvPr id="33" name="TextBox 32"/>
          <p:cNvSpPr txBox="1"/>
          <p:nvPr/>
        </p:nvSpPr>
        <p:spPr>
          <a:xfrm>
            <a:off x="2705100" y="37465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Milliards de MAD : corniche, port, médina, stade</a:t>
            </a:r>
          </a:p>
        </p:txBody>
      </p:sp>
      <p:sp>
        <p:nvSpPr>
          <p:cNvPr id="34" name="TextBox 33"/>
          <p:cNvSpPr txBox="1"/>
          <p:nvPr/>
        </p:nvSpPr>
        <p:spPr>
          <a:xfrm>
            <a:off x="7467600" y="37465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Équipements en attente : écoles, santé, parcs, transports</a:t>
            </a:r>
          </a:p>
        </p:txBody>
      </p:sp>
      <p:cxnSp>
        <p:nvCxnSpPr>
          <p:cNvPr id="35" name="Connector 34"/>
          <p:cNvCxnSpPr/>
          <p:nvPr/>
        </p:nvCxnSpPr>
        <p:spPr>
          <a:xfrm>
            <a:off x="254000" y="4305300"/>
            <a:ext cx="11684000" cy="0"/>
          </a:xfrm>
          <a:prstGeom prst="line">
            <a:avLst/>
          </a:prstGeom>
          <a:ln w="6350">
            <a:solidFill>
              <a:srgbClr val="CFC6B8"/>
            </a:solidFill>
          </a:ln>
        </p:spPr>
      </p:cxnSp>
      <p:sp>
        <p:nvSpPr>
          <p:cNvPr id="36" name="TextBox 35"/>
          <p:cNvSpPr txBox="1"/>
          <p:nvPr/>
        </p:nvSpPr>
        <p:spPr>
          <a:xfrm>
            <a:off x="254000" y="44196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CONTRÔLE</a:t>
            </a:r>
          </a:p>
        </p:txBody>
      </p:sp>
      <p:sp>
        <p:nvSpPr>
          <p:cNvPr id="37" name="TextBox 36"/>
          <p:cNvSpPr txBox="1"/>
          <p:nvPr/>
        </p:nvSpPr>
        <p:spPr>
          <a:xfrm>
            <a:off x="2705100" y="44069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Visibilité nationale et internationale</a:t>
            </a:r>
          </a:p>
        </p:txBody>
      </p:sp>
      <p:sp>
        <p:nvSpPr>
          <p:cNvPr id="38" name="TextBox 37"/>
          <p:cNvSpPr txBox="1"/>
          <p:nvPr/>
        </p:nvSpPr>
        <p:spPr>
          <a:xfrm>
            <a:off x="7467600" y="44069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Cour des comptes (2014) : conformité des constructions non contrôlée</a:t>
            </a:r>
          </a:p>
        </p:txBody>
      </p:sp>
      <p:cxnSp>
        <p:nvCxnSpPr>
          <p:cNvPr id="39" name="Connector 38"/>
          <p:cNvCxnSpPr/>
          <p:nvPr/>
        </p:nvCxnSpPr>
        <p:spPr>
          <a:xfrm>
            <a:off x="254000" y="4965700"/>
            <a:ext cx="11684000" cy="0"/>
          </a:xfrm>
          <a:prstGeom prst="line">
            <a:avLst/>
          </a:prstGeom>
          <a:ln w="6350">
            <a:solidFill>
              <a:srgbClr val="CFC6B8"/>
            </a:solidFill>
          </a:ln>
        </p:spPr>
      </p:cxnSp>
      <p:sp>
        <p:nvSpPr>
          <p:cNvPr id="40" name="TextBox 39"/>
          <p:cNvSpPr txBox="1"/>
          <p:nvPr/>
        </p:nvSpPr>
        <p:spPr>
          <a:xfrm>
            <a:off x="254000" y="5080000"/>
            <a:ext cx="2159000" cy="381000"/>
          </a:xfrm>
          <a:prstGeom prst="rect">
            <a:avLst/>
          </a:prstGeom>
          <a:noFill/>
        </p:spPr>
        <p:txBody>
          <a:bodyPr wrap="square" lIns="0" rIns="0" tIns="0" bIns="0" anchor="t">
            <a:spAutoFit/>
          </a:bodyPr>
          <a:lstStyle/>
          <a:p>
            <a:pPr algn="l">
              <a:lnSpc>
                <a:spcPct val="120000"/>
              </a:lnSpc>
            </a:pPr>
            <a:r>
              <a:rPr sz="1200" b="1" i="0" spc="250">
                <a:solidFill>
                  <a:srgbClr val="23303A"/>
                </a:solidFill>
                <a:latin typeface="Barlow Condensed"/>
              </a:rPr>
              <a:t>RÉSULTAT</a:t>
            </a:r>
          </a:p>
        </p:txBody>
      </p:sp>
      <p:sp>
        <p:nvSpPr>
          <p:cNvPr id="41" name="TextBox 40"/>
          <p:cNvSpPr txBox="1"/>
          <p:nvPr/>
        </p:nvSpPr>
        <p:spPr>
          <a:xfrm>
            <a:off x="2705100" y="50673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Espaces publics soignés, foncier valorisé</a:t>
            </a:r>
          </a:p>
        </p:txBody>
      </p:sp>
      <p:sp>
        <p:nvSpPr>
          <p:cNvPr id="42" name="TextBox 41"/>
          <p:cNvSpPr txBox="1"/>
          <p:nvPr/>
        </p:nvSpPr>
        <p:spPr>
          <a:xfrm>
            <a:off x="7467600" y="5067300"/>
            <a:ext cx="4318000" cy="508000"/>
          </a:xfrm>
          <a:prstGeom prst="rect">
            <a:avLst/>
          </a:prstGeom>
          <a:noFill/>
        </p:spPr>
        <p:txBody>
          <a:bodyPr wrap="square" lIns="0" rIns="0" tIns="0" bIns="0" anchor="t">
            <a:spAutoFit/>
          </a:bodyPr>
          <a:lstStyle/>
          <a:p>
            <a:pPr algn="l">
              <a:lnSpc>
                <a:spcPct val="130000"/>
              </a:lnSpc>
            </a:pPr>
            <a:r>
              <a:rPr sz="1200" b="0" i="0">
                <a:solidFill>
                  <a:srgbClr val="23303A"/>
                </a:solidFill>
                <a:latin typeface="Barlow"/>
              </a:rPr>
              <a:t>R+2 à R+5, rues de 4 à 8 m, 31 % du bâti à plus de 300 m d'un bus</a:t>
            </a:r>
          </a:p>
        </p:txBody>
      </p:sp>
      <p:cxnSp>
        <p:nvCxnSpPr>
          <p:cNvPr id="43" name="Connector 42"/>
          <p:cNvCxnSpPr/>
          <p:nvPr/>
        </p:nvCxnSpPr>
        <p:spPr>
          <a:xfrm>
            <a:off x="254000" y="5626100"/>
            <a:ext cx="11684000" cy="0"/>
          </a:xfrm>
          <a:prstGeom prst="line">
            <a:avLst/>
          </a:prstGeom>
          <a:ln w="6350">
            <a:solidFill>
              <a:srgbClr val="CFC6B8"/>
            </a:solidFill>
          </a:ln>
        </p:spPr>
      </p:cxnSp>
      <p:sp>
        <p:nvSpPr>
          <p:cNvPr id="44" name="TextBox 43"/>
          <p:cNvSpPr txBox="1"/>
          <p:nvPr/>
        </p:nvSpPr>
        <p:spPr>
          <a:xfrm>
            <a:off x="254000" y="5842000"/>
            <a:ext cx="11684000" cy="444500"/>
          </a:xfrm>
          <a:prstGeom prst="rect">
            <a:avLst/>
          </a:prstGeom>
          <a:noFill/>
        </p:spPr>
        <p:txBody>
          <a:bodyPr wrap="square" lIns="0" rIns="0" tIns="0" bIns="0" anchor="t">
            <a:spAutoFit/>
          </a:bodyPr>
          <a:lstStyle/>
          <a:p>
            <a:pPr algn="ctr">
              <a:lnSpc>
                <a:spcPct val="120000"/>
              </a:lnSpc>
            </a:pPr>
            <a:r>
              <a:rPr sz="2000" b="0" i="1">
                <a:solidFill>
                  <a:srgbClr val="23303A"/>
                </a:solidFill>
                <a:latin typeface="Barlow Condensed"/>
              </a:rPr>
              <a:t>La question n'est pas « règle ou expérimentation », mais : qui bénéficie de l'expérimentation, et qui subit la règle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DEUX VISAGES DE TANGER</a:t>
            </a:r>
          </a:p>
        </p:txBody>
      </p:sp>
      <p:sp>
        <p:nvSpPr>
          <p:cNvPr id="4" name="TextBox 3"/>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a:t>
            </a:r>
          </a:p>
        </p:txBody>
      </p:sp>
      <p:sp>
        <p:nvSpPr>
          <p:cNvPr id="5" name="TextBox 4"/>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photographies</a:t>
            </a:r>
          </a:p>
        </p:txBody>
      </p:sp>
      <p:cxnSp>
        <p:nvCxnSpPr>
          <p:cNvPr id="6" name="Connector 5"/>
          <p:cNvCxnSpPr/>
          <p:nvPr/>
        </p:nvCxnSpPr>
        <p:spPr>
          <a:xfrm>
            <a:off x="254000" y="6578600"/>
            <a:ext cx="11684000" cy="0"/>
          </a:xfrm>
          <a:prstGeom prst="line">
            <a:avLst/>
          </a:prstGeom>
          <a:ln w="6350">
            <a:solidFill>
              <a:srgbClr val="CFC6B8"/>
            </a:solidFill>
          </a:ln>
        </p:spPr>
      </p:cxnSp>
      <p:sp>
        <p:nvSpPr>
          <p:cNvPr id="7" name="TextBox 6"/>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8" name="TextBox 7"/>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07 / 32</a:t>
            </a:r>
          </a:p>
        </p:txBody>
      </p:sp>
      <p:pic>
        <p:nvPicPr>
          <p:cNvPr id="9" name="Picture 8" descr="p_pano.jpg"/>
          <p:cNvPicPr>
            <a:picLocks noChangeAspect="1"/>
          </p:cNvPicPr>
          <p:nvPr/>
        </p:nvPicPr>
        <p:blipFill>
          <a:blip r:embed="rId2"/>
          <a:stretch>
            <a:fillRect/>
          </a:stretch>
        </p:blipFill>
        <p:spPr>
          <a:xfrm>
            <a:off x="254000" y="889000"/>
            <a:ext cx="11684000" cy="1004824"/>
          </a:xfrm>
          <a:prstGeom prst="rect">
            <a:avLst/>
          </a:prstGeom>
        </p:spPr>
      </p:pic>
      <p:sp>
        <p:nvSpPr>
          <p:cNvPr id="10" name="TextBox 9"/>
          <p:cNvSpPr txBox="1"/>
          <p:nvPr/>
        </p:nvSpPr>
        <p:spPr>
          <a:xfrm>
            <a:off x="254000" y="2011045"/>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LA VILLE MONTRÉE</a:t>
            </a:r>
          </a:p>
        </p:txBody>
      </p:sp>
      <p:sp>
        <p:nvSpPr>
          <p:cNvPr id="11" name="TextBox 10"/>
          <p:cNvSpPr txBox="1"/>
          <p:nvPr/>
        </p:nvSpPr>
        <p:spPr>
          <a:xfrm>
            <a:off x="7874000" y="2011045"/>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LA VILLE VÉCUE</a:t>
            </a:r>
          </a:p>
        </p:txBody>
      </p:sp>
      <p:pic>
        <p:nvPicPr>
          <p:cNvPr id="12" name="Picture 11" descr="p_kasbah.jpg"/>
          <p:cNvPicPr>
            <a:picLocks noChangeAspect="1"/>
          </p:cNvPicPr>
          <p:nvPr/>
        </p:nvPicPr>
        <p:blipFill>
          <a:blip r:embed="rId3"/>
          <a:stretch>
            <a:fillRect/>
          </a:stretch>
        </p:blipFill>
        <p:spPr>
          <a:xfrm>
            <a:off x="254000" y="2201545"/>
            <a:ext cx="2074333" cy="1555750"/>
          </a:xfrm>
          <a:prstGeom prst="rect">
            <a:avLst/>
          </a:prstGeom>
        </p:spPr>
      </p:pic>
      <p:sp>
        <p:nvSpPr>
          <p:cNvPr id="13" name="TextBox 12"/>
          <p:cNvSpPr txBox="1"/>
          <p:nvPr/>
        </p:nvSpPr>
        <p:spPr>
          <a:xfrm>
            <a:off x="254000" y="3795395"/>
            <a:ext cx="2074333"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Place de la Kasbah  </a:t>
            </a:r>
            <a:r>
              <a:rPr sz="800" b="0" i="1">
                <a:solidFill>
                  <a:srgbClr val="7B746B"/>
                </a:solidFill>
                <a:latin typeface="Barlow"/>
              </a:rPr>
              <a:t>Herbert wie</a:t>
            </a:r>
          </a:p>
        </p:txBody>
      </p:sp>
      <p:pic>
        <p:nvPicPr>
          <p:cNvPr id="14" name="Picture 13" descr="p_port.jpg"/>
          <p:cNvPicPr>
            <a:picLocks noChangeAspect="1"/>
          </p:cNvPicPr>
          <p:nvPr/>
        </p:nvPicPr>
        <p:blipFill>
          <a:blip r:embed="rId4"/>
          <a:stretch>
            <a:fillRect/>
          </a:stretch>
        </p:blipFill>
        <p:spPr>
          <a:xfrm>
            <a:off x="2442633" y="2201545"/>
            <a:ext cx="2333625" cy="1555750"/>
          </a:xfrm>
          <a:prstGeom prst="rect">
            <a:avLst/>
          </a:prstGeom>
        </p:spPr>
      </p:pic>
      <p:sp>
        <p:nvSpPr>
          <p:cNvPr id="15" name="TextBox 14"/>
          <p:cNvSpPr txBox="1"/>
          <p:nvPr/>
        </p:nvSpPr>
        <p:spPr>
          <a:xfrm>
            <a:off x="2442633" y="3795395"/>
            <a:ext cx="233362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Gare maritime  </a:t>
            </a:r>
            <a:r>
              <a:rPr sz="800" b="0" i="1">
                <a:solidFill>
                  <a:srgbClr val="7B746B"/>
                </a:solidFill>
                <a:latin typeface="Barlow"/>
              </a:rPr>
              <a:t>Jobt1962</a:t>
            </a:r>
          </a:p>
        </p:txBody>
      </p:sp>
      <p:pic>
        <p:nvPicPr>
          <p:cNvPr id="16" name="Picture 15" descr="p_stade.jpg"/>
          <p:cNvPicPr>
            <a:picLocks noChangeAspect="1"/>
          </p:cNvPicPr>
          <p:nvPr/>
        </p:nvPicPr>
        <p:blipFill>
          <a:blip r:embed="rId5"/>
          <a:stretch>
            <a:fillRect/>
          </a:stretch>
        </p:blipFill>
        <p:spPr>
          <a:xfrm>
            <a:off x="4890558" y="2201545"/>
            <a:ext cx="2767144" cy="1555750"/>
          </a:xfrm>
          <a:prstGeom prst="rect">
            <a:avLst/>
          </a:prstGeom>
        </p:spPr>
      </p:pic>
      <p:sp>
        <p:nvSpPr>
          <p:cNvPr id="17" name="TextBox 16"/>
          <p:cNvSpPr txBox="1"/>
          <p:nvPr/>
        </p:nvSpPr>
        <p:spPr>
          <a:xfrm>
            <a:off x="4890558" y="3795395"/>
            <a:ext cx="2767144"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Grand stade, 2025  </a:t>
            </a:r>
            <a:r>
              <a:rPr sz="800" b="0" i="1">
                <a:solidFill>
                  <a:srgbClr val="7B746B"/>
                </a:solidFill>
                <a:latin typeface="Barlow"/>
              </a:rPr>
              <a:t>CC0</a:t>
            </a:r>
          </a:p>
        </p:txBody>
      </p:sp>
      <p:pic>
        <p:nvPicPr>
          <p:cNvPr id="18" name="Picture 17" descr="p_spartel.jpg"/>
          <p:cNvPicPr>
            <a:picLocks noChangeAspect="1"/>
          </p:cNvPicPr>
          <p:nvPr/>
        </p:nvPicPr>
        <p:blipFill>
          <a:blip r:embed="rId6"/>
          <a:stretch>
            <a:fillRect/>
          </a:stretch>
        </p:blipFill>
        <p:spPr>
          <a:xfrm>
            <a:off x="254000" y="4049395"/>
            <a:ext cx="2333625" cy="1555750"/>
          </a:xfrm>
          <a:prstGeom prst="rect">
            <a:avLst/>
          </a:prstGeom>
        </p:spPr>
      </p:pic>
      <p:sp>
        <p:nvSpPr>
          <p:cNvPr id="19" name="TextBox 18"/>
          <p:cNvSpPr txBox="1"/>
          <p:nvPr/>
        </p:nvSpPr>
        <p:spPr>
          <a:xfrm>
            <a:off x="254000" y="5643245"/>
            <a:ext cx="233362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Cap Spartel  </a:t>
            </a:r>
            <a:r>
              <a:rPr sz="800" b="0" i="1">
                <a:solidFill>
                  <a:srgbClr val="7B746B"/>
                </a:solidFill>
                <a:latin typeface="Barlow"/>
              </a:rPr>
              <a:t>logopop</a:t>
            </a:r>
          </a:p>
        </p:txBody>
      </p:sp>
      <p:pic>
        <p:nvPicPr>
          <p:cNvPr id="20" name="Picture 19" descr="p_baie.jpg"/>
          <p:cNvPicPr>
            <a:picLocks noChangeAspect="1"/>
          </p:cNvPicPr>
          <p:nvPr/>
        </p:nvPicPr>
        <p:blipFill>
          <a:blip r:embed="rId7"/>
          <a:stretch>
            <a:fillRect/>
          </a:stretch>
        </p:blipFill>
        <p:spPr>
          <a:xfrm>
            <a:off x="2701925" y="4049395"/>
            <a:ext cx="2074333" cy="1555750"/>
          </a:xfrm>
          <a:prstGeom prst="rect">
            <a:avLst/>
          </a:prstGeom>
        </p:spPr>
      </p:pic>
      <p:sp>
        <p:nvSpPr>
          <p:cNvPr id="21" name="TextBox 20"/>
          <p:cNvSpPr txBox="1"/>
          <p:nvPr/>
        </p:nvSpPr>
        <p:spPr>
          <a:xfrm>
            <a:off x="2701925" y="5643245"/>
            <a:ext cx="2074333"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La baie  </a:t>
            </a:r>
            <a:r>
              <a:rPr sz="800" b="0" i="1">
                <a:solidFill>
                  <a:srgbClr val="7B746B"/>
                </a:solidFill>
                <a:latin typeface="Barlow"/>
              </a:rPr>
              <a:t>Herbert wie</a:t>
            </a:r>
          </a:p>
        </p:txBody>
      </p:sp>
      <p:pic>
        <p:nvPicPr>
          <p:cNvPr id="22" name="Picture 21" descr="p_socco.jpg"/>
          <p:cNvPicPr>
            <a:picLocks noChangeAspect="1"/>
          </p:cNvPicPr>
          <p:nvPr/>
        </p:nvPicPr>
        <p:blipFill>
          <a:blip r:embed="rId8"/>
          <a:stretch>
            <a:fillRect/>
          </a:stretch>
        </p:blipFill>
        <p:spPr>
          <a:xfrm>
            <a:off x="4890558" y="4049395"/>
            <a:ext cx="2333625" cy="1555750"/>
          </a:xfrm>
          <a:prstGeom prst="rect">
            <a:avLst/>
          </a:prstGeom>
        </p:spPr>
      </p:pic>
      <p:sp>
        <p:nvSpPr>
          <p:cNvPr id="23" name="TextBox 22"/>
          <p:cNvSpPr txBox="1"/>
          <p:nvPr/>
        </p:nvSpPr>
        <p:spPr>
          <a:xfrm>
            <a:off x="4890558" y="5643245"/>
            <a:ext cx="233362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Grand Socco  </a:t>
            </a:r>
            <a:r>
              <a:rPr sz="800" b="0" i="1">
                <a:solidFill>
                  <a:srgbClr val="7B746B"/>
                </a:solidFill>
                <a:latin typeface="Barlow"/>
              </a:rPr>
              <a:t>Shbbkr</a:t>
            </a:r>
          </a:p>
        </p:txBody>
      </p:sp>
      <p:pic>
        <p:nvPicPr>
          <p:cNvPr id="24" name="Picture 23" descr="p_benimakada.jpg"/>
          <p:cNvPicPr>
            <a:picLocks noChangeAspect="1"/>
          </p:cNvPicPr>
          <p:nvPr/>
        </p:nvPicPr>
        <p:blipFill>
          <a:blip r:embed="rId9"/>
          <a:stretch>
            <a:fillRect/>
          </a:stretch>
        </p:blipFill>
        <p:spPr>
          <a:xfrm>
            <a:off x="7874000" y="2201545"/>
            <a:ext cx="4064000" cy="2286000"/>
          </a:xfrm>
          <a:prstGeom prst="rect">
            <a:avLst/>
          </a:prstGeom>
        </p:spPr>
      </p:pic>
      <p:sp>
        <p:nvSpPr>
          <p:cNvPr id="25" name="TextBox 24"/>
          <p:cNvSpPr txBox="1"/>
          <p:nvPr/>
        </p:nvSpPr>
        <p:spPr>
          <a:xfrm>
            <a:off x="7874000" y="4525645"/>
            <a:ext cx="40640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Beni Makada  </a:t>
            </a:r>
            <a:r>
              <a:rPr sz="800" b="0" i="1">
                <a:solidFill>
                  <a:srgbClr val="7B746B"/>
                </a:solidFill>
                <a:latin typeface="Barlow"/>
              </a:rPr>
              <a:t>Wikimedia Commons</a:t>
            </a:r>
          </a:p>
        </p:txBody>
      </p:sp>
      <p:pic>
        <p:nvPicPr>
          <p:cNvPr id="26" name="Picture 25" descr="p_medina.jpg"/>
          <p:cNvPicPr>
            <a:picLocks noChangeAspect="1"/>
          </p:cNvPicPr>
          <p:nvPr/>
        </p:nvPicPr>
        <p:blipFill>
          <a:blip r:embed="rId10"/>
          <a:stretch>
            <a:fillRect/>
          </a:stretch>
        </p:blipFill>
        <p:spPr>
          <a:xfrm>
            <a:off x="7874000" y="4779645"/>
            <a:ext cx="2095500" cy="1397000"/>
          </a:xfrm>
          <a:prstGeom prst="rect">
            <a:avLst/>
          </a:prstGeom>
        </p:spPr>
      </p:pic>
      <p:sp>
        <p:nvSpPr>
          <p:cNvPr id="27" name="TextBox 26"/>
          <p:cNvSpPr txBox="1"/>
          <p:nvPr/>
        </p:nvSpPr>
        <p:spPr>
          <a:xfrm>
            <a:off x="7874000" y="6214745"/>
            <a:ext cx="20955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Ruelle de la médina  </a:t>
            </a:r>
            <a:r>
              <a:rPr sz="800" b="0" i="1">
                <a:solidFill>
                  <a:srgbClr val="7B746B"/>
                </a:solidFill>
                <a:latin typeface="Barlow"/>
              </a:rPr>
              <a:t>Chris Yunker</a:t>
            </a:r>
          </a:p>
        </p:txBody>
      </p:sp>
      <p:sp>
        <p:nvSpPr>
          <p:cNvPr id="28" name="TextBox 27"/>
          <p:cNvSpPr txBox="1"/>
          <p:nvPr/>
        </p:nvSpPr>
        <p:spPr>
          <a:xfrm>
            <a:off x="10160000" y="4868545"/>
            <a:ext cx="1778000" cy="1016000"/>
          </a:xfrm>
          <a:prstGeom prst="rect">
            <a:avLst/>
          </a:prstGeom>
          <a:noFill/>
        </p:spPr>
        <p:txBody>
          <a:bodyPr wrap="square" lIns="0" rIns="0" tIns="0" bIns="0" anchor="t">
            <a:spAutoFit/>
          </a:bodyPr>
          <a:lstStyle/>
          <a:p>
            <a:pPr algn="l">
              <a:lnSpc>
                <a:spcPct val="120000"/>
              </a:lnSpc>
            </a:pPr>
            <a:r>
              <a:rPr sz="1300" b="0" i="0">
                <a:solidFill>
                  <a:srgbClr val="3E5A6E"/>
                </a:solidFill>
                <a:latin typeface="Barlow Condensed"/>
              </a:rPr>
              <a:t>Des quartiers où vivent 567 000 personnes, presque aucune image libre.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UN PATRIMOINE MIS EN VITRINE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Kasbah, remparts, théâtres, églises, phare : le patrimoine de Tanger porte l'image touristique. Sa protection reste sélective.</a:t>
            </a:r>
          </a:p>
        </p:txBody>
      </p:sp>
      <p:pic>
        <p:nvPicPr>
          <p:cNvPr id="5" name="Picture 4" descr="nc_sk_hafa.png"/>
          <p:cNvPicPr>
            <a:picLocks noChangeAspect="1"/>
          </p:cNvPicPr>
          <p:nvPr/>
        </p:nvPicPr>
        <p:blipFill>
          <a:blip r:embed="rId2"/>
          <a:stretch>
            <a:fillRect/>
          </a:stretch>
        </p:blipFill>
        <p:spPr>
          <a:xfrm>
            <a:off x="10985500" y="205740"/>
            <a:ext cx="952500" cy="579120"/>
          </a:xfrm>
          <a:prstGeom prst="rect">
            <a:avLst/>
          </a:prstGeom>
        </p:spPr>
      </p:pic>
      <p:sp>
        <p:nvSpPr>
          <p:cNvPr id="6" name="TextBox 5"/>
          <p:cNvSpPr txBox="1"/>
          <p:nvPr/>
        </p:nvSpPr>
        <p:spPr>
          <a:xfrm>
            <a:off x="9837420" y="215900"/>
            <a:ext cx="89408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328</a:t>
            </a:r>
          </a:p>
        </p:txBody>
      </p:sp>
      <p:sp>
        <p:nvSpPr>
          <p:cNvPr id="7" name="TextBox 6"/>
          <p:cNvSpPr txBox="1"/>
          <p:nvPr/>
        </p:nvSpPr>
        <p:spPr>
          <a:xfrm>
            <a:off x="9837420" y="546100"/>
            <a:ext cx="89408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bâtiments menaçant</a:t>
            </a:r>
          </a:p>
          <a:p>
            <a:pPr algn="r">
              <a:lnSpc>
                <a:spcPct val="110000"/>
              </a:lnSpc>
            </a:pPr>
            <a:r>
              <a:rPr sz="850" b="0" i="0">
                <a:solidFill>
                  <a:srgbClr val="7B746B"/>
                </a:solidFill>
                <a:latin typeface="Barlow"/>
              </a:rPr>
              <a:t>ruine en médina (2024)</a:t>
            </a:r>
          </a:p>
        </p:txBody>
      </p:sp>
      <p:sp>
        <p:nvSpPr>
          <p:cNvPr id="8" name="TextBox 7"/>
          <p:cNvSpPr txBox="1"/>
          <p:nvPr/>
        </p:nvSpPr>
        <p:spPr>
          <a:xfrm>
            <a:off x="885952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16</a:t>
            </a:r>
          </a:p>
        </p:txBody>
      </p:sp>
      <p:sp>
        <p:nvSpPr>
          <p:cNvPr id="9" name="TextBox 8"/>
          <p:cNvSpPr txBox="1"/>
          <p:nvPr/>
        </p:nvSpPr>
        <p:spPr>
          <a:xfrm>
            <a:off x="885952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sites classés</a:t>
            </a:r>
          </a:p>
          <a:p>
            <a:pPr algn="r">
              <a:lnSpc>
                <a:spcPct val="110000"/>
              </a:lnSpc>
            </a:pPr>
            <a:r>
              <a:rPr sz="850" b="0" i="0">
                <a:solidFill>
                  <a:srgbClr val="7B746B"/>
                </a:solidFill>
                <a:latin typeface="Barlow"/>
              </a:rPr>
              <a:t>en 2015</a:t>
            </a:r>
          </a:p>
        </p:txBody>
      </p:sp>
      <p:cxnSp>
        <p:nvCxnSpPr>
          <p:cNvPr id="10" name="Connector 9"/>
          <p:cNvCxnSpPr/>
          <p:nvPr/>
        </p:nvCxnSpPr>
        <p:spPr>
          <a:xfrm>
            <a:off x="254000" y="6578600"/>
            <a:ext cx="11684000" cy="0"/>
          </a:xfrm>
          <a:prstGeom prst="line">
            <a:avLst/>
          </a:prstGeom>
          <a:ln w="6350">
            <a:solidFill>
              <a:srgbClr val="CFC6B8"/>
            </a:solidFill>
          </a:ln>
        </p:spPr>
      </p:cxnSp>
      <p:sp>
        <p:nvSpPr>
          <p:cNvPr id="11" name="TextBox 10"/>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2" name="TextBox 11"/>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08 / 32</a:t>
            </a:r>
          </a:p>
        </p:txBody>
      </p:sp>
      <p:pic>
        <p:nvPicPr>
          <p:cNvPr id="13" name="Picture 12" descr="p_kasbahmusee.jpg"/>
          <p:cNvPicPr>
            <a:picLocks noChangeAspect="1"/>
          </p:cNvPicPr>
          <p:nvPr/>
        </p:nvPicPr>
        <p:blipFill>
          <a:blip r:embed="rId3"/>
          <a:stretch>
            <a:fillRect/>
          </a:stretch>
        </p:blipFill>
        <p:spPr>
          <a:xfrm>
            <a:off x="254000" y="952500"/>
            <a:ext cx="1357312" cy="1809750"/>
          </a:xfrm>
          <a:prstGeom prst="rect">
            <a:avLst/>
          </a:prstGeom>
        </p:spPr>
      </p:pic>
      <p:sp>
        <p:nvSpPr>
          <p:cNvPr id="14" name="TextBox 13"/>
          <p:cNvSpPr txBox="1"/>
          <p:nvPr/>
        </p:nvSpPr>
        <p:spPr>
          <a:xfrm>
            <a:off x="254000" y="2800350"/>
            <a:ext cx="1357312"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Musée de la Kasbah (Dar el Makhzen)  </a:t>
            </a:r>
            <a:r>
              <a:rPr sz="800" b="0" i="1">
                <a:solidFill>
                  <a:srgbClr val="7B746B"/>
                </a:solidFill>
                <a:latin typeface="Barlow"/>
              </a:rPr>
              <a:t>Yamen, CC BY-SA 4.0</a:t>
            </a:r>
          </a:p>
        </p:txBody>
      </p:sp>
      <p:pic>
        <p:nvPicPr>
          <p:cNvPr id="15" name="Picture 14" descr="p_babkasbah.jpg"/>
          <p:cNvPicPr>
            <a:picLocks noChangeAspect="1"/>
          </p:cNvPicPr>
          <p:nvPr/>
        </p:nvPicPr>
        <p:blipFill>
          <a:blip r:embed="rId4"/>
          <a:stretch>
            <a:fillRect/>
          </a:stretch>
        </p:blipFill>
        <p:spPr>
          <a:xfrm>
            <a:off x="1712912" y="952500"/>
            <a:ext cx="1357312" cy="1809750"/>
          </a:xfrm>
          <a:prstGeom prst="rect">
            <a:avLst/>
          </a:prstGeom>
        </p:spPr>
      </p:pic>
      <p:sp>
        <p:nvSpPr>
          <p:cNvPr id="16" name="TextBox 15"/>
          <p:cNvSpPr txBox="1"/>
          <p:nvPr/>
        </p:nvSpPr>
        <p:spPr>
          <a:xfrm>
            <a:off x="1712912" y="2800350"/>
            <a:ext cx="1357312"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Bab el Kasbah  </a:t>
            </a:r>
            <a:r>
              <a:rPr sz="800" b="0" i="1">
                <a:solidFill>
                  <a:srgbClr val="7B746B"/>
                </a:solidFill>
                <a:latin typeface="Barlow"/>
              </a:rPr>
              <a:t>David Jones, CC BY 2.0</a:t>
            </a:r>
          </a:p>
        </p:txBody>
      </p:sp>
      <p:pic>
        <p:nvPicPr>
          <p:cNvPr id="17" name="Picture 16" descr="p_cervantes.jpg"/>
          <p:cNvPicPr>
            <a:picLocks noChangeAspect="1"/>
          </p:cNvPicPr>
          <p:nvPr/>
        </p:nvPicPr>
        <p:blipFill>
          <a:blip r:embed="rId5"/>
          <a:stretch>
            <a:fillRect/>
          </a:stretch>
        </p:blipFill>
        <p:spPr>
          <a:xfrm>
            <a:off x="3171825" y="952500"/>
            <a:ext cx="2616506" cy="1809750"/>
          </a:xfrm>
          <a:prstGeom prst="rect">
            <a:avLst/>
          </a:prstGeom>
        </p:spPr>
      </p:pic>
      <p:sp>
        <p:nvSpPr>
          <p:cNvPr id="18" name="TextBox 17"/>
          <p:cNvSpPr txBox="1"/>
          <p:nvPr/>
        </p:nvSpPr>
        <p:spPr>
          <a:xfrm>
            <a:off x="3171825" y="2800350"/>
            <a:ext cx="2616506"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Gran Teatro Cervantes (1913)  </a:t>
            </a:r>
            <a:r>
              <a:rPr sz="800" b="0" i="1">
                <a:solidFill>
                  <a:srgbClr val="7B746B"/>
                </a:solidFill>
                <a:latin typeface="Barlow"/>
              </a:rPr>
              <a:t>Diego Delso, CC BY-SA 4.0</a:t>
            </a:r>
          </a:p>
        </p:txBody>
      </p:sp>
      <p:pic>
        <p:nvPicPr>
          <p:cNvPr id="19" name="Picture 18" descr="p_muralla.jpg"/>
          <p:cNvPicPr>
            <a:picLocks noChangeAspect="1"/>
          </p:cNvPicPr>
          <p:nvPr/>
        </p:nvPicPr>
        <p:blipFill>
          <a:blip r:embed="rId6"/>
          <a:stretch>
            <a:fillRect/>
          </a:stretch>
        </p:blipFill>
        <p:spPr>
          <a:xfrm>
            <a:off x="5889931" y="952500"/>
            <a:ext cx="2850000" cy="1809750"/>
          </a:xfrm>
          <a:prstGeom prst="rect">
            <a:avLst/>
          </a:prstGeom>
        </p:spPr>
      </p:pic>
      <p:sp>
        <p:nvSpPr>
          <p:cNvPr id="20" name="TextBox 19"/>
          <p:cNvSpPr txBox="1"/>
          <p:nvPr/>
        </p:nvSpPr>
        <p:spPr>
          <a:xfrm>
            <a:off x="5889931" y="2800350"/>
            <a:ext cx="28500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Remparts et bastion sur le port  </a:t>
            </a:r>
            <a:r>
              <a:rPr sz="800" b="0" i="1">
                <a:solidFill>
                  <a:srgbClr val="7B746B"/>
                </a:solidFill>
                <a:latin typeface="Barlow"/>
              </a:rPr>
              <a:t>Diego Delso, CC BY-SA 4.0</a:t>
            </a:r>
          </a:p>
        </p:txBody>
      </p:sp>
      <p:pic>
        <p:nvPicPr>
          <p:cNvPr id="21" name="Picture 20" descr="p_standrew.jpg"/>
          <p:cNvPicPr>
            <a:picLocks noChangeAspect="1"/>
          </p:cNvPicPr>
          <p:nvPr/>
        </p:nvPicPr>
        <p:blipFill>
          <a:blip r:embed="rId7"/>
          <a:stretch>
            <a:fillRect/>
          </a:stretch>
        </p:blipFill>
        <p:spPr>
          <a:xfrm>
            <a:off x="8841531" y="952500"/>
            <a:ext cx="2714625" cy="1809750"/>
          </a:xfrm>
          <a:prstGeom prst="rect">
            <a:avLst/>
          </a:prstGeom>
        </p:spPr>
      </p:pic>
      <p:sp>
        <p:nvSpPr>
          <p:cNvPr id="22" name="TextBox 21"/>
          <p:cNvSpPr txBox="1"/>
          <p:nvPr/>
        </p:nvSpPr>
        <p:spPr>
          <a:xfrm>
            <a:off x="8841531" y="2800350"/>
            <a:ext cx="271462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Église Saint-André (1894)  </a:t>
            </a:r>
            <a:r>
              <a:rPr sz="800" b="0" i="1">
                <a:solidFill>
                  <a:srgbClr val="7B746B"/>
                </a:solidFill>
                <a:latin typeface="Barlow"/>
              </a:rPr>
              <a:t>Colin Hepburn, CC BY 2.0</a:t>
            </a:r>
          </a:p>
        </p:txBody>
      </p:sp>
      <p:pic>
        <p:nvPicPr>
          <p:cNvPr id="23" name="Picture 22" descr="p_phare.jpg"/>
          <p:cNvPicPr>
            <a:picLocks noChangeAspect="1"/>
          </p:cNvPicPr>
          <p:nvPr/>
        </p:nvPicPr>
        <p:blipFill>
          <a:blip r:embed="rId8"/>
          <a:stretch>
            <a:fillRect/>
          </a:stretch>
        </p:blipFill>
        <p:spPr>
          <a:xfrm>
            <a:off x="254000" y="3086100"/>
            <a:ext cx="3320642" cy="1809750"/>
          </a:xfrm>
          <a:prstGeom prst="rect">
            <a:avLst/>
          </a:prstGeom>
        </p:spPr>
      </p:pic>
      <p:sp>
        <p:nvSpPr>
          <p:cNvPr id="24" name="TextBox 23"/>
          <p:cNvSpPr txBox="1"/>
          <p:nvPr/>
        </p:nvSpPr>
        <p:spPr>
          <a:xfrm>
            <a:off x="254000" y="4933950"/>
            <a:ext cx="3320642"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Phare du cap Spartel (1864)  </a:t>
            </a:r>
            <a:r>
              <a:rPr sz="800" b="0" i="1">
                <a:solidFill>
                  <a:srgbClr val="7B746B"/>
                </a:solidFill>
                <a:latin typeface="Barlow"/>
              </a:rPr>
              <a:t>Diego Delso, CC BY-SA 4.0</a:t>
            </a:r>
          </a:p>
        </p:txBody>
      </p:sp>
      <p:pic>
        <p:nvPicPr>
          <p:cNvPr id="25" name="Picture 24" descr="p_hercule.jpg"/>
          <p:cNvPicPr>
            <a:picLocks noChangeAspect="1"/>
          </p:cNvPicPr>
          <p:nvPr/>
        </p:nvPicPr>
        <p:blipFill>
          <a:blip r:embed="rId9"/>
          <a:stretch>
            <a:fillRect/>
          </a:stretch>
        </p:blipFill>
        <p:spPr>
          <a:xfrm>
            <a:off x="3676242" y="3086100"/>
            <a:ext cx="2950679" cy="1809750"/>
          </a:xfrm>
          <a:prstGeom prst="rect">
            <a:avLst/>
          </a:prstGeom>
        </p:spPr>
      </p:pic>
      <p:sp>
        <p:nvSpPr>
          <p:cNvPr id="26" name="TextBox 25"/>
          <p:cNvSpPr txBox="1"/>
          <p:nvPr/>
        </p:nvSpPr>
        <p:spPr>
          <a:xfrm>
            <a:off x="3676242" y="4933950"/>
            <a:ext cx="2950679"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Grottes d'Hercule  </a:t>
            </a:r>
            <a:r>
              <a:rPr sz="800" b="0" i="1">
                <a:solidFill>
                  <a:srgbClr val="7B746B"/>
                </a:solidFill>
                <a:latin typeface="Barlow"/>
              </a:rPr>
              <a:t>Diego Delso, CC BY-SA 4.0</a:t>
            </a:r>
          </a:p>
        </p:txBody>
      </p:sp>
      <p:pic>
        <p:nvPicPr>
          <p:cNvPr id="27" name="Picture 26" descr="p_hafa.jpg"/>
          <p:cNvPicPr>
            <a:picLocks noChangeAspect="1"/>
          </p:cNvPicPr>
          <p:nvPr/>
        </p:nvPicPr>
        <p:blipFill>
          <a:blip r:embed="rId10"/>
          <a:stretch>
            <a:fillRect/>
          </a:stretch>
        </p:blipFill>
        <p:spPr>
          <a:xfrm>
            <a:off x="6728522" y="3086100"/>
            <a:ext cx="1809750" cy="1809750"/>
          </a:xfrm>
          <a:prstGeom prst="rect">
            <a:avLst/>
          </a:prstGeom>
        </p:spPr>
      </p:pic>
      <p:sp>
        <p:nvSpPr>
          <p:cNvPr id="28" name="TextBox 27"/>
          <p:cNvSpPr txBox="1"/>
          <p:nvPr/>
        </p:nvSpPr>
        <p:spPr>
          <a:xfrm>
            <a:off x="6728522" y="4933950"/>
            <a:ext cx="180975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Café Hafa (1921)  </a:t>
            </a:r>
            <a:r>
              <a:rPr sz="800" b="0" i="1">
                <a:solidFill>
                  <a:srgbClr val="7B746B"/>
                </a:solidFill>
                <a:latin typeface="Barlow"/>
              </a:rPr>
              <a:t>Soukaina Amez, CC BY-SA 4.0</a:t>
            </a:r>
          </a:p>
        </p:txBody>
      </p:sp>
      <p:pic>
        <p:nvPicPr>
          <p:cNvPr id="29" name="Picture 28" descr="p_sidibouabib.jpg"/>
          <p:cNvPicPr>
            <a:picLocks noChangeAspect="1"/>
          </p:cNvPicPr>
          <p:nvPr/>
        </p:nvPicPr>
        <p:blipFill>
          <a:blip r:embed="rId11"/>
          <a:stretch>
            <a:fillRect/>
          </a:stretch>
        </p:blipFill>
        <p:spPr>
          <a:xfrm>
            <a:off x="8639872" y="3086100"/>
            <a:ext cx="2714625" cy="1809750"/>
          </a:xfrm>
          <a:prstGeom prst="rect">
            <a:avLst/>
          </a:prstGeom>
        </p:spPr>
      </p:pic>
      <p:sp>
        <p:nvSpPr>
          <p:cNvPr id="30" name="TextBox 29"/>
          <p:cNvSpPr txBox="1"/>
          <p:nvPr/>
        </p:nvSpPr>
        <p:spPr>
          <a:xfrm>
            <a:off x="8639872" y="4933950"/>
            <a:ext cx="271462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Mosquée Sidi Bou Abib, Grand Socco  </a:t>
            </a:r>
            <a:r>
              <a:rPr sz="800" b="0" i="1">
                <a:solidFill>
                  <a:srgbClr val="7B746B"/>
                </a:solidFill>
                <a:latin typeface="Barlow"/>
              </a:rPr>
              <a:t>Chris Yunker, CC BY-SA 2.0</a:t>
            </a:r>
          </a:p>
        </p:txBody>
      </p:sp>
      <p:sp>
        <p:nvSpPr>
          <p:cNvPr id="31" name="Rectangle 30"/>
          <p:cNvSpPr/>
          <p:nvPr/>
        </p:nvSpPr>
        <p:spPr>
          <a:xfrm>
            <a:off x="254000" y="5321300"/>
            <a:ext cx="11684000" cy="1016000"/>
          </a:xfrm>
          <a:prstGeom prst="rect">
            <a:avLst/>
          </a:prstGeom>
          <a:solidFill>
            <a:srgbClr val="F8F5EF"/>
          </a:solidFill>
          <a:ln w="6350">
            <a:solidFill>
              <a:srgbClr val="CFC6B8"/>
            </a:solidFill>
          </a:ln>
        </p:spPr>
        <p:txBody>
          <a:bodyPr rtlCol="0" anchor="ctr"/>
          <a:lstStyle/>
          <a:p>
            <a:pPr algn="ctr"/>
          </a:p>
        </p:txBody>
      </p:sp>
      <p:sp>
        <p:nvSpPr>
          <p:cNvPr id="32" name="Rectangle 31"/>
          <p:cNvSpPr/>
          <p:nvPr/>
        </p:nvSpPr>
        <p:spPr>
          <a:xfrm>
            <a:off x="254000" y="5321300"/>
            <a:ext cx="50800" cy="1016000"/>
          </a:xfrm>
          <a:prstGeom prst="rect">
            <a:avLst/>
          </a:prstGeom>
          <a:solidFill>
            <a:srgbClr val="B5563C"/>
          </a:solidFill>
          <a:ln>
            <a:noFill/>
          </a:ln>
        </p:spPr>
        <p:txBody>
          <a:bodyPr rtlCol="0" anchor="ctr"/>
          <a:lstStyle/>
          <a:p>
            <a:pPr algn="ctr"/>
          </a:p>
        </p:txBody>
      </p:sp>
      <p:sp>
        <p:nvSpPr>
          <p:cNvPr id="33" name="TextBox 32"/>
          <p:cNvSpPr txBox="1"/>
          <p:nvPr/>
        </p:nvSpPr>
        <p:spPr>
          <a:xfrm>
            <a:off x="482600" y="5448300"/>
            <a:ext cx="11303000" cy="825500"/>
          </a:xfrm>
          <a:prstGeom prst="rect">
            <a:avLst/>
          </a:prstGeom>
          <a:noFill/>
        </p:spPr>
        <p:txBody>
          <a:bodyPr wrap="square" lIns="0" rIns="0" tIns="0" bIns="0" anchor="t">
            <a:spAutoFit/>
          </a:bodyPr>
          <a:lstStyle/>
          <a:p>
            <a:pPr algn="l">
              <a:lnSpc>
                <a:spcPct val="140000"/>
              </a:lnSpc>
            </a:pPr>
            <a:r>
              <a:rPr sz="1200" b="1" i="0">
                <a:solidFill>
                  <a:srgbClr val="B5563C"/>
                </a:solidFill>
                <a:latin typeface="Barlow"/>
              </a:rPr>
              <a:t>Lecture. </a:t>
            </a:r>
            <a:r>
              <a:rPr sz="1200" b="0" i="0">
                <a:solidFill>
                  <a:srgbClr val="23303A"/>
                </a:solidFill>
                <a:latin typeface="Barlow"/>
              </a:rPr>
              <a:t>Ce patrimoine est la matière première de la ville-vitrine : il figure sur chaque affiche et dans chaque programme. La loi 22-80 permet de le protéger, mais le classement reste ponctuel. Le théâtre Cervantes, fermé pendant des décennies, ne retrouve un projet qu'avec l'enjeu touristique ; dans la médina habitée, 328 bâtiments menaçant ruine attendent encore, quand les parcours de visite sont déjà restaurés.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CARNET DE CROQUIS : TANGER DESSINÉE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Croquis à l'encre et au lavis des lieux qui fabriquent l'image de la ville. Ils reviennent, une page sur deux, dans la suite du dossier.</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10</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lieux dessinés</a:t>
            </a:r>
          </a:p>
        </p:txBody>
      </p:sp>
      <p:cxnSp>
        <p:nvCxnSpPr>
          <p:cNvPr id="7" name="Connector 6"/>
          <p:cNvCxnSpPr/>
          <p:nvPr/>
        </p:nvCxnSpPr>
        <p:spPr>
          <a:xfrm>
            <a:off x="254000" y="6578600"/>
            <a:ext cx="11684000" cy="0"/>
          </a:xfrm>
          <a:prstGeom prst="line">
            <a:avLst/>
          </a:prstGeom>
          <a:ln w="6350">
            <a:solidFill>
              <a:srgbClr val="CFC6B8"/>
            </a:solidFill>
          </a:ln>
        </p:spPr>
      </p:cxnSp>
      <p:sp>
        <p:nvSpPr>
          <p:cNvPr id="8" name="TextBox 7"/>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9" name="TextBox 8"/>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09 / 32</a:t>
            </a:r>
          </a:p>
        </p:txBody>
      </p:sp>
      <p:pic>
        <p:nvPicPr>
          <p:cNvPr id="10" name="Picture 9" descr="sk_kasbah.png"/>
          <p:cNvPicPr>
            <a:picLocks noChangeAspect="1"/>
          </p:cNvPicPr>
          <p:nvPr/>
        </p:nvPicPr>
        <p:blipFill>
          <a:blip r:embed="rId2"/>
          <a:stretch>
            <a:fillRect/>
          </a:stretch>
        </p:blipFill>
        <p:spPr>
          <a:xfrm>
            <a:off x="254000" y="2074333"/>
            <a:ext cx="2222500" cy="1481667"/>
          </a:xfrm>
          <a:prstGeom prst="rect">
            <a:avLst/>
          </a:prstGeom>
        </p:spPr>
      </p:pic>
      <p:pic>
        <p:nvPicPr>
          <p:cNvPr id="11" name="Picture 10" descr="sk_medina.png"/>
          <p:cNvPicPr>
            <a:picLocks noChangeAspect="1"/>
          </p:cNvPicPr>
          <p:nvPr/>
        </p:nvPicPr>
        <p:blipFill>
          <a:blip r:embed="rId3"/>
          <a:stretch>
            <a:fillRect/>
          </a:stretch>
        </p:blipFill>
        <p:spPr>
          <a:xfrm>
            <a:off x="2616200" y="2269170"/>
            <a:ext cx="2222500" cy="1286830"/>
          </a:xfrm>
          <a:prstGeom prst="rect">
            <a:avLst/>
          </a:prstGeom>
        </p:spPr>
      </p:pic>
      <p:pic>
        <p:nvPicPr>
          <p:cNvPr id="12" name="Picture 11" descr="sk_minaret.png"/>
          <p:cNvPicPr>
            <a:picLocks noChangeAspect="1"/>
          </p:cNvPicPr>
          <p:nvPr/>
        </p:nvPicPr>
        <p:blipFill>
          <a:blip r:embed="rId4"/>
          <a:stretch>
            <a:fillRect/>
          </a:stretch>
        </p:blipFill>
        <p:spPr>
          <a:xfrm>
            <a:off x="4978400" y="1335810"/>
            <a:ext cx="2222500" cy="2220190"/>
          </a:xfrm>
          <a:prstGeom prst="rect">
            <a:avLst/>
          </a:prstGeom>
        </p:spPr>
      </p:pic>
      <p:pic>
        <p:nvPicPr>
          <p:cNvPr id="13" name="Picture 12" descr="sk_legation.png"/>
          <p:cNvPicPr>
            <a:picLocks noChangeAspect="1"/>
          </p:cNvPicPr>
          <p:nvPr/>
        </p:nvPicPr>
        <p:blipFill>
          <a:blip r:embed="rId5"/>
          <a:stretch>
            <a:fillRect/>
          </a:stretch>
        </p:blipFill>
        <p:spPr>
          <a:xfrm>
            <a:off x="7340600" y="1687080"/>
            <a:ext cx="2222500" cy="1868920"/>
          </a:xfrm>
          <a:prstGeom prst="rect">
            <a:avLst/>
          </a:prstGeom>
        </p:spPr>
      </p:pic>
      <p:pic>
        <p:nvPicPr>
          <p:cNvPr id="14" name="Picture 13" descr="sk_cervantes.png"/>
          <p:cNvPicPr>
            <a:picLocks noChangeAspect="1"/>
          </p:cNvPicPr>
          <p:nvPr/>
        </p:nvPicPr>
        <p:blipFill>
          <a:blip r:embed="rId6"/>
          <a:stretch>
            <a:fillRect/>
          </a:stretch>
        </p:blipFill>
        <p:spPr>
          <a:xfrm>
            <a:off x="9702800" y="1886720"/>
            <a:ext cx="2222500" cy="1669280"/>
          </a:xfrm>
          <a:prstGeom prst="rect">
            <a:avLst/>
          </a:prstGeom>
        </p:spPr>
      </p:pic>
      <p:pic>
        <p:nvPicPr>
          <p:cNvPr id="15" name="Picture 14" descr="sk_standrew.png"/>
          <p:cNvPicPr>
            <a:picLocks noChangeAspect="1"/>
          </p:cNvPicPr>
          <p:nvPr/>
        </p:nvPicPr>
        <p:blipFill>
          <a:blip r:embed="rId7"/>
          <a:stretch>
            <a:fillRect/>
          </a:stretch>
        </p:blipFill>
        <p:spPr>
          <a:xfrm>
            <a:off x="254000" y="4364990"/>
            <a:ext cx="2222500" cy="1858010"/>
          </a:xfrm>
          <a:prstGeom prst="rect">
            <a:avLst/>
          </a:prstGeom>
        </p:spPr>
      </p:pic>
      <p:pic>
        <p:nvPicPr>
          <p:cNvPr id="16" name="Picture 15" descr="sk_port.png"/>
          <p:cNvPicPr>
            <a:picLocks noChangeAspect="1"/>
          </p:cNvPicPr>
          <p:nvPr/>
        </p:nvPicPr>
        <p:blipFill>
          <a:blip r:embed="rId8"/>
          <a:stretch>
            <a:fillRect/>
          </a:stretch>
        </p:blipFill>
        <p:spPr>
          <a:xfrm>
            <a:off x="2616200" y="4391660"/>
            <a:ext cx="2222500" cy="1831340"/>
          </a:xfrm>
          <a:prstGeom prst="rect">
            <a:avLst/>
          </a:prstGeom>
        </p:spPr>
      </p:pic>
      <p:pic>
        <p:nvPicPr>
          <p:cNvPr id="17" name="Picture 16" descr="sk_hafa.png"/>
          <p:cNvPicPr>
            <a:picLocks noChangeAspect="1"/>
          </p:cNvPicPr>
          <p:nvPr/>
        </p:nvPicPr>
        <p:blipFill>
          <a:blip r:embed="rId9"/>
          <a:stretch>
            <a:fillRect/>
          </a:stretch>
        </p:blipFill>
        <p:spPr>
          <a:xfrm>
            <a:off x="4978400" y="4809490"/>
            <a:ext cx="2222500" cy="1413510"/>
          </a:xfrm>
          <a:prstGeom prst="rect">
            <a:avLst/>
          </a:prstGeom>
        </p:spPr>
      </p:pic>
      <p:pic>
        <p:nvPicPr>
          <p:cNvPr id="18" name="Picture 17" descr="sk_spartel.png"/>
          <p:cNvPicPr>
            <a:picLocks noChangeAspect="1"/>
          </p:cNvPicPr>
          <p:nvPr/>
        </p:nvPicPr>
        <p:blipFill>
          <a:blip r:embed="rId10"/>
          <a:stretch>
            <a:fillRect/>
          </a:stretch>
        </p:blipFill>
        <p:spPr>
          <a:xfrm>
            <a:off x="7340600" y="4108915"/>
            <a:ext cx="2222500" cy="2114085"/>
          </a:xfrm>
          <a:prstGeom prst="rect">
            <a:avLst/>
          </a:prstGeom>
        </p:spPr>
      </p:pic>
      <p:pic>
        <p:nvPicPr>
          <p:cNvPr id="19" name="Picture 18" descr="sk_stade.png"/>
          <p:cNvPicPr>
            <a:picLocks noChangeAspect="1"/>
          </p:cNvPicPr>
          <p:nvPr/>
        </p:nvPicPr>
        <p:blipFill>
          <a:blip r:embed="rId11"/>
          <a:stretch>
            <a:fillRect/>
          </a:stretch>
        </p:blipFill>
        <p:spPr>
          <a:xfrm>
            <a:off x="9702800" y="5146290"/>
            <a:ext cx="2222500" cy="107671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03A"/>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EDEDED"/>
                </a:solidFill>
                <a:latin typeface="Barlow Condensed"/>
              </a:rPr>
              <a:t>UN TERRITOIRE TOURNÉ VERS LE DÉTROIT</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A6A29B"/>
                </a:solidFill>
                <a:latin typeface="Barlow"/>
              </a:rPr>
              <a:t>Les pôles de l'image sur la côte, les pôles productifs le long des autoroutes.</a:t>
            </a:r>
          </a:p>
        </p:txBody>
      </p:sp>
      <p:pic>
        <p:nvPicPr>
          <p:cNvPr id="5" name="Picture 4" descr="nc_sk_standrew.png"/>
          <p:cNvPicPr>
            <a:picLocks noChangeAspect="1"/>
          </p:cNvPicPr>
          <p:nvPr/>
        </p:nvPicPr>
        <p:blipFill>
          <a:blip r:embed="rId2"/>
          <a:stretch>
            <a:fillRect/>
          </a:stretch>
        </p:blipFill>
        <p:spPr>
          <a:xfrm>
            <a:off x="11026205" y="139700"/>
            <a:ext cx="911795" cy="711200"/>
          </a:xfrm>
          <a:prstGeom prst="rect">
            <a:avLst/>
          </a:prstGeom>
        </p:spPr>
      </p:pic>
      <p:sp>
        <p:nvSpPr>
          <p:cNvPr id="6" name="TextBox 5"/>
          <p:cNvSpPr txBox="1"/>
          <p:nvPr/>
        </p:nvSpPr>
        <p:spPr>
          <a:xfrm>
            <a:off x="9775255" y="215900"/>
            <a:ext cx="99695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167 100</a:t>
            </a:r>
          </a:p>
        </p:txBody>
      </p:sp>
      <p:sp>
        <p:nvSpPr>
          <p:cNvPr id="7" name="TextBox 6"/>
          <p:cNvSpPr txBox="1"/>
          <p:nvPr/>
        </p:nvSpPr>
        <p:spPr>
          <a:xfrm>
            <a:off x="9775255" y="546100"/>
            <a:ext cx="99695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croisiéristes</a:t>
            </a:r>
          </a:p>
          <a:p>
            <a:pPr algn="r">
              <a:lnSpc>
                <a:spcPct val="110000"/>
              </a:lnSpc>
            </a:pPr>
            <a:r>
              <a:rPr sz="850" b="0" i="0">
                <a:solidFill>
                  <a:srgbClr val="A6A29B"/>
                </a:solidFill>
                <a:latin typeface="Barlow"/>
              </a:rPr>
              <a:t>en 2025</a:t>
            </a:r>
          </a:p>
        </p:txBody>
      </p:sp>
      <p:sp>
        <p:nvSpPr>
          <p:cNvPr id="8" name="TextBox 7"/>
          <p:cNvSpPr txBox="1"/>
          <p:nvPr/>
        </p:nvSpPr>
        <p:spPr>
          <a:xfrm>
            <a:off x="8797355" y="215900"/>
            <a:ext cx="76200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+40 %</a:t>
            </a:r>
          </a:p>
        </p:txBody>
      </p:sp>
      <p:sp>
        <p:nvSpPr>
          <p:cNvPr id="9" name="TextBox 8"/>
          <p:cNvSpPr txBox="1"/>
          <p:nvPr/>
        </p:nvSpPr>
        <p:spPr>
          <a:xfrm>
            <a:off x="8797355" y="546100"/>
            <a:ext cx="76200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en dix ans</a:t>
            </a:r>
          </a:p>
        </p:txBody>
      </p:sp>
      <p:sp>
        <p:nvSpPr>
          <p:cNvPr id="10" name="TextBox 9"/>
          <p:cNvSpPr txBox="1"/>
          <p:nvPr/>
        </p:nvSpPr>
        <p:spPr>
          <a:xfrm>
            <a:off x="7717855" y="215900"/>
            <a:ext cx="86360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1,49 M</a:t>
            </a:r>
          </a:p>
        </p:txBody>
      </p:sp>
      <p:sp>
        <p:nvSpPr>
          <p:cNvPr id="11" name="TextBox 10"/>
          <p:cNvSpPr txBox="1"/>
          <p:nvPr/>
        </p:nvSpPr>
        <p:spPr>
          <a:xfrm>
            <a:off x="7717855" y="546100"/>
            <a:ext cx="86360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habitants, préfecture</a:t>
            </a:r>
          </a:p>
          <a:p>
            <a:pPr algn="r">
              <a:lnSpc>
                <a:spcPct val="110000"/>
              </a:lnSpc>
            </a:pPr>
            <a:r>
              <a:rPr sz="850" b="0" i="0">
                <a:solidFill>
                  <a:srgbClr val="A6A29B"/>
                </a:solidFill>
                <a:latin typeface="Barlow"/>
              </a:rPr>
              <a:t>Tanger-Assilah (2024)</a:t>
            </a:r>
          </a:p>
        </p:txBody>
      </p:sp>
      <p:cxnSp>
        <p:nvCxnSpPr>
          <p:cNvPr id="12" name="Connector 11"/>
          <p:cNvCxnSpPr/>
          <p:nvPr/>
        </p:nvCxnSpPr>
        <p:spPr>
          <a:xfrm>
            <a:off x="254000" y="6578600"/>
            <a:ext cx="11684000" cy="0"/>
          </a:xfrm>
          <a:prstGeom prst="line">
            <a:avLst/>
          </a:prstGeom>
          <a:ln w="6350">
            <a:solidFill>
              <a:srgbClr val="45535D"/>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A6A29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A6A29B"/>
                </a:solidFill>
                <a:latin typeface="Barlow Condensed"/>
              </a:rPr>
              <a:t>I. SEFIANI · A. AZARKAN  ·  ENAT S7 G4  ·  SÉMINAIRE, M. H. BAHOUSS        10 / 32</a:t>
            </a:r>
          </a:p>
        </p:txBody>
      </p:sp>
      <p:pic>
        <p:nvPicPr>
          <p:cNvPr id="15" name="Picture 14" descr="m01_territoire.jpg"/>
          <p:cNvPicPr>
            <a:picLocks noChangeAspect="1"/>
          </p:cNvPicPr>
          <p:nvPr/>
        </p:nvPicPr>
        <p:blipFill>
          <a:blip r:embed="rId3"/>
          <a:stretch>
            <a:fillRect/>
          </a:stretch>
        </p:blipFill>
        <p:spPr>
          <a:xfrm>
            <a:off x="254000" y="952500"/>
            <a:ext cx="7937500" cy="5622396"/>
          </a:xfrm>
          <a:prstGeom prst="rect">
            <a:avLst/>
          </a:prstGeom>
        </p:spPr>
      </p:pic>
      <p:sp>
        <p:nvSpPr>
          <p:cNvPr id="16" name="TextBox 15"/>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LES GRANDS REPÈRES</a:t>
            </a:r>
          </a:p>
        </p:txBody>
      </p:sp>
      <p:sp>
        <p:nvSpPr>
          <p:cNvPr id="17" name="Oval 16"/>
          <p:cNvSpPr/>
          <p:nvPr/>
        </p:nvSpPr>
        <p:spPr>
          <a:xfrm>
            <a:off x="8451850" y="1168400"/>
            <a:ext cx="152400" cy="152400"/>
          </a:xfrm>
          <a:prstGeom prst="ellipse">
            <a:avLst/>
          </a:prstGeom>
          <a:solidFill>
            <a:srgbClr val="B5563C"/>
          </a:solidFill>
          <a:ln w="9525">
            <a:solidFill>
              <a:srgbClr val="FFFFFF"/>
            </a:solidFill>
          </a:ln>
        </p:spPr>
        <p:txBody>
          <a:bodyPr rtlCol="0" anchor="ctr"/>
          <a:lstStyle/>
          <a:p>
            <a:pPr algn="ctr"/>
          </a:p>
        </p:txBody>
      </p:sp>
      <p:sp>
        <p:nvSpPr>
          <p:cNvPr id="18" name="TextBox 17"/>
          <p:cNvSpPr txBox="1"/>
          <p:nvPr/>
        </p:nvSpPr>
        <p:spPr>
          <a:xfrm>
            <a:off x="8451850" y="11684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19" name="TextBox 18"/>
          <p:cNvSpPr txBox="1"/>
          <p:nvPr/>
        </p:nvSpPr>
        <p:spPr>
          <a:xfrm>
            <a:off x="8674100" y="11811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Ville et Tanja Marina Bay</a:t>
            </a:r>
          </a:p>
        </p:txBody>
      </p:sp>
      <p:sp>
        <p:nvSpPr>
          <p:cNvPr id="20" name="Oval 19"/>
          <p:cNvSpPr/>
          <p:nvPr/>
        </p:nvSpPr>
        <p:spPr>
          <a:xfrm>
            <a:off x="8451850" y="1384300"/>
            <a:ext cx="152400" cy="152400"/>
          </a:xfrm>
          <a:prstGeom prst="ellipse">
            <a:avLst/>
          </a:prstGeom>
          <a:solidFill>
            <a:srgbClr val="B5563C"/>
          </a:solidFill>
          <a:ln w="9525">
            <a:solidFill>
              <a:srgbClr val="FFFFFF"/>
            </a:solidFill>
          </a:ln>
        </p:spPr>
        <p:txBody>
          <a:bodyPr rtlCol="0" anchor="ctr"/>
          <a:lstStyle/>
          <a:p>
            <a:pPr algn="ctr"/>
          </a:p>
        </p:txBody>
      </p:sp>
      <p:sp>
        <p:nvSpPr>
          <p:cNvPr id="21" name="TextBox 20"/>
          <p:cNvSpPr txBox="1"/>
          <p:nvPr/>
        </p:nvSpPr>
        <p:spPr>
          <a:xfrm>
            <a:off x="8451850" y="13843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7</a:t>
            </a:r>
          </a:p>
        </p:txBody>
      </p:sp>
      <p:sp>
        <p:nvSpPr>
          <p:cNvPr id="22" name="TextBox 21"/>
          <p:cNvSpPr txBox="1"/>
          <p:nvPr/>
        </p:nvSpPr>
        <p:spPr>
          <a:xfrm>
            <a:off x="8674100" y="13970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Gare TGV Tanger Ville (Al Boraq, 2018)</a:t>
            </a:r>
          </a:p>
        </p:txBody>
      </p:sp>
      <p:sp>
        <p:nvSpPr>
          <p:cNvPr id="23" name="Oval 22"/>
          <p:cNvSpPr/>
          <p:nvPr/>
        </p:nvSpPr>
        <p:spPr>
          <a:xfrm>
            <a:off x="8451850" y="1600200"/>
            <a:ext cx="152400" cy="152400"/>
          </a:xfrm>
          <a:prstGeom prst="ellipse">
            <a:avLst/>
          </a:prstGeom>
          <a:solidFill>
            <a:srgbClr val="B5563C"/>
          </a:solidFill>
          <a:ln w="9525">
            <a:solidFill>
              <a:srgbClr val="FFFFFF"/>
            </a:solidFill>
          </a:ln>
        </p:spPr>
        <p:txBody>
          <a:bodyPr rtlCol="0" anchor="ctr"/>
          <a:lstStyle/>
          <a:p>
            <a:pPr algn="ctr"/>
          </a:p>
        </p:txBody>
      </p:sp>
      <p:sp>
        <p:nvSpPr>
          <p:cNvPr id="24" name="TextBox 23"/>
          <p:cNvSpPr txBox="1"/>
          <p:nvPr/>
        </p:nvSpPr>
        <p:spPr>
          <a:xfrm>
            <a:off x="8451850" y="16002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8</a:t>
            </a:r>
          </a:p>
        </p:txBody>
      </p:sp>
      <p:sp>
        <p:nvSpPr>
          <p:cNvPr id="25" name="TextBox 24"/>
          <p:cNvSpPr txBox="1"/>
          <p:nvPr/>
        </p:nvSpPr>
        <p:spPr>
          <a:xfrm>
            <a:off x="8674100" y="16129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Grand stade Ibn Batouta (Mondial 2030)</a:t>
            </a:r>
          </a:p>
        </p:txBody>
      </p:sp>
      <p:sp>
        <p:nvSpPr>
          <p:cNvPr id="26" name="Oval 25"/>
          <p:cNvSpPr/>
          <p:nvPr/>
        </p:nvSpPr>
        <p:spPr>
          <a:xfrm>
            <a:off x="8451850" y="1816100"/>
            <a:ext cx="152400" cy="152400"/>
          </a:xfrm>
          <a:prstGeom prst="ellipse">
            <a:avLst/>
          </a:prstGeom>
          <a:solidFill>
            <a:srgbClr val="B5563C"/>
          </a:solidFill>
          <a:ln w="9525">
            <a:solidFill>
              <a:srgbClr val="FFFFFF"/>
            </a:solidFill>
          </a:ln>
        </p:spPr>
        <p:txBody>
          <a:bodyPr rtlCol="0" anchor="ctr"/>
          <a:lstStyle/>
          <a:p>
            <a:pPr algn="ctr"/>
          </a:p>
        </p:txBody>
      </p:sp>
      <p:sp>
        <p:nvSpPr>
          <p:cNvPr id="27" name="TextBox 26"/>
          <p:cNvSpPr txBox="1"/>
          <p:nvPr/>
        </p:nvSpPr>
        <p:spPr>
          <a:xfrm>
            <a:off x="8451850" y="18161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9</a:t>
            </a:r>
          </a:p>
        </p:txBody>
      </p:sp>
      <p:sp>
        <p:nvSpPr>
          <p:cNvPr id="28" name="TextBox 27"/>
          <p:cNvSpPr txBox="1"/>
          <p:nvPr/>
        </p:nvSpPr>
        <p:spPr>
          <a:xfrm>
            <a:off x="8674100" y="18288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Spartel, grottes d'Hercule</a:t>
            </a:r>
          </a:p>
        </p:txBody>
      </p:sp>
      <p:sp>
        <p:nvSpPr>
          <p:cNvPr id="29" name="Oval 28"/>
          <p:cNvSpPr/>
          <p:nvPr/>
        </p:nvSpPr>
        <p:spPr>
          <a:xfrm>
            <a:off x="8451850" y="2032000"/>
            <a:ext cx="152400" cy="152400"/>
          </a:xfrm>
          <a:prstGeom prst="ellipse">
            <a:avLst/>
          </a:prstGeom>
          <a:solidFill>
            <a:srgbClr val="B5563C"/>
          </a:solidFill>
          <a:ln w="9525">
            <a:solidFill>
              <a:srgbClr val="FFFFFF"/>
            </a:solidFill>
          </a:ln>
        </p:spPr>
        <p:txBody>
          <a:bodyPr rtlCol="0" anchor="ctr"/>
          <a:lstStyle/>
          <a:p>
            <a:pPr algn="ctr"/>
          </a:p>
        </p:txBody>
      </p:sp>
      <p:sp>
        <p:nvSpPr>
          <p:cNvPr id="30" name="TextBox 29"/>
          <p:cNvSpPr txBox="1"/>
          <p:nvPr/>
        </p:nvSpPr>
        <p:spPr>
          <a:xfrm>
            <a:off x="8451850" y="20320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10</a:t>
            </a:r>
          </a:p>
        </p:txBody>
      </p:sp>
      <p:sp>
        <p:nvSpPr>
          <p:cNvPr id="31" name="TextBox 30"/>
          <p:cNvSpPr txBox="1"/>
          <p:nvPr/>
        </p:nvSpPr>
        <p:spPr>
          <a:xfrm>
            <a:off x="8674100" y="20447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Malabata, front hôtelier</a:t>
            </a:r>
          </a:p>
        </p:txBody>
      </p:sp>
      <p:sp>
        <p:nvSpPr>
          <p:cNvPr id="32" name="Oval 31"/>
          <p:cNvSpPr/>
          <p:nvPr/>
        </p:nvSpPr>
        <p:spPr>
          <a:xfrm>
            <a:off x="8451850" y="2247900"/>
            <a:ext cx="152400" cy="152400"/>
          </a:xfrm>
          <a:prstGeom prst="ellipse">
            <a:avLst/>
          </a:prstGeom>
          <a:solidFill>
            <a:srgbClr val="3E5A6E"/>
          </a:solidFill>
          <a:ln w="9525">
            <a:solidFill>
              <a:srgbClr val="FFFFFF"/>
            </a:solidFill>
          </a:ln>
        </p:spPr>
        <p:txBody>
          <a:bodyPr rtlCol="0" anchor="ctr"/>
          <a:lstStyle/>
          <a:p>
            <a:pPr algn="ctr"/>
          </a:p>
        </p:txBody>
      </p:sp>
      <p:sp>
        <p:nvSpPr>
          <p:cNvPr id="33" name="TextBox 32"/>
          <p:cNvSpPr txBox="1"/>
          <p:nvPr/>
        </p:nvSpPr>
        <p:spPr>
          <a:xfrm>
            <a:off x="8451850" y="22479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4" name="TextBox 33"/>
          <p:cNvSpPr txBox="1"/>
          <p:nvPr/>
        </p:nvSpPr>
        <p:spPr>
          <a:xfrm>
            <a:off x="8674100" y="22606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Med (2007)</a:t>
            </a:r>
          </a:p>
        </p:txBody>
      </p:sp>
      <p:sp>
        <p:nvSpPr>
          <p:cNvPr id="35" name="Oval 34"/>
          <p:cNvSpPr/>
          <p:nvPr/>
        </p:nvSpPr>
        <p:spPr>
          <a:xfrm>
            <a:off x="8451850" y="2463800"/>
            <a:ext cx="152400" cy="152400"/>
          </a:xfrm>
          <a:prstGeom prst="ellipse">
            <a:avLst/>
          </a:prstGeom>
          <a:solidFill>
            <a:srgbClr val="3E5A6E"/>
          </a:solidFill>
          <a:ln w="9525">
            <a:solidFill>
              <a:srgbClr val="FFFFFF"/>
            </a:solidFill>
          </a:ln>
        </p:spPr>
        <p:txBody>
          <a:bodyPr rtlCol="0" anchor="ctr"/>
          <a:lstStyle/>
          <a:p>
            <a:pPr algn="ctr"/>
          </a:p>
        </p:txBody>
      </p:sp>
      <p:sp>
        <p:nvSpPr>
          <p:cNvPr id="36" name="TextBox 35"/>
          <p:cNvSpPr txBox="1"/>
          <p:nvPr/>
        </p:nvSpPr>
        <p:spPr>
          <a:xfrm>
            <a:off x="8451850" y="24638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37" name="TextBox 36"/>
          <p:cNvSpPr txBox="1"/>
          <p:nvPr/>
        </p:nvSpPr>
        <p:spPr>
          <a:xfrm>
            <a:off x="8674100" y="24765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Zone franche de Tanger</a:t>
            </a:r>
          </a:p>
        </p:txBody>
      </p:sp>
      <p:sp>
        <p:nvSpPr>
          <p:cNvPr id="38" name="Oval 37"/>
          <p:cNvSpPr/>
          <p:nvPr/>
        </p:nvSpPr>
        <p:spPr>
          <a:xfrm>
            <a:off x="8451850" y="2679700"/>
            <a:ext cx="152400" cy="152400"/>
          </a:xfrm>
          <a:prstGeom prst="ellipse">
            <a:avLst/>
          </a:prstGeom>
          <a:solidFill>
            <a:srgbClr val="3E5A6E"/>
          </a:solidFill>
          <a:ln w="9525">
            <a:solidFill>
              <a:srgbClr val="FFFFFF"/>
            </a:solidFill>
          </a:ln>
        </p:spPr>
        <p:txBody>
          <a:bodyPr rtlCol="0" anchor="ctr"/>
          <a:lstStyle/>
          <a:p>
            <a:pPr algn="ctr"/>
          </a:p>
        </p:txBody>
      </p:sp>
      <p:sp>
        <p:nvSpPr>
          <p:cNvPr id="39" name="TextBox 38"/>
          <p:cNvSpPr txBox="1"/>
          <p:nvPr/>
        </p:nvSpPr>
        <p:spPr>
          <a:xfrm>
            <a:off x="8451850" y="26797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5</a:t>
            </a:r>
          </a:p>
        </p:txBody>
      </p:sp>
      <p:sp>
        <p:nvSpPr>
          <p:cNvPr id="40" name="TextBox 39"/>
          <p:cNvSpPr txBox="1"/>
          <p:nvPr/>
        </p:nvSpPr>
        <p:spPr>
          <a:xfrm>
            <a:off x="8674100" y="26924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Usine Renault Melloussa</a:t>
            </a:r>
          </a:p>
        </p:txBody>
      </p:sp>
      <p:sp>
        <p:nvSpPr>
          <p:cNvPr id="41" name="Oval 40"/>
          <p:cNvSpPr/>
          <p:nvPr/>
        </p:nvSpPr>
        <p:spPr>
          <a:xfrm>
            <a:off x="8451850" y="2895600"/>
            <a:ext cx="152400" cy="152400"/>
          </a:xfrm>
          <a:prstGeom prst="ellipse">
            <a:avLst/>
          </a:prstGeom>
          <a:solidFill>
            <a:srgbClr val="3E5A6E"/>
          </a:solidFill>
          <a:ln w="9525">
            <a:solidFill>
              <a:srgbClr val="FFFFFF"/>
            </a:solidFill>
          </a:ln>
        </p:spPr>
        <p:txBody>
          <a:bodyPr rtlCol="0" anchor="ctr"/>
          <a:lstStyle/>
          <a:p>
            <a:pPr algn="ctr"/>
          </a:p>
        </p:txBody>
      </p:sp>
      <p:sp>
        <p:nvSpPr>
          <p:cNvPr id="42" name="TextBox 41"/>
          <p:cNvSpPr txBox="1"/>
          <p:nvPr/>
        </p:nvSpPr>
        <p:spPr>
          <a:xfrm>
            <a:off x="8451850" y="28956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6</a:t>
            </a:r>
          </a:p>
        </p:txBody>
      </p:sp>
      <p:sp>
        <p:nvSpPr>
          <p:cNvPr id="43" name="TextBox 42"/>
          <p:cNvSpPr txBox="1"/>
          <p:nvPr/>
        </p:nvSpPr>
        <p:spPr>
          <a:xfrm>
            <a:off x="8674100" y="29083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Tanger Automotive City</a:t>
            </a:r>
          </a:p>
        </p:txBody>
      </p:sp>
      <p:sp>
        <p:nvSpPr>
          <p:cNvPr id="44" name="Oval 43"/>
          <p:cNvSpPr/>
          <p:nvPr/>
        </p:nvSpPr>
        <p:spPr>
          <a:xfrm>
            <a:off x="8451850" y="3111500"/>
            <a:ext cx="152400" cy="152400"/>
          </a:xfrm>
          <a:prstGeom prst="ellipse">
            <a:avLst/>
          </a:prstGeom>
          <a:solidFill>
            <a:srgbClr val="7D8B96"/>
          </a:solidFill>
          <a:ln w="9525">
            <a:solidFill>
              <a:srgbClr val="FFFFFF"/>
            </a:solidFill>
          </a:ln>
        </p:spPr>
        <p:txBody>
          <a:bodyPr rtlCol="0" anchor="ctr"/>
          <a:lstStyle/>
          <a:p>
            <a:pPr algn="ctr"/>
          </a:p>
        </p:txBody>
      </p:sp>
      <p:sp>
        <p:nvSpPr>
          <p:cNvPr id="45" name="TextBox 44"/>
          <p:cNvSpPr txBox="1"/>
          <p:nvPr/>
        </p:nvSpPr>
        <p:spPr>
          <a:xfrm>
            <a:off x="8451850" y="31115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46" name="TextBox 45"/>
          <p:cNvSpPr txBox="1"/>
          <p:nvPr/>
        </p:nvSpPr>
        <p:spPr>
          <a:xfrm>
            <a:off x="8674100" y="31242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Aéroport Ibn Battouta</a:t>
            </a:r>
          </a:p>
        </p:txBody>
      </p:sp>
      <p:sp>
        <p:nvSpPr>
          <p:cNvPr id="47" name="TextBox 46"/>
          <p:cNvSpPr txBox="1"/>
          <p:nvPr/>
        </p:nvSpPr>
        <p:spPr>
          <a:xfrm>
            <a:off x="8445500" y="349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FAMILLES</a:t>
            </a:r>
          </a:p>
        </p:txBody>
      </p:sp>
      <p:sp>
        <p:nvSpPr>
          <p:cNvPr id="48" name="Oval 47"/>
          <p:cNvSpPr/>
          <p:nvPr/>
        </p:nvSpPr>
        <p:spPr>
          <a:xfrm>
            <a:off x="8483600" y="3708400"/>
            <a:ext cx="88900" cy="88900"/>
          </a:xfrm>
          <a:prstGeom prst="ellipse">
            <a:avLst/>
          </a:prstGeom>
          <a:solidFill>
            <a:srgbClr val="B5563C"/>
          </a:solidFill>
          <a:ln w="6350">
            <a:solidFill>
              <a:srgbClr val="FFFFFF"/>
            </a:solidFill>
          </a:ln>
        </p:spPr>
        <p:txBody>
          <a:bodyPr rtlCol="0" anchor="ctr"/>
          <a:lstStyle/>
          <a:p>
            <a:pPr algn="ctr"/>
          </a:p>
        </p:txBody>
      </p:sp>
      <p:sp>
        <p:nvSpPr>
          <p:cNvPr id="49" name="TextBox 48"/>
          <p:cNvSpPr txBox="1"/>
          <p:nvPr/>
        </p:nvSpPr>
        <p:spPr>
          <a:xfrm>
            <a:off x="8699500" y="36893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Image, tourisme, événement</a:t>
            </a:r>
          </a:p>
        </p:txBody>
      </p:sp>
      <p:sp>
        <p:nvSpPr>
          <p:cNvPr id="50" name="Oval 49"/>
          <p:cNvSpPr/>
          <p:nvPr/>
        </p:nvSpPr>
        <p:spPr>
          <a:xfrm>
            <a:off x="8483600" y="3886200"/>
            <a:ext cx="88900" cy="88900"/>
          </a:xfrm>
          <a:prstGeom prst="ellipse">
            <a:avLst/>
          </a:prstGeom>
          <a:solidFill>
            <a:srgbClr val="3E5A6E"/>
          </a:solidFill>
          <a:ln w="6350">
            <a:solidFill>
              <a:srgbClr val="FFFFFF"/>
            </a:solidFill>
          </a:ln>
        </p:spPr>
        <p:txBody>
          <a:bodyPr rtlCol="0" anchor="ctr"/>
          <a:lstStyle/>
          <a:p>
            <a:pPr algn="ctr"/>
          </a:p>
        </p:txBody>
      </p:sp>
      <p:sp>
        <p:nvSpPr>
          <p:cNvPr id="51" name="TextBox 50"/>
          <p:cNvSpPr txBox="1"/>
          <p:nvPr/>
        </p:nvSpPr>
        <p:spPr>
          <a:xfrm>
            <a:off x="8699500" y="38671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Économie productive (port, industrie)</a:t>
            </a:r>
          </a:p>
        </p:txBody>
      </p:sp>
      <p:cxnSp>
        <p:nvCxnSpPr>
          <p:cNvPr id="52" name="Connector 51"/>
          <p:cNvCxnSpPr/>
          <p:nvPr/>
        </p:nvCxnSpPr>
        <p:spPr>
          <a:xfrm>
            <a:off x="8445500" y="4108450"/>
            <a:ext cx="165100" cy="0"/>
          </a:xfrm>
          <a:prstGeom prst="line">
            <a:avLst/>
          </a:prstGeom>
          <a:ln w="22225">
            <a:solidFill>
              <a:srgbClr val="D08A5C"/>
            </a:solidFill>
          </a:ln>
        </p:spPr>
      </p:cxnSp>
      <p:sp>
        <p:nvSpPr>
          <p:cNvPr id="53" name="TextBox 52"/>
          <p:cNvSpPr txBox="1"/>
          <p:nvPr/>
        </p:nvSpPr>
        <p:spPr>
          <a:xfrm>
            <a:off x="8699500" y="40449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Autoroutes et voies express</a:t>
            </a:r>
          </a:p>
        </p:txBody>
      </p:sp>
      <p:cxnSp>
        <p:nvCxnSpPr>
          <p:cNvPr id="54" name="Connector 53"/>
          <p:cNvCxnSpPr/>
          <p:nvPr/>
        </p:nvCxnSpPr>
        <p:spPr>
          <a:xfrm>
            <a:off x="8445500" y="4286250"/>
            <a:ext cx="165100" cy="0"/>
          </a:xfrm>
          <a:prstGeom prst="line">
            <a:avLst/>
          </a:prstGeom>
          <a:ln w="13970">
            <a:solidFill>
              <a:srgbClr val="EDEDED"/>
            </a:solidFill>
            <a:prstDash val="dash"/>
          </a:ln>
        </p:spPr>
      </p:cxnSp>
      <p:sp>
        <p:nvSpPr>
          <p:cNvPr id="55" name="TextBox 54"/>
          <p:cNvSpPr txBox="1"/>
          <p:nvPr/>
        </p:nvSpPr>
        <p:spPr>
          <a:xfrm>
            <a:off x="8699500" y="42227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Voie ferrée et LGV</a:t>
            </a:r>
          </a:p>
        </p:txBody>
      </p:sp>
      <p:cxnSp>
        <p:nvCxnSpPr>
          <p:cNvPr id="56" name="Connector 55"/>
          <p:cNvCxnSpPr/>
          <p:nvPr/>
        </p:nvCxnSpPr>
        <p:spPr>
          <a:xfrm>
            <a:off x="8445500" y="4464050"/>
            <a:ext cx="165100" cy="0"/>
          </a:xfrm>
          <a:prstGeom prst="line">
            <a:avLst/>
          </a:prstGeom>
          <a:ln w="22225">
            <a:solidFill>
              <a:srgbClr val="FFFFFF"/>
            </a:solidFill>
          </a:ln>
        </p:spPr>
      </p:cxnSp>
      <p:sp>
        <p:nvSpPr>
          <p:cNvPr id="57" name="TextBox 56"/>
          <p:cNvSpPr txBox="1"/>
          <p:nvPr/>
        </p:nvSpPr>
        <p:spPr>
          <a:xfrm>
            <a:off x="8699500" y="44005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Commune de Tanger</a:t>
            </a:r>
          </a:p>
        </p:txBody>
      </p:sp>
      <p:sp>
        <p:nvSpPr>
          <p:cNvPr id="58" name="TextBox 57"/>
          <p:cNvSpPr txBox="1"/>
          <p:nvPr/>
        </p:nvSpPr>
        <p:spPr>
          <a:xfrm>
            <a:off x="8445500" y="4826000"/>
            <a:ext cx="3492500" cy="1270000"/>
          </a:xfrm>
          <a:prstGeom prst="rect">
            <a:avLst/>
          </a:prstGeom>
          <a:noFill/>
        </p:spPr>
        <p:txBody>
          <a:bodyPr wrap="square" lIns="0" rIns="0" tIns="0" bIns="0" anchor="t">
            <a:spAutoFit/>
          </a:bodyPr>
          <a:lstStyle/>
          <a:p>
            <a:pPr algn="l">
              <a:lnSpc>
                <a:spcPct val="140000"/>
              </a:lnSpc>
            </a:pPr>
            <a:r>
              <a:rPr sz="1050" b="1" i="0">
                <a:solidFill>
                  <a:srgbClr val="D08A5C"/>
                </a:solidFill>
                <a:latin typeface="Barlow"/>
              </a:rPr>
              <a:t>Lecture. </a:t>
            </a:r>
            <a:r>
              <a:rPr sz="1050" b="0" i="0">
                <a:solidFill>
                  <a:srgbClr val="D6D2CB"/>
                </a:solidFill>
                <a:latin typeface="Barlow"/>
              </a:rPr>
              <a:t>Tous les projets d'image se concentrent sur la façade maritime de la commune. Les pôles d'emploi sont rejetés à 9-32 km, le long des autoroutes, hors de la ville habitée.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QUI HABITE TANGER ?</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Population et croissance des quatre arrondissements de la commune, 2014-2024.</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+47 %</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croissance de</a:t>
            </a:r>
          </a:p>
          <a:p>
            <a:pPr algn="r">
              <a:lnSpc>
                <a:spcPct val="110000"/>
              </a:lnSpc>
            </a:pPr>
            <a:r>
              <a:rPr sz="850" b="0" i="0">
                <a:solidFill>
                  <a:srgbClr val="7B746B"/>
                </a:solidFill>
                <a:latin typeface="Barlow"/>
              </a:rPr>
              <a:t>Beni Makada</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44 %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vivent à</a:t>
            </a:r>
          </a:p>
          <a:p>
            <a:pPr algn="r">
              <a:lnSpc>
                <a:spcPct val="110000"/>
              </a:lnSpc>
            </a:pPr>
            <a:r>
              <a:rPr sz="850" b="0" i="0">
                <a:solidFill>
                  <a:srgbClr val="7B746B"/>
                </a:solidFill>
                <a:latin typeface="Barlow"/>
              </a:rPr>
              <a:t>Beni Makada</a:t>
            </a:r>
          </a:p>
        </p:txBody>
      </p:sp>
      <p:sp>
        <p:nvSpPr>
          <p:cNvPr id="9" name="TextBox 8"/>
          <p:cNvSpPr txBox="1"/>
          <p:nvPr/>
        </p:nvSpPr>
        <p:spPr>
          <a:xfrm>
            <a:off x="871855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1 275 428</a:t>
            </a:r>
          </a:p>
        </p:txBody>
      </p:sp>
      <p:sp>
        <p:nvSpPr>
          <p:cNvPr id="10" name="TextBox 9"/>
          <p:cNvSpPr txBox="1"/>
          <p:nvPr/>
        </p:nvSpPr>
        <p:spPr>
          <a:xfrm>
            <a:off x="871855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commune</a:t>
            </a:r>
          </a:p>
          <a:p>
            <a:pPr algn="r">
              <a:lnSpc>
                <a:spcPct val="110000"/>
              </a:lnSpc>
            </a:pPr>
            <a:r>
              <a:rPr sz="850" b="0" i="0">
                <a:solidFill>
                  <a:srgbClr val="7B746B"/>
                </a:solidFill>
                <a:latin typeface="Barlow"/>
              </a:rPr>
              <a:t>de Tanger (2024)</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11 / 32</a:t>
            </a:r>
          </a:p>
        </p:txBody>
      </p:sp>
      <p:pic>
        <p:nvPicPr>
          <p:cNvPr id="14" name="Picture 13" descr="m02_arrondissements.jpg"/>
          <p:cNvPicPr>
            <a:picLocks noChangeAspect="1"/>
          </p:cNvPicPr>
          <p:nvPr/>
        </p:nvPicPr>
        <p:blipFill>
          <a:blip r:embed="rId2"/>
          <a:stretch>
            <a:fillRect/>
          </a:stretch>
        </p:blipFill>
        <p:spPr>
          <a:xfrm>
            <a:off x="254000" y="952500"/>
            <a:ext cx="6826250" cy="5461000"/>
          </a:xfrm>
          <a:prstGeom prst="rect">
            <a:avLst/>
          </a:prstGeom>
        </p:spPr>
      </p:pic>
      <p:sp>
        <p:nvSpPr>
          <p:cNvPr id="15" name="TextBox 14"/>
          <p:cNvSpPr txBox="1"/>
          <p:nvPr/>
        </p:nvSpPr>
        <p:spPr>
          <a:xfrm>
            <a:off x="7302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POPULATION 2014 ET 2024</a:t>
            </a:r>
          </a:p>
        </p:txBody>
      </p:sp>
      <p:sp>
        <p:nvSpPr>
          <p:cNvPr id="16" name="TextBox 15"/>
          <p:cNvSpPr txBox="1"/>
          <p:nvPr/>
        </p:nvSpPr>
        <p:spPr>
          <a:xfrm>
            <a:off x="7302500" y="1206500"/>
            <a:ext cx="1905000" cy="139700"/>
          </a:xfrm>
          <a:prstGeom prst="rect">
            <a:avLst/>
          </a:prstGeom>
          <a:noFill/>
        </p:spPr>
        <p:txBody>
          <a:bodyPr wrap="square" lIns="0" rIns="0" tIns="0" bIns="0" anchor="t">
            <a:spAutoFit/>
          </a:bodyPr>
          <a:lstStyle/>
          <a:p>
            <a:pPr algn="l">
              <a:lnSpc>
                <a:spcPct val="120000"/>
              </a:lnSpc>
            </a:pPr>
            <a:r>
              <a:rPr sz="1100" b="1" i="0">
                <a:solidFill>
                  <a:srgbClr val="B5563C"/>
                </a:solidFill>
                <a:latin typeface="Barlow"/>
              </a:rPr>
              <a:t>Beni Makada</a:t>
            </a:r>
          </a:p>
        </p:txBody>
      </p:sp>
      <p:sp>
        <p:nvSpPr>
          <p:cNvPr id="17" name="Rectangle 16"/>
          <p:cNvSpPr/>
          <p:nvPr/>
        </p:nvSpPr>
        <p:spPr>
          <a:xfrm>
            <a:off x="7302500" y="1384300"/>
            <a:ext cx="2125338" cy="114300"/>
          </a:xfrm>
          <a:prstGeom prst="rect">
            <a:avLst/>
          </a:prstGeom>
          <a:solidFill>
            <a:srgbClr val="C2B8AA"/>
          </a:solidFill>
          <a:ln>
            <a:noFill/>
          </a:ln>
        </p:spPr>
        <p:txBody>
          <a:bodyPr rtlCol="0" anchor="ctr"/>
          <a:lstStyle/>
          <a:p>
            <a:pPr algn="ctr"/>
          </a:p>
        </p:txBody>
      </p:sp>
      <p:sp>
        <p:nvSpPr>
          <p:cNvPr id="18" name="TextBox 17"/>
          <p:cNvSpPr txBox="1"/>
          <p:nvPr/>
        </p:nvSpPr>
        <p:spPr>
          <a:xfrm>
            <a:off x="9478638" y="13716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386 191  (2014)</a:t>
            </a:r>
          </a:p>
        </p:txBody>
      </p:sp>
      <p:sp>
        <p:nvSpPr>
          <p:cNvPr id="19" name="Rectangle 18"/>
          <p:cNvSpPr/>
          <p:nvPr/>
        </p:nvSpPr>
        <p:spPr>
          <a:xfrm>
            <a:off x="7302500" y="1524000"/>
            <a:ext cx="3122949" cy="114300"/>
          </a:xfrm>
          <a:prstGeom prst="rect">
            <a:avLst/>
          </a:prstGeom>
          <a:solidFill>
            <a:srgbClr val="B5563C"/>
          </a:solidFill>
          <a:ln>
            <a:noFill/>
          </a:ln>
        </p:spPr>
        <p:txBody>
          <a:bodyPr rtlCol="0" anchor="ctr"/>
          <a:lstStyle/>
          <a:p>
            <a:pPr algn="ctr"/>
          </a:p>
        </p:txBody>
      </p:sp>
      <p:sp>
        <p:nvSpPr>
          <p:cNvPr id="20" name="TextBox 19"/>
          <p:cNvSpPr txBox="1"/>
          <p:nvPr/>
        </p:nvSpPr>
        <p:spPr>
          <a:xfrm>
            <a:off x="10476249" y="15113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567 465  (+47 %)</a:t>
            </a:r>
          </a:p>
        </p:txBody>
      </p:sp>
      <p:sp>
        <p:nvSpPr>
          <p:cNvPr id="21" name="TextBox 20"/>
          <p:cNvSpPr txBox="1"/>
          <p:nvPr/>
        </p:nvSpPr>
        <p:spPr>
          <a:xfrm>
            <a:off x="7302500" y="18288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Tanger-Médina</a:t>
            </a:r>
          </a:p>
        </p:txBody>
      </p:sp>
      <p:sp>
        <p:nvSpPr>
          <p:cNvPr id="22" name="Rectangle 21"/>
          <p:cNvSpPr/>
          <p:nvPr/>
        </p:nvSpPr>
        <p:spPr>
          <a:xfrm>
            <a:off x="7302500" y="2006600"/>
            <a:ext cx="1337761" cy="114300"/>
          </a:xfrm>
          <a:prstGeom prst="rect">
            <a:avLst/>
          </a:prstGeom>
          <a:solidFill>
            <a:srgbClr val="C2B8AA"/>
          </a:solidFill>
          <a:ln>
            <a:noFill/>
          </a:ln>
        </p:spPr>
        <p:txBody>
          <a:bodyPr rtlCol="0" anchor="ctr"/>
          <a:lstStyle/>
          <a:p>
            <a:pPr algn="ctr"/>
          </a:p>
        </p:txBody>
      </p:sp>
      <p:sp>
        <p:nvSpPr>
          <p:cNvPr id="23" name="TextBox 22"/>
          <p:cNvSpPr txBox="1"/>
          <p:nvPr/>
        </p:nvSpPr>
        <p:spPr>
          <a:xfrm>
            <a:off x="8691061" y="19939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243 082  (2014)</a:t>
            </a:r>
          </a:p>
        </p:txBody>
      </p:sp>
      <p:sp>
        <p:nvSpPr>
          <p:cNvPr id="24" name="Rectangle 23"/>
          <p:cNvSpPr/>
          <p:nvPr/>
        </p:nvSpPr>
        <p:spPr>
          <a:xfrm>
            <a:off x="7302500" y="2146300"/>
            <a:ext cx="1890588" cy="114300"/>
          </a:xfrm>
          <a:prstGeom prst="rect">
            <a:avLst/>
          </a:prstGeom>
          <a:solidFill>
            <a:srgbClr val="8E8578"/>
          </a:solidFill>
          <a:ln>
            <a:noFill/>
          </a:ln>
        </p:spPr>
        <p:txBody>
          <a:bodyPr rtlCol="0" anchor="ctr"/>
          <a:lstStyle/>
          <a:p>
            <a:pPr algn="ctr"/>
          </a:p>
        </p:txBody>
      </p:sp>
      <p:sp>
        <p:nvSpPr>
          <p:cNvPr id="25" name="TextBox 24"/>
          <p:cNvSpPr txBox="1"/>
          <p:nvPr/>
        </p:nvSpPr>
        <p:spPr>
          <a:xfrm>
            <a:off x="9243888" y="21336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343 535  (+41 %)</a:t>
            </a:r>
          </a:p>
        </p:txBody>
      </p:sp>
      <p:sp>
        <p:nvSpPr>
          <p:cNvPr id="26" name="TextBox 25"/>
          <p:cNvSpPr txBox="1"/>
          <p:nvPr/>
        </p:nvSpPr>
        <p:spPr>
          <a:xfrm>
            <a:off x="7302500" y="24511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Charf-Mghogha</a:t>
            </a:r>
          </a:p>
        </p:txBody>
      </p:sp>
      <p:sp>
        <p:nvSpPr>
          <p:cNvPr id="27" name="Rectangle 26"/>
          <p:cNvSpPr/>
          <p:nvPr/>
        </p:nvSpPr>
        <p:spPr>
          <a:xfrm>
            <a:off x="7302500" y="2628900"/>
            <a:ext cx="1106841" cy="114300"/>
          </a:xfrm>
          <a:prstGeom prst="rect">
            <a:avLst/>
          </a:prstGeom>
          <a:solidFill>
            <a:srgbClr val="C2B8AA"/>
          </a:solidFill>
          <a:ln>
            <a:noFill/>
          </a:ln>
        </p:spPr>
        <p:txBody>
          <a:bodyPr rtlCol="0" anchor="ctr"/>
          <a:lstStyle/>
          <a:p>
            <a:pPr algn="ctr"/>
          </a:p>
        </p:txBody>
      </p:sp>
      <p:sp>
        <p:nvSpPr>
          <p:cNvPr id="28" name="TextBox 27"/>
          <p:cNvSpPr txBox="1"/>
          <p:nvPr/>
        </p:nvSpPr>
        <p:spPr>
          <a:xfrm>
            <a:off x="8460141" y="26162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201 122  (2014)</a:t>
            </a:r>
          </a:p>
        </p:txBody>
      </p:sp>
      <p:sp>
        <p:nvSpPr>
          <p:cNvPr id="29" name="Rectangle 28"/>
          <p:cNvSpPr/>
          <p:nvPr/>
        </p:nvSpPr>
        <p:spPr>
          <a:xfrm>
            <a:off x="7302500" y="2768600"/>
            <a:ext cx="1390450" cy="114300"/>
          </a:xfrm>
          <a:prstGeom prst="rect">
            <a:avLst/>
          </a:prstGeom>
          <a:solidFill>
            <a:srgbClr val="8E8578"/>
          </a:solidFill>
          <a:ln>
            <a:noFill/>
          </a:ln>
        </p:spPr>
        <p:txBody>
          <a:bodyPr rtlCol="0" anchor="ctr"/>
          <a:lstStyle/>
          <a:p>
            <a:pPr algn="ctr"/>
          </a:p>
        </p:txBody>
      </p:sp>
      <p:sp>
        <p:nvSpPr>
          <p:cNvPr id="30" name="TextBox 29"/>
          <p:cNvSpPr txBox="1"/>
          <p:nvPr/>
        </p:nvSpPr>
        <p:spPr>
          <a:xfrm>
            <a:off x="8743750" y="27559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252 656  (+26 %)</a:t>
            </a:r>
          </a:p>
        </p:txBody>
      </p:sp>
      <p:sp>
        <p:nvSpPr>
          <p:cNvPr id="31" name="TextBox 30"/>
          <p:cNvSpPr txBox="1"/>
          <p:nvPr/>
        </p:nvSpPr>
        <p:spPr>
          <a:xfrm>
            <a:off x="7302500" y="30734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Charf-Souani</a:t>
            </a:r>
          </a:p>
        </p:txBody>
      </p:sp>
      <p:sp>
        <p:nvSpPr>
          <p:cNvPr id="32" name="Rectangle 31"/>
          <p:cNvSpPr/>
          <p:nvPr/>
        </p:nvSpPr>
        <p:spPr>
          <a:xfrm>
            <a:off x="7302500" y="3251200"/>
            <a:ext cx="646955" cy="114300"/>
          </a:xfrm>
          <a:prstGeom prst="rect">
            <a:avLst/>
          </a:prstGeom>
          <a:solidFill>
            <a:srgbClr val="C2B8AA"/>
          </a:solidFill>
          <a:ln>
            <a:noFill/>
          </a:ln>
        </p:spPr>
        <p:txBody>
          <a:bodyPr rtlCol="0" anchor="ctr"/>
          <a:lstStyle/>
          <a:p>
            <a:pPr algn="ctr"/>
          </a:p>
        </p:txBody>
      </p:sp>
      <p:sp>
        <p:nvSpPr>
          <p:cNvPr id="33" name="TextBox 32"/>
          <p:cNvSpPr txBox="1"/>
          <p:nvPr/>
        </p:nvSpPr>
        <p:spPr>
          <a:xfrm>
            <a:off x="8000255" y="32385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117 557  (2014)</a:t>
            </a:r>
          </a:p>
        </p:txBody>
      </p:sp>
      <p:sp>
        <p:nvSpPr>
          <p:cNvPr id="34" name="Rectangle 33"/>
          <p:cNvSpPr/>
          <p:nvPr/>
        </p:nvSpPr>
        <p:spPr>
          <a:xfrm>
            <a:off x="7302500" y="3390900"/>
            <a:ext cx="615119" cy="114300"/>
          </a:xfrm>
          <a:prstGeom prst="rect">
            <a:avLst/>
          </a:prstGeom>
          <a:solidFill>
            <a:srgbClr val="8E8578"/>
          </a:solidFill>
          <a:ln>
            <a:noFill/>
          </a:ln>
        </p:spPr>
        <p:txBody>
          <a:bodyPr rtlCol="0" anchor="ctr"/>
          <a:lstStyle/>
          <a:p>
            <a:pPr algn="ctr"/>
          </a:p>
        </p:txBody>
      </p:sp>
      <p:sp>
        <p:nvSpPr>
          <p:cNvPr id="35" name="TextBox 34"/>
          <p:cNvSpPr txBox="1"/>
          <p:nvPr/>
        </p:nvSpPr>
        <p:spPr>
          <a:xfrm>
            <a:off x="7968419" y="33782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111 772  (-5 %)</a:t>
            </a:r>
          </a:p>
        </p:txBody>
      </p:sp>
      <p:sp>
        <p:nvSpPr>
          <p:cNvPr id="36" name="TextBox 35"/>
          <p:cNvSpPr txBox="1"/>
          <p:nvPr/>
        </p:nvSpPr>
        <p:spPr>
          <a:xfrm>
            <a:off x="7302500" y="3810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DENSITÉ SUR LE BÂTI (HAB. / KM² BÂTI)</a:t>
            </a:r>
          </a:p>
        </p:txBody>
      </p:sp>
      <p:sp>
        <p:nvSpPr>
          <p:cNvPr id="37" name="TextBox 36"/>
          <p:cNvSpPr txBox="1"/>
          <p:nvPr/>
        </p:nvSpPr>
        <p:spPr>
          <a:xfrm>
            <a:off x="7302500" y="4000500"/>
            <a:ext cx="889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38" name="Rectangle 37"/>
          <p:cNvSpPr/>
          <p:nvPr/>
        </p:nvSpPr>
        <p:spPr>
          <a:xfrm>
            <a:off x="8191500" y="4025900"/>
            <a:ext cx="2652833" cy="88900"/>
          </a:xfrm>
          <a:prstGeom prst="rect">
            <a:avLst/>
          </a:prstGeom>
          <a:solidFill>
            <a:srgbClr val="B5563C"/>
          </a:solidFill>
          <a:ln>
            <a:noFill/>
          </a:ln>
        </p:spPr>
        <p:txBody>
          <a:bodyPr rtlCol="0" anchor="ctr"/>
          <a:lstStyle/>
          <a:p>
            <a:pPr algn="ctr"/>
          </a:p>
        </p:txBody>
      </p:sp>
      <p:sp>
        <p:nvSpPr>
          <p:cNvPr id="39" name="TextBox 38"/>
          <p:cNvSpPr txBox="1"/>
          <p:nvPr/>
        </p:nvSpPr>
        <p:spPr>
          <a:xfrm>
            <a:off x="10895133" y="40005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46 750</a:t>
            </a:r>
          </a:p>
        </p:txBody>
      </p:sp>
      <p:sp>
        <p:nvSpPr>
          <p:cNvPr id="40" name="TextBox 39"/>
          <p:cNvSpPr txBox="1"/>
          <p:nvPr/>
        </p:nvSpPr>
        <p:spPr>
          <a:xfrm>
            <a:off x="7302500" y="41910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41" name="Rectangle 40"/>
          <p:cNvSpPr/>
          <p:nvPr/>
        </p:nvSpPr>
        <p:spPr>
          <a:xfrm>
            <a:off x="8191500" y="4216400"/>
            <a:ext cx="1419150" cy="88900"/>
          </a:xfrm>
          <a:prstGeom prst="rect">
            <a:avLst/>
          </a:prstGeom>
          <a:solidFill>
            <a:srgbClr val="C2B8AA"/>
          </a:solidFill>
          <a:ln>
            <a:noFill/>
          </a:ln>
        </p:spPr>
        <p:txBody>
          <a:bodyPr rtlCol="0" anchor="ctr"/>
          <a:lstStyle/>
          <a:p>
            <a:pPr algn="ctr"/>
          </a:p>
        </p:txBody>
      </p:sp>
      <p:sp>
        <p:nvSpPr>
          <p:cNvPr id="42" name="TextBox 41"/>
          <p:cNvSpPr txBox="1"/>
          <p:nvPr/>
        </p:nvSpPr>
        <p:spPr>
          <a:xfrm>
            <a:off x="9661450" y="41910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25 009</a:t>
            </a:r>
          </a:p>
        </p:txBody>
      </p:sp>
      <p:sp>
        <p:nvSpPr>
          <p:cNvPr id="43" name="TextBox 42"/>
          <p:cNvSpPr txBox="1"/>
          <p:nvPr/>
        </p:nvSpPr>
        <p:spPr>
          <a:xfrm>
            <a:off x="7302500" y="43815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44" name="Rectangle 43"/>
          <p:cNvSpPr/>
          <p:nvPr/>
        </p:nvSpPr>
        <p:spPr>
          <a:xfrm>
            <a:off x="8191500" y="4406900"/>
            <a:ext cx="1332399" cy="88900"/>
          </a:xfrm>
          <a:prstGeom prst="rect">
            <a:avLst/>
          </a:prstGeom>
          <a:solidFill>
            <a:srgbClr val="C2B8AA"/>
          </a:solidFill>
          <a:ln>
            <a:noFill/>
          </a:ln>
        </p:spPr>
        <p:txBody>
          <a:bodyPr rtlCol="0" anchor="ctr"/>
          <a:lstStyle/>
          <a:p>
            <a:pPr algn="ctr"/>
          </a:p>
        </p:txBody>
      </p:sp>
      <p:sp>
        <p:nvSpPr>
          <p:cNvPr id="45" name="TextBox 44"/>
          <p:cNvSpPr txBox="1"/>
          <p:nvPr/>
        </p:nvSpPr>
        <p:spPr>
          <a:xfrm>
            <a:off x="9574699" y="43815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23 481</a:t>
            </a:r>
          </a:p>
        </p:txBody>
      </p:sp>
      <p:sp>
        <p:nvSpPr>
          <p:cNvPr id="46" name="TextBox 45"/>
          <p:cNvSpPr txBox="1"/>
          <p:nvPr/>
        </p:nvSpPr>
        <p:spPr>
          <a:xfrm>
            <a:off x="7302500" y="45720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47" name="Rectangle 46"/>
          <p:cNvSpPr/>
          <p:nvPr/>
        </p:nvSpPr>
        <p:spPr>
          <a:xfrm>
            <a:off x="8191500" y="4597400"/>
            <a:ext cx="1166915" cy="88900"/>
          </a:xfrm>
          <a:prstGeom prst="rect">
            <a:avLst/>
          </a:prstGeom>
          <a:solidFill>
            <a:srgbClr val="C2B8AA"/>
          </a:solidFill>
          <a:ln>
            <a:noFill/>
          </a:ln>
        </p:spPr>
        <p:txBody>
          <a:bodyPr rtlCol="0" anchor="ctr"/>
          <a:lstStyle/>
          <a:p>
            <a:pPr algn="ctr"/>
          </a:p>
        </p:txBody>
      </p:sp>
      <p:sp>
        <p:nvSpPr>
          <p:cNvPr id="48" name="TextBox 47"/>
          <p:cNvSpPr txBox="1"/>
          <p:nvPr/>
        </p:nvSpPr>
        <p:spPr>
          <a:xfrm>
            <a:off x="9409215" y="45720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20 564</a:t>
            </a:r>
          </a:p>
        </p:txBody>
      </p:sp>
      <p:sp>
        <p:nvSpPr>
          <p:cNvPr id="49" name="TextBox 48"/>
          <p:cNvSpPr txBox="1"/>
          <p:nvPr/>
        </p:nvSpPr>
        <p:spPr>
          <a:xfrm>
            <a:off x="7302500" y="5016500"/>
            <a:ext cx="4572000" cy="1143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Beni Makada a gagné 181 000 habitants en dix ans, plus que toute la croissance des trois autres arrondissements réunis. Avec près de 47 000 habitants par km² bâti, c'est le cœur démographique de Tanger, à 5 km de la mer. Charf-Souani, central, perd des habitants.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VINGT ANS D'ÉTALEMENT : 2004 → 2021</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Surfaces bâties estimées à partir des images Landsat 2004, 2014 et 2021, classées sur la base d'ESA WorldCover.</a:t>
            </a:r>
          </a:p>
        </p:txBody>
      </p:sp>
      <p:pic>
        <p:nvPicPr>
          <p:cNvPr id="5" name="Picture 4" descr="nc_sk_medina.png"/>
          <p:cNvPicPr>
            <a:picLocks noChangeAspect="1"/>
          </p:cNvPicPr>
          <p:nvPr/>
        </p:nvPicPr>
        <p:blipFill>
          <a:blip r:embed="rId2"/>
          <a:stretch>
            <a:fillRect/>
          </a:stretch>
        </p:blipFill>
        <p:spPr>
          <a:xfrm>
            <a:off x="10985500" y="232659"/>
            <a:ext cx="952500" cy="525283"/>
          </a:xfrm>
          <a:prstGeom prst="rect">
            <a:avLst/>
          </a:prstGeom>
        </p:spPr>
      </p:pic>
      <p:sp>
        <p:nvSpPr>
          <p:cNvPr id="6" name="TextBox 5"/>
          <p:cNvSpPr txBox="1"/>
          <p:nvPr/>
        </p:nvSpPr>
        <p:spPr>
          <a:xfrm>
            <a:off x="9334500" y="215900"/>
            <a:ext cx="1397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 → 27 km²</a:t>
            </a:r>
          </a:p>
        </p:txBody>
      </p:sp>
      <p:sp>
        <p:nvSpPr>
          <p:cNvPr id="7" name="TextBox 6"/>
          <p:cNvSpPr txBox="1"/>
          <p:nvPr/>
        </p:nvSpPr>
        <p:spPr>
          <a:xfrm>
            <a:off x="9334500" y="546100"/>
            <a:ext cx="1397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bâtis hors commune</a:t>
            </a:r>
          </a:p>
          <a:p>
            <a:pPr algn="r">
              <a:lnSpc>
                <a:spcPct val="110000"/>
              </a:lnSpc>
            </a:pPr>
            <a:r>
              <a:rPr sz="850" b="0" i="0">
                <a:solidFill>
                  <a:srgbClr val="7B746B"/>
                </a:solidFill>
                <a:latin typeface="Barlow"/>
              </a:rPr>
              <a:t>(zone d'étude)</a:t>
            </a:r>
          </a:p>
        </p:txBody>
      </p:sp>
      <p:sp>
        <p:nvSpPr>
          <p:cNvPr id="8" name="TextBox 7"/>
          <p:cNvSpPr txBox="1"/>
          <p:nvPr/>
        </p:nvSpPr>
        <p:spPr>
          <a:xfrm>
            <a:off x="83566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+77 %</a:t>
            </a:r>
          </a:p>
        </p:txBody>
      </p:sp>
      <p:sp>
        <p:nvSpPr>
          <p:cNvPr id="9" name="TextBox 8"/>
          <p:cNvSpPr txBox="1"/>
          <p:nvPr/>
        </p:nvSpPr>
        <p:spPr>
          <a:xfrm>
            <a:off x="83566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 17 ans</a:t>
            </a:r>
          </a:p>
        </p:txBody>
      </p:sp>
      <p:sp>
        <p:nvSpPr>
          <p:cNvPr id="10" name="TextBox 9"/>
          <p:cNvSpPr txBox="1"/>
          <p:nvPr/>
        </p:nvSpPr>
        <p:spPr>
          <a:xfrm>
            <a:off x="6610350" y="215900"/>
            <a:ext cx="15303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28,7 → 50,8</a:t>
            </a:r>
          </a:p>
        </p:txBody>
      </p:sp>
      <p:sp>
        <p:nvSpPr>
          <p:cNvPr id="11" name="TextBox 10"/>
          <p:cNvSpPr txBox="1"/>
          <p:nvPr/>
        </p:nvSpPr>
        <p:spPr>
          <a:xfrm>
            <a:off x="6610350" y="546100"/>
            <a:ext cx="15303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km² bâtis dans</a:t>
            </a:r>
          </a:p>
          <a:p>
            <a:pPr algn="r">
              <a:lnSpc>
                <a:spcPct val="110000"/>
              </a:lnSpc>
            </a:pPr>
            <a:r>
              <a:rPr sz="850" b="0" i="0">
                <a:solidFill>
                  <a:srgbClr val="7B746B"/>
                </a:solidFill>
                <a:latin typeface="Barlow"/>
              </a:rPr>
              <a:t>la commune</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12 / 32</a:t>
            </a:r>
          </a:p>
        </p:txBody>
      </p:sp>
      <p:pic>
        <p:nvPicPr>
          <p:cNvPr id="15" name="Picture 14" descr="m13_etalement.jpg"/>
          <p:cNvPicPr>
            <a:picLocks noChangeAspect="1"/>
          </p:cNvPicPr>
          <p:nvPr/>
        </p:nvPicPr>
        <p:blipFill>
          <a:blip r:embed="rId3"/>
          <a:stretch>
            <a:fillRect/>
          </a:stretch>
        </p:blipFill>
        <p:spPr>
          <a:xfrm>
            <a:off x="254000" y="952500"/>
            <a:ext cx="7937500" cy="5126302"/>
          </a:xfrm>
          <a:prstGeom prst="rect">
            <a:avLst/>
          </a:prstGeom>
        </p:spPr>
      </p:pic>
      <p:pic>
        <p:nvPicPr>
          <p:cNvPr id="16" name="Picture 15" descr="m13_2004.jpg"/>
          <p:cNvPicPr>
            <a:picLocks noChangeAspect="1"/>
          </p:cNvPicPr>
          <p:nvPr/>
        </p:nvPicPr>
        <p:blipFill>
          <a:blip r:embed="rId4"/>
          <a:stretch>
            <a:fillRect/>
          </a:stretch>
        </p:blipFill>
        <p:spPr>
          <a:xfrm>
            <a:off x="8445500" y="952500"/>
            <a:ext cx="1117600" cy="769902"/>
          </a:xfrm>
          <a:prstGeom prst="rect">
            <a:avLst/>
          </a:prstGeom>
        </p:spPr>
      </p:pic>
      <p:pic>
        <p:nvPicPr>
          <p:cNvPr id="17" name="Picture 16" descr="m13_2014.jpg"/>
          <p:cNvPicPr>
            <a:picLocks noChangeAspect="1"/>
          </p:cNvPicPr>
          <p:nvPr/>
        </p:nvPicPr>
        <p:blipFill>
          <a:blip r:embed="rId5"/>
          <a:stretch>
            <a:fillRect/>
          </a:stretch>
        </p:blipFill>
        <p:spPr>
          <a:xfrm>
            <a:off x="9626600" y="952500"/>
            <a:ext cx="1117600" cy="769902"/>
          </a:xfrm>
          <a:prstGeom prst="rect">
            <a:avLst/>
          </a:prstGeom>
        </p:spPr>
      </p:pic>
      <p:pic>
        <p:nvPicPr>
          <p:cNvPr id="18" name="Picture 17" descr="m13_2021.jpg"/>
          <p:cNvPicPr>
            <a:picLocks noChangeAspect="1"/>
          </p:cNvPicPr>
          <p:nvPr/>
        </p:nvPicPr>
        <p:blipFill>
          <a:blip r:embed="rId6"/>
          <a:stretch>
            <a:fillRect/>
          </a:stretch>
        </p:blipFill>
        <p:spPr>
          <a:xfrm>
            <a:off x="10807700" y="952500"/>
            <a:ext cx="1117600" cy="769902"/>
          </a:xfrm>
          <a:prstGeom prst="rect">
            <a:avLst/>
          </a:prstGeom>
        </p:spPr>
      </p:pic>
      <p:sp>
        <p:nvSpPr>
          <p:cNvPr id="19" name="TextBox 18"/>
          <p:cNvSpPr txBox="1"/>
          <p:nvPr/>
        </p:nvSpPr>
        <p:spPr>
          <a:xfrm>
            <a:off x="8445500" y="1841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20" name="Rectangle 19"/>
          <p:cNvSpPr/>
          <p:nvPr/>
        </p:nvSpPr>
        <p:spPr>
          <a:xfrm>
            <a:off x="8445500" y="2051050"/>
            <a:ext cx="165100" cy="101600"/>
          </a:xfrm>
          <a:prstGeom prst="rect">
            <a:avLst/>
          </a:prstGeom>
          <a:solidFill>
            <a:srgbClr val="3B4650"/>
          </a:solidFill>
          <a:ln>
            <a:noFill/>
          </a:ln>
        </p:spPr>
        <p:txBody>
          <a:bodyPr rtlCol="0" anchor="ctr"/>
          <a:lstStyle/>
          <a:p>
            <a:pPr algn="ctr"/>
          </a:p>
        </p:txBody>
      </p:sp>
      <p:sp>
        <p:nvSpPr>
          <p:cNvPr id="21" name="TextBox 20"/>
          <p:cNvSpPr txBox="1"/>
          <p:nvPr/>
        </p:nvSpPr>
        <p:spPr>
          <a:xfrm>
            <a:off x="8699500" y="2038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avant 2004</a:t>
            </a:r>
          </a:p>
        </p:txBody>
      </p:sp>
      <p:sp>
        <p:nvSpPr>
          <p:cNvPr id="22" name="Rectangle 21"/>
          <p:cNvSpPr/>
          <p:nvPr/>
        </p:nvSpPr>
        <p:spPr>
          <a:xfrm>
            <a:off x="8445500" y="2228850"/>
            <a:ext cx="165100" cy="101600"/>
          </a:xfrm>
          <a:prstGeom prst="rect">
            <a:avLst/>
          </a:prstGeom>
          <a:solidFill>
            <a:srgbClr val="B5563C"/>
          </a:solidFill>
          <a:ln>
            <a:noFill/>
          </a:ln>
        </p:spPr>
        <p:txBody>
          <a:bodyPr rtlCol="0" anchor="ctr"/>
          <a:lstStyle/>
          <a:p>
            <a:pPr algn="ctr"/>
          </a:p>
        </p:txBody>
      </p:sp>
      <p:sp>
        <p:nvSpPr>
          <p:cNvPr id="23" name="TextBox 22"/>
          <p:cNvSpPr txBox="1"/>
          <p:nvPr/>
        </p:nvSpPr>
        <p:spPr>
          <a:xfrm>
            <a:off x="8699500" y="2216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entre 2004 et 2014</a:t>
            </a:r>
          </a:p>
        </p:txBody>
      </p:sp>
      <p:sp>
        <p:nvSpPr>
          <p:cNvPr id="24" name="Rectangle 23"/>
          <p:cNvSpPr/>
          <p:nvPr/>
        </p:nvSpPr>
        <p:spPr>
          <a:xfrm>
            <a:off x="8445500" y="2406650"/>
            <a:ext cx="165100" cy="101600"/>
          </a:xfrm>
          <a:prstGeom prst="rect">
            <a:avLst/>
          </a:prstGeom>
          <a:solidFill>
            <a:srgbClr val="E0A86A"/>
          </a:solidFill>
          <a:ln>
            <a:noFill/>
          </a:ln>
        </p:spPr>
        <p:txBody>
          <a:bodyPr rtlCol="0" anchor="ctr"/>
          <a:lstStyle/>
          <a:p>
            <a:pPr algn="ctr"/>
          </a:p>
        </p:txBody>
      </p:sp>
      <p:sp>
        <p:nvSpPr>
          <p:cNvPr id="25" name="TextBox 24"/>
          <p:cNvSpPr txBox="1"/>
          <p:nvPr/>
        </p:nvSpPr>
        <p:spPr>
          <a:xfrm>
            <a:off x="8699500" y="23939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entre 2014 et 2021</a:t>
            </a:r>
          </a:p>
        </p:txBody>
      </p:sp>
      <p:cxnSp>
        <p:nvCxnSpPr>
          <p:cNvPr id="26" name="Connector 25"/>
          <p:cNvCxnSpPr/>
          <p:nvPr/>
        </p:nvCxnSpPr>
        <p:spPr>
          <a:xfrm>
            <a:off x="8445500" y="2635250"/>
            <a:ext cx="165100" cy="0"/>
          </a:xfrm>
          <a:prstGeom prst="line">
            <a:avLst/>
          </a:prstGeom>
          <a:ln w="22225">
            <a:solidFill>
              <a:srgbClr val="23303A"/>
            </a:solidFill>
          </a:ln>
        </p:spPr>
      </p:cxnSp>
      <p:sp>
        <p:nvSpPr>
          <p:cNvPr id="27" name="TextBox 26"/>
          <p:cNvSpPr txBox="1"/>
          <p:nvPr/>
        </p:nvSpPr>
        <p:spPr>
          <a:xfrm>
            <a:off x="8699500" y="25717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voies express</a:t>
            </a:r>
          </a:p>
        </p:txBody>
      </p:sp>
      <p:sp>
        <p:nvSpPr>
          <p:cNvPr id="28" name="TextBox 27"/>
          <p:cNvSpPr txBox="1"/>
          <p:nvPr/>
        </p:nvSpPr>
        <p:spPr>
          <a:xfrm>
            <a:off x="8445500" y="28702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SURFACE BÂTIE PAR ARRONDISSEMENT (KM²)</a:t>
            </a:r>
          </a:p>
        </p:txBody>
      </p:sp>
      <p:sp>
        <p:nvSpPr>
          <p:cNvPr id="29" name="TextBox 28"/>
          <p:cNvSpPr txBox="1"/>
          <p:nvPr/>
        </p:nvSpPr>
        <p:spPr>
          <a:xfrm>
            <a:off x="8445500" y="3073400"/>
            <a:ext cx="8255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Tanger-Médina</a:t>
            </a:r>
          </a:p>
        </p:txBody>
      </p:sp>
      <p:sp>
        <p:nvSpPr>
          <p:cNvPr id="30" name="Rectangle 29"/>
          <p:cNvSpPr/>
          <p:nvPr/>
        </p:nvSpPr>
        <p:spPr>
          <a:xfrm>
            <a:off x="9283700" y="3092450"/>
            <a:ext cx="918381" cy="101600"/>
          </a:xfrm>
          <a:prstGeom prst="rect">
            <a:avLst/>
          </a:prstGeom>
          <a:solidFill>
            <a:srgbClr val="3B4650"/>
          </a:solidFill>
          <a:ln>
            <a:noFill/>
          </a:ln>
        </p:spPr>
        <p:txBody>
          <a:bodyPr rtlCol="0" anchor="ctr"/>
          <a:lstStyle/>
          <a:p>
            <a:pPr algn="ctr"/>
          </a:p>
        </p:txBody>
      </p:sp>
      <p:sp>
        <p:nvSpPr>
          <p:cNvPr id="31" name="Rectangle 30"/>
          <p:cNvSpPr/>
          <p:nvPr/>
        </p:nvSpPr>
        <p:spPr>
          <a:xfrm>
            <a:off x="10202081" y="3092450"/>
            <a:ext cx="558231" cy="101600"/>
          </a:xfrm>
          <a:prstGeom prst="rect">
            <a:avLst/>
          </a:prstGeom>
          <a:solidFill>
            <a:srgbClr val="B5563C"/>
          </a:solidFill>
          <a:ln>
            <a:noFill/>
          </a:ln>
        </p:spPr>
        <p:txBody>
          <a:bodyPr rtlCol="0" anchor="ctr"/>
          <a:lstStyle/>
          <a:p>
            <a:pPr algn="ctr"/>
          </a:p>
        </p:txBody>
      </p:sp>
      <p:sp>
        <p:nvSpPr>
          <p:cNvPr id="32" name="Rectangle 31"/>
          <p:cNvSpPr/>
          <p:nvPr/>
        </p:nvSpPr>
        <p:spPr>
          <a:xfrm>
            <a:off x="10760312" y="3092450"/>
            <a:ext cx="936388" cy="101600"/>
          </a:xfrm>
          <a:prstGeom prst="rect">
            <a:avLst/>
          </a:prstGeom>
          <a:solidFill>
            <a:srgbClr val="E0A86A"/>
          </a:solidFill>
          <a:ln>
            <a:noFill/>
          </a:ln>
        </p:spPr>
        <p:txBody>
          <a:bodyPr rtlCol="0" anchor="ctr"/>
          <a:lstStyle/>
          <a:p>
            <a:pPr algn="ctr"/>
          </a:p>
        </p:txBody>
      </p:sp>
      <p:sp>
        <p:nvSpPr>
          <p:cNvPr id="33" name="TextBox 32"/>
          <p:cNvSpPr txBox="1"/>
          <p:nvPr/>
        </p:nvSpPr>
        <p:spPr>
          <a:xfrm>
            <a:off x="11734800" y="30734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20,1</a:t>
            </a:r>
          </a:p>
        </p:txBody>
      </p:sp>
      <p:sp>
        <p:nvSpPr>
          <p:cNvPr id="34" name="TextBox 33"/>
          <p:cNvSpPr txBox="1"/>
          <p:nvPr/>
        </p:nvSpPr>
        <p:spPr>
          <a:xfrm>
            <a:off x="8445500" y="33147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Beni Makada</a:t>
            </a:r>
          </a:p>
        </p:txBody>
      </p:sp>
      <p:sp>
        <p:nvSpPr>
          <p:cNvPr id="35" name="Rectangle 34"/>
          <p:cNvSpPr/>
          <p:nvPr/>
        </p:nvSpPr>
        <p:spPr>
          <a:xfrm>
            <a:off x="9283700" y="3333750"/>
            <a:ext cx="959198" cy="101600"/>
          </a:xfrm>
          <a:prstGeom prst="rect">
            <a:avLst/>
          </a:prstGeom>
          <a:solidFill>
            <a:srgbClr val="3B4650"/>
          </a:solidFill>
          <a:ln>
            <a:noFill/>
          </a:ln>
        </p:spPr>
        <p:txBody>
          <a:bodyPr rtlCol="0" anchor="ctr"/>
          <a:lstStyle/>
          <a:p>
            <a:pPr algn="ctr"/>
          </a:p>
        </p:txBody>
      </p:sp>
      <p:sp>
        <p:nvSpPr>
          <p:cNvPr id="36" name="Rectangle 35"/>
          <p:cNvSpPr/>
          <p:nvPr/>
        </p:nvSpPr>
        <p:spPr>
          <a:xfrm>
            <a:off x="10242898" y="3333750"/>
            <a:ext cx="357748" cy="101600"/>
          </a:xfrm>
          <a:prstGeom prst="rect">
            <a:avLst/>
          </a:prstGeom>
          <a:solidFill>
            <a:srgbClr val="B5563C"/>
          </a:solidFill>
          <a:ln>
            <a:noFill/>
          </a:ln>
        </p:spPr>
        <p:txBody>
          <a:bodyPr rtlCol="0" anchor="ctr"/>
          <a:lstStyle/>
          <a:p>
            <a:pPr algn="ctr"/>
          </a:p>
        </p:txBody>
      </p:sp>
      <p:sp>
        <p:nvSpPr>
          <p:cNvPr id="37" name="Rectangle 36"/>
          <p:cNvSpPr/>
          <p:nvPr/>
        </p:nvSpPr>
        <p:spPr>
          <a:xfrm>
            <a:off x="10600646" y="3333750"/>
            <a:ext cx="291721" cy="101600"/>
          </a:xfrm>
          <a:prstGeom prst="rect">
            <a:avLst/>
          </a:prstGeom>
          <a:solidFill>
            <a:srgbClr val="E0A86A"/>
          </a:solidFill>
          <a:ln>
            <a:noFill/>
          </a:ln>
        </p:spPr>
        <p:txBody>
          <a:bodyPr rtlCol="0" anchor="ctr"/>
          <a:lstStyle/>
          <a:p>
            <a:pPr algn="ctr"/>
          </a:p>
        </p:txBody>
      </p:sp>
      <p:sp>
        <p:nvSpPr>
          <p:cNvPr id="38" name="TextBox 37"/>
          <p:cNvSpPr txBox="1"/>
          <p:nvPr/>
        </p:nvSpPr>
        <p:spPr>
          <a:xfrm>
            <a:off x="10930467" y="33147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13,4</a:t>
            </a:r>
          </a:p>
        </p:txBody>
      </p:sp>
      <p:sp>
        <p:nvSpPr>
          <p:cNvPr id="39" name="TextBox 38"/>
          <p:cNvSpPr txBox="1"/>
          <p:nvPr/>
        </p:nvSpPr>
        <p:spPr>
          <a:xfrm>
            <a:off x="8445500" y="35560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Charf-Mghogha</a:t>
            </a:r>
          </a:p>
        </p:txBody>
      </p:sp>
      <p:sp>
        <p:nvSpPr>
          <p:cNvPr id="40" name="Rectangle 39"/>
          <p:cNvSpPr/>
          <p:nvPr/>
        </p:nvSpPr>
        <p:spPr>
          <a:xfrm>
            <a:off x="9283700" y="3575050"/>
            <a:ext cx="1022824" cy="101600"/>
          </a:xfrm>
          <a:prstGeom prst="rect">
            <a:avLst/>
          </a:prstGeom>
          <a:solidFill>
            <a:srgbClr val="3B4650"/>
          </a:solidFill>
          <a:ln>
            <a:noFill/>
          </a:ln>
        </p:spPr>
        <p:txBody>
          <a:bodyPr rtlCol="0" anchor="ctr"/>
          <a:lstStyle/>
          <a:p>
            <a:pPr algn="ctr"/>
          </a:p>
        </p:txBody>
      </p:sp>
      <p:sp>
        <p:nvSpPr>
          <p:cNvPr id="41" name="Rectangle 40"/>
          <p:cNvSpPr/>
          <p:nvPr/>
        </p:nvSpPr>
        <p:spPr>
          <a:xfrm>
            <a:off x="10306524" y="3575050"/>
            <a:ext cx="150062" cy="101600"/>
          </a:xfrm>
          <a:prstGeom prst="rect">
            <a:avLst/>
          </a:prstGeom>
          <a:solidFill>
            <a:srgbClr val="B5563C"/>
          </a:solidFill>
          <a:ln>
            <a:noFill/>
          </a:ln>
        </p:spPr>
        <p:txBody>
          <a:bodyPr rtlCol="0" anchor="ctr"/>
          <a:lstStyle/>
          <a:p>
            <a:pPr algn="ctr"/>
          </a:p>
        </p:txBody>
      </p:sp>
      <p:sp>
        <p:nvSpPr>
          <p:cNvPr id="42" name="Rectangle 41"/>
          <p:cNvSpPr/>
          <p:nvPr/>
        </p:nvSpPr>
        <p:spPr>
          <a:xfrm>
            <a:off x="10456586" y="3575050"/>
            <a:ext cx="328936" cy="101600"/>
          </a:xfrm>
          <a:prstGeom prst="rect">
            <a:avLst/>
          </a:prstGeom>
          <a:solidFill>
            <a:srgbClr val="E0A86A"/>
          </a:solidFill>
          <a:ln>
            <a:noFill/>
          </a:ln>
        </p:spPr>
        <p:txBody>
          <a:bodyPr rtlCol="0" anchor="ctr"/>
          <a:lstStyle/>
          <a:p>
            <a:pPr algn="ctr"/>
          </a:p>
        </p:txBody>
      </p:sp>
      <p:sp>
        <p:nvSpPr>
          <p:cNvPr id="43" name="TextBox 42"/>
          <p:cNvSpPr txBox="1"/>
          <p:nvPr/>
        </p:nvSpPr>
        <p:spPr>
          <a:xfrm>
            <a:off x="10823622" y="35560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12,5</a:t>
            </a:r>
          </a:p>
        </p:txBody>
      </p:sp>
      <p:sp>
        <p:nvSpPr>
          <p:cNvPr id="44" name="TextBox 43"/>
          <p:cNvSpPr txBox="1"/>
          <p:nvPr/>
        </p:nvSpPr>
        <p:spPr>
          <a:xfrm>
            <a:off x="8445500" y="37973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Charf-Souani</a:t>
            </a:r>
          </a:p>
        </p:txBody>
      </p:sp>
      <p:sp>
        <p:nvSpPr>
          <p:cNvPr id="45" name="Rectangle 44"/>
          <p:cNvSpPr/>
          <p:nvPr/>
        </p:nvSpPr>
        <p:spPr>
          <a:xfrm>
            <a:off x="9283700" y="3816350"/>
            <a:ext cx="543825" cy="101600"/>
          </a:xfrm>
          <a:prstGeom prst="rect">
            <a:avLst/>
          </a:prstGeom>
          <a:solidFill>
            <a:srgbClr val="3B4650"/>
          </a:solidFill>
          <a:ln>
            <a:noFill/>
          </a:ln>
        </p:spPr>
        <p:txBody>
          <a:bodyPr rtlCol="0" anchor="ctr"/>
          <a:lstStyle/>
          <a:p>
            <a:pPr algn="ctr"/>
          </a:p>
        </p:txBody>
      </p:sp>
      <p:sp>
        <p:nvSpPr>
          <p:cNvPr id="46" name="Rectangle 45"/>
          <p:cNvSpPr/>
          <p:nvPr/>
        </p:nvSpPr>
        <p:spPr>
          <a:xfrm>
            <a:off x="9827525" y="3816350"/>
            <a:ext cx="3601" cy="101600"/>
          </a:xfrm>
          <a:prstGeom prst="rect">
            <a:avLst/>
          </a:prstGeom>
          <a:solidFill>
            <a:srgbClr val="B5563C"/>
          </a:solidFill>
          <a:ln>
            <a:noFill/>
          </a:ln>
        </p:spPr>
        <p:txBody>
          <a:bodyPr rtlCol="0" anchor="ctr"/>
          <a:lstStyle/>
          <a:p>
            <a:pPr algn="ctr"/>
          </a:p>
        </p:txBody>
      </p:sp>
      <p:sp>
        <p:nvSpPr>
          <p:cNvPr id="47" name="Rectangle 46"/>
          <p:cNvSpPr/>
          <p:nvPr/>
        </p:nvSpPr>
        <p:spPr>
          <a:xfrm>
            <a:off x="9831127" y="3816350"/>
            <a:ext cx="22809" cy="101600"/>
          </a:xfrm>
          <a:prstGeom prst="rect">
            <a:avLst/>
          </a:prstGeom>
          <a:solidFill>
            <a:srgbClr val="E0A86A"/>
          </a:solidFill>
          <a:ln>
            <a:noFill/>
          </a:ln>
        </p:spPr>
        <p:txBody>
          <a:bodyPr rtlCol="0" anchor="ctr"/>
          <a:lstStyle/>
          <a:p>
            <a:pPr algn="ctr"/>
          </a:p>
        </p:txBody>
      </p:sp>
      <p:sp>
        <p:nvSpPr>
          <p:cNvPr id="48" name="TextBox 47"/>
          <p:cNvSpPr txBox="1"/>
          <p:nvPr/>
        </p:nvSpPr>
        <p:spPr>
          <a:xfrm>
            <a:off x="9892036" y="37973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4,8</a:t>
            </a:r>
          </a:p>
        </p:txBody>
      </p:sp>
      <p:sp>
        <p:nvSpPr>
          <p:cNvPr id="49" name="TextBox 48"/>
          <p:cNvSpPr txBox="1"/>
          <p:nvPr/>
        </p:nvSpPr>
        <p:spPr>
          <a:xfrm>
            <a:off x="8445500" y="4140200"/>
            <a:ext cx="3492500" cy="2095500"/>
          </a:xfrm>
          <a:prstGeom prst="rect">
            <a:avLst/>
          </a:prstGeom>
          <a:noFill/>
        </p:spPr>
        <p:txBody>
          <a:bodyPr wrap="square" lIns="0" rIns="0" tIns="0" bIns="0" anchor="t">
            <a:spAutoFit/>
          </a:bodyPr>
          <a:lstStyle/>
          <a:p>
            <a:pPr algn="l">
              <a:lnSpc>
                <a:spcPct val="138000"/>
              </a:lnSpc>
            </a:pPr>
            <a:r>
              <a:rPr sz="1000" b="1" i="0">
                <a:solidFill>
                  <a:srgbClr val="B5563C"/>
                </a:solidFill>
                <a:latin typeface="Barlow"/>
              </a:rPr>
              <a:t>Lecture. </a:t>
            </a:r>
            <a:r>
              <a:rPr sz="1000" b="0" i="0">
                <a:solidFill>
                  <a:srgbClr val="23303A"/>
                </a:solidFill>
                <a:latin typeface="Barlow"/>
              </a:rPr>
              <a:t>La tache urbaine a presque doublé en vingt ans. La croissance ne se fait pas dans le centre, déjà saturé, mais par lotissements successifs au sud et à l'ouest (Boukhalef, Gzenaya, Mghogha), le long des voies express, loin de la mer et des projets d'image. Hors des limites communales, les surfaces bâties de la zone d'étude passent d'environ 2 à 27 km² : zones industrielles, lotissements et équipements routiers.</a:t>
            </a:r>
          </a:p>
        </p:txBody>
      </p:sp>
      <p:sp>
        <p:nvSpPr>
          <p:cNvPr id="50" name="TextBox 49"/>
          <p:cNvSpPr txBox="1"/>
          <p:nvPr/>
        </p:nvSpPr>
        <p:spPr>
          <a:xfrm>
            <a:off x="254000" y="6191250"/>
            <a:ext cx="7937500" cy="254000"/>
          </a:xfrm>
          <a:prstGeom prst="rect">
            <a:avLst/>
          </a:prstGeom>
          <a:noFill/>
        </p:spPr>
        <p:txBody>
          <a:bodyPr wrap="square" lIns="0" rIns="0" tIns="0" bIns="0" anchor="t">
            <a:spAutoFit/>
          </a:bodyPr>
          <a:lstStyle/>
          <a:p>
            <a:pPr algn="l">
              <a:lnSpc>
                <a:spcPct val="120000"/>
              </a:lnSpc>
            </a:pPr>
            <a:r>
              <a:rPr sz="850" b="0" i="1">
                <a:solidFill>
                  <a:srgbClr val="7B746B"/>
                </a:solidFill>
                <a:latin typeface="Barlow"/>
              </a:rPr>
              <a:t>Méthode : forêt aléatoire entraînée sur Landsat 8 (2021) et ESA WorldCover ; précision 96 % sur les pixels de référence 2021. Les surfaces 2004 et 2014 sont des estimations (résolution 30 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LA VILLE RÉELLE : OCCUPATION DU SOL</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Ce que voit le satellite : bâti, arbres, cultures et relief, à 10 m de résolution.</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0.4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d'arbres à</a:t>
            </a:r>
          </a:p>
          <a:p>
            <a:pPr algn="r">
              <a:lnSpc>
                <a:spcPct val="110000"/>
              </a:lnSpc>
            </a:pPr>
            <a:r>
              <a:rPr sz="850" b="0" i="0">
                <a:solidFill>
                  <a:srgbClr val="7B746B"/>
                </a:solidFill>
                <a:latin typeface="Barlow"/>
              </a:rPr>
              <a:t>Beni Makada</a:t>
            </a:r>
          </a:p>
        </p:txBody>
      </p:sp>
      <p:sp>
        <p:nvSpPr>
          <p:cNvPr id="7" name="TextBox 6"/>
          <p:cNvSpPr txBox="1"/>
          <p:nvPr/>
        </p:nvSpPr>
        <p:spPr>
          <a:xfrm>
            <a:off x="99631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82 %</a:t>
            </a:r>
          </a:p>
        </p:txBody>
      </p:sp>
      <p:sp>
        <p:nvSpPr>
          <p:cNvPr id="8" name="TextBox 7"/>
          <p:cNvSpPr txBox="1"/>
          <p:nvPr/>
        </p:nvSpPr>
        <p:spPr>
          <a:xfrm>
            <a:off x="99631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arbres dans</a:t>
            </a:r>
          </a:p>
          <a:p>
            <a:pPr algn="r">
              <a:lnSpc>
                <a:spcPct val="110000"/>
              </a:lnSpc>
            </a:pPr>
            <a:r>
              <a:rPr sz="850" b="0" i="0">
                <a:solidFill>
                  <a:srgbClr val="7B746B"/>
                </a:solidFill>
                <a:latin typeface="Barlow"/>
              </a:rPr>
              <a:t>Tanger-Médina</a:t>
            </a:r>
          </a:p>
        </p:txBody>
      </p:sp>
      <p:sp>
        <p:nvSpPr>
          <p:cNvPr id="9" name="TextBox 8"/>
          <p:cNvSpPr txBox="1"/>
          <p:nvPr/>
        </p:nvSpPr>
        <p:spPr>
          <a:xfrm>
            <a:off x="88836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km²</a:t>
            </a:r>
          </a:p>
        </p:txBody>
      </p:sp>
      <p:sp>
        <p:nvSpPr>
          <p:cNvPr id="10" name="TextBox 9"/>
          <p:cNvSpPr txBox="1"/>
          <p:nvPr/>
        </p:nvSpPr>
        <p:spPr>
          <a:xfrm>
            <a:off x="88836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couvert</a:t>
            </a:r>
          </a:p>
          <a:p>
            <a:pPr algn="r">
              <a:lnSpc>
                <a:spcPct val="110000"/>
              </a:lnSpc>
            </a:pPr>
            <a:r>
              <a:rPr sz="850" b="0" i="0">
                <a:solidFill>
                  <a:srgbClr val="7B746B"/>
                </a:solidFill>
                <a:latin typeface="Barlow"/>
              </a:rPr>
              <a:t>arboré</a:t>
            </a:r>
          </a:p>
        </p:txBody>
      </p:sp>
      <p:sp>
        <p:nvSpPr>
          <p:cNvPr id="11" name="TextBox 10"/>
          <p:cNvSpPr txBox="1"/>
          <p:nvPr/>
        </p:nvSpPr>
        <p:spPr>
          <a:xfrm>
            <a:off x="78041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44 km²</a:t>
            </a:r>
          </a:p>
        </p:txBody>
      </p:sp>
      <p:sp>
        <p:nvSpPr>
          <p:cNvPr id="12" name="TextBox 11"/>
          <p:cNvSpPr txBox="1"/>
          <p:nvPr/>
        </p:nvSpPr>
        <p:spPr>
          <a:xfrm>
            <a:off x="78041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bâtis dans la</a:t>
            </a:r>
          </a:p>
          <a:p>
            <a:pPr algn="r">
              <a:lnSpc>
                <a:spcPct val="110000"/>
              </a:lnSpc>
            </a:pPr>
            <a:r>
              <a:rPr sz="850" b="0" i="0">
                <a:solidFill>
                  <a:srgbClr val="7B746B"/>
                </a:solidFill>
                <a:latin typeface="Barlow"/>
              </a:rPr>
              <a:t>commune</a:t>
            </a:r>
          </a:p>
        </p:txBody>
      </p:sp>
      <p:cxnSp>
        <p:nvCxnSpPr>
          <p:cNvPr id="13" name="Connector 12"/>
          <p:cNvCxnSpPr/>
          <p:nvPr/>
        </p:nvCxnSpPr>
        <p:spPr>
          <a:xfrm>
            <a:off x="254000" y="6578600"/>
            <a:ext cx="11684000" cy="0"/>
          </a:xfrm>
          <a:prstGeom prst="line">
            <a:avLst/>
          </a:prstGeom>
          <a:ln w="6350">
            <a:solidFill>
              <a:srgbClr val="CFC6B8"/>
            </a:solidFill>
          </a:ln>
        </p:spPr>
      </p:cxnSp>
      <p:sp>
        <p:nvSpPr>
          <p:cNvPr id="14" name="TextBox 13"/>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5" name="TextBox 14"/>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13 / 32</a:t>
            </a:r>
          </a:p>
        </p:txBody>
      </p:sp>
      <p:pic>
        <p:nvPicPr>
          <p:cNvPr id="16" name="Picture 15" descr="m03_occupation.jpg"/>
          <p:cNvPicPr>
            <a:picLocks noChangeAspect="1"/>
          </p:cNvPicPr>
          <p:nvPr/>
        </p:nvPicPr>
        <p:blipFill>
          <a:blip r:embed="rId2"/>
          <a:stretch>
            <a:fillRect/>
          </a:stretch>
        </p:blipFill>
        <p:spPr>
          <a:xfrm>
            <a:off x="254000" y="952500"/>
            <a:ext cx="7937500" cy="5622396"/>
          </a:xfrm>
          <a:prstGeom prst="rect">
            <a:avLst/>
          </a:prstGeom>
        </p:spPr>
      </p:pic>
      <p:sp>
        <p:nvSpPr>
          <p:cNvPr id="17" name="TextBox 16"/>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8" name="Rectangle 17"/>
          <p:cNvSpPr/>
          <p:nvPr/>
        </p:nvSpPr>
        <p:spPr>
          <a:xfrm>
            <a:off x="8445500" y="1174750"/>
            <a:ext cx="165100" cy="101600"/>
          </a:xfrm>
          <a:prstGeom prst="rect">
            <a:avLst/>
          </a:prstGeom>
          <a:solidFill>
            <a:srgbClr val="D7A88A"/>
          </a:solidFill>
          <a:ln>
            <a:noFill/>
          </a:ln>
        </p:spPr>
        <p:txBody>
          <a:bodyPr rtlCol="0" anchor="ctr"/>
          <a:lstStyle/>
          <a:p>
            <a:pPr algn="ctr"/>
          </a:p>
        </p:txBody>
      </p:sp>
      <p:sp>
        <p:nvSpPr>
          <p:cNvPr id="19" name="TextBox 18"/>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Surfaces bâties</a:t>
            </a:r>
          </a:p>
        </p:txBody>
      </p:sp>
      <p:sp>
        <p:nvSpPr>
          <p:cNvPr id="20" name="Rectangle 19"/>
          <p:cNvSpPr/>
          <p:nvPr/>
        </p:nvSpPr>
        <p:spPr>
          <a:xfrm>
            <a:off x="8445500" y="1352550"/>
            <a:ext cx="165100" cy="101600"/>
          </a:xfrm>
          <a:prstGeom prst="rect">
            <a:avLst/>
          </a:prstGeom>
          <a:solidFill>
            <a:srgbClr val="A9BB97"/>
          </a:solidFill>
          <a:ln>
            <a:noFill/>
          </a:ln>
        </p:spPr>
        <p:txBody>
          <a:bodyPr rtlCol="0" anchor="ctr"/>
          <a:lstStyle/>
          <a:p>
            <a:pPr algn="ctr"/>
          </a:p>
        </p:txBody>
      </p:sp>
      <p:sp>
        <p:nvSpPr>
          <p:cNvPr id="21" name="TextBox 20"/>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Arbres, forêts (Rmilat, Perdicaris, Malabata)</a:t>
            </a:r>
          </a:p>
        </p:txBody>
      </p:sp>
      <p:sp>
        <p:nvSpPr>
          <p:cNvPr id="22" name="Rectangle 21"/>
          <p:cNvSpPr/>
          <p:nvPr/>
        </p:nvSpPr>
        <p:spPr>
          <a:xfrm>
            <a:off x="8445500" y="1530350"/>
            <a:ext cx="165100" cy="101600"/>
          </a:xfrm>
          <a:prstGeom prst="rect">
            <a:avLst/>
          </a:prstGeom>
          <a:solidFill>
            <a:srgbClr val="C8CFAE"/>
          </a:solidFill>
          <a:ln>
            <a:noFill/>
          </a:ln>
        </p:spPr>
        <p:txBody>
          <a:bodyPr rtlCol="0" anchor="ctr"/>
          <a:lstStyle/>
          <a:p>
            <a:pPr algn="ctr"/>
          </a:p>
        </p:txBody>
      </p:sp>
      <p:sp>
        <p:nvSpPr>
          <p:cNvPr id="23" name="TextBox 22"/>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Arbustes</a:t>
            </a:r>
          </a:p>
        </p:txBody>
      </p:sp>
      <p:sp>
        <p:nvSpPr>
          <p:cNvPr id="24" name="Rectangle 23"/>
          <p:cNvSpPr/>
          <p:nvPr/>
        </p:nvSpPr>
        <p:spPr>
          <a:xfrm>
            <a:off x="8445500" y="1708150"/>
            <a:ext cx="165100" cy="101600"/>
          </a:xfrm>
          <a:prstGeom prst="rect">
            <a:avLst/>
          </a:prstGeom>
          <a:solidFill>
            <a:srgbClr val="DAD9C2"/>
          </a:solidFill>
          <a:ln>
            <a:noFill/>
          </a:ln>
        </p:spPr>
        <p:txBody>
          <a:bodyPr rtlCol="0" anchor="ctr"/>
          <a:lstStyle/>
          <a:p>
            <a:pPr algn="ctr"/>
          </a:p>
        </p:txBody>
      </p:sp>
      <p:sp>
        <p:nvSpPr>
          <p:cNvPr id="25" name="TextBox 24"/>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Prairies</a:t>
            </a:r>
          </a:p>
        </p:txBody>
      </p:sp>
      <p:sp>
        <p:nvSpPr>
          <p:cNvPr id="26" name="Rectangle 25"/>
          <p:cNvSpPr/>
          <p:nvPr/>
        </p:nvSpPr>
        <p:spPr>
          <a:xfrm>
            <a:off x="8445500" y="1885950"/>
            <a:ext cx="165100" cy="101600"/>
          </a:xfrm>
          <a:prstGeom prst="rect">
            <a:avLst/>
          </a:prstGeom>
          <a:solidFill>
            <a:srgbClr val="E5DEC8"/>
          </a:solidFill>
          <a:ln>
            <a:noFill/>
          </a:ln>
        </p:spPr>
        <p:txBody>
          <a:bodyPr rtlCol="0" anchor="ctr"/>
          <a:lstStyle/>
          <a:p>
            <a:pPr algn="ctr"/>
          </a:p>
        </p:txBody>
      </p:sp>
      <p:sp>
        <p:nvSpPr>
          <p:cNvPr id="27" name="TextBox 26"/>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Cultures</a:t>
            </a:r>
          </a:p>
        </p:txBody>
      </p:sp>
      <p:sp>
        <p:nvSpPr>
          <p:cNvPr id="28" name="Rectangle 27"/>
          <p:cNvSpPr/>
          <p:nvPr/>
        </p:nvSpPr>
        <p:spPr>
          <a:xfrm>
            <a:off x="8445500" y="2063750"/>
            <a:ext cx="165100" cy="101600"/>
          </a:xfrm>
          <a:prstGeom prst="rect">
            <a:avLst/>
          </a:prstGeom>
          <a:solidFill>
            <a:srgbClr val="A8C0C6"/>
          </a:solidFill>
          <a:ln>
            <a:noFill/>
          </a:ln>
        </p:spPr>
        <p:txBody>
          <a:bodyPr rtlCol="0" anchor="ctr"/>
          <a:lstStyle/>
          <a:p>
            <a:pPr algn="ctr"/>
          </a:p>
        </p:txBody>
      </p:sp>
      <p:sp>
        <p:nvSpPr>
          <p:cNvPr id="29" name="TextBox 28"/>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Mer et plans d'eau</a:t>
            </a:r>
          </a:p>
        </p:txBody>
      </p:sp>
      <p:cxnSp>
        <p:nvCxnSpPr>
          <p:cNvPr id="30" name="Connector 29"/>
          <p:cNvCxnSpPr/>
          <p:nvPr/>
        </p:nvCxnSpPr>
        <p:spPr>
          <a:xfrm>
            <a:off x="8445500" y="2292350"/>
            <a:ext cx="165100" cy="0"/>
          </a:xfrm>
          <a:prstGeom prst="line">
            <a:avLst/>
          </a:prstGeom>
          <a:ln w="22225">
            <a:solidFill>
              <a:srgbClr val="B5563C"/>
            </a:solidFill>
          </a:ln>
        </p:spPr>
      </p:cxnSp>
      <p:sp>
        <p:nvSpPr>
          <p:cNvPr id="31" name="TextBox 30"/>
          <p:cNvSpPr txBox="1"/>
          <p:nvPr/>
        </p:nvSpPr>
        <p:spPr>
          <a:xfrm>
            <a:off x="8699500" y="2228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32" name="Connector 31"/>
          <p:cNvCxnSpPr/>
          <p:nvPr/>
        </p:nvCxnSpPr>
        <p:spPr>
          <a:xfrm>
            <a:off x="8445500" y="2470150"/>
            <a:ext cx="165100" cy="0"/>
          </a:xfrm>
          <a:prstGeom prst="line">
            <a:avLst/>
          </a:prstGeom>
          <a:ln w="22225">
            <a:solidFill>
              <a:srgbClr val="C9965A"/>
            </a:solidFill>
          </a:ln>
        </p:spPr>
      </p:cxnSp>
      <p:sp>
        <p:nvSpPr>
          <p:cNvPr id="33" name="TextBox 32"/>
          <p:cNvSpPr txBox="1"/>
          <p:nvPr/>
        </p:nvSpPr>
        <p:spPr>
          <a:xfrm>
            <a:off x="8699500" y="2406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Route principale</a:t>
            </a:r>
          </a:p>
        </p:txBody>
      </p:sp>
      <p:cxnSp>
        <p:nvCxnSpPr>
          <p:cNvPr id="34" name="Connector 33"/>
          <p:cNvCxnSpPr/>
          <p:nvPr/>
        </p:nvCxnSpPr>
        <p:spPr>
          <a:xfrm>
            <a:off x="8445500" y="2647950"/>
            <a:ext cx="165100" cy="0"/>
          </a:xfrm>
          <a:prstGeom prst="line">
            <a:avLst/>
          </a:prstGeom>
          <a:ln w="13970">
            <a:solidFill>
              <a:srgbClr val="23303A"/>
            </a:solidFill>
            <a:prstDash val="dash"/>
          </a:ln>
        </p:spPr>
      </p:cxnSp>
      <p:sp>
        <p:nvSpPr>
          <p:cNvPr id="35" name="TextBox 34"/>
          <p:cNvSpPr txBox="1"/>
          <p:nvPr/>
        </p:nvSpPr>
        <p:spPr>
          <a:xfrm>
            <a:off x="8699500" y="2584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a:t>
            </a:r>
          </a:p>
        </p:txBody>
      </p:sp>
      <p:cxnSp>
        <p:nvCxnSpPr>
          <p:cNvPr id="36" name="Connector 35"/>
          <p:cNvCxnSpPr/>
          <p:nvPr/>
        </p:nvCxnSpPr>
        <p:spPr>
          <a:xfrm>
            <a:off x="8445500" y="2825750"/>
            <a:ext cx="165100" cy="0"/>
          </a:xfrm>
          <a:prstGeom prst="line">
            <a:avLst/>
          </a:prstGeom>
          <a:ln w="22225">
            <a:solidFill>
              <a:srgbClr val="23303A"/>
            </a:solidFill>
          </a:ln>
        </p:spPr>
      </p:cxnSp>
      <p:sp>
        <p:nvSpPr>
          <p:cNvPr id="37" name="TextBox 36"/>
          <p:cNvSpPr txBox="1"/>
          <p:nvPr/>
        </p:nvSpPr>
        <p:spPr>
          <a:xfrm>
            <a:off x="8699500" y="2762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et arrondissements</a:t>
            </a:r>
          </a:p>
        </p:txBody>
      </p:sp>
      <p:sp>
        <p:nvSpPr>
          <p:cNvPr id="38" name="TextBox 37"/>
          <p:cNvSpPr txBox="1"/>
          <p:nvPr/>
        </p:nvSpPr>
        <p:spPr>
          <a:xfrm>
            <a:off x="8445500" y="3124200"/>
            <a:ext cx="34925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ville forme une tache bâtie continue qui s'étire vers le sud et le sud-ouest, le long des voies express. Au nord, le massif forestier de Rmilat et du cap Spartel reste le grand poumon vert, mais il est presque entièrement dans l'arrondissement côtier. Beni Makada, le plus peuplé, n'a presque plus d'arbres.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2017 → 2025 : CE QUE MONTRE LE SATELLITE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Deux images Sentinel-2 prises en juillet, à huit ans d'écart.</a:t>
            </a:r>
          </a:p>
        </p:txBody>
      </p:sp>
      <p:pic>
        <p:nvPicPr>
          <p:cNvPr id="5" name="Picture 4" descr="nc_sk_port.png"/>
          <p:cNvPicPr>
            <a:picLocks noChangeAspect="1"/>
          </p:cNvPicPr>
          <p:nvPr/>
        </p:nvPicPr>
        <p:blipFill>
          <a:blip r:embed="rId2"/>
          <a:stretch>
            <a:fillRect/>
          </a:stretch>
        </p:blipFill>
        <p:spPr>
          <a:xfrm>
            <a:off x="11074893" y="139700"/>
            <a:ext cx="863107" cy="711200"/>
          </a:xfrm>
          <a:prstGeom prst="rect">
            <a:avLst/>
          </a:prstGeom>
        </p:spPr>
      </p:pic>
      <p:sp>
        <p:nvSpPr>
          <p:cNvPr id="6" name="TextBox 5"/>
          <p:cNvSpPr txBox="1"/>
          <p:nvPr/>
        </p:nvSpPr>
        <p:spPr>
          <a:xfrm>
            <a:off x="10058893"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10 m</a:t>
            </a:r>
          </a:p>
        </p:txBody>
      </p:sp>
      <p:sp>
        <p:nvSpPr>
          <p:cNvPr id="7" name="TextBox 6"/>
          <p:cNvSpPr txBox="1"/>
          <p:nvPr/>
        </p:nvSpPr>
        <p:spPr>
          <a:xfrm>
            <a:off x="10058893"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résolution</a:t>
            </a:r>
          </a:p>
          <a:p>
            <a:pPr algn="r">
              <a:lnSpc>
                <a:spcPct val="110000"/>
              </a:lnSpc>
            </a:pPr>
            <a:r>
              <a:rPr sz="850" b="0" i="0">
                <a:solidFill>
                  <a:srgbClr val="7B746B"/>
                </a:solidFill>
                <a:latin typeface="Barlow"/>
              </a:rPr>
              <a:t>Sentinel-2</a:t>
            </a:r>
          </a:p>
        </p:txBody>
      </p:sp>
      <p:sp>
        <p:nvSpPr>
          <p:cNvPr id="8" name="TextBox 7"/>
          <p:cNvSpPr txBox="1"/>
          <p:nvPr/>
        </p:nvSpPr>
        <p:spPr>
          <a:xfrm>
            <a:off x="9080993"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 ans</a:t>
            </a:r>
          </a:p>
        </p:txBody>
      </p:sp>
      <p:sp>
        <p:nvSpPr>
          <p:cNvPr id="9" name="TextBox 8"/>
          <p:cNvSpPr txBox="1"/>
          <p:nvPr/>
        </p:nvSpPr>
        <p:spPr>
          <a:xfrm>
            <a:off x="9080993"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d'écart</a:t>
            </a:r>
          </a:p>
        </p:txBody>
      </p:sp>
      <p:cxnSp>
        <p:nvCxnSpPr>
          <p:cNvPr id="10" name="Connector 9"/>
          <p:cNvCxnSpPr/>
          <p:nvPr/>
        </p:nvCxnSpPr>
        <p:spPr>
          <a:xfrm>
            <a:off x="254000" y="6578600"/>
            <a:ext cx="11684000" cy="0"/>
          </a:xfrm>
          <a:prstGeom prst="line">
            <a:avLst/>
          </a:prstGeom>
          <a:ln w="6350">
            <a:solidFill>
              <a:srgbClr val="CFC6B8"/>
            </a:solidFill>
          </a:ln>
        </p:spPr>
      </p:cxnSp>
      <p:sp>
        <p:nvSpPr>
          <p:cNvPr id="11" name="TextBox 10"/>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2" name="TextBox 11"/>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14 / 32</a:t>
            </a:r>
          </a:p>
        </p:txBody>
      </p:sp>
      <p:pic>
        <p:nvPicPr>
          <p:cNvPr id="13" name="Picture 12" descr="s01_ville_2017.jpg"/>
          <p:cNvPicPr>
            <a:picLocks noChangeAspect="1"/>
          </p:cNvPicPr>
          <p:nvPr/>
        </p:nvPicPr>
        <p:blipFill>
          <a:blip r:embed="rId3"/>
          <a:stretch>
            <a:fillRect/>
          </a:stretch>
        </p:blipFill>
        <p:spPr>
          <a:xfrm>
            <a:off x="254000" y="1079500"/>
            <a:ext cx="5778500" cy="3316859"/>
          </a:xfrm>
          <a:prstGeom prst="rect">
            <a:avLst/>
          </a:prstGeom>
        </p:spPr>
      </p:pic>
      <p:pic>
        <p:nvPicPr>
          <p:cNvPr id="14" name="Picture 13" descr="s01_ville_2025.jpg"/>
          <p:cNvPicPr>
            <a:picLocks noChangeAspect="1"/>
          </p:cNvPicPr>
          <p:nvPr/>
        </p:nvPicPr>
        <p:blipFill>
          <a:blip r:embed="rId4"/>
          <a:stretch>
            <a:fillRect/>
          </a:stretch>
        </p:blipFill>
        <p:spPr>
          <a:xfrm>
            <a:off x="6159500" y="1079500"/>
            <a:ext cx="5778500" cy="3316859"/>
          </a:xfrm>
          <a:prstGeom prst="rect">
            <a:avLst/>
          </a:prstGeom>
        </p:spPr>
      </p:pic>
      <p:sp>
        <p:nvSpPr>
          <p:cNvPr id="15" name="TextBox 14"/>
          <p:cNvSpPr txBox="1"/>
          <p:nvPr/>
        </p:nvSpPr>
        <p:spPr>
          <a:xfrm>
            <a:off x="3175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16 / 07 / 2017</a:t>
            </a:r>
          </a:p>
        </p:txBody>
      </p:sp>
      <p:sp>
        <p:nvSpPr>
          <p:cNvPr id="16" name="TextBox 15"/>
          <p:cNvSpPr txBox="1"/>
          <p:nvPr/>
        </p:nvSpPr>
        <p:spPr>
          <a:xfrm>
            <a:off x="62230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19 / 07 / 2025</a:t>
            </a:r>
          </a:p>
        </p:txBody>
      </p:sp>
      <p:sp>
        <p:nvSpPr>
          <p:cNvPr id="17" name="Oval 16"/>
          <p:cNvSpPr/>
          <p:nvPr/>
        </p:nvSpPr>
        <p:spPr>
          <a:xfrm>
            <a:off x="9972819" y="1708708"/>
            <a:ext cx="279400" cy="279400"/>
          </a:xfrm>
          <a:prstGeom prst="ellipse">
            <a:avLst/>
          </a:prstGeom>
          <a:noFill/>
          <a:ln w="12700">
            <a:solidFill>
              <a:srgbClr val="FFFFFF"/>
            </a:solidFill>
          </a:ln>
        </p:spPr>
        <p:txBody>
          <a:bodyPr rtlCol="0" anchor="ctr"/>
          <a:lstStyle/>
          <a:p>
            <a:pPr algn="ctr"/>
          </a:p>
        </p:txBody>
      </p:sp>
      <p:sp>
        <p:nvSpPr>
          <p:cNvPr id="18" name="Oval 17"/>
          <p:cNvSpPr/>
          <p:nvPr/>
        </p:nvSpPr>
        <p:spPr>
          <a:xfrm>
            <a:off x="10176019" y="1632508"/>
            <a:ext cx="152400" cy="152400"/>
          </a:xfrm>
          <a:prstGeom prst="ellipse">
            <a:avLst/>
          </a:prstGeom>
          <a:solidFill>
            <a:srgbClr val="B5563C"/>
          </a:solidFill>
          <a:ln w="9525">
            <a:solidFill>
              <a:srgbClr val="FFFFFF"/>
            </a:solidFill>
          </a:ln>
        </p:spPr>
        <p:txBody>
          <a:bodyPr rtlCol="0" anchor="ctr"/>
          <a:lstStyle/>
          <a:p>
            <a:pPr algn="ctr"/>
          </a:p>
        </p:txBody>
      </p:sp>
      <p:sp>
        <p:nvSpPr>
          <p:cNvPr id="19" name="TextBox 18"/>
          <p:cNvSpPr txBox="1"/>
          <p:nvPr/>
        </p:nvSpPr>
        <p:spPr>
          <a:xfrm>
            <a:off x="10176019" y="163250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20" name="Oval 19"/>
          <p:cNvSpPr/>
          <p:nvPr/>
        </p:nvSpPr>
        <p:spPr>
          <a:xfrm>
            <a:off x="8564967" y="3165111"/>
            <a:ext cx="279400" cy="279400"/>
          </a:xfrm>
          <a:prstGeom prst="ellipse">
            <a:avLst/>
          </a:prstGeom>
          <a:noFill/>
          <a:ln w="12700">
            <a:solidFill>
              <a:srgbClr val="FFFFFF"/>
            </a:solidFill>
          </a:ln>
        </p:spPr>
        <p:txBody>
          <a:bodyPr rtlCol="0" anchor="ctr"/>
          <a:lstStyle/>
          <a:p>
            <a:pPr algn="ctr"/>
          </a:p>
        </p:txBody>
      </p:sp>
      <p:sp>
        <p:nvSpPr>
          <p:cNvPr id="21" name="Oval 20"/>
          <p:cNvSpPr/>
          <p:nvPr/>
        </p:nvSpPr>
        <p:spPr>
          <a:xfrm>
            <a:off x="8768167" y="3088911"/>
            <a:ext cx="152400" cy="152400"/>
          </a:xfrm>
          <a:prstGeom prst="ellipse">
            <a:avLst/>
          </a:prstGeom>
          <a:solidFill>
            <a:srgbClr val="B5563C"/>
          </a:solidFill>
          <a:ln w="9525">
            <a:solidFill>
              <a:srgbClr val="FFFFFF"/>
            </a:solidFill>
          </a:ln>
        </p:spPr>
        <p:txBody>
          <a:bodyPr rtlCol="0" anchor="ctr"/>
          <a:lstStyle/>
          <a:p>
            <a:pPr algn="ctr"/>
          </a:p>
        </p:txBody>
      </p:sp>
      <p:sp>
        <p:nvSpPr>
          <p:cNvPr id="22" name="TextBox 21"/>
          <p:cNvSpPr txBox="1"/>
          <p:nvPr/>
        </p:nvSpPr>
        <p:spPr>
          <a:xfrm>
            <a:off x="8768167" y="3088911"/>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23" name="Oval 22"/>
          <p:cNvSpPr/>
          <p:nvPr/>
        </p:nvSpPr>
        <p:spPr>
          <a:xfrm>
            <a:off x="7325216" y="3940050"/>
            <a:ext cx="279400" cy="279400"/>
          </a:xfrm>
          <a:prstGeom prst="ellipse">
            <a:avLst/>
          </a:prstGeom>
          <a:noFill/>
          <a:ln w="12700">
            <a:solidFill>
              <a:srgbClr val="FFFFFF"/>
            </a:solidFill>
          </a:ln>
        </p:spPr>
        <p:txBody>
          <a:bodyPr rtlCol="0" anchor="ctr"/>
          <a:lstStyle/>
          <a:p>
            <a:pPr algn="ctr"/>
          </a:p>
        </p:txBody>
      </p:sp>
      <p:sp>
        <p:nvSpPr>
          <p:cNvPr id="24" name="Oval 23"/>
          <p:cNvSpPr/>
          <p:nvPr/>
        </p:nvSpPr>
        <p:spPr>
          <a:xfrm>
            <a:off x="7528416" y="3863850"/>
            <a:ext cx="152400" cy="152400"/>
          </a:xfrm>
          <a:prstGeom prst="ellipse">
            <a:avLst/>
          </a:prstGeom>
          <a:solidFill>
            <a:srgbClr val="B5563C"/>
          </a:solidFill>
          <a:ln w="9525">
            <a:solidFill>
              <a:srgbClr val="FFFFFF"/>
            </a:solidFill>
          </a:ln>
        </p:spPr>
        <p:txBody>
          <a:bodyPr rtlCol="0" anchor="ctr"/>
          <a:lstStyle/>
          <a:p>
            <a:pPr algn="ctr"/>
          </a:p>
        </p:txBody>
      </p:sp>
      <p:sp>
        <p:nvSpPr>
          <p:cNvPr id="25" name="TextBox 24"/>
          <p:cNvSpPr txBox="1"/>
          <p:nvPr/>
        </p:nvSpPr>
        <p:spPr>
          <a:xfrm>
            <a:off x="7528416" y="386385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26" name="Oval 25"/>
          <p:cNvSpPr/>
          <p:nvPr/>
        </p:nvSpPr>
        <p:spPr>
          <a:xfrm>
            <a:off x="10878993" y="3412368"/>
            <a:ext cx="279400" cy="279400"/>
          </a:xfrm>
          <a:prstGeom prst="ellipse">
            <a:avLst/>
          </a:prstGeom>
          <a:noFill/>
          <a:ln w="12700">
            <a:solidFill>
              <a:srgbClr val="FFFFFF"/>
            </a:solidFill>
          </a:ln>
        </p:spPr>
        <p:txBody>
          <a:bodyPr rtlCol="0" anchor="ctr"/>
          <a:lstStyle/>
          <a:p>
            <a:pPr algn="ctr"/>
          </a:p>
        </p:txBody>
      </p:sp>
      <p:sp>
        <p:nvSpPr>
          <p:cNvPr id="27" name="Oval 26"/>
          <p:cNvSpPr/>
          <p:nvPr/>
        </p:nvSpPr>
        <p:spPr>
          <a:xfrm>
            <a:off x="11082193" y="3336168"/>
            <a:ext cx="152400" cy="152400"/>
          </a:xfrm>
          <a:prstGeom prst="ellipse">
            <a:avLst/>
          </a:prstGeom>
          <a:solidFill>
            <a:srgbClr val="B5563C"/>
          </a:solidFill>
          <a:ln w="9525">
            <a:solidFill>
              <a:srgbClr val="FFFFFF"/>
            </a:solidFill>
          </a:ln>
        </p:spPr>
        <p:txBody>
          <a:bodyPr rtlCol="0" anchor="ctr"/>
          <a:lstStyle/>
          <a:p>
            <a:pPr algn="ctr"/>
          </a:p>
        </p:txBody>
      </p:sp>
      <p:sp>
        <p:nvSpPr>
          <p:cNvPr id="28" name="TextBox 27"/>
          <p:cNvSpPr txBox="1"/>
          <p:nvPr/>
        </p:nvSpPr>
        <p:spPr>
          <a:xfrm>
            <a:off x="11082193" y="333616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29" name="Oval 28"/>
          <p:cNvSpPr/>
          <p:nvPr/>
        </p:nvSpPr>
        <p:spPr>
          <a:xfrm>
            <a:off x="6172200" y="4561459"/>
            <a:ext cx="152400" cy="152400"/>
          </a:xfrm>
          <a:prstGeom prst="ellipse">
            <a:avLst/>
          </a:prstGeom>
          <a:solidFill>
            <a:srgbClr val="B5563C"/>
          </a:solidFill>
          <a:ln w="9525">
            <a:solidFill>
              <a:srgbClr val="FFFFFF"/>
            </a:solidFill>
          </a:ln>
        </p:spPr>
        <p:txBody>
          <a:bodyPr rtlCol="0" anchor="ctr"/>
          <a:lstStyle/>
          <a:p>
            <a:pPr algn="ctr"/>
          </a:p>
        </p:txBody>
      </p:sp>
      <p:sp>
        <p:nvSpPr>
          <p:cNvPr id="30" name="TextBox 29"/>
          <p:cNvSpPr txBox="1"/>
          <p:nvPr/>
        </p:nvSpPr>
        <p:spPr>
          <a:xfrm>
            <a:off x="61722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31" name="TextBox 30"/>
          <p:cNvSpPr txBox="1"/>
          <p:nvPr/>
        </p:nvSpPr>
        <p:spPr>
          <a:xfrm>
            <a:off x="6388100" y="45678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Port reconverti et marina</a:t>
            </a:r>
          </a:p>
        </p:txBody>
      </p:sp>
      <p:sp>
        <p:nvSpPr>
          <p:cNvPr id="32" name="Oval 31"/>
          <p:cNvSpPr/>
          <p:nvPr/>
        </p:nvSpPr>
        <p:spPr>
          <a:xfrm>
            <a:off x="9029700" y="4561459"/>
            <a:ext cx="152400" cy="152400"/>
          </a:xfrm>
          <a:prstGeom prst="ellipse">
            <a:avLst/>
          </a:prstGeom>
          <a:solidFill>
            <a:srgbClr val="B5563C"/>
          </a:solidFill>
          <a:ln w="9525">
            <a:solidFill>
              <a:srgbClr val="FFFFFF"/>
            </a:solidFill>
          </a:ln>
        </p:spPr>
        <p:txBody>
          <a:bodyPr rtlCol="0" anchor="ctr"/>
          <a:lstStyle/>
          <a:p>
            <a:pPr algn="ctr"/>
          </a:p>
        </p:txBody>
      </p:sp>
      <p:sp>
        <p:nvSpPr>
          <p:cNvPr id="33" name="TextBox 32"/>
          <p:cNvSpPr txBox="1"/>
          <p:nvPr/>
        </p:nvSpPr>
        <p:spPr>
          <a:xfrm>
            <a:off x="90297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4" name="TextBox 33"/>
          <p:cNvSpPr txBox="1"/>
          <p:nvPr/>
        </p:nvSpPr>
        <p:spPr>
          <a:xfrm>
            <a:off x="9245600" y="45678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Grand stade : nouvelle toiture</a:t>
            </a:r>
          </a:p>
        </p:txBody>
      </p:sp>
      <p:sp>
        <p:nvSpPr>
          <p:cNvPr id="35" name="Oval 34"/>
          <p:cNvSpPr/>
          <p:nvPr/>
        </p:nvSpPr>
        <p:spPr>
          <a:xfrm>
            <a:off x="6172200" y="4777359"/>
            <a:ext cx="152400" cy="152400"/>
          </a:xfrm>
          <a:prstGeom prst="ellipse">
            <a:avLst/>
          </a:prstGeom>
          <a:solidFill>
            <a:srgbClr val="B5563C"/>
          </a:solidFill>
          <a:ln w="9525">
            <a:solidFill>
              <a:srgbClr val="FFFFFF"/>
            </a:solidFill>
          </a:ln>
        </p:spPr>
        <p:txBody>
          <a:bodyPr rtlCol="0" anchor="ctr"/>
          <a:lstStyle/>
          <a:p>
            <a:pPr algn="ctr"/>
          </a:p>
        </p:txBody>
      </p:sp>
      <p:sp>
        <p:nvSpPr>
          <p:cNvPr id="36" name="TextBox 35"/>
          <p:cNvSpPr txBox="1"/>
          <p:nvPr/>
        </p:nvSpPr>
        <p:spPr>
          <a:xfrm>
            <a:off x="61722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37" name="TextBox 36"/>
          <p:cNvSpPr txBox="1"/>
          <p:nvPr/>
        </p:nvSpPr>
        <p:spPr>
          <a:xfrm>
            <a:off x="6388100" y="47837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Zone franche étendue</a:t>
            </a:r>
          </a:p>
        </p:txBody>
      </p:sp>
      <p:sp>
        <p:nvSpPr>
          <p:cNvPr id="38" name="Oval 37"/>
          <p:cNvSpPr/>
          <p:nvPr/>
        </p:nvSpPr>
        <p:spPr>
          <a:xfrm>
            <a:off x="9029700" y="4777359"/>
            <a:ext cx="152400" cy="152400"/>
          </a:xfrm>
          <a:prstGeom prst="ellipse">
            <a:avLst/>
          </a:prstGeom>
          <a:solidFill>
            <a:srgbClr val="B5563C"/>
          </a:solidFill>
          <a:ln w="9525">
            <a:solidFill>
              <a:srgbClr val="FFFFFF"/>
            </a:solidFill>
          </a:ln>
        </p:spPr>
        <p:txBody>
          <a:bodyPr rtlCol="0" anchor="ctr"/>
          <a:lstStyle/>
          <a:p>
            <a:pPr algn="ctr"/>
          </a:p>
        </p:txBody>
      </p:sp>
      <p:sp>
        <p:nvSpPr>
          <p:cNvPr id="39" name="TextBox 38"/>
          <p:cNvSpPr txBox="1"/>
          <p:nvPr/>
        </p:nvSpPr>
        <p:spPr>
          <a:xfrm>
            <a:off x="90297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40" name="TextBox 39"/>
          <p:cNvSpPr txBox="1"/>
          <p:nvPr/>
        </p:nvSpPr>
        <p:spPr>
          <a:xfrm>
            <a:off x="9245600" y="47837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Lotissements de Mghogha</a:t>
            </a:r>
          </a:p>
        </p:txBody>
      </p:sp>
      <p:sp>
        <p:nvSpPr>
          <p:cNvPr id="41" name="TextBox 40"/>
          <p:cNvSpPr txBox="1"/>
          <p:nvPr/>
        </p:nvSpPr>
        <p:spPr>
          <a:xfrm>
            <a:off x="254000" y="4548759"/>
            <a:ext cx="5778500" cy="762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Les transformations les plus visibles depuis l'espace sont les projets d'image : le front portuaire et le grand stade. Pendant ce temps, la ville s'étale au sud par lotissements successifs, sans transport en site propre pour les relier.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LIRE LE TERRITOIRE PAR COUCHES</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Cinq couches de données réelles superposées : relief, trame verte et bleue, bâti dans le temps, réseaux, usages.</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150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d'emprise</a:t>
            </a:r>
          </a:p>
        </p:txBody>
      </p:sp>
      <p:sp>
        <p:nvSpPr>
          <p:cNvPr id="7" name="TextBox 6"/>
          <p:cNvSpPr txBox="1"/>
          <p:nvPr/>
        </p:nvSpPr>
        <p:spPr>
          <a:xfrm>
            <a:off x="99631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a:t>
            </a:r>
          </a:p>
        </p:txBody>
      </p:sp>
      <p:sp>
        <p:nvSpPr>
          <p:cNvPr id="8" name="TextBox 7"/>
          <p:cNvSpPr txBox="1"/>
          <p:nvPr/>
        </p:nvSpPr>
        <p:spPr>
          <a:xfrm>
            <a:off x="99631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couches</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1" name="TextBox 10"/>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15 / 32</a:t>
            </a:r>
          </a:p>
        </p:txBody>
      </p:sp>
      <p:pic>
        <p:nvPicPr>
          <p:cNvPr id="12" name="Picture 11" descr="m14_couches.jpg"/>
          <p:cNvPicPr>
            <a:picLocks noChangeAspect="1"/>
          </p:cNvPicPr>
          <p:nvPr/>
        </p:nvPicPr>
        <p:blipFill>
          <a:blip r:embed="rId2"/>
          <a:stretch>
            <a:fillRect/>
          </a:stretch>
        </p:blipFill>
        <p:spPr>
          <a:xfrm>
            <a:off x="254000" y="889000"/>
            <a:ext cx="6705600" cy="5588000"/>
          </a:xfrm>
          <a:prstGeom prst="rect">
            <a:avLst/>
          </a:prstGeom>
        </p:spPr>
      </p:pic>
      <p:sp>
        <p:nvSpPr>
          <p:cNvPr id="13" name="TextBox 12"/>
          <p:cNvSpPr txBox="1"/>
          <p:nvPr/>
        </p:nvSpPr>
        <p:spPr>
          <a:xfrm>
            <a:off x="7302500" y="1079500"/>
            <a:ext cx="4572000" cy="4445000"/>
          </a:xfrm>
          <a:prstGeom prst="rect">
            <a:avLst/>
          </a:prstGeom>
          <a:noFill/>
        </p:spPr>
        <p:txBody>
          <a:bodyPr wrap="square" lIns="0" rIns="0" tIns="0" bIns="0" anchor="t">
            <a:spAutoFit/>
          </a:bodyPr>
          <a:lstStyle/>
          <a:p>
            <a:pPr algn="l">
              <a:lnSpc>
                <a:spcPct val="138000"/>
              </a:lnSpc>
            </a:pPr>
            <a:r>
              <a:rPr sz="1400" b="1" i="0">
                <a:solidFill>
                  <a:srgbClr val="23303A"/>
                </a:solidFill>
                <a:latin typeface="Barlow Condensed"/>
              </a:rPr>
              <a:t>Ce que montre la superposition</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1. Le relief commande la ville. </a:t>
            </a:r>
            <a:r>
              <a:rPr sz="1100" b="0" i="0">
                <a:solidFill>
                  <a:srgbClr val="23303A"/>
                </a:solidFill>
                <a:latin typeface="Barlow"/>
              </a:rPr>
              <a:t>La vieille ville tient la falaise au-dessus du détroit ; la croissance a contourné les collines boisées du nord-ouest pour s'étaler sur les plateaux du sud.</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2. La trame verte est au nord, la population au sud. </a:t>
            </a:r>
            <a:r>
              <a:rPr sz="1100" b="0" i="0">
                <a:solidFill>
                  <a:srgbClr val="23303A"/>
                </a:solidFill>
                <a:latin typeface="Barlow"/>
              </a:rPr>
              <a:t>Rmilat, Perdicaris et Malabata concentrent les arbres ; la tache bâtie récente n'en contient presque aucun.</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3. Le bâti récent suit les réseaux, pas les équipements. </a:t>
            </a:r>
            <a:r>
              <a:rPr sz="1100" b="0" i="0">
                <a:solidFill>
                  <a:srgbClr val="23303A"/>
                </a:solidFill>
                <a:latin typeface="Barlow"/>
              </a:rPr>
              <a:t>Les extensions 2004-2021 se collent aux voies express et à la voie ferrée.</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4. Les usages se séparent. </a:t>
            </a:r>
            <a:r>
              <a:rPr sz="1100" b="0" i="0">
                <a:solidFill>
                  <a:srgbClr val="23303A"/>
                </a:solidFill>
                <a:latin typeface="Barlow"/>
              </a:rPr>
              <a:t>Les hébergements (rouge) se massent sur la côte ; écoles et santé (bleu) restent concentrées dans le centre ancien, loin des nouveaux quartiers.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DEUX VILLES DANS LA VILLE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Densité des lieux recensés : à gauche, l'offre pour le visiteur ; à droite, les équipements du quotidien.</a:t>
            </a:r>
          </a:p>
        </p:txBody>
      </p:sp>
      <p:pic>
        <p:nvPicPr>
          <p:cNvPr id="5" name="Picture 4" descr="nc_sk_legation.png"/>
          <p:cNvPicPr>
            <a:picLocks noChangeAspect="1"/>
          </p:cNvPicPr>
          <p:nvPr/>
        </p:nvPicPr>
        <p:blipFill>
          <a:blip r:embed="rId2"/>
          <a:stretch>
            <a:fillRect/>
          </a:stretch>
        </p:blipFill>
        <p:spPr>
          <a:xfrm>
            <a:off x="11026559" y="139700"/>
            <a:ext cx="911441" cy="711200"/>
          </a:xfrm>
          <a:prstGeom prst="rect">
            <a:avLst/>
          </a:prstGeom>
        </p:spPr>
      </p:pic>
      <p:sp>
        <p:nvSpPr>
          <p:cNvPr id="6" name="TextBox 5"/>
          <p:cNvSpPr txBox="1"/>
          <p:nvPr/>
        </p:nvSpPr>
        <p:spPr>
          <a:xfrm>
            <a:off x="10010559"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27 %</a:t>
            </a:r>
          </a:p>
        </p:txBody>
      </p:sp>
      <p:sp>
        <p:nvSpPr>
          <p:cNvPr id="7" name="TextBox 6"/>
          <p:cNvSpPr txBox="1"/>
          <p:nvPr/>
        </p:nvSpPr>
        <p:spPr>
          <a:xfrm>
            <a:off x="10010559"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écoles à moins</a:t>
            </a:r>
          </a:p>
          <a:p>
            <a:pPr algn="r">
              <a:lnSpc>
                <a:spcPct val="110000"/>
              </a:lnSpc>
            </a:pPr>
            <a:r>
              <a:rPr sz="850" b="0" i="0">
                <a:solidFill>
                  <a:srgbClr val="7B746B"/>
                </a:solidFill>
                <a:latin typeface="Barlow"/>
              </a:rPr>
              <a:t>de 1 km de la mer</a:t>
            </a:r>
          </a:p>
        </p:txBody>
      </p:sp>
      <p:sp>
        <p:nvSpPr>
          <p:cNvPr id="8" name="TextBox 7"/>
          <p:cNvSpPr txBox="1"/>
          <p:nvPr/>
        </p:nvSpPr>
        <p:spPr>
          <a:xfrm>
            <a:off x="9032659"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14 %</a:t>
            </a:r>
          </a:p>
        </p:txBody>
      </p:sp>
      <p:sp>
        <p:nvSpPr>
          <p:cNvPr id="9" name="TextBox 8"/>
          <p:cNvSpPr txBox="1"/>
          <p:nvPr/>
        </p:nvSpPr>
        <p:spPr>
          <a:xfrm>
            <a:off x="9032659"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à moins</a:t>
            </a:r>
          </a:p>
          <a:p>
            <a:pPr algn="r">
              <a:lnSpc>
                <a:spcPct val="110000"/>
              </a:lnSpc>
            </a:pPr>
            <a:r>
              <a:rPr sz="850" b="0" i="0">
                <a:solidFill>
                  <a:srgbClr val="7B746B"/>
                </a:solidFill>
                <a:latin typeface="Barlow"/>
              </a:rPr>
              <a:t>de 1 km de la mer</a:t>
            </a:r>
          </a:p>
        </p:txBody>
      </p:sp>
      <p:sp>
        <p:nvSpPr>
          <p:cNvPr id="10" name="TextBox 9"/>
          <p:cNvSpPr txBox="1"/>
          <p:nvPr/>
        </p:nvSpPr>
        <p:spPr>
          <a:xfrm>
            <a:off x="7882039" y="215900"/>
            <a:ext cx="93472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77 %</a:t>
            </a:r>
          </a:p>
        </p:txBody>
      </p:sp>
      <p:sp>
        <p:nvSpPr>
          <p:cNvPr id="11" name="TextBox 10"/>
          <p:cNvSpPr txBox="1"/>
          <p:nvPr/>
        </p:nvSpPr>
        <p:spPr>
          <a:xfrm>
            <a:off x="7882039" y="546100"/>
            <a:ext cx="93472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hébergements à</a:t>
            </a:r>
          </a:p>
          <a:p>
            <a:pPr algn="r">
              <a:lnSpc>
                <a:spcPct val="110000"/>
              </a:lnSpc>
            </a:pPr>
            <a:r>
              <a:rPr sz="850" b="0" i="0">
                <a:solidFill>
                  <a:srgbClr val="7B746B"/>
                </a:solidFill>
                <a:latin typeface="Barlow"/>
              </a:rPr>
              <a:t>moins de 1 km de la mer</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16 / 32</a:t>
            </a:r>
          </a:p>
        </p:txBody>
      </p:sp>
      <p:pic>
        <p:nvPicPr>
          <p:cNvPr id="15" name="Picture 14" descr="m04a_vitrine.jpg"/>
          <p:cNvPicPr>
            <a:picLocks noChangeAspect="1"/>
          </p:cNvPicPr>
          <p:nvPr/>
        </p:nvPicPr>
        <p:blipFill>
          <a:blip r:embed="rId3"/>
          <a:stretch>
            <a:fillRect/>
          </a:stretch>
        </p:blipFill>
        <p:spPr>
          <a:xfrm>
            <a:off x="254000" y="1206500"/>
            <a:ext cx="5715000" cy="4214812"/>
          </a:xfrm>
          <a:prstGeom prst="rect">
            <a:avLst/>
          </a:prstGeom>
        </p:spPr>
      </p:pic>
      <p:pic>
        <p:nvPicPr>
          <p:cNvPr id="16" name="Picture 15" descr="m04b_vecue.jpg"/>
          <p:cNvPicPr>
            <a:picLocks noChangeAspect="1"/>
          </p:cNvPicPr>
          <p:nvPr/>
        </p:nvPicPr>
        <p:blipFill>
          <a:blip r:embed="rId4"/>
          <a:stretch>
            <a:fillRect/>
          </a:stretch>
        </p:blipFill>
        <p:spPr>
          <a:xfrm>
            <a:off x="6223000" y="1206500"/>
            <a:ext cx="5715000" cy="4214812"/>
          </a:xfrm>
          <a:prstGeom prst="rect">
            <a:avLst/>
          </a:prstGeom>
        </p:spPr>
      </p:pic>
      <p:sp>
        <p:nvSpPr>
          <p:cNvPr id="17" name="TextBox 16"/>
          <p:cNvSpPr txBox="1"/>
          <p:nvPr/>
        </p:nvSpPr>
        <p:spPr>
          <a:xfrm>
            <a:off x="254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LA VILLE DU VISITEUR : HÉBERGEMENTS, SITES PATRIMONIAUX, PLAGES</a:t>
            </a:r>
          </a:p>
        </p:txBody>
      </p:sp>
      <p:sp>
        <p:nvSpPr>
          <p:cNvPr id="18" name="TextBox 17"/>
          <p:cNvSpPr txBox="1"/>
          <p:nvPr/>
        </p:nvSpPr>
        <p:spPr>
          <a:xfrm>
            <a:off x="6223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LA VILLE DE L'HABITANT : ÉCOLES ET ÉQUIPEMENTS DE SANTÉ</a:t>
            </a:r>
          </a:p>
        </p:txBody>
      </p:sp>
      <p:sp>
        <p:nvSpPr>
          <p:cNvPr id="19" name="TextBox 18"/>
          <p:cNvSpPr txBox="1"/>
          <p:nvPr/>
        </p:nvSpPr>
        <p:spPr>
          <a:xfrm>
            <a:off x="254000" y="5548312"/>
            <a:ext cx="5715000" cy="762000"/>
          </a:xfrm>
          <a:prstGeom prst="rect">
            <a:avLst/>
          </a:prstGeom>
          <a:noFill/>
        </p:spPr>
        <p:txBody>
          <a:bodyPr wrap="square" lIns="0" rIns="0" tIns="0" bIns="0" anchor="t">
            <a:spAutoFit/>
          </a:bodyPr>
          <a:lstStyle/>
          <a:p>
            <a:pPr algn="l">
              <a:lnSpc>
                <a:spcPct val="135000"/>
              </a:lnSpc>
            </a:pPr>
            <a:r>
              <a:rPr sz="1050" b="1" i="0">
                <a:solidFill>
                  <a:srgbClr val="23303A"/>
                </a:solidFill>
                <a:latin typeface="Barlow"/>
              </a:rPr>
              <a:t>Hébergements : </a:t>
            </a:r>
            <a:r>
              <a:rPr sz="1050" b="0" i="0">
                <a:solidFill>
                  <a:srgbClr val="23303A"/>
                </a:solidFill>
                <a:latin typeface="Barlow"/>
              </a:rPr>
              <a:t>207 dans la commune, 62 % à moins de 500 m de la mer, concentrés entre médina, port et corniche.</a:t>
            </a:r>
          </a:p>
        </p:txBody>
      </p:sp>
      <p:sp>
        <p:nvSpPr>
          <p:cNvPr id="20" name="TextBox 19"/>
          <p:cNvSpPr txBox="1"/>
          <p:nvPr/>
        </p:nvSpPr>
        <p:spPr>
          <a:xfrm>
            <a:off x="6223000" y="5548312"/>
            <a:ext cx="5715000" cy="762000"/>
          </a:xfrm>
          <a:prstGeom prst="rect">
            <a:avLst/>
          </a:prstGeom>
          <a:noFill/>
        </p:spPr>
        <p:txBody>
          <a:bodyPr wrap="square" lIns="0" rIns="0" tIns="0" bIns="0" anchor="t">
            <a:spAutoFit/>
          </a:bodyPr>
          <a:lstStyle/>
          <a:p>
            <a:pPr algn="l">
              <a:lnSpc>
                <a:spcPct val="135000"/>
              </a:lnSpc>
            </a:pPr>
            <a:r>
              <a:rPr sz="1050" b="1" i="0">
                <a:solidFill>
                  <a:srgbClr val="23303A"/>
                </a:solidFill>
                <a:latin typeface="Barlow"/>
              </a:rPr>
              <a:t>Écoles et santé : </a:t>
            </a:r>
            <a:r>
              <a:rPr sz="1050" b="0" i="0">
                <a:solidFill>
                  <a:srgbClr val="23303A"/>
                </a:solidFill>
                <a:latin typeface="Barlow"/>
              </a:rPr>
              <a:t>573 lieux, plus diffus, mais leur densité chute fortement dans Beni Makada, pourtant le plus peuplé.</a:t>
            </a:r>
          </a:p>
        </p:txBody>
      </p:sp>
      <p:sp>
        <p:nvSpPr>
          <p:cNvPr id="21" name="TextBox 20"/>
          <p:cNvSpPr txBox="1"/>
          <p:nvPr/>
        </p:nvSpPr>
        <p:spPr>
          <a:xfrm>
            <a:off x="254000" y="6056312"/>
            <a:ext cx="11684000" cy="381000"/>
          </a:xfrm>
          <a:prstGeom prst="rect">
            <a:avLst/>
          </a:prstGeom>
          <a:noFill/>
        </p:spPr>
        <p:txBody>
          <a:bodyPr wrap="square" lIns="0" rIns="0" tIns="0" bIns="0" anchor="t">
            <a:spAutoFit/>
          </a:bodyPr>
          <a:lstStyle/>
          <a:p>
            <a:pPr algn="l">
              <a:lnSpc>
                <a:spcPct val="120000"/>
              </a:lnSpc>
            </a:pPr>
            <a:r>
              <a:rPr sz="850" b="0" i="1">
                <a:solidFill>
                  <a:srgbClr val="7B746B"/>
                </a:solidFill>
                <a:latin typeface="Barlow"/>
              </a:rPr>
              <a:t>Estimation par noyau (KDE) des lieux Overture Places 2026. Distance à la mer calculée sur le trait de côte ESA WorldCover. Calculs de l'auteur.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INDICATEURS PAR ARRONDISSEMENT</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Équipements et services rapportés à la population 2024. Beni Makada en rouge.</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4</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écoles / hab.</a:t>
            </a:r>
          </a:p>
        </p:txBody>
      </p:sp>
      <p:sp>
        <p:nvSpPr>
          <p:cNvPr id="7" name="TextBox 6"/>
          <p:cNvSpPr txBox="1"/>
          <p:nvPr/>
        </p:nvSpPr>
        <p:spPr>
          <a:xfrm>
            <a:off x="10147300" y="215900"/>
            <a:ext cx="8128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6</a:t>
            </a:r>
          </a:p>
        </p:txBody>
      </p:sp>
      <p:sp>
        <p:nvSpPr>
          <p:cNvPr id="8" name="TextBox 7"/>
          <p:cNvSpPr txBox="1"/>
          <p:nvPr/>
        </p:nvSpPr>
        <p:spPr>
          <a:xfrm>
            <a:off x="10147300" y="546100"/>
            <a:ext cx="8128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équipements de santé</a:t>
            </a:r>
          </a:p>
          <a:p>
            <a:pPr algn="r">
              <a:lnSpc>
                <a:spcPct val="110000"/>
              </a:lnSpc>
            </a:pPr>
            <a:r>
              <a:rPr sz="850" b="0" i="0">
                <a:solidFill>
                  <a:srgbClr val="7B746B"/>
                </a:solidFill>
                <a:latin typeface="Barlow"/>
              </a:rPr>
              <a:t>/ hab.</a:t>
            </a:r>
          </a:p>
        </p:txBody>
      </p:sp>
      <p:sp>
        <p:nvSpPr>
          <p:cNvPr id="9" name="TextBox 8"/>
          <p:cNvSpPr txBox="1"/>
          <p:nvPr/>
        </p:nvSpPr>
        <p:spPr>
          <a:xfrm>
            <a:off x="907796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29</a:t>
            </a:r>
          </a:p>
        </p:txBody>
      </p:sp>
      <p:sp>
        <p:nvSpPr>
          <p:cNvPr id="10" name="TextBox 9"/>
          <p:cNvSpPr txBox="1"/>
          <p:nvPr/>
        </p:nvSpPr>
        <p:spPr>
          <a:xfrm>
            <a:off x="907796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hébergements / hab.</a:t>
            </a:r>
          </a:p>
          <a:p>
            <a:pPr algn="r">
              <a:lnSpc>
                <a:spcPct val="110000"/>
              </a:lnSpc>
            </a:pPr>
            <a:r>
              <a:rPr sz="850" b="0" i="0">
                <a:solidFill>
                  <a:srgbClr val="7B746B"/>
                </a:solidFill>
                <a:latin typeface="Barlow"/>
              </a:rPr>
              <a:t>Médina vs Beni Makada</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17 / 32</a:t>
            </a:r>
          </a:p>
        </p:txBody>
      </p:sp>
      <p:sp>
        <p:nvSpPr>
          <p:cNvPr id="14" name="Rectangle 13"/>
          <p:cNvSpPr/>
          <p:nvPr/>
        </p:nvSpPr>
        <p:spPr>
          <a:xfrm>
            <a:off x="254000" y="1333500"/>
            <a:ext cx="3746500" cy="1841500"/>
          </a:xfrm>
          <a:prstGeom prst="rect">
            <a:avLst/>
          </a:prstGeom>
          <a:solidFill>
            <a:srgbClr val="FFFFFF"/>
          </a:solidFill>
          <a:ln w="6350">
            <a:solidFill>
              <a:srgbClr val="CFC6B8"/>
            </a:solidFill>
          </a:ln>
        </p:spPr>
        <p:txBody>
          <a:bodyPr rtlCol="0" anchor="ctr"/>
          <a:lstStyle/>
          <a:p>
            <a:pPr algn="ctr"/>
          </a:p>
        </p:txBody>
      </p:sp>
      <p:sp>
        <p:nvSpPr>
          <p:cNvPr id="15" name="TextBox 14"/>
          <p:cNvSpPr txBox="1"/>
          <p:nvPr/>
        </p:nvSpPr>
        <p:spPr>
          <a:xfrm>
            <a:off x="406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HÉBERGEMENTS TOURISTIQUES / 10 000 HAB.</a:t>
            </a:r>
          </a:p>
        </p:txBody>
      </p:sp>
      <p:sp>
        <p:nvSpPr>
          <p:cNvPr id="16" name="TextBox 15"/>
          <p:cNvSpPr txBox="1"/>
          <p:nvPr/>
        </p:nvSpPr>
        <p:spPr>
          <a:xfrm>
            <a:off x="406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17" name="Rectangle 16"/>
          <p:cNvSpPr/>
          <p:nvPr/>
        </p:nvSpPr>
        <p:spPr>
          <a:xfrm>
            <a:off x="1193800" y="1676400"/>
            <a:ext cx="2349500" cy="88900"/>
          </a:xfrm>
          <a:prstGeom prst="rect">
            <a:avLst/>
          </a:prstGeom>
          <a:solidFill>
            <a:srgbClr val="C2B8AA"/>
          </a:solidFill>
          <a:ln>
            <a:noFill/>
          </a:ln>
        </p:spPr>
        <p:txBody>
          <a:bodyPr rtlCol="0" anchor="ctr"/>
          <a:lstStyle/>
          <a:p>
            <a:pPr algn="ctr"/>
          </a:p>
        </p:txBody>
      </p:sp>
      <p:sp>
        <p:nvSpPr>
          <p:cNvPr id="18" name="TextBox 17"/>
          <p:cNvSpPr txBox="1"/>
          <p:nvPr/>
        </p:nvSpPr>
        <p:spPr>
          <a:xfrm>
            <a:off x="3581400"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4,1</a:t>
            </a:r>
          </a:p>
        </p:txBody>
      </p:sp>
      <p:sp>
        <p:nvSpPr>
          <p:cNvPr id="19" name="TextBox 18"/>
          <p:cNvSpPr txBox="1"/>
          <p:nvPr/>
        </p:nvSpPr>
        <p:spPr>
          <a:xfrm>
            <a:off x="406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20" name="Rectangle 19"/>
          <p:cNvSpPr/>
          <p:nvPr/>
        </p:nvSpPr>
        <p:spPr>
          <a:xfrm>
            <a:off x="1193800" y="1866900"/>
            <a:ext cx="717005" cy="88900"/>
          </a:xfrm>
          <a:prstGeom prst="rect">
            <a:avLst/>
          </a:prstGeom>
          <a:solidFill>
            <a:srgbClr val="C2B8AA"/>
          </a:solidFill>
          <a:ln>
            <a:noFill/>
          </a:ln>
        </p:spPr>
        <p:txBody>
          <a:bodyPr rtlCol="0" anchor="ctr"/>
          <a:lstStyle/>
          <a:p>
            <a:pPr algn="ctr"/>
          </a:p>
        </p:txBody>
      </p:sp>
      <p:sp>
        <p:nvSpPr>
          <p:cNvPr id="21" name="TextBox 20"/>
          <p:cNvSpPr txBox="1"/>
          <p:nvPr/>
        </p:nvSpPr>
        <p:spPr>
          <a:xfrm>
            <a:off x="1948905"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1,3</a:t>
            </a:r>
          </a:p>
        </p:txBody>
      </p:sp>
      <p:sp>
        <p:nvSpPr>
          <p:cNvPr id="22" name="TextBox 21"/>
          <p:cNvSpPr txBox="1"/>
          <p:nvPr/>
        </p:nvSpPr>
        <p:spPr>
          <a:xfrm>
            <a:off x="406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23" name="Rectangle 22"/>
          <p:cNvSpPr/>
          <p:nvPr/>
        </p:nvSpPr>
        <p:spPr>
          <a:xfrm>
            <a:off x="1193800" y="2057400"/>
            <a:ext cx="996897" cy="88900"/>
          </a:xfrm>
          <a:prstGeom prst="rect">
            <a:avLst/>
          </a:prstGeom>
          <a:solidFill>
            <a:srgbClr val="C2B8AA"/>
          </a:solidFill>
          <a:ln>
            <a:noFill/>
          </a:ln>
        </p:spPr>
        <p:txBody>
          <a:bodyPr rtlCol="0" anchor="ctr"/>
          <a:lstStyle/>
          <a:p>
            <a:pPr algn="ctr"/>
          </a:p>
        </p:txBody>
      </p:sp>
      <p:sp>
        <p:nvSpPr>
          <p:cNvPr id="24" name="TextBox 23"/>
          <p:cNvSpPr txBox="1"/>
          <p:nvPr/>
        </p:nvSpPr>
        <p:spPr>
          <a:xfrm>
            <a:off x="2228797"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1,7</a:t>
            </a:r>
          </a:p>
        </p:txBody>
      </p:sp>
      <p:sp>
        <p:nvSpPr>
          <p:cNvPr id="25" name="TextBox 24"/>
          <p:cNvSpPr txBox="1"/>
          <p:nvPr/>
        </p:nvSpPr>
        <p:spPr>
          <a:xfrm>
            <a:off x="406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26" name="Rectangle 25"/>
          <p:cNvSpPr/>
          <p:nvPr/>
        </p:nvSpPr>
        <p:spPr>
          <a:xfrm>
            <a:off x="1193800" y="2247900"/>
            <a:ext cx="80701" cy="88900"/>
          </a:xfrm>
          <a:prstGeom prst="rect">
            <a:avLst/>
          </a:prstGeom>
          <a:solidFill>
            <a:srgbClr val="B5563C"/>
          </a:solidFill>
          <a:ln>
            <a:noFill/>
          </a:ln>
        </p:spPr>
        <p:txBody>
          <a:bodyPr rtlCol="0" anchor="ctr"/>
          <a:lstStyle/>
          <a:p>
            <a:pPr algn="ctr"/>
          </a:p>
        </p:txBody>
      </p:sp>
      <p:sp>
        <p:nvSpPr>
          <p:cNvPr id="27" name="TextBox 26"/>
          <p:cNvSpPr txBox="1"/>
          <p:nvPr/>
        </p:nvSpPr>
        <p:spPr>
          <a:xfrm>
            <a:off x="1312601"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0,1</a:t>
            </a:r>
          </a:p>
        </p:txBody>
      </p:sp>
      <p:sp>
        <p:nvSpPr>
          <p:cNvPr id="28" name="Rectangle 27"/>
          <p:cNvSpPr/>
          <p:nvPr/>
        </p:nvSpPr>
        <p:spPr>
          <a:xfrm>
            <a:off x="4191000" y="1333500"/>
            <a:ext cx="3746500" cy="1841500"/>
          </a:xfrm>
          <a:prstGeom prst="rect">
            <a:avLst/>
          </a:prstGeom>
          <a:solidFill>
            <a:srgbClr val="FFFFFF"/>
          </a:solidFill>
          <a:ln w="6350">
            <a:solidFill>
              <a:srgbClr val="CFC6B8"/>
            </a:solidFill>
          </a:ln>
        </p:spPr>
        <p:txBody>
          <a:bodyPr rtlCol="0" anchor="ctr"/>
          <a:lstStyle/>
          <a:p>
            <a:pPr algn="ctr"/>
          </a:p>
        </p:txBody>
      </p:sp>
      <p:sp>
        <p:nvSpPr>
          <p:cNvPr id="29" name="TextBox 28"/>
          <p:cNvSpPr txBox="1"/>
          <p:nvPr/>
        </p:nvSpPr>
        <p:spPr>
          <a:xfrm>
            <a:off x="4343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ÉCOLES / 10 000 HAB.</a:t>
            </a:r>
          </a:p>
        </p:txBody>
      </p:sp>
      <p:sp>
        <p:nvSpPr>
          <p:cNvPr id="30" name="TextBox 29"/>
          <p:cNvSpPr txBox="1"/>
          <p:nvPr/>
        </p:nvSpPr>
        <p:spPr>
          <a:xfrm>
            <a:off x="4343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31" name="Rectangle 30"/>
          <p:cNvSpPr/>
          <p:nvPr/>
        </p:nvSpPr>
        <p:spPr>
          <a:xfrm>
            <a:off x="5130800" y="1676400"/>
            <a:ext cx="1806834" cy="88900"/>
          </a:xfrm>
          <a:prstGeom prst="rect">
            <a:avLst/>
          </a:prstGeom>
          <a:solidFill>
            <a:srgbClr val="C2B8AA"/>
          </a:solidFill>
          <a:ln>
            <a:noFill/>
          </a:ln>
        </p:spPr>
        <p:txBody>
          <a:bodyPr rtlCol="0" anchor="ctr"/>
          <a:lstStyle/>
          <a:p>
            <a:pPr algn="ctr"/>
          </a:p>
        </p:txBody>
      </p:sp>
      <p:sp>
        <p:nvSpPr>
          <p:cNvPr id="32" name="TextBox 31"/>
          <p:cNvSpPr txBox="1"/>
          <p:nvPr/>
        </p:nvSpPr>
        <p:spPr>
          <a:xfrm>
            <a:off x="6975734"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5,3</a:t>
            </a:r>
          </a:p>
        </p:txBody>
      </p:sp>
      <p:sp>
        <p:nvSpPr>
          <p:cNvPr id="33" name="TextBox 32"/>
          <p:cNvSpPr txBox="1"/>
          <p:nvPr/>
        </p:nvSpPr>
        <p:spPr>
          <a:xfrm>
            <a:off x="4343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34" name="Rectangle 33"/>
          <p:cNvSpPr/>
          <p:nvPr/>
        </p:nvSpPr>
        <p:spPr>
          <a:xfrm>
            <a:off x="5130800" y="1866900"/>
            <a:ext cx="2349500" cy="88900"/>
          </a:xfrm>
          <a:prstGeom prst="rect">
            <a:avLst/>
          </a:prstGeom>
          <a:solidFill>
            <a:srgbClr val="C2B8AA"/>
          </a:solidFill>
          <a:ln>
            <a:noFill/>
          </a:ln>
        </p:spPr>
        <p:txBody>
          <a:bodyPr rtlCol="0" anchor="ctr"/>
          <a:lstStyle/>
          <a:p>
            <a:pPr algn="ctr"/>
          </a:p>
        </p:txBody>
      </p:sp>
      <p:sp>
        <p:nvSpPr>
          <p:cNvPr id="35" name="TextBox 34"/>
          <p:cNvSpPr txBox="1"/>
          <p:nvPr/>
        </p:nvSpPr>
        <p:spPr>
          <a:xfrm>
            <a:off x="7518400"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6,9</a:t>
            </a:r>
          </a:p>
        </p:txBody>
      </p:sp>
      <p:sp>
        <p:nvSpPr>
          <p:cNvPr id="36" name="TextBox 35"/>
          <p:cNvSpPr txBox="1"/>
          <p:nvPr/>
        </p:nvSpPr>
        <p:spPr>
          <a:xfrm>
            <a:off x="4343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37" name="Rectangle 36"/>
          <p:cNvSpPr/>
          <p:nvPr/>
        </p:nvSpPr>
        <p:spPr>
          <a:xfrm>
            <a:off x="5130800" y="2057400"/>
            <a:ext cx="1201374" cy="88900"/>
          </a:xfrm>
          <a:prstGeom prst="rect">
            <a:avLst/>
          </a:prstGeom>
          <a:solidFill>
            <a:srgbClr val="C2B8AA"/>
          </a:solidFill>
          <a:ln>
            <a:noFill/>
          </a:ln>
        </p:spPr>
        <p:txBody>
          <a:bodyPr rtlCol="0" anchor="ctr"/>
          <a:lstStyle/>
          <a:p>
            <a:pPr algn="ctr"/>
          </a:p>
        </p:txBody>
      </p:sp>
      <p:sp>
        <p:nvSpPr>
          <p:cNvPr id="38" name="TextBox 37"/>
          <p:cNvSpPr txBox="1"/>
          <p:nvPr/>
        </p:nvSpPr>
        <p:spPr>
          <a:xfrm>
            <a:off x="6370274"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3,5</a:t>
            </a:r>
          </a:p>
        </p:txBody>
      </p:sp>
      <p:sp>
        <p:nvSpPr>
          <p:cNvPr id="39" name="TextBox 38"/>
          <p:cNvSpPr txBox="1"/>
          <p:nvPr/>
        </p:nvSpPr>
        <p:spPr>
          <a:xfrm>
            <a:off x="4343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40" name="Rectangle 39"/>
          <p:cNvSpPr/>
          <p:nvPr/>
        </p:nvSpPr>
        <p:spPr>
          <a:xfrm>
            <a:off x="5130800" y="2247900"/>
            <a:ext cx="420704" cy="88900"/>
          </a:xfrm>
          <a:prstGeom prst="rect">
            <a:avLst/>
          </a:prstGeom>
          <a:solidFill>
            <a:srgbClr val="B5563C"/>
          </a:solidFill>
          <a:ln>
            <a:noFill/>
          </a:ln>
        </p:spPr>
        <p:txBody>
          <a:bodyPr rtlCol="0" anchor="ctr"/>
          <a:lstStyle/>
          <a:p>
            <a:pPr algn="ctr"/>
          </a:p>
        </p:txBody>
      </p:sp>
      <p:sp>
        <p:nvSpPr>
          <p:cNvPr id="41" name="TextBox 40"/>
          <p:cNvSpPr txBox="1"/>
          <p:nvPr/>
        </p:nvSpPr>
        <p:spPr>
          <a:xfrm>
            <a:off x="5589604"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1,2</a:t>
            </a:r>
          </a:p>
        </p:txBody>
      </p:sp>
      <p:sp>
        <p:nvSpPr>
          <p:cNvPr id="42" name="Rectangle 41"/>
          <p:cNvSpPr/>
          <p:nvPr/>
        </p:nvSpPr>
        <p:spPr>
          <a:xfrm>
            <a:off x="8128000" y="1333500"/>
            <a:ext cx="3746500" cy="1841500"/>
          </a:xfrm>
          <a:prstGeom prst="rect">
            <a:avLst/>
          </a:prstGeom>
          <a:solidFill>
            <a:srgbClr val="FFFFFF"/>
          </a:solidFill>
          <a:ln w="6350">
            <a:solidFill>
              <a:srgbClr val="CFC6B8"/>
            </a:solidFill>
          </a:ln>
        </p:spPr>
        <p:txBody>
          <a:bodyPr rtlCol="0" anchor="ctr"/>
          <a:lstStyle/>
          <a:p>
            <a:pPr algn="ctr"/>
          </a:p>
        </p:txBody>
      </p:sp>
      <p:sp>
        <p:nvSpPr>
          <p:cNvPr id="43" name="TextBox 42"/>
          <p:cNvSpPr txBox="1"/>
          <p:nvPr/>
        </p:nvSpPr>
        <p:spPr>
          <a:xfrm>
            <a:off x="8280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ÉQUIPEMENTS DE SANTÉ / 10 000 HAB.</a:t>
            </a:r>
          </a:p>
        </p:txBody>
      </p:sp>
      <p:sp>
        <p:nvSpPr>
          <p:cNvPr id="44" name="TextBox 43"/>
          <p:cNvSpPr txBox="1"/>
          <p:nvPr/>
        </p:nvSpPr>
        <p:spPr>
          <a:xfrm>
            <a:off x="8280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45" name="Rectangle 44"/>
          <p:cNvSpPr/>
          <p:nvPr/>
        </p:nvSpPr>
        <p:spPr>
          <a:xfrm>
            <a:off x="9067800" y="1676400"/>
            <a:ext cx="2349500" cy="88900"/>
          </a:xfrm>
          <a:prstGeom prst="rect">
            <a:avLst/>
          </a:prstGeom>
          <a:solidFill>
            <a:srgbClr val="C2B8AA"/>
          </a:solidFill>
          <a:ln>
            <a:noFill/>
          </a:ln>
        </p:spPr>
        <p:txBody>
          <a:bodyPr rtlCol="0" anchor="ctr"/>
          <a:lstStyle/>
          <a:p>
            <a:pPr algn="ctr"/>
          </a:p>
        </p:txBody>
      </p:sp>
      <p:sp>
        <p:nvSpPr>
          <p:cNvPr id="46" name="TextBox 45"/>
          <p:cNvSpPr txBox="1"/>
          <p:nvPr/>
        </p:nvSpPr>
        <p:spPr>
          <a:xfrm>
            <a:off x="11455400"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2,4</a:t>
            </a:r>
          </a:p>
        </p:txBody>
      </p:sp>
      <p:sp>
        <p:nvSpPr>
          <p:cNvPr id="47" name="TextBox 46"/>
          <p:cNvSpPr txBox="1"/>
          <p:nvPr/>
        </p:nvSpPr>
        <p:spPr>
          <a:xfrm>
            <a:off x="8280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48" name="Rectangle 47"/>
          <p:cNvSpPr/>
          <p:nvPr/>
        </p:nvSpPr>
        <p:spPr>
          <a:xfrm>
            <a:off x="9067800" y="1866900"/>
            <a:ext cx="2262084" cy="88900"/>
          </a:xfrm>
          <a:prstGeom prst="rect">
            <a:avLst/>
          </a:prstGeom>
          <a:solidFill>
            <a:srgbClr val="C2B8AA"/>
          </a:solidFill>
          <a:ln>
            <a:noFill/>
          </a:ln>
        </p:spPr>
        <p:txBody>
          <a:bodyPr rtlCol="0" anchor="ctr"/>
          <a:lstStyle/>
          <a:p>
            <a:pPr algn="ctr"/>
          </a:p>
        </p:txBody>
      </p:sp>
      <p:sp>
        <p:nvSpPr>
          <p:cNvPr id="49" name="TextBox 48"/>
          <p:cNvSpPr txBox="1"/>
          <p:nvPr/>
        </p:nvSpPr>
        <p:spPr>
          <a:xfrm>
            <a:off x="11367984"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2,3</a:t>
            </a:r>
          </a:p>
        </p:txBody>
      </p:sp>
      <p:sp>
        <p:nvSpPr>
          <p:cNvPr id="50" name="TextBox 49"/>
          <p:cNvSpPr txBox="1"/>
          <p:nvPr/>
        </p:nvSpPr>
        <p:spPr>
          <a:xfrm>
            <a:off x="8280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51" name="Rectangle 50"/>
          <p:cNvSpPr/>
          <p:nvPr/>
        </p:nvSpPr>
        <p:spPr>
          <a:xfrm>
            <a:off x="9067800" y="2057400"/>
            <a:ext cx="885251" cy="88900"/>
          </a:xfrm>
          <a:prstGeom prst="rect">
            <a:avLst/>
          </a:prstGeom>
          <a:solidFill>
            <a:srgbClr val="C2B8AA"/>
          </a:solidFill>
          <a:ln>
            <a:noFill/>
          </a:ln>
        </p:spPr>
        <p:txBody>
          <a:bodyPr rtlCol="0" anchor="ctr"/>
          <a:lstStyle/>
          <a:p>
            <a:pPr algn="ctr"/>
          </a:p>
        </p:txBody>
      </p:sp>
      <p:sp>
        <p:nvSpPr>
          <p:cNvPr id="52" name="TextBox 51"/>
          <p:cNvSpPr txBox="1"/>
          <p:nvPr/>
        </p:nvSpPr>
        <p:spPr>
          <a:xfrm>
            <a:off x="9991151"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a:t>
            </a:r>
          </a:p>
        </p:txBody>
      </p:sp>
      <p:sp>
        <p:nvSpPr>
          <p:cNvPr id="53" name="TextBox 52"/>
          <p:cNvSpPr txBox="1"/>
          <p:nvPr/>
        </p:nvSpPr>
        <p:spPr>
          <a:xfrm>
            <a:off x="8280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54" name="Rectangle 53"/>
          <p:cNvSpPr/>
          <p:nvPr/>
        </p:nvSpPr>
        <p:spPr>
          <a:xfrm>
            <a:off x="9067800" y="2247900"/>
            <a:ext cx="394146" cy="88900"/>
          </a:xfrm>
          <a:prstGeom prst="rect">
            <a:avLst/>
          </a:prstGeom>
          <a:solidFill>
            <a:srgbClr val="B5563C"/>
          </a:solidFill>
          <a:ln>
            <a:noFill/>
          </a:ln>
        </p:spPr>
        <p:txBody>
          <a:bodyPr rtlCol="0" anchor="ctr"/>
          <a:lstStyle/>
          <a:p>
            <a:pPr algn="ctr"/>
          </a:p>
        </p:txBody>
      </p:sp>
      <p:sp>
        <p:nvSpPr>
          <p:cNvPr id="55" name="TextBox 54"/>
          <p:cNvSpPr txBox="1"/>
          <p:nvPr/>
        </p:nvSpPr>
        <p:spPr>
          <a:xfrm>
            <a:off x="9500046"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0,4</a:t>
            </a:r>
          </a:p>
        </p:txBody>
      </p:sp>
      <p:sp>
        <p:nvSpPr>
          <p:cNvPr id="56" name="Rectangle 55"/>
          <p:cNvSpPr/>
          <p:nvPr/>
        </p:nvSpPr>
        <p:spPr>
          <a:xfrm>
            <a:off x="254000" y="3429000"/>
            <a:ext cx="3746500" cy="1841500"/>
          </a:xfrm>
          <a:prstGeom prst="rect">
            <a:avLst/>
          </a:prstGeom>
          <a:solidFill>
            <a:srgbClr val="FFFFFF"/>
          </a:solidFill>
          <a:ln w="6350">
            <a:solidFill>
              <a:srgbClr val="CFC6B8"/>
            </a:solidFill>
          </a:ln>
        </p:spPr>
        <p:txBody>
          <a:bodyPr rtlCol="0" anchor="ctr"/>
          <a:lstStyle/>
          <a:p>
            <a:pPr algn="ctr"/>
          </a:p>
        </p:txBody>
      </p:sp>
      <p:sp>
        <p:nvSpPr>
          <p:cNvPr id="57" name="TextBox 56"/>
          <p:cNvSpPr txBox="1"/>
          <p:nvPr/>
        </p:nvSpPr>
        <p:spPr>
          <a:xfrm>
            <a:off x="406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ARRÊTS DE BUS / 10 000 HAB.</a:t>
            </a:r>
          </a:p>
        </p:txBody>
      </p:sp>
      <p:sp>
        <p:nvSpPr>
          <p:cNvPr id="58" name="TextBox 57"/>
          <p:cNvSpPr txBox="1"/>
          <p:nvPr/>
        </p:nvSpPr>
        <p:spPr>
          <a:xfrm>
            <a:off x="406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59" name="Rectangle 58"/>
          <p:cNvSpPr/>
          <p:nvPr/>
        </p:nvSpPr>
        <p:spPr>
          <a:xfrm>
            <a:off x="1193800" y="3771900"/>
            <a:ext cx="2349500" cy="88900"/>
          </a:xfrm>
          <a:prstGeom prst="rect">
            <a:avLst/>
          </a:prstGeom>
          <a:solidFill>
            <a:srgbClr val="C2B8AA"/>
          </a:solidFill>
          <a:ln>
            <a:noFill/>
          </a:ln>
        </p:spPr>
        <p:txBody>
          <a:bodyPr rtlCol="0" anchor="ctr"/>
          <a:lstStyle/>
          <a:p>
            <a:pPr algn="ctr"/>
          </a:p>
        </p:txBody>
      </p:sp>
      <p:sp>
        <p:nvSpPr>
          <p:cNvPr id="60" name="TextBox 59"/>
          <p:cNvSpPr txBox="1"/>
          <p:nvPr/>
        </p:nvSpPr>
        <p:spPr>
          <a:xfrm>
            <a:off x="3581400"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7,5</a:t>
            </a:r>
          </a:p>
        </p:txBody>
      </p:sp>
      <p:sp>
        <p:nvSpPr>
          <p:cNvPr id="61" name="TextBox 60"/>
          <p:cNvSpPr txBox="1"/>
          <p:nvPr/>
        </p:nvSpPr>
        <p:spPr>
          <a:xfrm>
            <a:off x="406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62" name="Rectangle 61"/>
          <p:cNvSpPr/>
          <p:nvPr/>
        </p:nvSpPr>
        <p:spPr>
          <a:xfrm>
            <a:off x="1193800" y="3962400"/>
            <a:ext cx="2087398" cy="88900"/>
          </a:xfrm>
          <a:prstGeom prst="rect">
            <a:avLst/>
          </a:prstGeom>
          <a:solidFill>
            <a:srgbClr val="C2B8AA"/>
          </a:solidFill>
          <a:ln>
            <a:noFill/>
          </a:ln>
        </p:spPr>
        <p:txBody>
          <a:bodyPr rtlCol="0" anchor="ctr"/>
          <a:lstStyle/>
          <a:p>
            <a:pPr algn="ctr"/>
          </a:p>
        </p:txBody>
      </p:sp>
      <p:sp>
        <p:nvSpPr>
          <p:cNvPr id="63" name="TextBox 62"/>
          <p:cNvSpPr txBox="1"/>
          <p:nvPr/>
        </p:nvSpPr>
        <p:spPr>
          <a:xfrm>
            <a:off x="3319298"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6,6</a:t>
            </a:r>
          </a:p>
        </p:txBody>
      </p:sp>
      <p:sp>
        <p:nvSpPr>
          <p:cNvPr id="64" name="TextBox 63"/>
          <p:cNvSpPr txBox="1"/>
          <p:nvPr/>
        </p:nvSpPr>
        <p:spPr>
          <a:xfrm>
            <a:off x="406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65" name="Rectangle 64"/>
          <p:cNvSpPr/>
          <p:nvPr/>
        </p:nvSpPr>
        <p:spPr>
          <a:xfrm>
            <a:off x="1193800" y="4152900"/>
            <a:ext cx="1796964" cy="88900"/>
          </a:xfrm>
          <a:prstGeom prst="rect">
            <a:avLst/>
          </a:prstGeom>
          <a:solidFill>
            <a:srgbClr val="C2B8AA"/>
          </a:solidFill>
          <a:ln>
            <a:noFill/>
          </a:ln>
        </p:spPr>
        <p:txBody>
          <a:bodyPr rtlCol="0" anchor="ctr"/>
          <a:lstStyle/>
          <a:p>
            <a:pPr algn="ctr"/>
          </a:p>
        </p:txBody>
      </p:sp>
      <p:sp>
        <p:nvSpPr>
          <p:cNvPr id="66" name="TextBox 65"/>
          <p:cNvSpPr txBox="1"/>
          <p:nvPr/>
        </p:nvSpPr>
        <p:spPr>
          <a:xfrm>
            <a:off x="3028864"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5,7</a:t>
            </a:r>
          </a:p>
        </p:txBody>
      </p:sp>
      <p:sp>
        <p:nvSpPr>
          <p:cNvPr id="67" name="TextBox 66"/>
          <p:cNvSpPr txBox="1"/>
          <p:nvPr/>
        </p:nvSpPr>
        <p:spPr>
          <a:xfrm>
            <a:off x="406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68" name="Rectangle 67"/>
          <p:cNvSpPr/>
          <p:nvPr/>
        </p:nvSpPr>
        <p:spPr>
          <a:xfrm>
            <a:off x="1193800" y="4343400"/>
            <a:ext cx="800074" cy="88900"/>
          </a:xfrm>
          <a:prstGeom prst="rect">
            <a:avLst/>
          </a:prstGeom>
          <a:solidFill>
            <a:srgbClr val="B5563C"/>
          </a:solidFill>
          <a:ln>
            <a:noFill/>
          </a:ln>
        </p:spPr>
        <p:txBody>
          <a:bodyPr rtlCol="0" anchor="ctr"/>
          <a:lstStyle/>
          <a:p>
            <a:pPr algn="ctr"/>
          </a:p>
        </p:txBody>
      </p:sp>
      <p:sp>
        <p:nvSpPr>
          <p:cNvPr id="69" name="TextBox 68"/>
          <p:cNvSpPr txBox="1"/>
          <p:nvPr/>
        </p:nvSpPr>
        <p:spPr>
          <a:xfrm>
            <a:off x="2031974"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2,5</a:t>
            </a:r>
          </a:p>
        </p:txBody>
      </p:sp>
      <p:sp>
        <p:nvSpPr>
          <p:cNvPr id="70" name="Rectangle 69"/>
          <p:cNvSpPr/>
          <p:nvPr/>
        </p:nvSpPr>
        <p:spPr>
          <a:xfrm>
            <a:off x="4191000" y="3429000"/>
            <a:ext cx="3746500" cy="1841500"/>
          </a:xfrm>
          <a:prstGeom prst="rect">
            <a:avLst/>
          </a:prstGeom>
          <a:solidFill>
            <a:srgbClr val="FFFFFF"/>
          </a:solidFill>
          <a:ln w="6350">
            <a:solidFill>
              <a:srgbClr val="CFC6B8"/>
            </a:solidFill>
          </a:ln>
        </p:spPr>
        <p:txBody>
          <a:bodyPr rtlCol="0" anchor="ctr"/>
          <a:lstStyle/>
          <a:p>
            <a:pPr algn="ctr"/>
          </a:p>
        </p:txBody>
      </p:sp>
      <p:sp>
        <p:nvSpPr>
          <p:cNvPr id="71" name="TextBox 70"/>
          <p:cNvSpPr txBox="1"/>
          <p:nvPr/>
        </p:nvSpPr>
        <p:spPr>
          <a:xfrm>
            <a:off x="4343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PARCS URBAINS (M² / HABITANT)</a:t>
            </a:r>
          </a:p>
        </p:txBody>
      </p:sp>
      <p:sp>
        <p:nvSpPr>
          <p:cNvPr id="72" name="TextBox 71"/>
          <p:cNvSpPr txBox="1"/>
          <p:nvPr/>
        </p:nvSpPr>
        <p:spPr>
          <a:xfrm>
            <a:off x="4343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73" name="Rectangle 72"/>
          <p:cNvSpPr/>
          <p:nvPr/>
        </p:nvSpPr>
        <p:spPr>
          <a:xfrm>
            <a:off x="5130800" y="3771900"/>
            <a:ext cx="1963933" cy="88900"/>
          </a:xfrm>
          <a:prstGeom prst="rect">
            <a:avLst/>
          </a:prstGeom>
          <a:solidFill>
            <a:srgbClr val="C2B8AA"/>
          </a:solidFill>
          <a:ln>
            <a:noFill/>
          </a:ln>
        </p:spPr>
        <p:txBody>
          <a:bodyPr rtlCol="0" anchor="ctr"/>
          <a:lstStyle/>
          <a:p>
            <a:pPr algn="ctr"/>
          </a:p>
        </p:txBody>
      </p:sp>
      <p:sp>
        <p:nvSpPr>
          <p:cNvPr id="74" name="TextBox 73"/>
          <p:cNvSpPr txBox="1"/>
          <p:nvPr/>
        </p:nvSpPr>
        <p:spPr>
          <a:xfrm>
            <a:off x="7132833"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0,98 m²</a:t>
            </a:r>
          </a:p>
        </p:txBody>
      </p:sp>
      <p:sp>
        <p:nvSpPr>
          <p:cNvPr id="75" name="TextBox 74"/>
          <p:cNvSpPr txBox="1"/>
          <p:nvPr/>
        </p:nvSpPr>
        <p:spPr>
          <a:xfrm>
            <a:off x="4343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76" name="Rectangle 75"/>
          <p:cNvSpPr/>
          <p:nvPr/>
        </p:nvSpPr>
        <p:spPr>
          <a:xfrm>
            <a:off x="5130800" y="3962400"/>
            <a:ext cx="2349500" cy="88900"/>
          </a:xfrm>
          <a:prstGeom prst="rect">
            <a:avLst/>
          </a:prstGeom>
          <a:solidFill>
            <a:srgbClr val="C2B8AA"/>
          </a:solidFill>
          <a:ln>
            <a:noFill/>
          </a:ln>
        </p:spPr>
        <p:txBody>
          <a:bodyPr rtlCol="0" anchor="ctr"/>
          <a:lstStyle/>
          <a:p>
            <a:pPr algn="ctr"/>
          </a:p>
        </p:txBody>
      </p:sp>
      <p:sp>
        <p:nvSpPr>
          <p:cNvPr id="77" name="TextBox 76"/>
          <p:cNvSpPr txBox="1"/>
          <p:nvPr/>
        </p:nvSpPr>
        <p:spPr>
          <a:xfrm>
            <a:off x="7518400"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1,18 m²</a:t>
            </a:r>
          </a:p>
        </p:txBody>
      </p:sp>
      <p:sp>
        <p:nvSpPr>
          <p:cNvPr id="78" name="TextBox 77"/>
          <p:cNvSpPr txBox="1"/>
          <p:nvPr/>
        </p:nvSpPr>
        <p:spPr>
          <a:xfrm>
            <a:off x="4343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79" name="Rectangle 78"/>
          <p:cNvSpPr/>
          <p:nvPr/>
        </p:nvSpPr>
        <p:spPr>
          <a:xfrm>
            <a:off x="5130800" y="4152900"/>
            <a:ext cx="1847053" cy="88900"/>
          </a:xfrm>
          <a:prstGeom prst="rect">
            <a:avLst/>
          </a:prstGeom>
          <a:solidFill>
            <a:srgbClr val="C2B8AA"/>
          </a:solidFill>
          <a:ln>
            <a:noFill/>
          </a:ln>
        </p:spPr>
        <p:txBody>
          <a:bodyPr rtlCol="0" anchor="ctr"/>
          <a:lstStyle/>
          <a:p>
            <a:pPr algn="ctr"/>
          </a:p>
        </p:txBody>
      </p:sp>
      <p:sp>
        <p:nvSpPr>
          <p:cNvPr id="80" name="TextBox 79"/>
          <p:cNvSpPr txBox="1"/>
          <p:nvPr/>
        </p:nvSpPr>
        <p:spPr>
          <a:xfrm>
            <a:off x="7015953"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0,92 m²</a:t>
            </a:r>
          </a:p>
        </p:txBody>
      </p:sp>
      <p:sp>
        <p:nvSpPr>
          <p:cNvPr id="81" name="TextBox 80"/>
          <p:cNvSpPr txBox="1"/>
          <p:nvPr/>
        </p:nvSpPr>
        <p:spPr>
          <a:xfrm>
            <a:off x="4343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82" name="Rectangle 81"/>
          <p:cNvSpPr/>
          <p:nvPr/>
        </p:nvSpPr>
        <p:spPr>
          <a:xfrm>
            <a:off x="5130800" y="4343400"/>
            <a:ext cx="349780" cy="88900"/>
          </a:xfrm>
          <a:prstGeom prst="rect">
            <a:avLst/>
          </a:prstGeom>
          <a:solidFill>
            <a:srgbClr val="B5563C"/>
          </a:solidFill>
          <a:ln>
            <a:noFill/>
          </a:ln>
        </p:spPr>
        <p:txBody>
          <a:bodyPr rtlCol="0" anchor="ctr"/>
          <a:lstStyle/>
          <a:p>
            <a:pPr algn="ctr"/>
          </a:p>
        </p:txBody>
      </p:sp>
      <p:sp>
        <p:nvSpPr>
          <p:cNvPr id="83" name="TextBox 82"/>
          <p:cNvSpPr txBox="1"/>
          <p:nvPr/>
        </p:nvSpPr>
        <p:spPr>
          <a:xfrm>
            <a:off x="5518680"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0,18 m²</a:t>
            </a:r>
          </a:p>
        </p:txBody>
      </p:sp>
      <p:sp>
        <p:nvSpPr>
          <p:cNvPr id="84" name="Rectangle 83"/>
          <p:cNvSpPr/>
          <p:nvPr/>
        </p:nvSpPr>
        <p:spPr>
          <a:xfrm>
            <a:off x="8128000" y="3429000"/>
            <a:ext cx="3746500" cy="1841500"/>
          </a:xfrm>
          <a:prstGeom prst="rect">
            <a:avLst/>
          </a:prstGeom>
          <a:solidFill>
            <a:srgbClr val="FFFFFF"/>
          </a:solidFill>
          <a:ln w="6350">
            <a:solidFill>
              <a:srgbClr val="CFC6B8"/>
            </a:solidFill>
          </a:ln>
        </p:spPr>
        <p:txBody>
          <a:bodyPr rtlCol="0" anchor="ctr"/>
          <a:lstStyle/>
          <a:p>
            <a:pPr algn="ctr"/>
          </a:p>
        </p:txBody>
      </p:sp>
      <p:sp>
        <p:nvSpPr>
          <p:cNvPr id="85" name="TextBox 84"/>
          <p:cNvSpPr txBox="1"/>
          <p:nvPr/>
        </p:nvSpPr>
        <p:spPr>
          <a:xfrm>
            <a:off x="8280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COUVERT ARBORÉ (KM²)</a:t>
            </a:r>
          </a:p>
        </p:txBody>
      </p:sp>
      <p:sp>
        <p:nvSpPr>
          <p:cNvPr id="86" name="TextBox 85"/>
          <p:cNvSpPr txBox="1"/>
          <p:nvPr/>
        </p:nvSpPr>
        <p:spPr>
          <a:xfrm>
            <a:off x="8280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87" name="Rectangle 86"/>
          <p:cNvSpPr/>
          <p:nvPr/>
        </p:nvSpPr>
        <p:spPr>
          <a:xfrm>
            <a:off x="9067800" y="3771900"/>
            <a:ext cx="2349500" cy="88900"/>
          </a:xfrm>
          <a:prstGeom prst="rect">
            <a:avLst/>
          </a:prstGeom>
          <a:solidFill>
            <a:srgbClr val="C2B8AA"/>
          </a:solidFill>
          <a:ln>
            <a:noFill/>
          </a:ln>
        </p:spPr>
        <p:txBody>
          <a:bodyPr rtlCol="0" anchor="ctr"/>
          <a:lstStyle/>
          <a:p>
            <a:pPr algn="ctr"/>
          </a:p>
        </p:txBody>
      </p:sp>
      <p:sp>
        <p:nvSpPr>
          <p:cNvPr id="88" name="TextBox 87"/>
          <p:cNvSpPr txBox="1"/>
          <p:nvPr/>
        </p:nvSpPr>
        <p:spPr>
          <a:xfrm>
            <a:off x="11455400"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25,7 km²</a:t>
            </a:r>
          </a:p>
        </p:txBody>
      </p:sp>
      <p:sp>
        <p:nvSpPr>
          <p:cNvPr id="89" name="TextBox 88"/>
          <p:cNvSpPr txBox="1"/>
          <p:nvPr/>
        </p:nvSpPr>
        <p:spPr>
          <a:xfrm>
            <a:off x="8280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90" name="Rectangle 89"/>
          <p:cNvSpPr/>
          <p:nvPr/>
        </p:nvSpPr>
        <p:spPr>
          <a:xfrm>
            <a:off x="9067800" y="3962400"/>
            <a:ext cx="24789" cy="88900"/>
          </a:xfrm>
          <a:prstGeom prst="rect">
            <a:avLst/>
          </a:prstGeom>
          <a:solidFill>
            <a:srgbClr val="C2B8AA"/>
          </a:solidFill>
          <a:ln>
            <a:noFill/>
          </a:ln>
        </p:spPr>
        <p:txBody>
          <a:bodyPr rtlCol="0" anchor="ctr"/>
          <a:lstStyle/>
          <a:p>
            <a:pPr algn="ctr"/>
          </a:p>
        </p:txBody>
      </p:sp>
      <p:sp>
        <p:nvSpPr>
          <p:cNvPr id="91" name="TextBox 90"/>
          <p:cNvSpPr txBox="1"/>
          <p:nvPr/>
        </p:nvSpPr>
        <p:spPr>
          <a:xfrm>
            <a:off x="9130689"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0,3 km²</a:t>
            </a:r>
          </a:p>
        </p:txBody>
      </p:sp>
      <p:sp>
        <p:nvSpPr>
          <p:cNvPr id="92" name="TextBox 91"/>
          <p:cNvSpPr txBox="1"/>
          <p:nvPr/>
        </p:nvSpPr>
        <p:spPr>
          <a:xfrm>
            <a:off x="8280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93" name="Rectangle 92"/>
          <p:cNvSpPr/>
          <p:nvPr/>
        </p:nvSpPr>
        <p:spPr>
          <a:xfrm>
            <a:off x="9067800" y="4152900"/>
            <a:ext cx="452357" cy="88900"/>
          </a:xfrm>
          <a:prstGeom prst="rect">
            <a:avLst/>
          </a:prstGeom>
          <a:solidFill>
            <a:srgbClr val="C2B8AA"/>
          </a:solidFill>
          <a:ln>
            <a:noFill/>
          </a:ln>
        </p:spPr>
        <p:txBody>
          <a:bodyPr rtlCol="0" anchor="ctr"/>
          <a:lstStyle/>
          <a:p>
            <a:pPr algn="ctr"/>
          </a:p>
        </p:txBody>
      </p:sp>
      <p:sp>
        <p:nvSpPr>
          <p:cNvPr id="94" name="TextBox 93"/>
          <p:cNvSpPr txBox="1"/>
          <p:nvPr/>
        </p:nvSpPr>
        <p:spPr>
          <a:xfrm>
            <a:off x="9558257"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4,9 km²</a:t>
            </a:r>
          </a:p>
        </p:txBody>
      </p:sp>
      <p:sp>
        <p:nvSpPr>
          <p:cNvPr id="95" name="TextBox 94"/>
          <p:cNvSpPr txBox="1"/>
          <p:nvPr/>
        </p:nvSpPr>
        <p:spPr>
          <a:xfrm>
            <a:off x="8280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96" name="Rectangle 95"/>
          <p:cNvSpPr/>
          <p:nvPr/>
        </p:nvSpPr>
        <p:spPr>
          <a:xfrm>
            <a:off x="9067800" y="4343400"/>
            <a:ext cx="39779" cy="88900"/>
          </a:xfrm>
          <a:prstGeom prst="rect">
            <a:avLst/>
          </a:prstGeom>
          <a:solidFill>
            <a:srgbClr val="B5563C"/>
          </a:solidFill>
          <a:ln>
            <a:noFill/>
          </a:ln>
        </p:spPr>
        <p:txBody>
          <a:bodyPr rtlCol="0" anchor="ctr"/>
          <a:lstStyle/>
          <a:p>
            <a:pPr algn="ctr"/>
          </a:p>
        </p:txBody>
      </p:sp>
      <p:sp>
        <p:nvSpPr>
          <p:cNvPr id="97" name="TextBox 96"/>
          <p:cNvSpPr txBox="1"/>
          <p:nvPr/>
        </p:nvSpPr>
        <p:spPr>
          <a:xfrm>
            <a:off x="9145679"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0,4 km²</a:t>
            </a:r>
          </a:p>
        </p:txBody>
      </p:sp>
      <p:sp>
        <p:nvSpPr>
          <p:cNvPr id="98" name="TextBox 97"/>
          <p:cNvSpPr txBox="1"/>
          <p:nvPr/>
        </p:nvSpPr>
        <p:spPr>
          <a:xfrm>
            <a:off x="254000" y="5588000"/>
            <a:ext cx="11684000" cy="762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À chaque indicateur, l'arrondissement le plus peuplé arrive dernier ou presque. Un habitant de Beni Makada dispose de 0,17 m² de parc, de six fois moins d'équipements de santé recensés et de trois fois moins d'arrêts de bus qu'un habitant de Tanger-Médina. Les bases de lieux étant moins complètes dans les quartiers populaires, ces écarts sont à lire comme des ordres de grandeur.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 LITTORAL CAPTÉ</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Bande de 1 km depuis le trait de côte : le bâti qui s'y trouve et les hébergements recensés.</a:t>
            </a:r>
          </a:p>
        </p:txBody>
      </p:sp>
      <p:pic>
        <p:nvPicPr>
          <p:cNvPr id="5" name="Picture 4" descr="nc_sk_stade.png"/>
          <p:cNvPicPr>
            <a:picLocks noChangeAspect="1"/>
          </p:cNvPicPr>
          <p:nvPr/>
        </p:nvPicPr>
        <p:blipFill>
          <a:blip r:embed="rId2"/>
          <a:stretch>
            <a:fillRect/>
          </a:stretch>
        </p:blipFill>
        <p:spPr>
          <a:xfrm>
            <a:off x="10985500" y="273765"/>
            <a:ext cx="952500" cy="443071"/>
          </a:xfrm>
          <a:prstGeom prst="rect">
            <a:avLst/>
          </a:prstGeom>
        </p:spPr>
      </p:pic>
      <p:sp>
        <p:nvSpPr>
          <p:cNvPr id="6" name="TextBox 5"/>
          <p:cNvSpPr txBox="1"/>
          <p:nvPr/>
        </p:nvSpPr>
        <p:spPr>
          <a:xfrm>
            <a:off x="99695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9 %</a:t>
            </a:r>
          </a:p>
        </p:txBody>
      </p:sp>
      <p:sp>
        <p:nvSpPr>
          <p:cNvPr id="7" name="TextBox 6"/>
          <p:cNvSpPr txBox="1"/>
          <p:nvPr/>
        </p:nvSpPr>
        <p:spPr>
          <a:xfrm>
            <a:off x="99695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écoles</a:t>
            </a:r>
          </a:p>
          <a:p>
            <a:pPr algn="r">
              <a:lnSpc>
                <a:spcPct val="110000"/>
              </a:lnSpc>
            </a:pPr>
            <a:r>
              <a:rPr sz="850" b="0" i="0">
                <a:solidFill>
                  <a:srgbClr val="7B746B"/>
                </a:solidFill>
                <a:latin typeface="Barlow"/>
              </a:rPr>
              <a:t>à moins de 500 m</a:t>
            </a:r>
          </a:p>
        </p:txBody>
      </p:sp>
      <p:sp>
        <p:nvSpPr>
          <p:cNvPr id="8" name="TextBox 7"/>
          <p:cNvSpPr txBox="1"/>
          <p:nvPr/>
        </p:nvSpPr>
        <p:spPr>
          <a:xfrm>
            <a:off x="89916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14 %</a:t>
            </a:r>
          </a:p>
        </p:txBody>
      </p:sp>
      <p:sp>
        <p:nvSpPr>
          <p:cNvPr id="9" name="TextBox 8"/>
          <p:cNvSpPr txBox="1"/>
          <p:nvPr/>
        </p:nvSpPr>
        <p:spPr>
          <a:xfrm>
            <a:off x="89916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dans</a:t>
            </a:r>
          </a:p>
          <a:p>
            <a:pPr algn="r">
              <a:lnSpc>
                <a:spcPct val="110000"/>
              </a:lnSpc>
            </a:pPr>
            <a:r>
              <a:rPr sz="850" b="0" i="0">
                <a:solidFill>
                  <a:srgbClr val="7B746B"/>
                </a:solidFill>
                <a:latin typeface="Barlow"/>
              </a:rPr>
              <a:t>la bande de 1 km</a:t>
            </a:r>
          </a:p>
        </p:txBody>
      </p:sp>
      <p:sp>
        <p:nvSpPr>
          <p:cNvPr id="10" name="TextBox 9"/>
          <p:cNvSpPr txBox="1"/>
          <p:nvPr/>
        </p:nvSpPr>
        <p:spPr>
          <a:xfrm>
            <a:off x="80137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62 %</a:t>
            </a:r>
          </a:p>
        </p:txBody>
      </p:sp>
      <p:sp>
        <p:nvSpPr>
          <p:cNvPr id="11" name="TextBox 10"/>
          <p:cNvSpPr txBox="1"/>
          <p:nvPr/>
        </p:nvSpPr>
        <p:spPr>
          <a:xfrm>
            <a:off x="80137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hébergements</a:t>
            </a:r>
          </a:p>
          <a:p>
            <a:pPr algn="r">
              <a:lnSpc>
                <a:spcPct val="110000"/>
              </a:lnSpc>
            </a:pPr>
            <a:r>
              <a:rPr sz="850" b="0" i="0">
                <a:solidFill>
                  <a:srgbClr val="7B746B"/>
                </a:solidFill>
                <a:latin typeface="Barlow"/>
              </a:rPr>
              <a:t>à moins de 500 m</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18 / 32</a:t>
            </a:r>
          </a:p>
        </p:txBody>
      </p:sp>
      <p:pic>
        <p:nvPicPr>
          <p:cNvPr id="15" name="Picture 14" descr="m05_littoral.jpg"/>
          <p:cNvPicPr>
            <a:picLocks noChangeAspect="1"/>
          </p:cNvPicPr>
          <p:nvPr/>
        </p:nvPicPr>
        <p:blipFill>
          <a:blip r:embed="rId3"/>
          <a:stretch>
            <a:fillRect/>
          </a:stretch>
        </p:blipFill>
        <p:spPr>
          <a:xfrm>
            <a:off x="254000" y="1016000"/>
            <a:ext cx="7937500" cy="4299479"/>
          </a:xfrm>
          <a:prstGeom prst="rect">
            <a:avLst/>
          </a:prstGeom>
        </p:spPr>
      </p:pic>
      <p:sp>
        <p:nvSpPr>
          <p:cNvPr id="16" name="TextBox 15"/>
          <p:cNvSpPr txBox="1"/>
          <p:nvPr/>
        </p:nvSpPr>
        <p:spPr>
          <a:xfrm>
            <a:off x="84455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7" name="Rectangle 16"/>
          <p:cNvSpPr/>
          <p:nvPr/>
        </p:nvSpPr>
        <p:spPr>
          <a:xfrm>
            <a:off x="8445500" y="1238250"/>
            <a:ext cx="165100" cy="101600"/>
          </a:xfrm>
          <a:prstGeom prst="rect">
            <a:avLst/>
          </a:prstGeom>
          <a:solidFill>
            <a:srgbClr val="B5563C"/>
          </a:solidFill>
          <a:ln>
            <a:noFill/>
          </a:ln>
        </p:spPr>
        <p:txBody>
          <a:bodyPr rtlCol="0" anchor="ctr"/>
          <a:lstStyle/>
          <a:p>
            <a:pPr algn="ctr"/>
          </a:p>
        </p:txBody>
      </p:sp>
      <p:sp>
        <p:nvSpPr>
          <p:cNvPr id="18" name="TextBox 17"/>
          <p:cNvSpPr txBox="1"/>
          <p:nvPr/>
        </p:nvSpPr>
        <p:spPr>
          <a:xfrm>
            <a:off x="8699500" y="12255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dans la bande littorale de 1 km</a:t>
            </a:r>
          </a:p>
        </p:txBody>
      </p:sp>
      <p:sp>
        <p:nvSpPr>
          <p:cNvPr id="19" name="Rectangle 18"/>
          <p:cNvSpPr/>
          <p:nvPr/>
        </p:nvSpPr>
        <p:spPr>
          <a:xfrm>
            <a:off x="8445500" y="1416050"/>
            <a:ext cx="165100" cy="101600"/>
          </a:xfrm>
          <a:prstGeom prst="rect">
            <a:avLst/>
          </a:prstGeom>
          <a:solidFill>
            <a:srgbClr val="9A9184"/>
          </a:solidFill>
          <a:ln>
            <a:noFill/>
          </a:ln>
        </p:spPr>
        <p:txBody>
          <a:bodyPr rtlCol="0" anchor="ctr"/>
          <a:lstStyle/>
          <a:p>
            <a:pPr algn="ctr"/>
          </a:p>
        </p:txBody>
      </p:sp>
      <p:sp>
        <p:nvSpPr>
          <p:cNvPr id="20" name="TextBox 19"/>
          <p:cNvSpPr txBox="1"/>
          <p:nvPr/>
        </p:nvSpPr>
        <p:spPr>
          <a:xfrm>
            <a:off x="8699500" y="1403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au-delà de 1 km</a:t>
            </a:r>
          </a:p>
        </p:txBody>
      </p:sp>
      <p:cxnSp>
        <p:nvCxnSpPr>
          <p:cNvPr id="21" name="Connector 20"/>
          <p:cNvCxnSpPr/>
          <p:nvPr/>
        </p:nvCxnSpPr>
        <p:spPr>
          <a:xfrm>
            <a:off x="8445500" y="1644650"/>
            <a:ext cx="165100" cy="0"/>
          </a:xfrm>
          <a:prstGeom prst="line">
            <a:avLst/>
          </a:prstGeom>
          <a:ln w="13970">
            <a:solidFill>
              <a:srgbClr val="B5563C"/>
            </a:solidFill>
            <a:prstDash val="dash"/>
          </a:ln>
        </p:spPr>
      </p:cxnSp>
      <p:sp>
        <p:nvSpPr>
          <p:cNvPr id="22" name="TextBox 21"/>
          <p:cNvSpPr txBox="1"/>
          <p:nvPr/>
        </p:nvSpPr>
        <p:spPr>
          <a:xfrm>
            <a:off x="8699500" y="1581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Limite de la bande de 1 km</a:t>
            </a:r>
          </a:p>
        </p:txBody>
      </p:sp>
      <p:sp>
        <p:nvSpPr>
          <p:cNvPr id="23" name="Oval 22"/>
          <p:cNvSpPr/>
          <p:nvPr/>
        </p:nvSpPr>
        <p:spPr>
          <a:xfrm>
            <a:off x="8483600" y="1778000"/>
            <a:ext cx="88900" cy="88900"/>
          </a:xfrm>
          <a:prstGeom prst="ellipse">
            <a:avLst/>
          </a:prstGeom>
          <a:solidFill>
            <a:srgbClr val="B5563C"/>
          </a:solidFill>
          <a:ln w="6350">
            <a:solidFill>
              <a:srgbClr val="FFFFFF"/>
            </a:solidFill>
          </a:ln>
        </p:spPr>
        <p:txBody>
          <a:bodyPr rtlCol="0" anchor="ctr"/>
          <a:lstStyle/>
          <a:p>
            <a:pPr algn="ctr"/>
          </a:p>
        </p:txBody>
      </p:sp>
      <p:sp>
        <p:nvSpPr>
          <p:cNvPr id="24" name="TextBox 23"/>
          <p:cNvSpPr txBox="1"/>
          <p:nvPr/>
        </p:nvSpPr>
        <p:spPr>
          <a:xfrm>
            <a:off x="8699500" y="17589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 touristique</a:t>
            </a:r>
          </a:p>
        </p:txBody>
      </p:sp>
      <p:sp>
        <p:nvSpPr>
          <p:cNvPr id="25" name="Rectangle 24"/>
          <p:cNvSpPr/>
          <p:nvPr/>
        </p:nvSpPr>
        <p:spPr>
          <a:xfrm>
            <a:off x="8489950" y="1962150"/>
            <a:ext cx="76200" cy="76200"/>
          </a:xfrm>
          <a:prstGeom prst="rect">
            <a:avLst/>
          </a:prstGeom>
          <a:solidFill>
            <a:srgbClr val="3E5A6E"/>
          </a:solidFill>
          <a:ln>
            <a:noFill/>
          </a:ln>
        </p:spPr>
        <p:txBody>
          <a:bodyPr rtlCol="0" anchor="ctr"/>
          <a:lstStyle/>
          <a:p>
            <a:pPr algn="ctr"/>
          </a:p>
        </p:txBody>
      </p:sp>
      <p:sp>
        <p:nvSpPr>
          <p:cNvPr id="26" name="TextBox 25"/>
          <p:cNvSpPr txBox="1"/>
          <p:nvPr/>
        </p:nvSpPr>
        <p:spPr>
          <a:xfrm>
            <a:off x="8699500" y="19367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École ou équipement de santé</a:t>
            </a:r>
          </a:p>
        </p:txBody>
      </p:sp>
      <p:cxnSp>
        <p:nvCxnSpPr>
          <p:cNvPr id="27" name="Connector 26"/>
          <p:cNvCxnSpPr/>
          <p:nvPr/>
        </p:nvCxnSpPr>
        <p:spPr>
          <a:xfrm>
            <a:off x="8445500" y="2178050"/>
            <a:ext cx="165100" cy="0"/>
          </a:xfrm>
          <a:prstGeom prst="line">
            <a:avLst/>
          </a:prstGeom>
          <a:ln w="22225">
            <a:solidFill>
              <a:srgbClr val="B5563C"/>
            </a:solidFill>
          </a:ln>
        </p:spPr>
      </p:cxnSp>
      <p:sp>
        <p:nvSpPr>
          <p:cNvPr id="28" name="TextBox 27"/>
          <p:cNvSpPr txBox="1"/>
          <p:nvPr/>
        </p:nvSpPr>
        <p:spPr>
          <a:xfrm>
            <a:off x="8699500" y="21145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express</a:t>
            </a:r>
          </a:p>
        </p:txBody>
      </p:sp>
      <p:cxnSp>
        <p:nvCxnSpPr>
          <p:cNvPr id="29" name="Connector 28"/>
          <p:cNvCxnSpPr/>
          <p:nvPr/>
        </p:nvCxnSpPr>
        <p:spPr>
          <a:xfrm>
            <a:off x="8445500" y="2355850"/>
            <a:ext cx="165100" cy="0"/>
          </a:xfrm>
          <a:prstGeom prst="line">
            <a:avLst/>
          </a:prstGeom>
          <a:ln w="22225">
            <a:solidFill>
              <a:srgbClr val="23303A"/>
            </a:solidFill>
          </a:ln>
        </p:spPr>
      </p:cxnSp>
      <p:sp>
        <p:nvSpPr>
          <p:cNvPr id="30" name="TextBox 29"/>
          <p:cNvSpPr txBox="1"/>
          <p:nvPr/>
        </p:nvSpPr>
        <p:spPr>
          <a:xfrm>
            <a:off x="8699500" y="2292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et arrondissements</a:t>
            </a:r>
          </a:p>
        </p:txBody>
      </p:sp>
      <p:sp>
        <p:nvSpPr>
          <p:cNvPr id="31" name="TextBox 30"/>
          <p:cNvSpPr txBox="1"/>
          <p:nvPr/>
        </p:nvSpPr>
        <p:spPr>
          <a:xfrm>
            <a:off x="8445500" y="2654300"/>
            <a:ext cx="3492500" cy="2540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Lecture. </a:t>
            </a:r>
            <a:r>
              <a:rPr sz="1000" b="0" i="0">
                <a:solidFill>
                  <a:srgbClr val="23303A"/>
                </a:solidFill>
                <a:latin typeface="Barlow"/>
              </a:rPr>
              <a:t>La bande littorale ne porte qu'un septième du bâti de la commune, mais plus des trois quarts des hébergements. La côte est traitée comme un produit : marina, hôtels de Malabata, résidences du cap Spartel. La majorité des habitants vit à plus de 3 km de la mer. La loi 81-12 (2015) gèle désormais 100 m de rivage, mais arrive après la construction du front.</a:t>
            </a:r>
          </a:p>
        </p:txBody>
      </p:sp>
      <p:pic>
        <p:nvPicPr>
          <p:cNvPr id="32" name="Picture 31" descr="p_spartel.jpg"/>
          <p:cNvPicPr>
            <a:picLocks noChangeAspect="1"/>
          </p:cNvPicPr>
          <p:nvPr/>
        </p:nvPicPr>
        <p:blipFill>
          <a:blip r:embed="rId4"/>
          <a:stretch>
            <a:fillRect/>
          </a:stretch>
        </p:blipFill>
        <p:spPr>
          <a:xfrm>
            <a:off x="8445500" y="4381500"/>
            <a:ext cx="2667000" cy="1778000"/>
          </a:xfrm>
          <a:prstGeom prst="rect">
            <a:avLst/>
          </a:prstGeom>
        </p:spPr>
      </p:pic>
      <p:sp>
        <p:nvSpPr>
          <p:cNvPr id="33" name="TextBox 32"/>
          <p:cNvSpPr txBox="1"/>
          <p:nvPr/>
        </p:nvSpPr>
        <p:spPr>
          <a:xfrm>
            <a:off x="8445500" y="6197600"/>
            <a:ext cx="26670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Cap Spartel  </a:t>
            </a:r>
            <a:r>
              <a:rPr sz="800" b="0" i="1">
                <a:solidFill>
                  <a:srgbClr val="7B746B"/>
                </a:solidFill>
                <a:latin typeface="Barlow"/>
              </a:rPr>
              <a:t>logopop, CC BY-SA 3.0</a:t>
            </a:r>
          </a:p>
        </p:txBody>
      </p:sp>
      <p:sp>
        <p:nvSpPr>
          <p:cNvPr id="34" name="TextBox 33"/>
          <p:cNvSpPr txBox="1"/>
          <p:nvPr/>
        </p:nvSpPr>
        <p:spPr>
          <a:xfrm>
            <a:off x="254000" y="5461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DISTANCE MÉDIANE À LA MER</a:t>
            </a:r>
          </a:p>
        </p:txBody>
      </p:sp>
      <p:sp>
        <p:nvSpPr>
          <p:cNvPr id="35" name="TextBox 34"/>
          <p:cNvSpPr txBox="1"/>
          <p:nvPr/>
        </p:nvSpPr>
        <p:spPr>
          <a:xfrm>
            <a:off x="254000" y="56642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Hébergements</a:t>
            </a:r>
          </a:p>
        </p:txBody>
      </p:sp>
      <p:sp>
        <p:nvSpPr>
          <p:cNvPr id="36" name="Rectangle 35"/>
          <p:cNvSpPr/>
          <p:nvPr/>
        </p:nvSpPr>
        <p:spPr>
          <a:xfrm>
            <a:off x="1524000" y="5689600"/>
            <a:ext cx="165871" cy="101600"/>
          </a:xfrm>
          <a:prstGeom prst="rect">
            <a:avLst/>
          </a:prstGeom>
          <a:solidFill>
            <a:srgbClr val="B5563C"/>
          </a:solidFill>
          <a:ln>
            <a:noFill/>
          </a:ln>
        </p:spPr>
        <p:txBody>
          <a:bodyPr rtlCol="0" anchor="ctr"/>
          <a:lstStyle/>
          <a:p>
            <a:pPr algn="ctr"/>
          </a:p>
        </p:txBody>
      </p:sp>
      <p:sp>
        <p:nvSpPr>
          <p:cNvPr id="37" name="TextBox 36"/>
          <p:cNvSpPr txBox="1"/>
          <p:nvPr/>
        </p:nvSpPr>
        <p:spPr>
          <a:xfrm>
            <a:off x="1740671" y="56642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390 m</a:t>
            </a:r>
          </a:p>
        </p:txBody>
      </p:sp>
      <p:sp>
        <p:nvSpPr>
          <p:cNvPr id="38" name="TextBox 37"/>
          <p:cNvSpPr txBox="1"/>
          <p:nvPr/>
        </p:nvSpPr>
        <p:spPr>
          <a:xfrm>
            <a:off x="4318000" y="56642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Équipements de santé</a:t>
            </a:r>
          </a:p>
        </p:txBody>
      </p:sp>
      <p:sp>
        <p:nvSpPr>
          <p:cNvPr id="39" name="Rectangle 38"/>
          <p:cNvSpPr/>
          <p:nvPr/>
        </p:nvSpPr>
        <p:spPr>
          <a:xfrm>
            <a:off x="5588000" y="5689600"/>
            <a:ext cx="610744" cy="101600"/>
          </a:xfrm>
          <a:prstGeom prst="rect">
            <a:avLst/>
          </a:prstGeom>
          <a:solidFill>
            <a:srgbClr val="3E5A6E"/>
          </a:solidFill>
          <a:ln>
            <a:noFill/>
          </a:ln>
        </p:spPr>
        <p:txBody>
          <a:bodyPr rtlCol="0" anchor="ctr"/>
          <a:lstStyle/>
          <a:p>
            <a:pPr algn="ctr"/>
          </a:p>
        </p:txBody>
      </p:sp>
      <p:sp>
        <p:nvSpPr>
          <p:cNvPr id="40" name="TextBox 39"/>
          <p:cNvSpPr txBox="1"/>
          <p:nvPr/>
        </p:nvSpPr>
        <p:spPr>
          <a:xfrm>
            <a:off x="6249544" y="56642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1,4 km</a:t>
            </a:r>
          </a:p>
        </p:txBody>
      </p:sp>
      <p:sp>
        <p:nvSpPr>
          <p:cNvPr id="41" name="TextBox 40"/>
          <p:cNvSpPr txBox="1"/>
          <p:nvPr/>
        </p:nvSpPr>
        <p:spPr>
          <a:xfrm>
            <a:off x="254000" y="59436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Écoles</a:t>
            </a:r>
          </a:p>
        </p:txBody>
      </p:sp>
      <p:sp>
        <p:nvSpPr>
          <p:cNvPr id="42" name="Rectangle 41"/>
          <p:cNvSpPr/>
          <p:nvPr/>
        </p:nvSpPr>
        <p:spPr>
          <a:xfrm>
            <a:off x="1524000" y="5969000"/>
            <a:ext cx="771937" cy="101600"/>
          </a:xfrm>
          <a:prstGeom prst="rect">
            <a:avLst/>
          </a:prstGeom>
          <a:solidFill>
            <a:srgbClr val="3E5A6E"/>
          </a:solidFill>
          <a:ln>
            <a:noFill/>
          </a:ln>
        </p:spPr>
        <p:txBody>
          <a:bodyPr rtlCol="0" anchor="ctr"/>
          <a:lstStyle/>
          <a:p>
            <a:pPr algn="ctr"/>
          </a:p>
        </p:txBody>
      </p:sp>
      <p:sp>
        <p:nvSpPr>
          <p:cNvPr id="43" name="TextBox 42"/>
          <p:cNvSpPr txBox="1"/>
          <p:nvPr/>
        </p:nvSpPr>
        <p:spPr>
          <a:xfrm>
            <a:off x="2346737" y="59436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1,8 km</a:t>
            </a:r>
          </a:p>
        </p:txBody>
      </p:sp>
      <p:sp>
        <p:nvSpPr>
          <p:cNvPr id="44" name="TextBox 43"/>
          <p:cNvSpPr txBox="1"/>
          <p:nvPr/>
        </p:nvSpPr>
        <p:spPr>
          <a:xfrm>
            <a:off x="4318000" y="59436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de Beni Makada</a:t>
            </a:r>
          </a:p>
        </p:txBody>
      </p:sp>
      <p:sp>
        <p:nvSpPr>
          <p:cNvPr id="45" name="Rectangle 44"/>
          <p:cNvSpPr/>
          <p:nvPr/>
        </p:nvSpPr>
        <p:spPr>
          <a:xfrm>
            <a:off x="5588000" y="5969000"/>
            <a:ext cx="2095500" cy="101600"/>
          </a:xfrm>
          <a:prstGeom prst="rect">
            <a:avLst/>
          </a:prstGeom>
          <a:solidFill>
            <a:srgbClr val="C2B8AA"/>
          </a:solidFill>
          <a:ln>
            <a:noFill/>
          </a:ln>
        </p:spPr>
        <p:txBody>
          <a:bodyPr rtlCol="0" anchor="ctr"/>
          <a:lstStyle/>
          <a:p>
            <a:pPr algn="ctr"/>
          </a:p>
        </p:txBody>
      </p:sp>
      <p:sp>
        <p:nvSpPr>
          <p:cNvPr id="46" name="TextBox 45"/>
          <p:cNvSpPr txBox="1"/>
          <p:nvPr/>
        </p:nvSpPr>
        <p:spPr>
          <a:xfrm>
            <a:off x="7734300" y="59436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4,9 km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LA MÉCANIQUE DE LA VILLE-VITRINE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Comment un projet d'image produit, étape par étape, de la rente pour quelques-uns et de l'éviction pour les autres.</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boucle qui</a:t>
            </a:r>
          </a:p>
          <a:p>
            <a:pPr algn="r">
              <a:lnSpc>
                <a:spcPct val="110000"/>
              </a:lnSpc>
            </a:pPr>
            <a:r>
              <a:rPr sz="850" b="0" i="0">
                <a:solidFill>
                  <a:srgbClr val="7B746B"/>
                </a:solidFill>
                <a:latin typeface="Barlow"/>
              </a:rPr>
              <a:t>se renforce</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étapes</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1" name="TextBox 10"/>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19 / 32</a:t>
            </a:r>
          </a:p>
        </p:txBody>
      </p:sp>
      <p:pic>
        <p:nvPicPr>
          <p:cNvPr id="12" name="Picture 11" descr="s_cycle.jpg"/>
          <p:cNvPicPr>
            <a:picLocks noChangeAspect="1"/>
          </p:cNvPicPr>
          <p:nvPr/>
        </p:nvPicPr>
        <p:blipFill>
          <a:blip r:embed="rId2"/>
          <a:stretch>
            <a:fillRect/>
          </a:stretch>
        </p:blipFill>
        <p:spPr>
          <a:xfrm>
            <a:off x="127000" y="825500"/>
            <a:ext cx="6858000" cy="5715000"/>
          </a:xfrm>
          <a:prstGeom prst="rect">
            <a:avLst/>
          </a:prstGeom>
        </p:spPr>
      </p:pic>
      <p:sp>
        <p:nvSpPr>
          <p:cNvPr id="13" name="Rectangle 12"/>
          <p:cNvSpPr/>
          <p:nvPr/>
        </p:nvSpPr>
        <p:spPr>
          <a:xfrm>
            <a:off x="7302500" y="1079500"/>
            <a:ext cx="4635500" cy="2222500"/>
          </a:xfrm>
          <a:prstGeom prst="rect">
            <a:avLst/>
          </a:prstGeom>
          <a:solidFill>
            <a:srgbClr val="F8F5EF"/>
          </a:solidFill>
          <a:ln w="6350">
            <a:solidFill>
              <a:srgbClr val="CFC6B8"/>
            </a:solidFill>
          </a:ln>
        </p:spPr>
        <p:txBody>
          <a:bodyPr rtlCol="0" anchor="ctr"/>
          <a:lstStyle/>
          <a:p>
            <a:pPr algn="ctr"/>
          </a:p>
        </p:txBody>
      </p:sp>
      <p:sp>
        <p:nvSpPr>
          <p:cNvPr id="14" name="Rectangle 13"/>
          <p:cNvSpPr/>
          <p:nvPr/>
        </p:nvSpPr>
        <p:spPr>
          <a:xfrm>
            <a:off x="7302500" y="1079500"/>
            <a:ext cx="50800" cy="2222500"/>
          </a:xfrm>
          <a:prstGeom prst="rect">
            <a:avLst/>
          </a:prstGeom>
          <a:solidFill>
            <a:srgbClr val="B5563C"/>
          </a:solidFill>
          <a:ln>
            <a:noFill/>
          </a:ln>
        </p:spPr>
        <p:txBody>
          <a:bodyPr rtlCol="0" anchor="ctr"/>
          <a:lstStyle/>
          <a:p>
            <a:pPr algn="ctr"/>
          </a:p>
        </p:txBody>
      </p:sp>
      <p:sp>
        <p:nvSpPr>
          <p:cNvPr id="15" name="TextBox 14"/>
          <p:cNvSpPr txBox="1"/>
          <p:nvPr/>
        </p:nvSpPr>
        <p:spPr>
          <a:xfrm>
            <a:off x="7518400" y="1244600"/>
            <a:ext cx="4191000" cy="190500"/>
          </a:xfrm>
          <a:prstGeom prst="rect">
            <a:avLst/>
          </a:prstGeom>
          <a:noFill/>
        </p:spPr>
        <p:txBody>
          <a:bodyPr wrap="square" lIns="0" rIns="0" tIns="0" bIns="0" anchor="t">
            <a:spAutoFit/>
          </a:bodyPr>
          <a:lstStyle/>
          <a:p>
            <a:pPr algn="l">
              <a:lnSpc>
                <a:spcPct val="120000"/>
              </a:lnSpc>
            </a:pPr>
            <a:r>
              <a:rPr sz="1600" b="1" i="0" spc="300">
                <a:solidFill>
                  <a:srgbClr val="B5563C"/>
                </a:solidFill>
                <a:latin typeface="Barlow Condensed"/>
              </a:rPr>
              <a:t>QUI GAGNE</a:t>
            </a:r>
          </a:p>
        </p:txBody>
      </p:sp>
      <p:sp>
        <p:nvSpPr>
          <p:cNvPr id="16" name="Oval 15"/>
          <p:cNvSpPr/>
          <p:nvPr/>
        </p:nvSpPr>
        <p:spPr>
          <a:xfrm>
            <a:off x="7543800" y="1701800"/>
            <a:ext cx="76200" cy="76200"/>
          </a:xfrm>
          <a:prstGeom prst="ellipse">
            <a:avLst/>
          </a:prstGeom>
          <a:solidFill>
            <a:srgbClr val="B5563C"/>
          </a:solidFill>
          <a:ln>
            <a:noFill/>
          </a:ln>
        </p:spPr>
        <p:txBody>
          <a:bodyPr rtlCol="0" anchor="ctr"/>
          <a:lstStyle/>
          <a:p>
            <a:pPr algn="ctr"/>
          </a:p>
        </p:txBody>
      </p:sp>
      <p:sp>
        <p:nvSpPr>
          <p:cNvPr id="17" name="TextBox 16"/>
          <p:cNvSpPr txBox="1"/>
          <p:nvPr/>
        </p:nvSpPr>
        <p:spPr>
          <a:xfrm>
            <a:off x="7708900" y="1651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Promoteurs et investisseurs immobiliers</a:t>
            </a:r>
          </a:p>
        </p:txBody>
      </p:sp>
      <p:sp>
        <p:nvSpPr>
          <p:cNvPr id="18" name="Oval 17"/>
          <p:cNvSpPr/>
          <p:nvPr/>
        </p:nvSpPr>
        <p:spPr>
          <a:xfrm>
            <a:off x="7543800" y="2082800"/>
            <a:ext cx="76200" cy="76200"/>
          </a:xfrm>
          <a:prstGeom prst="ellipse">
            <a:avLst/>
          </a:prstGeom>
          <a:solidFill>
            <a:srgbClr val="B5563C"/>
          </a:solidFill>
          <a:ln>
            <a:noFill/>
          </a:ln>
        </p:spPr>
        <p:txBody>
          <a:bodyPr rtlCol="0" anchor="ctr"/>
          <a:lstStyle/>
          <a:p>
            <a:pPr algn="ctr"/>
          </a:p>
        </p:txBody>
      </p:sp>
      <p:sp>
        <p:nvSpPr>
          <p:cNvPr id="19" name="TextBox 18"/>
          <p:cNvSpPr txBox="1"/>
          <p:nvPr/>
        </p:nvSpPr>
        <p:spPr>
          <a:xfrm>
            <a:off x="7708900" y="2032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Hôtels, opérateurs de croisière</a:t>
            </a:r>
          </a:p>
        </p:txBody>
      </p:sp>
      <p:sp>
        <p:nvSpPr>
          <p:cNvPr id="20" name="Oval 19"/>
          <p:cNvSpPr/>
          <p:nvPr/>
        </p:nvSpPr>
        <p:spPr>
          <a:xfrm>
            <a:off x="7543800" y="2463800"/>
            <a:ext cx="76200" cy="76200"/>
          </a:xfrm>
          <a:prstGeom prst="ellipse">
            <a:avLst/>
          </a:prstGeom>
          <a:solidFill>
            <a:srgbClr val="B5563C"/>
          </a:solidFill>
          <a:ln>
            <a:noFill/>
          </a:ln>
        </p:spPr>
        <p:txBody>
          <a:bodyPr rtlCol="0" anchor="ctr"/>
          <a:lstStyle/>
          <a:p>
            <a:pPr algn="ctr"/>
          </a:p>
        </p:txBody>
      </p:sp>
      <p:sp>
        <p:nvSpPr>
          <p:cNvPr id="21" name="TextBox 20"/>
          <p:cNvSpPr txBox="1"/>
          <p:nvPr/>
        </p:nvSpPr>
        <p:spPr>
          <a:xfrm>
            <a:off x="7708900" y="2413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Propriétaires du front de mer et de la médina</a:t>
            </a:r>
          </a:p>
        </p:txBody>
      </p:sp>
      <p:sp>
        <p:nvSpPr>
          <p:cNvPr id="22" name="Oval 21"/>
          <p:cNvSpPr/>
          <p:nvPr/>
        </p:nvSpPr>
        <p:spPr>
          <a:xfrm>
            <a:off x="7543800" y="2844800"/>
            <a:ext cx="76200" cy="76200"/>
          </a:xfrm>
          <a:prstGeom prst="ellipse">
            <a:avLst/>
          </a:prstGeom>
          <a:solidFill>
            <a:srgbClr val="B5563C"/>
          </a:solidFill>
          <a:ln>
            <a:noFill/>
          </a:ln>
        </p:spPr>
        <p:txBody>
          <a:bodyPr rtlCol="0" anchor="ctr"/>
          <a:lstStyle/>
          <a:p>
            <a:pPr algn="ctr"/>
          </a:p>
        </p:txBody>
      </p:sp>
      <p:sp>
        <p:nvSpPr>
          <p:cNvPr id="23" name="TextBox 22"/>
          <p:cNvSpPr txBox="1"/>
          <p:nvPr/>
        </p:nvSpPr>
        <p:spPr>
          <a:xfrm>
            <a:off x="7708900" y="2794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L'image nationale et internationale</a:t>
            </a:r>
          </a:p>
        </p:txBody>
      </p:sp>
      <p:sp>
        <p:nvSpPr>
          <p:cNvPr id="24" name="Rectangle 23"/>
          <p:cNvSpPr/>
          <p:nvPr/>
        </p:nvSpPr>
        <p:spPr>
          <a:xfrm>
            <a:off x="7302500" y="3556000"/>
            <a:ext cx="4635500" cy="2222500"/>
          </a:xfrm>
          <a:prstGeom prst="rect">
            <a:avLst/>
          </a:prstGeom>
          <a:solidFill>
            <a:srgbClr val="F8F5EF"/>
          </a:solidFill>
          <a:ln w="6350">
            <a:solidFill>
              <a:srgbClr val="CFC6B8"/>
            </a:solidFill>
          </a:ln>
        </p:spPr>
        <p:txBody>
          <a:bodyPr rtlCol="0" anchor="ctr"/>
          <a:lstStyle/>
          <a:p>
            <a:pPr algn="ctr"/>
          </a:p>
        </p:txBody>
      </p:sp>
      <p:sp>
        <p:nvSpPr>
          <p:cNvPr id="25" name="Rectangle 24"/>
          <p:cNvSpPr/>
          <p:nvPr/>
        </p:nvSpPr>
        <p:spPr>
          <a:xfrm>
            <a:off x="7302500" y="3556000"/>
            <a:ext cx="50800" cy="2222500"/>
          </a:xfrm>
          <a:prstGeom prst="rect">
            <a:avLst/>
          </a:prstGeom>
          <a:solidFill>
            <a:srgbClr val="3E5A6E"/>
          </a:solidFill>
          <a:ln>
            <a:noFill/>
          </a:ln>
        </p:spPr>
        <p:txBody>
          <a:bodyPr rtlCol="0" anchor="ctr"/>
          <a:lstStyle/>
          <a:p>
            <a:pPr algn="ctr"/>
          </a:p>
        </p:txBody>
      </p:sp>
      <p:sp>
        <p:nvSpPr>
          <p:cNvPr id="26" name="TextBox 25"/>
          <p:cNvSpPr txBox="1"/>
          <p:nvPr/>
        </p:nvSpPr>
        <p:spPr>
          <a:xfrm>
            <a:off x="7518400" y="3721100"/>
            <a:ext cx="4191000" cy="190500"/>
          </a:xfrm>
          <a:prstGeom prst="rect">
            <a:avLst/>
          </a:prstGeom>
          <a:noFill/>
        </p:spPr>
        <p:txBody>
          <a:bodyPr wrap="square" lIns="0" rIns="0" tIns="0" bIns="0" anchor="t">
            <a:spAutoFit/>
          </a:bodyPr>
          <a:lstStyle/>
          <a:p>
            <a:pPr algn="l">
              <a:lnSpc>
                <a:spcPct val="120000"/>
              </a:lnSpc>
            </a:pPr>
            <a:r>
              <a:rPr sz="1600" b="1" i="0" spc="300">
                <a:solidFill>
                  <a:srgbClr val="3E5A6E"/>
                </a:solidFill>
                <a:latin typeface="Barlow Condensed"/>
              </a:rPr>
              <a:t>QUI PAIE</a:t>
            </a:r>
          </a:p>
        </p:txBody>
      </p:sp>
      <p:sp>
        <p:nvSpPr>
          <p:cNvPr id="27" name="Oval 26"/>
          <p:cNvSpPr/>
          <p:nvPr/>
        </p:nvSpPr>
        <p:spPr>
          <a:xfrm>
            <a:off x="7543800" y="4178300"/>
            <a:ext cx="76200" cy="76200"/>
          </a:xfrm>
          <a:prstGeom prst="ellipse">
            <a:avLst/>
          </a:prstGeom>
          <a:solidFill>
            <a:srgbClr val="3E5A6E"/>
          </a:solidFill>
          <a:ln>
            <a:noFill/>
          </a:ln>
        </p:spPr>
        <p:txBody>
          <a:bodyPr rtlCol="0" anchor="ctr"/>
          <a:lstStyle/>
          <a:p>
            <a:pPr algn="ctr"/>
          </a:p>
        </p:txBody>
      </p:sp>
      <p:sp>
        <p:nvSpPr>
          <p:cNvPr id="28" name="TextBox 27"/>
          <p:cNvSpPr txBox="1"/>
          <p:nvPr/>
        </p:nvSpPr>
        <p:spPr>
          <a:xfrm>
            <a:off x="7708900" y="4127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Locataires de la médina et du centre</a:t>
            </a:r>
          </a:p>
        </p:txBody>
      </p:sp>
      <p:sp>
        <p:nvSpPr>
          <p:cNvPr id="29" name="Oval 28"/>
          <p:cNvSpPr/>
          <p:nvPr/>
        </p:nvSpPr>
        <p:spPr>
          <a:xfrm>
            <a:off x="7543800" y="4559300"/>
            <a:ext cx="76200" cy="76200"/>
          </a:xfrm>
          <a:prstGeom prst="ellipse">
            <a:avLst/>
          </a:prstGeom>
          <a:solidFill>
            <a:srgbClr val="3E5A6E"/>
          </a:solidFill>
          <a:ln>
            <a:noFill/>
          </a:ln>
        </p:spPr>
        <p:txBody>
          <a:bodyPr rtlCol="0" anchor="ctr"/>
          <a:lstStyle/>
          <a:p>
            <a:pPr algn="ctr"/>
          </a:p>
        </p:txBody>
      </p:sp>
      <p:sp>
        <p:nvSpPr>
          <p:cNvPr id="30" name="TextBox 29"/>
          <p:cNvSpPr txBox="1"/>
          <p:nvPr/>
        </p:nvSpPr>
        <p:spPr>
          <a:xfrm>
            <a:off x="7708900" y="4508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Pêcheurs et usagers de l'ancien port</a:t>
            </a:r>
          </a:p>
        </p:txBody>
      </p:sp>
      <p:sp>
        <p:nvSpPr>
          <p:cNvPr id="31" name="Oval 30"/>
          <p:cNvSpPr/>
          <p:nvPr/>
        </p:nvSpPr>
        <p:spPr>
          <a:xfrm>
            <a:off x="7543800" y="4940300"/>
            <a:ext cx="76200" cy="76200"/>
          </a:xfrm>
          <a:prstGeom prst="ellipse">
            <a:avLst/>
          </a:prstGeom>
          <a:solidFill>
            <a:srgbClr val="3E5A6E"/>
          </a:solidFill>
          <a:ln>
            <a:noFill/>
          </a:ln>
        </p:spPr>
        <p:txBody>
          <a:bodyPr rtlCol="0" anchor="ctr"/>
          <a:lstStyle/>
          <a:p>
            <a:pPr algn="ctr"/>
          </a:p>
        </p:txBody>
      </p:sp>
      <p:sp>
        <p:nvSpPr>
          <p:cNvPr id="32" name="TextBox 31"/>
          <p:cNvSpPr txBox="1"/>
          <p:nvPr/>
        </p:nvSpPr>
        <p:spPr>
          <a:xfrm>
            <a:off x="7708900" y="4889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Quartiers périphériques sans équipements</a:t>
            </a:r>
          </a:p>
        </p:txBody>
      </p:sp>
      <p:sp>
        <p:nvSpPr>
          <p:cNvPr id="33" name="Oval 32"/>
          <p:cNvSpPr/>
          <p:nvPr/>
        </p:nvSpPr>
        <p:spPr>
          <a:xfrm>
            <a:off x="7543800" y="5321300"/>
            <a:ext cx="76200" cy="76200"/>
          </a:xfrm>
          <a:prstGeom prst="ellipse">
            <a:avLst/>
          </a:prstGeom>
          <a:solidFill>
            <a:srgbClr val="3E5A6E"/>
          </a:solidFill>
          <a:ln>
            <a:noFill/>
          </a:ln>
        </p:spPr>
        <p:txBody>
          <a:bodyPr rtlCol="0" anchor="ctr"/>
          <a:lstStyle/>
          <a:p>
            <a:pPr algn="ctr"/>
          </a:p>
        </p:txBody>
      </p:sp>
      <p:sp>
        <p:nvSpPr>
          <p:cNvPr id="34" name="TextBox 33"/>
          <p:cNvSpPr txBox="1"/>
          <p:nvPr/>
        </p:nvSpPr>
        <p:spPr>
          <a:xfrm>
            <a:off x="7708900" y="5270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Le budget public (milliards de MAD engagés)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1 · LE PORT : DU TRAVAIL AU LOISIR</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Le front portuaire vu par Sentinel-2, avant et après la reconversion.</a:t>
            </a:r>
          </a:p>
        </p:txBody>
      </p:sp>
      <p:pic>
        <p:nvPicPr>
          <p:cNvPr id="5" name="Picture 4" descr="nc_sk_kasbah.png"/>
          <p:cNvPicPr>
            <a:picLocks noChangeAspect="1"/>
          </p:cNvPicPr>
          <p:nvPr/>
        </p:nvPicPr>
        <p:blipFill>
          <a:blip r:embed="rId2"/>
          <a:stretch>
            <a:fillRect/>
          </a:stretch>
        </p:blipFill>
        <p:spPr>
          <a:xfrm>
            <a:off x="10985500" y="206148"/>
            <a:ext cx="952500" cy="578304"/>
          </a:xfrm>
          <a:prstGeom prst="rect">
            <a:avLst/>
          </a:prstGeom>
        </p:spPr>
      </p:pic>
      <p:sp>
        <p:nvSpPr>
          <p:cNvPr id="6" name="TextBox 5"/>
          <p:cNvSpPr txBox="1"/>
          <p:nvPr/>
        </p:nvSpPr>
        <p:spPr>
          <a:xfrm>
            <a:off x="9067800" y="215900"/>
            <a:ext cx="16637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 / 6 / 2018</a:t>
            </a:r>
          </a:p>
        </p:txBody>
      </p:sp>
      <p:sp>
        <p:nvSpPr>
          <p:cNvPr id="7" name="TextBox 6"/>
          <p:cNvSpPr txBox="1"/>
          <p:nvPr/>
        </p:nvSpPr>
        <p:spPr>
          <a:xfrm>
            <a:off x="9067800" y="546100"/>
            <a:ext cx="16637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inauguration</a:t>
            </a:r>
          </a:p>
        </p:txBody>
      </p:sp>
      <p:sp>
        <p:nvSpPr>
          <p:cNvPr id="8" name="TextBox 7"/>
          <p:cNvSpPr txBox="1"/>
          <p:nvPr/>
        </p:nvSpPr>
        <p:spPr>
          <a:xfrm>
            <a:off x="80899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1 400</a:t>
            </a:r>
          </a:p>
        </p:txBody>
      </p:sp>
      <p:sp>
        <p:nvSpPr>
          <p:cNvPr id="9" name="TextBox 8"/>
          <p:cNvSpPr txBox="1"/>
          <p:nvPr/>
        </p:nvSpPr>
        <p:spPr>
          <a:xfrm>
            <a:off x="80899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anneaux de</a:t>
            </a:r>
          </a:p>
          <a:p>
            <a:pPr algn="r">
              <a:lnSpc>
                <a:spcPct val="110000"/>
              </a:lnSpc>
            </a:pPr>
            <a:r>
              <a:rPr sz="850" b="0" i="0">
                <a:solidFill>
                  <a:srgbClr val="7B746B"/>
                </a:solidFill>
                <a:latin typeface="Barlow"/>
              </a:rPr>
              <a:t>plaisance prévus</a:t>
            </a:r>
          </a:p>
        </p:txBody>
      </p:sp>
      <p:sp>
        <p:nvSpPr>
          <p:cNvPr id="10" name="TextBox 9"/>
          <p:cNvSpPr txBox="1"/>
          <p:nvPr/>
        </p:nvSpPr>
        <p:spPr>
          <a:xfrm>
            <a:off x="701040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6,2 Md</a:t>
            </a:r>
          </a:p>
        </p:txBody>
      </p:sp>
      <p:sp>
        <p:nvSpPr>
          <p:cNvPr id="11" name="TextBox 10"/>
          <p:cNvSpPr txBox="1"/>
          <p:nvPr/>
        </p:nvSpPr>
        <p:spPr>
          <a:xfrm>
            <a:off x="701040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programme</a:t>
            </a:r>
          </a:p>
          <a:p>
            <a:pPr algn="r">
              <a:lnSpc>
                <a:spcPct val="110000"/>
              </a:lnSpc>
            </a:pPr>
            <a:r>
              <a:rPr sz="850" b="0" i="0">
                <a:solidFill>
                  <a:srgbClr val="7B746B"/>
                </a:solidFill>
                <a:latin typeface="Barlow"/>
              </a:rPr>
              <a:t>de reconversion</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20 / 32</a:t>
            </a:r>
          </a:p>
        </p:txBody>
      </p:sp>
      <p:pic>
        <p:nvPicPr>
          <p:cNvPr id="15" name="Picture 14" descr="s02_port_2017.jpg"/>
          <p:cNvPicPr>
            <a:picLocks noChangeAspect="1"/>
          </p:cNvPicPr>
          <p:nvPr/>
        </p:nvPicPr>
        <p:blipFill>
          <a:blip r:embed="rId3"/>
          <a:stretch>
            <a:fillRect/>
          </a:stretch>
        </p:blipFill>
        <p:spPr>
          <a:xfrm>
            <a:off x="254000" y="1079500"/>
            <a:ext cx="3873500" cy="2885758"/>
          </a:xfrm>
          <a:prstGeom prst="rect">
            <a:avLst/>
          </a:prstGeom>
        </p:spPr>
      </p:pic>
      <p:pic>
        <p:nvPicPr>
          <p:cNvPr id="16" name="Picture 15" descr="s02_port_2025.jpg"/>
          <p:cNvPicPr>
            <a:picLocks noChangeAspect="1"/>
          </p:cNvPicPr>
          <p:nvPr/>
        </p:nvPicPr>
        <p:blipFill>
          <a:blip r:embed="rId4"/>
          <a:stretch>
            <a:fillRect/>
          </a:stretch>
        </p:blipFill>
        <p:spPr>
          <a:xfrm>
            <a:off x="4254500" y="1079500"/>
            <a:ext cx="3873500" cy="2885758"/>
          </a:xfrm>
          <a:prstGeom prst="rect">
            <a:avLst/>
          </a:prstGeom>
        </p:spPr>
      </p:pic>
      <p:sp>
        <p:nvSpPr>
          <p:cNvPr id="17" name="TextBox 16"/>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8" name="TextBox 17"/>
          <p:cNvSpPr txBox="1"/>
          <p:nvPr/>
        </p:nvSpPr>
        <p:spPr>
          <a:xfrm>
            <a:off x="43307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pic>
        <p:nvPicPr>
          <p:cNvPr id="19" name="Picture 18" descr="p_port.jpg"/>
          <p:cNvPicPr>
            <a:picLocks noChangeAspect="1"/>
          </p:cNvPicPr>
          <p:nvPr/>
        </p:nvPicPr>
        <p:blipFill>
          <a:blip r:embed="rId5"/>
          <a:stretch>
            <a:fillRect/>
          </a:stretch>
        </p:blipFill>
        <p:spPr>
          <a:xfrm>
            <a:off x="254000" y="4663758"/>
            <a:ext cx="2381250" cy="1587500"/>
          </a:xfrm>
          <a:prstGeom prst="rect">
            <a:avLst/>
          </a:prstGeom>
        </p:spPr>
      </p:pic>
      <p:sp>
        <p:nvSpPr>
          <p:cNvPr id="20" name="TextBox 19"/>
          <p:cNvSpPr txBox="1"/>
          <p:nvPr/>
        </p:nvSpPr>
        <p:spPr>
          <a:xfrm>
            <a:off x="254000" y="6289358"/>
            <a:ext cx="238125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Gare maritime du port de Tanger Ville  </a:t>
            </a:r>
            <a:r>
              <a:rPr sz="800" b="0" i="1">
                <a:solidFill>
                  <a:srgbClr val="7B746B"/>
                </a:solidFill>
                <a:latin typeface="Barlow"/>
              </a:rPr>
              <a:t>Jobt1962, CC BY-SA 4.0</a:t>
            </a:r>
          </a:p>
        </p:txBody>
      </p:sp>
      <p:sp>
        <p:nvSpPr>
          <p:cNvPr id="21" name="TextBox 20"/>
          <p:cNvSpPr txBox="1"/>
          <p:nvPr/>
        </p:nvSpPr>
        <p:spPr>
          <a:xfrm>
            <a:off x="2794000" y="4663758"/>
            <a:ext cx="5207000" cy="1270000"/>
          </a:xfrm>
          <a:prstGeom prst="rect">
            <a:avLst/>
          </a:prstGeom>
          <a:noFill/>
        </p:spPr>
        <p:txBody>
          <a:bodyPr wrap="square" lIns="0" rIns="0" tIns="0" bIns="0" anchor="t">
            <a:spAutoFit/>
          </a:bodyPr>
          <a:lstStyle/>
          <a:p>
            <a:pPr algn="l">
              <a:lnSpc>
                <a:spcPct val="140000"/>
              </a:lnSpc>
            </a:pPr>
            <a:r>
              <a:rPr sz="1050" b="1" i="0">
                <a:solidFill>
                  <a:srgbClr val="7B746B"/>
                </a:solidFill>
                <a:latin typeface="Barlow"/>
              </a:rPr>
              <a:t>Ce que la photo ne montre pas. </a:t>
            </a:r>
            <a:r>
              <a:rPr sz="1050" b="0" i="0">
                <a:solidFill>
                  <a:srgbClr val="7B746B"/>
                </a:solidFill>
                <a:latin typeface="Barlow"/>
              </a:rPr>
              <a:t>Les pêcheurs déplacés vers le nouveau port, les dockers et les ateliers de réparation navale qui faisaient vivre le front d'eau.</a:t>
            </a:r>
          </a:p>
        </p:txBody>
      </p:sp>
      <p:sp>
        <p:nvSpPr>
          <p:cNvPr id="22" name="TextBox 21"/>
          <p:cNvSpPr txBox="1"/>
          <p:nvPr/>
        </p:nvSpPr>
        <p:spPr>
          <a:xfrm>
            <a:off x="254000" y="4092258"/>
            <a:ext cx="3873500" cy="762000"/>
          </a:xfrm>
          <a:prstGeom prst="rect">
            <a:avLst/>
          </a:prstGeom>
          <a:noFill/>
        </p:spPr>
        <p:txBody>
          <a:bodyPr wrap="square" lIns="0" rIns="0" tIns="0" bIns="0" anchor="t">
            <a:spAutoFit/>
          </a:bodyPr>
          <a:lstStyle/>
          <a:p>
            <a:pPr algn="l">
              <a:lnSpc>
                <a:spcPct val="135000"/>
              </a:lnSpc>
            </a:pPr>
            <a:r>
              <a:rPr sz="1050" b="0" i="0">
                <a:solidFill>
                  <a:srgbClr val="7B746B"/>
                </a:solidFill>
                <a:latin typeface="Barlow"/>
              </a:rPr>
              <a:t>Chantier en cours : la ville tourne encore le dos à un port de travail, de ferries et de pêche.</a:t>
            </a:r>
          </a:p>
        </p:txBody>
      </p:sp>
      <p:sp>
        <p:nvSpPr>
          <p:cNvPr id="23" name="TextBox 22"/>
          <p:cNvSpPr txBox="1"/>
          <p:nvPr/>
        </p:nvSpPr>
        <p:spPr>
          <a:xfrm>
            <a:off x="4254500" y="4092258"/>
            <a:ext cx="3873500" cy="762000"/>
          </a:xfrm>
          <a:prstGeom prst="rect">
            <a:avLst/>
          </a:prstGeom>
          <a:noFill/>
        </p:spPr>
        <p:txBody>
          <a:bodyPr wrap="square" lIns="0" rIns="0" tIns="0" bIns="0" anchor="t">
            <a:spAutoFit/>
          </a:bodyPr>
          <a:lstStyle/>
          <a:p>
            <a:pPr algn="l">
              <a:lnSpc>
                <a:spcPct val="135000"/>
              </a:lnSpc>
            </a:pPr>
            <a:r>
              <a:rPr sz="1050" b="0" i="0">
                <a:solidFill>
                  <a:srgbClr val="7B746B"/>
                </a:solidFill>
                <a:latin typeface="Barlow"/>
              </a:rPr>
              <a:t>Bassins de plaisance, esplanades et parkings : le front d'eau est devenu un espace de loisir et de consommation.</a:t>
            </a:r>
          </a:p>
        </p:txBody>
      </p:sp>
      <p:sp>
        <p:nvSpPr>
          <p:cNvPr id="24" name="TextBox 23"/>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CHIFFRES CLÉS</a:t>
            </a:r>
          </a:p>
        </p:txBody>
      </p:sp>
      <p:sp>
        <p:nvSpPr>
          <p:cNvPr id="25" name="TextBox 24"/>
          <p:cNvSpPr txBox="1"/>
          <p:nvPr/>
        </p:nvSpPr>
        <p:spPr>
          <a:xfrm>
            <a:off x="8445500" y="1270000"/>
            <a:ext cx="3492500" cy="228600"/>
          </a:xfrm>
          <a:prstGeom prst="rect">
            <a:avLst/>
          </a:prstGeom>
          <a:noFill/>
        </p:spPr>
        <p:txBody>
          <a:bodyPr wrap="square" lIns="0" rIns="0" tIns="0" bIns="0" anchor="t">
            <a:spAutoFit/>
          </a:bodyPr>
          <a:lstStyle/>
          <a:p>
            <a:pPr algn="l">
              <a:lnSpc>
                <a:spcPct val="120000"/>
              </a:lnSpc>
            </a:pPr>
            <a:r>
              <a:rPr sz="1900" b="1" i="0">
                <a:solidFill>
                  <a:srgbClr val="B5563C"/>
                </a:solidFill>
                <a:latin typeface="Barlow Condensed"/>
              </a:rPr>
              <a:t>6,2 Md MAD</a:t>
            </a:r>
          </a:p>
        </p:txBody>
      </p:sp>
      <p:sp>
        <p:nvSpPr>
          <p:cNvPr id="26" name="TextBox 25"/>
          <p:cNvSpPr txBox="1"/>
          <p:nvPr/>
        </p:nvSpPr>
        <p:spPr>
          <a:xfrm>
            <a:off x="8445500" y="15494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programme de reconversion du port</a:t>
            </a:r>
          </a:p>
        </p:txBody>
      </p:sp>
      <p:sp>
        <p:nvSpPr>
          <p:cNvPr id="27" name="TextBox 26"/>
          <p:cNvSpPr txBox="1"/>
          <p:nvPr/>
        </p:nvSpPr>
        <p:spPr>
          <a:xfrm>
            <a:off x="8445500" y="1752600"/>
            <a:ext cx="3492500" cy="228600"/>
          </a:xfrm>
          <a:prstGeom prst="rect">
            <a:avLst/>
          </a:prstGeom>
          <a:noFill/>
        </p:spPr>
        <p:txBody>
          <a:bodyPr wrap="square" lIns="0" rIns="0" tIns="0" bIns="0" anchor="t">
            <a:spAutoFit/>
          </a:bodyPr>
          <a:lstStyle/>
          <a:p>
            <a:pPr algn="l">
              <a:lnSpc>
                <a:spcPct val="120000"/>
              </a:lnSpc>
            </a:pPr>
            <a:r>
              <a:rPr sz="1900" b="1" i="0">
                <a:solidFill>
                  <a:srgbClr val="B5563C"/>
                </a:solidFill>
                <a:latin typeface="Barlow Condensed"/>
              </a:rPr>
              <a:t>635 M MAD</a:t>
            </a:r>
          </a:p>
        </p:txBody>
      </p:sp>
      <p:sp>
        <p:nvSpPr>
          <p:cNvPr id="28" name="TextBox 27"/>
          <p:cNvSpPr txBox="1"/>
          <p:nvPr/>
        </p:nvSpPr>
        <p:spPr>
          <a:xfrm>
            <a:off x="8445500" y="20320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coût de la marina Tanja Marina Bay</a:t>
            </a:r>
          </a:p>
        </p:txBody>
      </p:sp>
      <p:sp>
        <p:nvSpPr>
          <p:cNvPr id="29" name="TextBox 28"/>
          <p:cNvSpPr txBox="1"/>
          <p:nvPr/>
        </p:nvSpPr>
        <p:spPr>
          <a:xfrm>
            <a:off x="8445500" y="2235200"/>
            <a:ext cx="3492500" cy="228600"/>
          </a:xfrm>
          <a:prstGeom prst="rect">
            <a:avLst/>
          </a:prstGeom>
          <a:noFill/>
        </p:spPr>
        <p:txBody>
          <a:bodyPr wrap="square" lIns="0" rIns="0" tIns="0" bIns="0" anchor="t">
            <a:spAutoFit/>
          </a:bodyPr>
          <a:lstStyle/>
          <a:p>
            <a:pPr algn="l">
              <a:lnSpc>
                <a:spcPct val="120000"/>
              </a:lnSpc>
            </a:pPr>
            <a:r>
              <a:rPr sz="1900" b="1" i="0">
                <a:solidFill>
                  <a:srgbClr val="23303A"/>
                </a:solidFill>
                <a:latin typeface="Barlow Condensed"/>
              </a:rPr>
              <a:t>1,19 Md MAD</a:t>
            </a:r>
          </a:p>
        </p:txBody>
      </p:sp>
      <p:sp>
        <p:nvSpPr>
          <p:cNvPr id="30" name="TextBox 29"/>
          <p:cNvSpPr txBox="1"/>
          <p:nvPr/>
        </p:nvSpPr>
        <p:spPr>
          <a:xfrm>
            <a:off x="8445500" y="25146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coût du nouveau port de pêche</a:t>
            </a:r>
          </a:p>
        </p:txBody>
      </p:sp>
      <p:sp>
        <p:nvSpPr>
          <p:cNvPr id="31" name="TextBox 30"/>
          <p:cNvSpPr txBox="1"/>
          <p:nvPr/>
        </p:nvSpPr>
        <p:spPr>
          <a:xfrm>
            <a:off x="8445500" y="2717800"/>
            <a:ext cx="3492500" cy="228600"/>
          </a:xfrm>
          <a:prstGeom prst="rect">
            <a:avLst/>
          </a:prstGeom>
          <a:noFill/>
        </p:spPr>
        <p:txBody>
          <a:bodyPr wrap="square" lIns="0" rIns="0" tIns="0" bIns="0" anchor="t">
            <a:spAutoFit/>
          </a:bodyPr>
          <a:lstStyle/>
          <a:p>
            <a:pPr algn="l">
              <a:lnSpc>
                <a:spcPct val="120000"/>
              </a:lnSpc>
            </a:pPr>
            <a:r>
              <a:rPr sz="1900" b="1" i="0">
                <a:solidFill>
                  <a:srgbClr val="23303A"/>
                </a:solidFill>
                <a:latin typeface="Barlow Condensed"/>
              </a:rPr>
              <a:t>1 400</a:t>
            </a:r>
          </a:p>
        </p:txBody>
      </p:sp>
      <p:sp>
        <p:nvSpPr>
          <p:cNvPr id="32" name="TextBox 31"/>
          <p:cNvSpPr txBox="1"/>
          <p:nvPr/>
        </p:nvSpPr>
        <p:spPr>
          <a:xfrm>
            <a:off x="8445500" y="29972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anneaux prévus : plus grande marina du Maroc</a:t>
            </a:r>
          </a:p>
        </p:txBody>
      </p:sp>
      <p:cxnSp>
        <p:nvCxnSpPr>
          <p:cNvPr id="33" name="Connector 32"/>
          <p:cNvCxnSpPr/>
          <p:nvPr/>
        </p:nvCxnSpPr>
        <p:spPr>
          <a:xfrm>
            <a:off x="8445500" y="3238500"/>
            <a:ext cx="3492500" cy="0"/>
          </a:xfrm>
          <a:prstGeom prst="line">
            <a:avLst/>
          </a:prstGeom>
          <a:ln w="6350">
            <a:solidFill>
              <a:srgbClr val="CFC6B8"/>
            </a:solidFill>
          </a:ln>
        </p:spPr>
      </p:cxnSp>
      <p:sp>
        <p:nvSpPr>
          <p:cNvPr id="34" name="TextBox 33"/>
          <p:cNvSpPr txBox="1"/>
          <p:nvPr/>
        </p:nvSpPr>
        <p:spPr>
          <a:xfrm>
            <a:off x="8445500" y="33401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BILAN</a:t>
            </a:r>
          </a:p>
        </p:txBody>
      </p:sp>
      <p:sp>
        <p:nvSpPr>
          <p:cNvPr id="35" name="Oval 34"/>
          <p:cNvSpPr/>
          <p:nvPr/>
        </p:nvSpPr>
        <p:spPr>
          <a:xfrm>
            <a:off x="8445500" y="3556000"/>
            <a:ext cx="152400" cy="152400"/>
          </a:xfrm>
          <a:prstGeom prst="ellipse">
            <a:avLst/>
          </a:prstGeom>
          <a:solidFill>
            <a:srgbClr val="4F6B4A"/>
          </a:solidFill>
          <a:ln w="9525">
            <a:solidFill>
              <a:srgbClr val="FFFFFF"/>
            </a:solidFill>
          </a:ln>
        </p:spPr>
        <p:txBody>
          <a:bodyPr rtlCol="0" anchor="ctr"/>
          <a:lstStyle/>
          <a:p>
            <a:pPr algn="ctr"/>
          </a:p>
        </p:txBody>
      </p:sp>
      <p:sp>
        <p:nvSpPr>
          <p:cNvPr id="36" name="TextBox 35"/>
          <p:cNvSpPr txBox="1"/>
          <p:nvPr/>
        </p:nvSpPr>
        <p:spPr>
          <a:xfrm>
            <a:off x="8445500" y="3556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7" name="TextBox 36"/>
          <p:cNvSpPr txBox="1"/>
          <p:nvPr/>
        </p:nvSpPr>
        <p:spPr>
          <a:xfrm>
            <a:off x="8674100" y="3562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Promenade publique continue sur la baie</a:t>
            </a:r>
          </a:p>
        </p:txBody>
      </p:sp>
      <p:sp>
        <p:nvSpPr>
          <p:cNvPr id="38" name="Oval 37"/>
          <p:cNvSpPr/>
          <p:nvPr/>
        </p:nvSpPr>
        <p:spPr>
          <a:xfrm>
            <a:off x="8445500" y="3810000"/>
            <a:ext cx="152400" cy="152400"/>
          </a:xfrm>
          <a:prstGeom prst="ellipse">
            <a:avLst/>
          </a:prstGeom>
          <a:solidFill>
            <a:srgbClr val="B5563C"/>
          </a:solidFill>
          <a:ln w="9525">
            <a:solidFill>
              <a:srgbClr val="FFFFFF"/>
            </a:solidFill>
          </a:ln>
        </p:spPr>
        <p:txBody>
          <a:bodyPr rtlCol="0" anchor="ctr"/>
          <a:lstStyle/>
          <a:p>
            <a:pPr algn="ctr"/>
          </a:p>
        </p:txBody>
      </p:sp>
      <p:sp>
        <p:nvSpPr>
          <p:cNvPr id="39" name="TextBox 38"/>
          <p:cNvSpPr txBox="1"/>
          <p:nvPr/>
        </p:nvSpPr>
        <p:spPr>
          <a:xfrm>
            <a:off x="8445500" y="3810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0" name="TextBox 39"/>
          <p:cNvSpPr txBox="1"/>
          <p:nvPr/>
        </p:nvSpPr>
        <p:spPr>
          <a:xfrm>
            <a:off x="8674100" y="3816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Le travail portuaire sort du centre</a:t>
            </a:r>
          </a:p>
        </p:txBody>
      </p:sp>
      <p:sp>
        <p:nvSpPr>
          <p:cNvPr id="41" name="Oval 40"/>
          <p:cNvSpPr/>
          <p:nvPr/>
        </p:nvSpPr>
        <p:spPr>
          <a:xfrm>
            <a:off x="8445500" y="4064000"/>
            <a:ext cx="152400" cy="152400"/>
          </a:xfrm>
          <a:prstGeom prst="ellipse">
            <a:avLst/>
          </a:prstGeom>
          <a:solidFill>
            <a:srgbClr val="B5563C"/>
          </a:solidFill>
          <a:ln w="9525">
            <a:solidFill>
              <a:srgbClr val="FFFFFF"/>
            </a:solidFill>
          </a:ln>
        </p:spPr>
        <p:txBody>
          <a:bodyPr rtlCol="0" anchor="ctr"/>
          <a:lstStyle/>
          <a:p>
            <a:pPr algn="ctr"/>
          </a:p>
        </p:txBody>
      </p:sp>
      <p:sp>
        <p:nvSpPr>
          <p:cNvPr id="42" name="TextBox 41"/>
          <p:cNvSpPr txBox="1"/>
          <p:nvPr/>
        </p:nvSpPr>
        <p:spPr>
          <a:xfrm>
            <a:off x="8445500" y="4064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3" name="TextBox 42"/>
          <p:cNvSpPr txBox="1"/>
          <p:nvPr/>
        </p:nvSpPr>
        <p:spPr>
          <a:xfrm>
            <a:off x="8674100" y="4070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Usages payants : plaisanciers, croisiéristes</a:t>
            </a:r>
          </a:p>
        </p:txBody>
      </p:sp>
      <p:sp>
        <p:nvSpPr>
          <p:cNvPr id="44" name="Oval 43"/>
          <p:cNvSpPr/>
          <p:nvPr/>
        </p:nvSpPr>
        <p:spPr>
          <a:xfrm>
            <a:off x="8445500" y="4318000"/>
            <a:ext cx="152400" cy="152400"/>
          </a:xfrm>
          <a:prstGeom prst="ellipse">
            <a:avLst/>
          </a:prstGeom>
          <a:solidFill>
            <a:srgbClr val="B5563C"/>
          </a:solidFill>
          <a:ln w="9525">
            <a:solidFill>
              <a:srgbClr val="FFFFFF"/>
            </a:solidFill>
          </a:ln>
        </p:spPr>
        <p:txBody>
          <a:bodyPr rtlCol="0" anchor="ctr"/>
          <a:lstStyle/>
          <a:p>
            <a:pPr algn="ctr"/>
          </a:p>
        </p:txBody>
      </p:sp>
      <p:sp>
        <p:nvSpPr>
          <p:cNvPr id="45" name="TextBox 44"/>
          <p:cNvSpPr txBox="1"/>
          <p:nvPr/>
        </p:nvSpPr>
        <p:spPr>
          <a:xfrm>
            <a:off x="8445500" y="4318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6" name="TextBox 45"/>
          <p:cNvSpPr txBox="1"/>
          <p:nvPr/>
        </p:nvSpPr>
        <p:spPr>
          <a:xfrm>
            <a:off x="8674100" y="4324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La route littorale sépare toujours ville et plage</a:t>
            </a:r>
          </a:p>
        </p:txBody>
      </p:sp>
      <p:sp>
        <p:nvSpPr>
          <p:cNvPr id="47" name="TextBox 46"/>
          <p:cNvSpPr txBox="1"/>
          <p:nvPr/>
        </p:nvSpPr>
        <p:spPr>
          <a:xfrm>
            <a:off x="8445500" y="4762500"/>
            <a:ext cx="3492500" cy="1397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Le port n'a pas été rendu aux Tangérois : il a été converti en vitrine. Le programme visait à « réconcilier la ville et la mer » ; le résultat est un espace calibré pour le visiteur et le plaisancier.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COUPE C1 · LE FRONT DE MER DE LA CORNICHE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Coupe à l'échelle réelle, sans exagération verticale, de la baie au boulevard Mohammed V (570 m). Sol : MNT Copernicus ; emprises, rues et étages : OSM ; usages des étages : estimation.</a:t>
            </a:r>
          </a:p>
        </p:txBody>
      </p:sp>
      <p:sp>
        <p:nvSpPr>
          <p:cNvPr id="5" name="TextBox 4"/>
          <p:cNvSpPr txBox="1"/>
          <p:nvPr/>
        </p:nvSpPr>
        <p:spPr>
          <a:xfrm>
            <a:off x="1067435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env. 85 m</a:t>
            </a:r>
          </a:p>
        </p:txBody>
      </p:sp>
      <p:sp>
        <p:nvSpPr>
          <p:cNvPr id="6" name="TextBox 5"/>
          <p:cNvSpPr txBox="1"/>
          <p:nvPr/>
        </p:nvSpPr>
        <p:spPr>
          <a:xfrm>
            <a:off x="1067435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haut de plage</a:t>
            </a:r>
          </a:p>
          <a:p>
            <a:pPr algn="r">
              <a:lnSpc>
                <a:spcPct val="110000"/>
              </a:lnSpc>
            </a:pPr>
            <a:r>
              <a:rPr sz="850" b="0" i="0">
                <a:solidFill>
                  <a:srgbClr val="7B746B"/>
                </a:solidFill>
                <a:latin typeface="Barlow"/>
              </a:rPr>
              <a:t>au premier immeuble</a:t>
            </a:r>
          </a:p>
        </p:txBody>
      </p:sp>
      <p:sp>
        <p:nvSpPr>
          <p:cNvPr id="7" name="TextBox 6"/>
          <p:cNvSpPr txBox="1"/>
          <p:nvPr/>
        </p:nvSpPr>
        <p:spPr>
          <a:xfrm>
            <a:off x="919480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R+8 / R+9</a:t>
            </a:r>
          </a:p>
        </p:txBody>
      </p:sp>
      <p:sp>
        <p:nvSpPr>
          <p:cNvPr id="8" name="TextBox 7"/>
          <p:cNvSpPr txBox="1"/>
          <p:nvPr/>
        </p:nvSpPr>
        <p:spPr>
          <a:xfrm>
            <a:off x="919480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front bâti</a:t>
            </a:r>
          </a:p>
          <a:p>
            <a:pPr algn="r">
              <a:lnSpc>
                <a:spcPct val="110000"/>
              </a:lnSpc>
            </a:pPr>
            <a:r>
              <a:rPr sz="850" b="0" i="0">
                <a:solidFill>
                  <a:srgbClr val="7B746B"/>
                </a:solidFill>
                <a:latin typeface="Barlow"/>
              </a:rPr>
              <a:t>(OSM)</a:t>
            </a:r>
          </a:p>
        </p:txBody>
      </p:sp>
      <p:sp>
        <p:nvSpPr>
          <p:cNvPr id="9" name="TextBox 8"/>
          <p:cNvSpPr txBox="1"/>
          <p:nvPr/>
        </p:nvSpPr>
        <p:spPr>
          <a:xfrm>
            <a:off x="82169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171 m</a:t>
            </a:r>
          </a:p>
        </p:txBody>
      </p:sp>
      <p:sp>
        <p:nvSpPr>
          <p:cNvPr id="10" name="TextBox 9"/>
          <p:cNvSpPr txBox="1"/>
          <p:nvPr/>
        </p:nvSpPr>
        <p:spPr>
          <a:xfrm>
            <a:off x="82169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plage</a:t>
            </a:r>
          </a:p>
          <a:p>
            <a:pPr algn="r">
              <a:lnSpc>
                <a:spcPct val="110000"/>
              </a:lnSpc>
            </a:pPr>
            <a:r>
              <a:rPr sz="850" b="0" i="0">
                <a:solidFill>
                  <a:srgbClr val="7B746B"/>
                </a:solidFill>
                <a:latin typeface="Barlow"/>
              </a:rPr>
              <a:t>publique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21 / 32</a:t>
            </a:r>
          </a:p>
        </p:txBody>
      </p:sp>
      <p:pic>
        <p:nvPicPr>
          <p:cNvPr id="14" name="Picture 13" descr="k1_full.jpg"/>
          <p:cNvPicPr>
            <a:picLocks noChangeAspect="1"/>
          </p:cNvPicPr>
          <p:nvPr/>
        </p:nvPicPr>
        <p:blipFill>
          <a:blip r:embed="rId2"/>
          <a:stretch>
            <a:fillRect/>
          </a:stretch>
        </p:blipFill>
        <p:spPr>
          <a:xfrm>
            <a:off x="254000" y="952500"/>
            <a:ext cx="11684000" cy="2190322"/>
          </a:xfrm>
          <a:prstGeom prst="rect">
            <a:avLst/>
          </a:prstGeom>
        </p:spPr>
      </p:pic>
      <p:sp>
        <p:nvSpPr>
          <p:cNvPr id="15" name="TextBox 14"/>
          <p:cNvSpPr txBox="1"/>
          <p:nvPr/>
        </p:nvSpPr>
        <p:spPr>
          <a:xfrm>
            <a:off x="254000" y="3282522"/>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1 · PLAGE, PROMENADE ET AVENUE MOHAMMED VI</a:t>
            </a:r>
          </a:p>
        </p:txBody>
      </p:sp>
      <p:pic>
        <p:nvPicPr>
          <p:cNvPr id="16" name="Picture 15" descr="k1_zoomA.jpg"/>
          <p:cNvPicPr>
            <a:picLocks noChangeAspect="1"/>
          </p:cNvPicPr>
          <p:nvPr/>
        </p:nvPicPr>
        <p:blipFill>
          <a:blip r:embed="rId3"/>
          <a:stretch>
            <a:fillRect/>
          </a:stretch>
        </p:blipFill>
        <p:spPr>
          <a:xfrm>
            <a:off x="254000" y="3460322"/>
            <a:ext cx="5715000" cy="936885"/>
          </a:xfrm>
          <a:prstGeom prst="rect">
            <a:avLst/>
          </a:prstGeom>
        </p:spPr>
      </p:pic>
      <p:sp>
        <p:nvSpPr>
          <p:cNvPr id="17" name="TextBox 16"/>
          <p:cNvSpPr txBox="1"/>
          <p:nvPr/>
        </p:nvSpPr>
        <p:spPr>
          <a:xfrm>
            <a:off x="6223000" y="3282522"/>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2 · LE FRONT BÂTI EN COUPE : CAFÉS, APPARTEMENTS, PARKINGS</a:t>
            </a:r>
          </a:p>
        </p:txBody>
      </p:sp>
      <p:pic>
        <p:nvPicPr>
          <p:cNvPr id="18" name="Picture 17" descr="k1_zoomB.jpg"/>
          <p:cNvPicPr>
            <a:picLocks noChangeAspect="1"/>
          </p:cNvPicPr>
          <p:nvPr/>
        </p:nvPicPr>
        <p:blipFill>
          <a:blip r:embed="rId4"/>
          <a:stretch>
            <a:fillRect/>
          </a:stretch>
        </p:blipFill>
        <p:spPr>
          <a:xfrm>
            <a:off x="6223000" y="3460322"/>
            <a:ext cx="5715000" cy="2493818"/>
          </a:xfrm>
          <a:prstGeom prst="rect">
            <a:avLst/>
          </a:prstGeom>
        </p:spPr>
      </p:pic>
      <p:sp>
        <p:nvSpPr>
          <p:cNvPr id="19" name="TextBox 18"/>
          <p:cNvSpPr txBox="1"/>
          <p:nvPr/>
        </p:nvSpPr>
        <p:spPr>
          <a:xfrm>
            <a:off x="254000" y="4524207"/>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USAGE DES ÉTAGES</a:t>
            </a:r>
          </a:p>
        </p:txBody>
      </p:sp>
      <p:sp>
        <p:nvSpPr>
          <p:cNvPr id="20" name="Rectangle 19"/>
          <p:cNvSpPr/>
          <p:nvPr/>
        </p:nvSpPr>
        <p:spPr>
          <a:xfrm>
            <a:off x="254000" y="4733757"/>
            <a:ext cx="165100" cy="101600"/>
          </a:xfrm>
          <a:prstGeom prst="rect">
            <a:avLst/>
          </a:prstGeom>
          <a:solidFill>
            <a:srgbClr val="DFA98F"/>
          </a:solidFill>
          <a:ln>
            <a:noFill/>
          </a:ln>
        </p:spPr>
        <p:txBody>
          <a:bodyPr rtlCol="0" anchor="ctr"/>
          <a:lstStyle/>
          <a:p>
            <a:pPr algn="ctr"/>
          </a:p>
        </p:txBody>
      </p:sp>
      <p:sp>
        <p:nvSpPr>
          <p:cNvPr id="21" name="TextBox 20"/>
          <p:cNvSpPr txBox="1"/>
          <p:nvPr/>
        </p:nvSpPr>
        <p:spPr>
          <a:xfrm>
            <a:off x="508000" y="47210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Hôtel, maison d'hôtes</a:t>
            </a:r>
          </a:p>
        </p:txBody>
      </p:sp>
      <p:sp>
        <p:nvSpPr>
          <p:cNvPr id="22" name="Rectangle 21"/>
          <p:cNvSpPr/>
          <p:nvPr/>
        </p:nvSpPr>
        <p:spPr>
          <a:xfrm>
            <a:off x="254000" y="4911557"/>
            <a:ext cx="165100" cy="101600"/>
          </a:xfrm>
          <a:prstGeom prst="rect">
            <a:avLst/>
          </a:prstGeom>
          <a:solidFill>
            <a:srgbClr val="E9C3AE"/>
          </a:solidFill>
          <a:ln>
            <a:noFill/>
          </a:ln>
        </p:spPr>
        <p:txBody>
          <a:bodyPr rtlCol="0" anchor="ctr"/>
          <a:lstStyle/>
          <a:p>
            <a:pPr algn="ctr"/>
          </a:p>
        </p:txBody>
      </p:sp>
      <p:sp>
        <p:nvSpPr>
          <p:cNvPr id="23" name="TextBox 22"/>
          <p:cNvSpPr txBox="1"/>
          <p:nvPr/>
        </p:nvSpPr>
        <p:spPr>
          <a:xfrm>
            <a:off x="508000" y="48988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Résidence secondaire, location saisonnière</a:t>
            </a:r>
          </a:p>
        </p:txBody>
      </p:sp>
      <p:sp>
        <p:nvSpPr>
          <p:cNvPr id="24" name="Rectangle 23"/>
          <p:cNvSpPr/>
          <p:nvPr/>
        </p:nvSpPr>
        <p:spPr>
          <a:xfrm>
            <a:off x="254000" y="5089357"/>
            <a:ext cx="165100" cy="101600"/>
          </a:xfrm>
          <a:prstGeom prst="rect">
            <a:avLst/>
          </a:prstGeom>
          <a:solidFill>
            <a:srgbClr val="EADCC4"/>
          </a:solidFill>
          <a:ln>
            <a:noFill/>
          </a:ln>
        </p:spPr>
        <p:txBody>
          <a:bodyPr rtlCol="0" anchor="ctr"/>
          <a:lstStyle/>
          <a:p>
            <a:pPr algn="ctr"/>
          </a:p>
        </p:txBody>
      </p:sp>
      <p:sp>
        <p:nvSpPr>
          <p:cNvPr id="25" name="TextBox 24"/>
          <p:cNvSpPr txBox="1"/>
          <p:nvPr/>
        </p:nvSpPr>
        <p:spPr>
          <a:xfrm>
            <a:off x="508000" y="50766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Logement permanent</a:t>
            </a:r>
          </a:p>
        </p:txBody>
      </p:sp>
      <p:sp>
        <p:nvSpPr>
          <p:cNvPr id="26" name="Rectangle 25"/>
          <p:cNvSpPr/>
          <p:nvPr/>
        </p:nvSpPr>
        <p:spPr>
          <a:xfrm>
            <a:off x="3048000" y="4733757"/>
            <a:ext cx="165100" cy="101600"/>
          </a:xfrm>
          <a:prstGeom prst="rect">
            <a:avLst/>
          </a:prstGeom>
          <a:solidFill>
            <a:srgbClr val="E8CF9C"/>
          </a:solidFill>
          <a:ln>
            <a:noFill/>
          </a:ln>
        </p:spPr>
        <p:txBody>
          <a:bodyPr rtlCol="0" anchor="ctr"/>
          <a:lstStyle/>
          <a:p>
            <a:pPr algn="ctr"/>
          </a:p>
        </p:txBody>
      </p:sp>
      <p:sp>
        <p:nvSpPr>
          <p:cNvPr id="27" name="TextBox 26"/>
          <p:cNvSpPr txBox="1"/>
          <p:nvPr/>
        </p:nvSpPr>
        <p:spPr>
          <a:xfrm>
            <a:off x="3302000" y="47210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Commerce, café, restaurant</a:t>
            </a:r>
          </a:p>
        </p:txBody>
      </p:sp>
      <p:sp>
        <p:nvSpPr>
          <p:cNvPr id="28" name="Rectangle 27"/>
          <p:cNvSpPr/>
          <p:nvPr/>
        </p:nvSpPr>
        <p:spPr>
          <a:xfrm>
            <a:off x="3048000" y="4911557"/>
            <a:ext cx="165100" cy="101600"/>
          </a:xfrm>
          <a:prstGeom prst="rect">
            <a:avLst/>
          </a:prstGeom>
          <a:solidFill>
            <a:srgbClr val="D8D4CD"/>
          </a:solidFill>
          <a:ln>
            <a:noFill/>
          </a:ln>
        </p:spPr>
        <p:txBody>
          <a:bodyPr rtlCol="0" anchor="ctr"/>
          <a:lstStyle/>
          <a:p>
            <a:pPr algn="ctr"/>
          </a:p>
        </p:txBody>
      </p:sp>
      <p:sp>
        <p:nvSpPr>
          <p:cNvPr id="29" name="TextBox 28"/>
          <p:cNvSpPr txBox="1"/>
          <p:nvPr/>
        </p:nvSpPr>
        <p:spPr>
          <a:xfrm>
            <a:off x="3302000" y="48988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Stationnement enterré</a:t>
            </a:r>
          </a:p>
        </p:txBody>
      </p:sp>
      <p:cxnSp>
        <p:nvCxnSpPr>
          <p:cNvPr id="30" name="Connector 29"/>
          <p:cNvCxnSpPr/>
          <p:nvPr/>
        </p:nvCxnSpPr>
        <p:spPr>
          <a:xfrm>
            <a:off x="3048000" y="5140157"/>
            <a:ext cx="165100" cy="0"/>
          </a:xfrm>
          <a:prstGeom prst="line">
            <a:avLst/>
          </a:prstGeom>
          <a:ln w="22225">
            <a:solidFill>
              <a:srgbClr val="8D7C66"/>
            </a:solidFill>
          </a:ln>
        </p:spPr>
      </p:cxnSp>
      <p:sp>
        <p:nvSpPr>
          <p:cNvPr id="31" name="TextBox 30"/>
          <p:cNvSpPr txBox="1"/>
          <p:nvPr/>
        </p:nvSpPr>
        <p:spPr>
          <a:xfrm>
            <a:off x="3302000" y="5076657"/>
            <a:ext cx="254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Volets clos hors saison</a:t>
            </a:r>
          </a:p>
        </p:txBody>
      </p:sp>
      <p:sp>
        <p:nvSpPr>
          <p:cNvPr id="32" name="TextBox 31"/>
          <p:cNvSpPr txBox="1"/>
          <p:nvPr/>
        </p:nvSpPr>
        <p:spPr>
          <a:xfrm>
            <a:off x="254000" y="5311607"/>
            <a:ext cx="5715000" cy="1270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L'espace public du front de mer est généreux : 171 m de sable et 65 m de promenade plantée, réaménagée par Tanger-Métropole. Le premier rang bâti, R+8 à R+9 sur deux niveaux de parking, est un front d'appartements dont une part n'est habitée qu'en été. À environ 85 m du haut de plage, il précède la loi littoral de 2015 (100 m inconstructibles), qui ne remet pas en cause l'existant.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COUPE C2 · BENI MAKADA, LA VILLE VÉCUE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Coupe à l'échelle réelle sur 540 m, d'ouest en est. Rues et vide central : OSM et ESA WorldCover ; gabarits R+2 à R+5 et usages : estimation sur vues aériennes.</a:t>
            </a:r>
          </a:p>
        </p:txBody>
      </p:sp>
      <p:pic>
        <p:nvPicPr>
          <p:cNvPr id="5" name="Picture 4" descr="nc_sk_spartel.png"/>
          <p:cNvPicPr>
            <a:picLocks noChangeAspect="1"/>
          </p:cNvPicPr>
          <p:nvPr/>
        </p:nvPicPr>
        <p:blipFill>
          <a:blip r:embed="rId2"/>
          <a:stretch>
            <a:fillRect/>
          </a:stretch>
        </p:blipFill>
        <p:spPr>
          <a:xfrm>
            <a:off x="11144318" y="139700"/>
            <a:ext cx="793682" cy="711200"/>
          </a:xfrm>
          <a:prstGeom prst="rect">
            <a:avLst/>
          </a:prstGeom>
        </p:spPr>
      </p:pic>
      <p:sp>
        <p:nvSpPr>
          <p:cNvPr id="6" name="TextBox 5"/>
          <p:cNvSpPr txBox="1"/>
          <p:nvPr/>
        </p:nvSpPr>
        <p:spPr>
          <a:xfrm>
            <a:off x="10128318"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44 m</a:t>
            </a:r>
          </a:p>
        </p:txBody>
      </p:sp>
      <p:sp>
        <p:nvSpPr>
          <p:cNvPr id="7" name="TextBox 6"/>
          <p:cNvSpPr txBox="1"/>
          <p:nvPr/>
        </p:nvSpPr>
        <p:spPr>
          <a:xfrm>
            <a:off x="10128318"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seul espace</a:t>
            </a:r>
          </a:p>
          <a:p>
            <a:pPr algn="r">
              <a:lnSpc>
                <a:spcPct val="110000"/>
              </a:lnSpc>
            </a:pPr>
            <a:r>
              <a:rPr sz="850" b="0" i="0">
                <a:solidFill>
                  <a:srgbClr val="7B746B"/>
                </a:solidFill>
                <a:latin typeface="Barlow"/>
              </a:rPr>
              <a:t>non bâti</a:t>
            </a:r>
          </a:p>
        </p:txBody>
      </p:sp>
      <p:sp>
        <p:nvSpPr>
          <p:cNvPr id="8" name="TextBox 7"/>
          <p:cNvSpPr txBox="1"/>
          <p:nvPr/>
        </p:nvSpPr>
        <p:spPr>
          <a:xfrm>
            <a:off x="8648768"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R+2 à R+5</a:t>
            </a:r>
          </a:p>
        </p:txBody>
      </p:sp>
      <p:sp>
        <p:nvSpPr>
          <p:cNvPr id="9" name="TextBox 8"/>
          <p:cNvSpPr txBox="1"/>
          <p:nvPr/>
        </p:nvSpPr>
        <p:spPr>
          <a:xfrm>
            <a:off x="8648768"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gabarits</a:t>
            </a:r>
          </a:p>
        </p:txBody>
      </p:sp>
      <p:sp>
        <p:nvSpPr>
          <p:cNvPr id="10" name="TextBox 9"/>
          <p:cNvSpPr txBox="1"/>
          <p:nvPr/>
        </p:nvSpPr>
        <p:spPr>
          <a:xfrm>
            <a:off x="7302568" y="215900"/>
            <a:ext cx="11303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 à 12 m</a:t>
            </a:r>
          </a:p>
        </p:txBody>
      </p:sp>
      <p:sp>
        <p:nvSpPr>
          <p:cNvPr id="11" name="TextBox 10"/>
          <p:cNvSpPr txBox="1"/>
          <p:nvPr/>
        </p:nvSpPr>
        <p:spPr>
          <a:xfrm>
            <a:off x="7302568" y="546100"/>
            <a:ext cx="11303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largeur</a:t>
            </a:r>
          </a:p>
          <a:p>
            <a:pPr algn="r">
              <a:lnSpc>
                <a:spcPct val="110000"/>
              </a:lnSpc>
            </a:pPr>
            <a:r>
              <a:rPr sz="850" b="0" i="0">
                <a:solidFill>
                  <a:srgbClr val="7B746B"/>
                </a:solidFill>
                <a:latin typeface="Barlow"/>
              </a:rPr>
              <a:t>des rues</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22 / 32</a:t>
            </a:r>
          </a:p>
        </p:txBody>
      </p:sp>
      <p:pic>
        <p:nvPicPr>
          <p:cNvPr id="15" name="Picture 14" descr="k2_full.jpg"/>
          <p:cNvPicPr>
            <a:picLocks noChangeAspect="1"/>
          </p:cNvPicPr>
          <p:nvPr/>
        </p:nvPicPr>
        <p:blipFill>
          <a:blip r:embed="rId3"/>
          <a:stretch>
            <a:fillRect/>
          </a:stretch>
        </p:blipFill>
        <p:spPr>
          <a:xfrm>
            <a:off x="254000" y="952500"/>
            <a:ext cx="11684000" cy="1775510"/>
          </a:xfrm>
          <a:prstGeom prst="rect">
            <a:avLst/>
          </a:prstGeom>
        </p:spPr>
      </p:pic>
      <p:sp>
        <p:nvSpPr>
          <p:cNvPr id="16" name="TextBox 15"/>
          <p:cNvSpPr txBox="1"/>
          <p:nvPr/>
        </p:nvSpPr>
        <p:spPr>
          <a:xfrm>
            <a:off x="254000" y="2867710"/>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1 · RUE PRINCIPALE ET DERBS : COMMERCES EN REZ-DE-CHAUSSÉE</a:t>
            </a:r>
          </a:p>
        </p:txBody>
      </p:sp>
      <p:pic>
        <p:nvPicPr>
          <p:cNvPr id="17" name="Picture 16" descr="k2_zoomA.jpg"/>
          <p:cNvPicPr>
            <a:picLocks noChangeAspect="1"/>
          </p:cNvPicPr>
          <p:nvPr/>
        </p:nvPicPr>
        <p:blipFill>
          <a:blip r:embed="rId4"/>
          <a:stretch>
            <a:fillRect/>
          </a:stretch>
        </p:blipFill>
        <p:spPr>
          <a:xfrm>
            <a:off x="254000" y="3045510"/>
            <a:ext cx="5715000" cy="1454727"/>
          </a:xfrm>
          <a:prstGeom prst="rect">
            <a:avLst/>
          </a:prstGeom>
        </p:spPr>
      </p:pic>
      <p:sp>
        <p:nvSpPr>
          <p:cNvPr id="18" name="TextBox 17"/>
          <p:cNvSpPr txBox="1"/>
          <p:nvPr/>
        </p:nvSpPr>
        <p:spPr>
          <a:xfrm>
            <a:off x="6223000" y="2867710"/>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2 · LE TERRAIN NON BÂTI, SEUL VIDE DU TRANSECT</a:t>
            </a:r>
          </a:p>
        </p:txBody>
      </p:sp>
      <p:pic>
        <p:nvPicPr>
          <p:cNvPr id="19" name="Picture 18" descr="k2_zoomB.jpg"/>
          <p:cNvPicPr>
            <a:picLocks noChangeAspect="1"/>
          </p:cNvPicPr>
          <p:nvPr/>
        </p:nvPicPr>
        <p:blipFill>
          <a:blip r:embed="rId5"/>
          <a:stretch>
            <a:fillRect/>
          </a:stretch>
        </p:blipFill>
        <p:spPr>
          <a:xfrm>
            <a:off x="6223000" y="3045510"/>
            <a:ext cx="5715000" cy="1490870"/>
          </a:xfrm>
          <a:prstGeom prst="rect">
            <a:avLst/>
          </a:prstGeom>
        </p:spPr>
      </p:pic>
      <p:sp>
        <p:nvSpPr>
          <p:cNvPr id="20" name="TextBox 19"/>
          <p:cNvSpPr txBox="1"/>
          <p:nvPr/>
        </p:nvSpPr>
        <p:spPr>
          <a:xfrm>
            <a:off x="254000" y="4688779"/>
            <a:ext cx="5715000" cy="1651000"/>
          </a:xfrm>
          <a:prstGeom prst="rect">
            <a:avLst/>
          </a:prstGeom>
          <a:noFill/>
        </p:spPr>
        <p:txBody>
          <a:bodyPr wrap="square" lIns="0" rIns="0" tIns="0" bIns="0" anchor="t">
            <a:spAutoFit/>
          </a:bodyPr>
          <a:lstStyle/>
          <a:p>
            <a:pPr algn="l">
              <a:lnSpc>
                <a:spcPct val="140000"/>
              </a:lnSpc>
            </a:pPr>
            <a:r>
              <a:rPr sz="1050" b="1" i="0">
                <a:solidFill>
                  <a:srgbClr val="3E5A6E"/>
                </a:solidFill>
                <a:latin typeface="Barlow"/>
              </a:rPr>
              <a:t>Lecture. </a:t>
            </a:r>
            <a:r>
              <a:rPr sz="1050" b="0" i="0">
                <a:solidFill>
                  <a:srgbClr val="23303A"/>
                </a:solidFill>
                <a:latin typeface="Barlow"/>
              </a:rPr>
              <a:t>Un tissu continu de maisons R+2 à R+5, construites par étapes : fers en attente sur les toits, derniers niveaux en brique creuse, encorbellements au-dessus des rues. Pas un arbre, pas de trottoir dans les derbs, un seul vide non aménagé. Le plan d'aménagement de Bni Makada n'a été homologué qu'en juin 2023 : ici, la règle arrive après la ville.</a:t>
            </a:r>
          </a:p>
        </p:txBody>
      </p:sp>
      <p:sp>
        <p:nvSpPr>
          <p:cNvPr id="21" name="TextBox 20"/>
          <p:cNvSpPr txBox="1"/>
          <p:nvPr/>
        </p:nvSpPr>
        <p:spPr>
          <a:xfrm>
            <a:off x="7493000" y="4688779"/>
            <a:ext cx="1905000" cy="127000"/>
          </a:xfrm>
          <a:prstGeom prst="rect">
            <a:avLst/>
          </a:prstGeom>
          <a:noFill/>
        </p:spPr>
        <p:txBody>
          <a:bodyPr wrap="square" lIns="0" rIns="0" tIns="0" bIns="0" anchor="t">
            <a:spAutoFit/>
          </a:bodyPr>
          <a:lstStyle/>
          <a:p>
            <a:pPr algn="l">
              <a:lnSpc>
                <a:spcPct val="120000"/>
              </a:lnSpc>
            </a:pPr>
            <a:r>
              <a:rPr sz="900" b="1" i="0" spc="150">
                <a:solidFill>
                  <a:srgbClr val="B5563C"/>
                </a:solidFill>
                <a:latin typeface="Barlow Condensed"/>
              </a:rPr>
              <a:t>C1 CORNICHE</a:t>
            </a:r>
          </a:p>
        </p:txBody>
      </p:sp>
      <p:sp>
        <p:nvSpPr>
          <p:cNvPr id="22" name="TextBox 21"/>
          <p:cNvSpPr txBox="1"/>
          <p:nvPr/>
        </p:nvSpPr>
        <p:spPr>
          <a:xfrm>
            <a:off x="9779000" y="4688779"/>
            <a:ext cx="1905000" cy="127000"/>
          </a:xfrm>
          <a:prstGeom prst="rect">
            <a:avLst/>
          </a:prstGeom>
          <a:noFill/>
        </p:spPr>
        <p:txBody>
          <a:bodyPr wrap="square" lIns="0" rIns="0" tIns="0" bIns="0" anchor="t">
            <a:spAutoFit/>
          </a:bodyPr>
          <a:lstStyle/>
          <a:p>
            <a:pPr algn="l">
              <a:lnSpc>
                <a:spcPct val="120000"/>
              </a:lnSpc>
            </a:pPr>
            <a:r>
              <a:rPr sz="900" b="1" i="0" spc="150">
                <a:solidFill>
                  <a:srgbClr val="3E5A6E"/>
                </a:solidFill>
                <a:latin typeface="Barlow Condensed"/>
              </a:rPr>
              <a:t>C2 BENI MAKADA</a:t>
            </a:r>
          </a:p>
        </p:txBody>
      </p:sp>
      <p:cxnSp>
        <p:nvCxnSpPr>
          <p:cNvPr id="23" name="Connector 22"/>
          <p:cNvCxnSpPr/>
          <p:nvPr/>
        </p:nvCxnSpPr>
        <p:spPr>
          <a:xfrm>
            <a:off x="6223000" y="4841179"/>
            <a:ext cx="5715000" cy="0"/>
          </a:xfrm>
          <a:prstGeom prst="line">
            <a:avLst/>
          </a:prstGeom>
          <a:ln w="6350">
            <a:solidFill>
              <a:srgbClr val="CFC6B8"/>
            </a:solidFill>
          </a:ln>
        </p:spPr>
      </p:cxnSp>
      <p:sp>
        <p:nvSpPr>
          <p:cNvPr id="24" name="TextBox 23"/>
          <p:cNvSpPr txBox="1"/>
          <p:nvPr/>
        </p:nvSpPr>
        <p:spPr>
          <a:xfrm>
            <a:off x="6223000" y="4879279"/>
            <a:ext cx="1206500" cy="2540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Espace public</a:t>
            </a:r>
          </a:p>
        </p:txBody>
      </p:sp>
      <p:sp>
        <p:nvSpPr>
          <p:cNvPr id="25" name="TextBox 24"/>
          <p:cNvSpPr txBox="1"/>
          <p:nvPr/>
        </p:nvSpPr>
        <p:spPr>
          <a:xfrm>
            <a:off x="7493000" y="4879279"/>
            <a:ext cx="2159000" cy="254000"/>
          </a:xfrm>
          <a:prstGeom prst="rect">
            <a:avLst/>
          </a:prstGeom>
          <a:noFill/>
        </p:spPr>
        <p:txBody>
          <a:bodyPr wrap="square" lIns="0" rIns="0" tIns="0" bIns="0" anchor="t">
            <a:spAutoFit/>
          </a:bodyPr>
          <a:lstStyle/>
          <a:p>
            <a:pPr algn="l">
              <a:lnSpc>
                <a:spcPct val="120000"/>
              </a:lnSpc>
            </a:pPr>
            <a:r>
              <a:rPr sz="1000" b="0" i="0">
                <a:solidFill>
                  <a:srgbClr val="B5563C"/>
                </a:solidFill>
                <a:latin typeface="Barlow"/>
              </a:rPr>
              <a:t>plage 171 m, promenade 65 m</a:t>
            </a:r>
          </a:p>
        </p:txBody>
      </p:sp>
      <p:sp>
        <p:nvSpPr>
          <p:cNvPr id="26" name="TextBox 25"/>
          <p:cNvSpPr txBox="1"/>
          <p:nvPr/>
        </p:nvSpPr>
        <p:spPr>
          <a:xfrm>
            <a:off x="9779000" y="4879279"/>
            <a:ext cx="2032000" cy="254000"/>
          </a:xfrm>
          <a:prstGeom prst="rect">
            <a:avLst/>
          </a:prstGeom>
          <a:noFill/>
        </p:spPr>
        <p:txBody>
          <a:bodyPr wrap="square" lIns="0" rIns="0" tIns="0" bIns="0" anchor="t">
            <a:spAutoFit/>
          </a:bodyPr>
          <a:lstStyle/>
          <a:p>
            <a:pPr algn="l">
              <a:lnSpc>
                <a:spcPct val="120000"/>
              </a:lnSpc>
            </a:pPr>
            <a:r>
              <a:rPr sz="1000" b="0" i="0">
                <a:solidFill>
                  <a:srgbClr val="3E5A6E"/>
                </a:solidFill>
                <a:latin typeface="Barlow"/>
              </a:rPr>
              <a:t>terrain non bâti de 44 m</a:t>
            </a:r>
          </a:p>
        </p:txBody>
      </p:sp>
      <p:cxnSp>
        <p:nvCxnSpPr>
          <p:cNvPr id="27" name="Connector 26"/>
          <p:cNvCxnSpPr/>
          <p:nvPr/>
        </p:nvCxnSpPr>
        <p:spPr>
          <a:xfrm>
            <a:off x="6223000" y="5133279"/>
            <a:ext cx="5715000" cy="0"/>
          </a:xfrm>
          <a:prstGeom prst="line">
            <a:avLst/>
          </a:prstGeom>
          <a:ln w="6350">
            <a:solidFill>
              <a:srgbClr val="CFC6B8"/>
            </a:solidFill>
          </a:ln>
        </p:spPr>
      </p:cxnSp>
      <p:sp>
        <p:nvSpPr>
          <p:cNvPr id="28" name="TextBox 27"/>
          <p:cNvSpPr txBox="1"/>
          <p:nvPr/>
        </p:nvSpPr>
        <p:spPr>
          <a:xfrm>
            <a:off x="6223000" y="5171379"/>
            <a:ext cx="1206500" cy="2540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Voie principale</a:t>
            </a:r>
          </a:p>
        </p:txBody>
      </p:sp>
      <p:sp>
        <p:nvSpPr>
          <p:cNvPr id="29" name="TextBox 28"/>
          <p:cNvSpPr txBox="1"/>
          <p:nvPr/>
        </p:nvSpPr>
        <p:spPr>
          <a:xfrm>
            <a:off x="7493000" y="5171379"/>
            <a:ext cx="2159000" cy="254000"/>
          </a:xfrm>
          <a:prstGeom prst="rect">
            <a:avLst/>
          </a:prstGeom>
          <a:noFill/>
        </p:spPr>
        <p:txBody>
          <a:bodyPr wrap="square" lIns="0" rIns="0" tIns="0" bIns="0" anchor="t">
            <a:spAutoFit/>
          </a:bodyPr>
          <a:lstStyle/>
          <a:p>
            <a:pPr algn="l">
              <a:lnSpc>
                <a:spcPct val="120000"/>
              </a:lnSpc>
            </a:pPr>
            <a:r>
              <a:rPr sz="1000" b="0" i="0">
                <a:solidFill>
                  <a:srgbClr val="B5563C"/>
                </a:solidFill>
                <a:latin typeface="Barlow"/>
              </a:rPr>
              <a:t>21 m, terre-plein planté</a:t>
            </a:r>
          </a:p>
        </p:txBody>
      </p:sp>
      <p:sp>
        <p:nvSpPr>
          <p:cNvPr id="30" name="TextBox 29"/>
          <p:cNvSpPr txBox="1"/>
          <p:nvPr/>
        </p:nvSpPr>
        <p:spPr>
          <a:xfrm>
            <a:off x="9779000" y="5171379"/>
            <a:ext cx="2032000" cy="254000"/>
          </a:xfrm>
          <a:prstGeom prst="rect">
            <a:avLst/>
          </a:prstGeom>
          <a:noFill/>
        </p:spPr>
        <p:txBody>
          <a:bodyPr wrap="square" lIns="0" rIns="0" tIns="0" bIns="0" anchor="t">
            <a:spAutoFit/>
          </a:bodyPr>
          <a:lstStyle/>
          <a:p>
            <a:pPr algn="l">
              <a:lnSpc>
                <a:spcPct val="120000"/>
              </a:lnSpc>
            </a:pPr>
            <a:r>
              <a:rPr sz="1000" b="0" i="0">
                <a:solidFill>
                  <a:srgbClr val="3E5A6E"/>
                </a:solidFill>
                <a:latin typeface="Barlow"/>
              </a:rPr>
              <a:t>12 m, sans arbres</a:t>
            </a:r>
          </a:p>
        </p:txBody>
      </p:sp>
      <p:cxnSp>
        <p:nvCxnSpPr>
          <p:cNvPr id="31" name="Connector 30"/>
          <p:cNvCxnSpPr/>
          <p:nvPr/>
        </p:nvCxnSpPr>
        <p:spPr>
          <a:xfrm>
            <a:off x="6223000" y="5425379"/>
            <a:ext cx="5715000" cy="0"/>
          </a:xfrm>
          <a:prstGeom prst="line">
            <a:avLst/>
          </a:prstGeom>
          <a:ln w="6350">
            <a:solidFill>
              <a:srgbClr val="CFC6B8"/>
            </a:solidFill>
          </a:ln>
        </p:spPr>
      </p:cxnSp>
      <p:sp>
        <p:nvSpPr>
          <p:cNvPr id="32" name="TextBox 31"/>
          <p:cNvSpPr txBox="1"/>
          <p:nvPr/>
        </p:nvSpPr>
        <p:spPr>
          <a:xfrm>
            <a:off x="6223000" y="5463479"/>
            <a:ext cx="1206500" cy="2540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Gabarits</a:t>
            </a:r>
          </a:p>
        </p:txBody>
      </p:sp>
      <p:sp>
        <p:nvSpPr>
          <p:cNvPr id="33" name="TextBox 32"/>
          <p:cNvSpPr txBox="1"/>
          <p:nvPr/>
        </p:nvSpPr>
        <p:spPr>
          <a:xfrm>
            <a:off x="7493000" y="5463479"/>
            <a:ext cx="2159000" cy="254000"/>
          </a:xfrm>
          <a:prstGeom prst="rect">
            <a:avLst/>
          </a:prstGeom>
          <a:noFill/>
        </p:spPr>
        <p:txBody>
          <a:bodyPr wrap="square" lIns="0" rIns="0" tIns="0" bIns="0" anchor="t">
            <a:spAutoFit/>
          </a:bodyPr>
          <a:lstStyle/>
          <a:p>
            <a:pPr algn="l">
              <a:lnSpc>
                <a:spcPct val="120000"/>
              </a:lnSpc>
            </a:pPr>
            <a:r>
              <a:rPr sz="1000" b="0" i="0">
                <a:solidFill>
                  <a:srgbClr val="B5563C"/>
                </a:solidFill>
                <a:latin typeface="Barlow"/>
              </a:rPr>
              <a:t>R+8 / R+9, parkings enterrés</a:t>
            </a:r>
          </a:p>
        </p:txBody>
      </p:sp>
      <p:sp>
        <p:nvSpPr>
          <p:cNvPr id="34" name="TextBox 33"/>
          <p:cNvSpPr txBox="1"/>
          <p:nvPr/>
        </p:nvSpPr>
        <p:spPr>
          <a:xfrm>
            <a:off x="9779000" y="5463479"/>
            <a:ext cx="2032000" cy="254000"/>
          </a:xfrm>
          <a:prstGeom prst="rect">
            <a:avLst/>
          </a:prstGeom>
          <a:noFill/>
        </p:spPr>
        <p:txBody>
          <a:bodyPr wrap="square" lIns="0" rIns="0" tIns="0" bIns="0" anchor="t">
            <a:spAutoFit/>
          </a:bodyPr>
          <a:lstStyle/>
          <a:p>
            <a:pPr algn="l">
              <a:lnSpc>
                <a:spcPct val="120000"/>
              </a:lnSpc>
            </a:pPr>
            <a:r>
              <a:rPr sz="1000" b="0" i="0">
                <a:solidFill>
                  <a:srgbClr val="3E5A6E"/>
                </a:solidFill>
                <a:latin typeface="Barlow"/>
              </a:rPr>
              <a:t>R+2 à R+5, étages en attente</a:t>
            </a:r>
          </a:p>
        </p:txBody>
      </p:sp>
      <p:cxnSp>
        <p:nvCxnSpPr>
          <p:cNvPr id="35" name="Connector 34"/>
          <p:cNvCxnSpPr/>
          <p:nvPr/>
        </p:nvCxnSpPr>
        <p:spPr>
          <a:xfrm>
            <a:off x="6223000" y="5717479"/>
            <a:ext cx="5715000" cy="0"/>
          </a:xfrm>
          <a:prstGeom prst="line">
            <a:avLst/>
          </a:prstGeom>
          <a:ln w="6350">
            <a:solidFill>
              <a:srgbClr val="CFC6B8"/>
            </a:solidFill>
          </a:ln>
        </p:spPr>
      </p:cxnSp>
      <p:sp>
        <p:nvSpPr>
          <p:cNvPr id="36" name="TextBox 35"/>
          <p:cNvSpPr txBox="1"/>
          <p:nvPr/>
        </p:nvSpPr>
        <p:spPr>
          <a:xfrm>
            <a:off x="6223000" y="5755579"/>
            <a:ext cx="1206500" cy="2540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Document</a:t>
            </a:r>
          </a:p>
        </p:txBody>
      </p:sp>
      <p:sp>
        <p:nvSpPr>
          <p:cNvPr id="37" name="TextBox 36"/>
          <p:cNvSpPr txBox="1"/>
          <p:nvPr/>
        </p:nvSpPr>
        <p:spPr>
          <a:xfrm>
            <a:off x="7493000" y="5755579"/>
            <a:ext cx="2159000" cy="254000"/>
          </a:xfrm>
          <a:prstGeom prst="rect">
            <a:avLst/>
          </a:prstGeom>
          <a:noFill/>
        </p:spPr>
        <p:txBody>
          <a:bodyPr wrap="square" lIns="0" rIns="0" tIns="0" bIns="0" anchor="t">
            <a:spAutoFit/>
          </a:bodyPr>
          <a:lstStyle/>
          <a:p>
            <a:pPr algn="l">
              <a:lnSpc>
                <a:spcPct val="120000"/>
              </a:lnSpc>
            </a:pPr>
            <a:r>
              <a:rPr sz="1000" b="0" i="0">
                <a:solidFill>
                  <a:srgbClr val="B5563C"/>
                </a:solidFill>
                <a:latin typeface="Barlow"/>
              </a:rPr>
              <a:t>projet avant le plan</a:t>
            </a:r>
          </a:p>
        </p:txBody>
      </p:sp>
      <p:sp>
        <p:nvSpPr>
          <p:cNvPr id="38" name="TextBox 37"/>
          <p:cNvSpPr txBox="1"/>
          <p:nvPr/>
        </p:nvSpPr>
        <p:spPr>
          <a:xfrm>
            <a:off x="9779000" y="5755579"/>
            <a:ext cx="2032000" cy="254000"/>
          </a:xfrm>
          <a:prstGeom prst="rect">
            <a:avLst/>
          </a:prstGeom>
          <a:noFill/>
        </p:spPr>
        <p:txBody>
          <a:bodyPr wrap="square" lIns="0" rIns="0" tIns="0" bIns="0" anchor="t">
            <a:spAutoFit/>
          </a:bodyPr>
          <a:lstStyle/>
          <a:p>
            <a:pPr algn="l">
              <a:lnSpc>
                <a:spcPct val="120000"/>
              </a:lnSpc>
            </a:pPr>
            <a:r>
              <a:rPr sz="1000" b="0" i="0">
                <a:solidFill>
                  <a:srgbClr val="3E5A6E"/>
                </a:solidFill>
                <a:latin typeface="Barlow"/>
              </a:rPr>
              <a:t>PA homologué en 2023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COUPE C3 · DE LA KASBAH À LA MARINA</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Coupe à l'échelle réelle sur 1 km : la médina descend vers la mer, puis la falaise, le boulevard du port, l'esplanade et le bassin de plaisance.</a:t>
            </a:r>
          </a:p>
        </p:txBody>
      </p:sp>
      <p:sp>
        <p:nvSpPr>
          <p:cNvPr id="5" name="TextBox 4"/>
          <p:cNvSpPr txBox="1"/>
          <p:nvPr/>
        </p:nvSpPr>
        <p:spPr>
          <a:xfrm>
            <a:off x="1067435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env. 50 m</a:t>
            </a:r>
          </a:p>
        </p:txBody>
      </p:sp>
      <p:sp>
        <p:nvSpPr>
          <p:cNvPr id="6" name="TextBox 5"/>
          <p:cNvSpPr txBox="1"/>
          <p:nvPr/>
        </p:nvSpPr>
        <p:spPr>
          <a:xfrm>
            <a:off x="1067435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boulevard</a:t>
            </a:r>
          </a:p>
          <a:p>
            <a:pPr algn="r">
              <a:lnSpc>
                <a:spcPct val="110000"/>
              </a:lnSpc>
            </a:pPr>
            <a:r>
              <a:rPr sz="850" b="0" i="0">
                <a:solidFill>
                  <a:srgbClr val="7B746B"/>
                </a:solidFill>
                <a:latin typeface="Barlow"/>
              </a:rPr>
              <a:t>à traverser</a:t>
            </a:r>
          </a:p>
        </p:txBody>
      </p:sp>
      <p:sp>
        <p:nvSpPr>
          <p:cNvPr id="7" name="TextBox 6"/>
          <p:cNvSpPr txBox="1"/>
          <p:nvPr/>
        </p:nvSpPr>
        <p:spPr>
          <a:xfrm>
            <a:off x="96964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74 m</a:t>
            </a:r>
          </a:p>
        </p:txBody>
      </p:sp>
      <p:sp>
        <p:nvSpPr>
          <p:cNvPr id="8" name="TextBox 7"/>
          <p:cNvSpPr txBox="1"/>
          <p:nvPr/>
        </p:nvSpPr>
        <p:spPr>
          <a:xfrm>
            <a:off x="96964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dénivelé</a:t>
            </a:r>
          </a:p>
        </p:txBody>
      </p:sp>
      <p:sp>
        <p:nvSpPr>
          <p:cNvPr id="9" name="TextBox 8"/>
          <p:cNvSpPr txBox="1"/>
          <p:nvPr/>
        </p:nvSpPr>
        <p:spPr>
          <a:xfrm>
            <a:off x="87185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km</a:t>
            </a:r>
          </a:p>
        </p:txBody>
      </p:sp>
      <p:sp>
        <p:nvSpPr>
          <p:cNvPr id="10" name="TextBox 9"/>
          <p:cNvSpPr txBox="1"/>
          <p:nvPr/>
        </p:nvSpPr>
        <p:spPr>
          <a:xfrm>
            <a:off x="87185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longueur</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23 / 32</a:t>
            </a:r>
          </a:p>
        </p:txBody>
      </p:sp>
      <p:pic>
        <p:nvPicPr>
          <p:cNvPr id="14" name="Picture 13" descr="k3_full.jpg"/>
          <p:cNvPicPr>
            <a:picLocks noChangeAspect="1"/>
          </p:cNvPicPr>
          <p:nvPr/>
        </p:nvPicPr>
        <p:blipFill>
          <a:blip r:embed="rId2"/>
          <a:stretch>
            <a:fillRect/>
          </a:stretch>
        </p:blipFill>
        <p:spPr>
          <a:xfrm>
            <a:off x="254000" y="952500"/>
            <a:ext cx="11684000" cy="2313499"/>
          </a:xfrm>
          <a:prstGeom prst="rect">
            <a:avLst/>
          </a:prstGeom>
        </p:spPr>
      </p:pic>
      <p:sp>
        <p:nvSpPr>
          <p:cNvPr id="15" name="TextBox 14"/>
          <p:cNvSpPr txBox="1"/>
          <p:nvPr/>
        </p:nvSpPr>
        <p:spPr>
          <a:xfrm>
            <a:off x="254000" y="3392999"/>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1 · MÉDINA : MAISONS ET RIADS CONVERTIS</a:t>
            </a:r>
          </a:p>
        </p:txBody>
      </p:sp>
      <p:pic>
        <p:nvPicPr>
          <p:cNvPr id="16" name="Picture 15" descr="k3_zoomA.jpg"/>
          <p:cNvPicPr>
            <a:picLocks noChangeAspect="1"/>
          </p:cNvPicPr>
          <p:nvPr/>
        </p:nvPicPr>
        <p:blipFill>
          <a:blip r:embed="rId3"/>
          <a:stretch>
            <a:fillRect/>
          </a:stretch>
        </p:blipFill>
        <p:spPr>
          <a:xfrm>
            <a:off x="254000" y="3570799"/>
            <a:ext cx="3810000" cy="1333500"/>
          </a:xfrm>
          <a:prstGeom prst="rect">
            <a:avLst/>
          </a:prstGeom>
        </p:spPr>
      </p:pic>
      <p:sp>
        <p:nvSpPr>
          <p:cNvPr id="17" name="TextBox 16"/>
          <p:cNvSpPr txBox="1"/>
          <p:nvPr/>
        </p:nvSpPr>
        <p:spPr>
          <a:xfrm>
            <a:off x="4191000" y="3392999"/>
            <a:ext cx="5715000" cy="127000"/>
          </a:xfrm>
          <a:prstGeom prst="rect">
            <a:avLst/>
          </a:prstGeom>
          <a:noFill/>
        </p:spPr>
        <p:txBody>
          <a:bodyPr wrap="square" lIns="0" rIns="0" tIns="0" bIns="0" anchor="t">
            <a:spAutoFit/>
          </a:bodyPr>
          <a:lstStyle/>
          <a:p>
            <a:pPr algn="l">
              <a:lnSpc>
                <a:spcPct val="120000"/>
              </a:lnSpc>
            </a:pPr>
            <a:r>
              <a:rPr sz="900" b="1" i="0" spc="250">
                <a:solidFill>
                  <a:srgbClr val="C9965A"/>
                </a:solidFill>
                <a:latin typeface="Barlow Condensed"/>
              </a:rPr>
              <a:t>2 · REMPARTS, FALAISE ET BOULEVARD</a:t>
            </a:r>
          </a:p>
        </p:txBody>
      </p:sp>
      <p:pic>
        <p:nvPicPr>
          <p:cNvPr id="18" name="Picture 17" descr="k3_zoomB.jpg"/>
          <p:cNvPicPr>
            <a:picLocks noChangeAspect="1"/>
          </p:cNvPicPr>
          <p:nvPr/>
        </p:nvPicPr>
        <p:blipFill>
          <a:blip r:embed="rId4"/>
          <a:stretch>
            <a:fillRect/>
          </a:stretch>
        </p:blipFill>
        <p:spPr>
          <a:xfrm>
            <a:off x="4191000" y="3570799"/>
            <a:ext cx="3810000" cy="835742"/>
          </a:xfrm>
          <a:prstGeom prst="rect">
            <a:avLst/>
          </a:prstGeom>
        </p:spPr>
      </p:pic>
      <p:sp>
        <p:nvSpPr>
          <p:cNvPr id="19" name="TextBox 18"/>
          <p:cNvSpPr txBox="1"/>
          <p:nvPr/>
        </p:nvSpPr>
        <p:spPr>
          <a:xfrm>
            <a:off x="8128000" y="3392999"/>
            <a:ext cx="5715000" cy="127000"/>
          </a:xfrm>
          <a:prstGeom prst="rect">
            <a:avLst/>
          </a:prstGeom>
          <a:noFill/>
        </p:spPr>
        <p:txBody>
          <a:bodyPr wrap="square" lIns="0" rIns="0" tIns="0" bIns="0" anchor="t">
            <a:spAutoFit/>
          </a:bodyPr>
          <a:lstStyle/>
          <a:p>
            <a:pPr algn="l">
              <a:lnSpc>
                <a:spcPct val="120000"/>
              </a:lnSpc>
            </a:pPr>
            <a:r>
              <a:rPr sz="900" b="1" i="0" spc="250">
                <a:solidFill>
                  <a:srgbClr val="C9965A"/>
                </a:solidFill>
                <a:latin typeface="Barlow Condensed"/>
              </a:rPr>
              <a:t>3 · ESPLANADE, GARE MARITIME, MARINA</a:t>
            </a:r>
          </a:p>
        </p:txBody>
      </p:sp>
      <p:pic>
        <p:nvPicPr>
          <p:cNvPr id="20" name="Picture 19" descr="k3_zoomC.jpg"/>
          <p:cNvPicPr>
            <a:picLocks noChangeAspect="1"/>
          </p:cNvPicPr>
          <p:nvPr/>
        </p:nvPicPr>
        <p:blipFill>
          <a:blip r:embed="rId5"/>
          <a:stretch>
            <a:fillRect/>
          </a:stretch>
        </p:blipFill>
        <p:spPr>
          <a:xfrm>
            <a:off x="8128000" y="3570799"/>
            <a:ext cx="3810000" cy="563812"/>
          </a:xfrm>
          <a:prstGeom prst="rect">
            <a:avLst/>
          </a:prstGeom>
        </p:spPr>
      </p:pic>
      <p:pic>
        <p:nvPicPr>
          <p:cNvPr id="21" name="Picture 20" descr="m16_coupes_loc.jpg"/>
          <p:cNvPicPr>
            <a:picLocks noChangeAspect="1"/>
          </p:cNvPicPr>
          <p:nvPr/>
        </p:nvPicPr>
        <p:blipFill>
          <a:blip r:embed="rId6"/>
          <a:stretch>
            <a:fillRect/>
          </a:stretch>
        </p:blipFill>
        <p:spPr>
          <a:xfrm>
            <a:off x="10160000" y="4993199"/>
            <a:ext cx="1179827" cy="1356801"/>
          </a:xfrm>
          <a:prstGeom prst="rect">
            <a:avLst/>
          </a:prstGeom>
        </p:spPr>
      </p:pic>
      <p:sp>
        <p:nvSpPr>
          <p:cNvPr id="22" name="Rectangle 21"/>
          <p:cNvSpPr/>
          <p:nvPr/>
        </p:nvSpPr>
        <p:spPr>
          <a:xfrm>
            <a:off x="254000" y="5075749"/>
            <a:ext cx="165100" cy="101600"/>
          </a:xfrm>
          <a:prstGeom prst="rect">
            <a:avLst/>
          </a:prstGeom>
          <a:solidFill>
            <a:srgbClr val="DFA98F"/>
          </a:solidFill>
          <a:ln>
            <a:noFill/>
          </a:ln>
        </p:spPr>
        <p:txBody>
          <a:bodyPr rtlCol="0" anchor="ctr"/>
          <a:lstStyle/>
          <a:p>
            <a:pPr algn="ctr"/>
          </a:p>
        </p:txBody>
      </p:sp>
      <p:sp>
        <p:nvSpPr>
          <p:cNvPr id="23" name="TextBox 22"/>
          <p:cNvSpPr txBox="1"/>
          <p:nvPr/>
        </p:nvSpPr>
        <p:spPr>
          <a:xfrm>
            <a:off x="508000" y="5063049"/>
            <a:ext cx="2032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Maison d'hôtes, riad converti</a:t>
            </a:r>
          </a:p>
        </p:txBody>
      </p:sp>
      <p:sp>
        <p:nvSpPr>
          <p:cNvPr id="24" name="Rectangle 23"/>
          <p:cNvSpPr/>
          <p:nvPr/>
        </p:nvSpPr>
        <p:spPr>
          <a:xfrm>
            <a:off x="254000" y="5253549"/>
            <a:ext cx="165100" cy="101600"/>
          </a:xfrm>
          <a:prstGeom prst="rect">
            <a:avLst/>
          </a:prstGeom>
          <a:solidFill>
            <a:srgbClr val="EADCC4"/>
          </a:solidFill>
          <a:ln>
            <a:noFill/>
          </a:ln>
        </p:spPr>
        <p:txBody>
          <a:bodyPr rtlCol="0" anchor="ctr"/>
          <a:lstStyle/>
          <a:p>
            <a:pPr algn="ctr"/>
          </a:p>
        </p:txBody>
      </p:sp>
      <p:sp>
        <p:nvSpPr>
          <p:cNvPr id="25" name="TextBox 24"/>
          <p:cNvSpPr txBox="1"/>
          <p:nvPr/>
        </p:nvSpPr>
        <p:spPr>
          <a:xfrm>
            <a:off x="508000" y="5240849"/>
            <a:ext cx="2032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Logement</a:t>
            </a:r>
          </a:p>
        </p:txBody>
      </p:sp>
      <p:sp>
        <p:nvSpPr>
          <p:cNvPr id="26" name="Rectangle 25"/>
          <p:cNvSpPr/>
          <p:nvPr/>
        </p:nvSpPr>
        <p:spPr>
          <a:xfrm>
            <a:off x="254000" y="5431349"/>
            <a:ext cx="165100" cy="101600"/>
          </a:xfrm>
          <a:prstGeom prst="rect">
            <a:avLst/>
          </a:prstGeom>
          <a:solidFill>
            <a:srgbClr val="E8CF9C"/>
          </a:solidFill>
          <a:ln>
            <a:noFill/>
          </a:ln>
        </p:spPr>
        <p:txBody>
          <a:bodyPr rtlCol="0" anchor="ctr"/>
          <a:lstStyle/>
          <a:p>
            <a:pPr algn="ctr"/>
          </a:p>
        </p:txBody>
      </p:sp>
      <p:sp>
        <p:nvSpPr>
          <p:cNvPr id="27" name="TextBox 26"/>
          <p:cNvSpPr txBox="1"/>
          <p:nvPr/>
        </p:nvSpPr>
        <p:spPr>
          <a:xfrm>
            <a:off x="508000" y="5418649"/>
            <a:ext cx="2032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Commerce</a:t>
            </a:r>
          </a:p>
        </p:txBody>
      </p:sp>
      <p:sp>
        <p:nvSpPr>
          <p:cNvPr id="28" name="Rectangle 27"/>
          <p:cNvSpPr/>
          <p:nvPr/>
        </p:nvSpPr>
        <p:spPr>
          <a:xfrm>
            <a:off x="254000" y="5609149"/>
            <a:ext cx="165100" cy="101600"/>
          </a:xfrm>
          <a:prstGeom prst="rect">
            <a:avLst/>
          </a:prstGeom>
          <a:solidFill>
            <a:srgbClr val="C8D3D9"/>
          </a:solidFill>
          <a:ln>
            <a:noFill/>
          </a:ln>
        </p:spPr>
        <p:txBody>
          <a:bodyPr rtlCol="0" anchor="ctr"/>
          <a:lstStyle/>
          <a:p>
            <a:pPr algn="ctr"/>
          </a:p>
        </p:txBody>
      </p:sp>
      <p:sp>
        <p:nvSpPr>
          <p:cNvPr id="29" name="TextBox 28"/>
          <p:cNvSpPr txBox="1"/>
          <p:nvPr/>
        </p:nvSpPr>
        <p:spPr>
          <a:xfrm>
            <a:off x="508000" y="5596449"/>
            <a:ext cx="2032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a:t>
            </a:r>
          </a:p>
        </p:txBody>
      </p:sp>
      <p:sp>
        <p:nvSpPr>
          <p:cNvPr id="30" name="TextBox 29"/>
          <p:cNvSpPr txBox="1"/>
          <p:nvPr/>
        </p:nvSpPr>
        <p:spPr>
          <a:xfrm>
            <a:off x="2667000" y="5056699"/>
            <a:ext cx="7302500" cy="1651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médina garde sa trame de derbs de 2 à 4 m, mais une partie des maisons devient maisons d'hôtes. Au pied des remparts, il faut franchir un boulevard d'environ 50 m avant d'atteindre l'esplanade du port, occupée par les cars de tourisme, la gare maritime et la marina. La reconversion a soigné le front d'eau, pas la couture entre la vieille ville et la mer.</a:t>
            </a:r>
          </a:p>
          <a:p>
            <a:pPr algn="l">
              <a:lnSpc>
                <a:spcPct val="140000"/>
              </a:lnSpc>
            </a:pPr>
            <a:r>
              <a:rPr sz="1050" b="0" i="0">
                <a:solidFill>
                  <a:srgbClr val="23303A"/>
                </a:solidFill>
                <a:latin typeface="Barlow"/>
              </a:rPr>
              <a:t/>
            </a:r>
          </a:p>
          <a:p>
            <a:pPr algn="l">
              <a:lnSpc>
                <a:spcPct val="140000"/>
              </a:lnSpc>
            </a:pPr>
            <a:r>
              <a:rPr sz="1050" b="1" i="0">
                <a:solidFill>
                  <a:srgbClr val="23303A"/>
                </a:solidFill>
                <a:latin typeface="Barlow"/>
              </a:rPr>
              <a:t>Méthode. </a:t>
            </a:r>
            <a:r>
              <a:rPr sz="1050" b="0" i="0">
                <a:solidFill>
                  <a:srgbClr val="7B746B"/>
                </a:solidFill>
                <a:latin typeface="Barlow"/>
              </a:rPr>
              <a:t>Sol : enveloppe basse du MNT Copernicus (30 m) ; rues, bâti et rivage : OSM, Overture, WorldCover ; étages et usages : estimation. Échelle 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2 · LA MÉDINA, VITRINE PATRIMONIALE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Bâti, voirie, remparts et lieux recensés dans la médina et la Kasbah.</a:t>
            </a:r>
          </a:p>
        </p:txBody>
      </p:sp>
      <p:pic>
        <p:nvPicPr>
          <p:cNvPr id="5" name="Picture 4" descr="nc_sk_minaret.png"/>
          <p:cNvPicPr>
            <a:picLocks noChangeAspect="1"/>
          </p:cNvPicPr>
          <p:nvPr/>
        </p:nvPicPr>
        <p:blipFill>
          <a:blip r:embed="rId2"/>
          <a:stretch>
            <a:fillRect/>
          </a:stretch>
        </p:blipFill>
        <p:spPr>
          <a:xfrm>
            <a:off x="11186160" y="139700"/>
            <a:ext cx="751840" cy="711200"/>
          </a:xfrm>
          <a:prstGeom prst="rect">
            <a:avLst/>
          </a:prstGeom>
        </p:spPr>
      </p:pic>
      <p:sp>
        <p:nvSpPr>
          <p:cNvPr id="6" name="TextBox 5"/>
          <p:cNvSpPr txBox="1"/>
          <p:nvPr/>
        </p:nvSpPr>
        <p:spPr>
          <a:xfrm>
            <a:off x="1017016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328</a:t>
            </a:r>
          </a:p>
        </p:txBody>
      </p:sp>
      <p:sp>
        <p:nvSpPr>
          <p:cNvPr id="7" name="TextBox 6"/>
          <p:cNvSpPr txBox="1"/>
          <p:nvPr/>
        </p:nvSpPr>
        <p:spPr>
          <a:xfrm>
            <a:off x="1017016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bâtiments menaçant</a:t>
            </a:r>
          </a:p>
          <a:p>
            <a:pPr algn="r">
              <a:lnSpc>
                <a:spcPct val="110000"/>
              </a:lnSpc>
            </a:pPr>
            <a:r>
              <a:rPr sz="850" b="0" i="0">
                <a:solidFill>
                  <a:srgbClr val="7B746B"/>
                </a:solidFill>
                <a:latin typeface="Barlow"/>
              </a:rPr>
              <a:t>ruine</a:t>
            </a:r>
          </a:p>
        </p:txBody>
      </p:sp>
      <p:sp>
        <p:nvSpPr>
          <p:cNvPr id="8" name="TextBox 7"/>
          <p:cNvSpPr txBox="1"/>
          <p:nvPr/>
        </p:nvSpPr>
        <p:spPr>
          <a:xfrm>
            <a:off x="919226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850 M</a:t>
            </a:r>
          </a:p>
        </p:txBody>
      </p:sp>
      <p:sp>
        <p:nvSpPr>
          <p:cNvPr id="9" name="TextBox 8"/>
          <p:cNvSpPr txBox="1"/>
          <p:nvPr/>
        </p:nvSpPr>
        <p:spPr>
          <a:xfrm>
            <a:off x="919226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programme</a:t>
            </a:r>
          </a:p>
          <a:p>
            <a:pPr algn="r">
              <a:lnSpc>
                <a:spcPct val="110000"/>
              </a:lnSpc>
            </a:pPr>
            <a:r>
              <a:rPr sz="850" b="0" i="0">
                <a:solidFill>
                  <a:srgbClr val="7B746B"/>
                </a:solidFill>
                <a:latin typeface="Barlow"/>
              </a:rPr>
              <a:t>2020-2024</a:t>
            </a:r>
          </a:p>
        </p:txBody>
      </p:sp>
      <p:sp>
        <p:nvSpPr>
          <p:cNvPr id="10" name="TextBox 9"/>
          <p:cNvSpPr txBox="1"/>
          <p:nvPr/>
        </p:nvSpPr>
        <p:spPr>
          <a:xfrm>
            <a:off x="812292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65</a:t>
            </a:r>
          </a:p>
        </p:txBody>
      </p:sp>
      <p:sp>
        <p:nvSpPr>
          <p:cNvPr id="11" name="TextBox 10"/>
          <p:cNvSpPr txBox="1"/>
          <p:nvPr/>
        </p:nvSpPr>
        <p:spPr>
          <a:xfrm>
            <a:off x="812292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hébergements recensés</a:t>
            </a:r>
          </a:p>
          <a:p>
            <a:pPr algn="r">
              <a:lnSpc>
                <a:spcPct val="110000"/>
              </a:lnSpc>
            </a:pPr>
            <a:r>
              <a:rPr sz="850" b="0" i="0">
                <a:solidFill>
                  <a:srgbClr val="7B746B"/>
                </a:solidFill>
                <a:latin typeface="Barlow"/>
              </a:rPr>
              <a:t>dans 0,9 km²</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24 / 32</a:t>
            </a:r>
          </a:p>
        </p:txBody>
      </p:sp>
      <p:pic>
        <p:nvPicPr>
          <p:cNvPr id="15" name="Picture 14" descr="m07_medina.jpg"/>
          <p:cNvPicPr>
            <a:picLocks noChangeAspect="1"/>
          </p:cNvPicPr>
          <p:nvPr/>
        </p:nvPicPr>
        <p:blipFill>
          <a:blip r:embed="rId3"/>
          <a:stretch>
            <a:fillRect/>
          </a:stretch>
        </p:blipFill>
        <p:spPr>
          <a:xfrm>
            <a:off x="254000" y="952500"/>
            <a:ext cx="7281333" cy="5461000"/>
          </a:xfrm>
          <a:prstGeom prst="rect">
            <a:avLst/>
          </a:prstGeom>
        </p:spPr>
      </p:pic>
      <p:sp>
        <p:nvSpPr>
          <p:cNvPr id="16" name="TextBox 15"/>
          <p:cNvSpPr txBox="1"/>
          <p:nvPr/>
        </p:nvSpPr>
        <p:spPr>
          <a:xfrm>
            <a:off x="7810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7" name="Oval 16"/>
          <p:cNvSpPr/>
          <p:nvPr/>
        </p:nvSpPr>
        <p:spPr>
          <a:xfrm>
            <a:off x="7848600" y="1181100"/>
            <a:ext cx="88900" cy="88900"/>
          </a:xfrm>
          <a:prstGeom prst="ellipse">
            <a:avLst/>
          </a:prstGeom>
          <a:solidFill>
            <a:srgbClr val="B5563C"/>
          </a:solidFill>
          <a:ln w="6350">
            <a:solidFill>
              <a:srgbClr val="FFFFFF"/>
            </a:solidFill>
          </a:ln>
        </p:spPr>
        <p:txBody>
          <a:bodyPr rtlCol="0" anchor="ctr"/>
          <a:lstStyle/>
          <a:p>
            <a:pPr algn="ctr"/>
          </a:p>
        </p:txBody>
      </p:sp>
      <p:sp>
        <p:nvSpPr>
          <p:cNvPr id="18" name="TextBox 17"/>
          <p:cNvSpPr txBox="1"/>
          <p:nvPr/>
        </p:nvSpPr>
        <p:spPr>
          <a:xfrm>
            <a:off x="8064500" y="11620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 touristique (hôtel, riad, maison d'hôtes)</a:t>
            </a:r>
          </a:p>
        </p:txBody>
      </p:sp>
      <p:sp>
        <p:nvSpPr>
          <p:cNvPr id="19" name="Diamond 18"/>
          <p:cNvSpPr/>
          <p:nvPr/>
        </p:nvSpPr>
        <p:spPr>
          <a:xfrm>
            <a:off x="7848600" y="1358900"/>
            <a:ext cx="88900" cy="88900"/>
          </a:xfrm>
          <a:prstGeom prst="diamond">
            <a:avLst/>
          </a:prstGeom>
          <a:solidFill>
            <a:srgbClr val="C9965A"/>
          </a:solidFill>
          <a:ln>
            <a:noFill/>
          </a:ln>
        </p:spPr>
        <p:txBody>
          <a:bodyPr rtlCol="0" anchor="ctr"/>
          <a:lstStyle/>
          <a:p>
            <a:pPr algn="ctr"/>
          </a:p>
        </p:txBody>
      </p:sp>
      <p:sp>
        <p:nvSpPr>
          <p:cNvPr id="20" name="TextBox 19"/>
          <p:cNvSpPr txBox="1"/>
          <p:nvPr/>
        </p:nvSpPr>
        <p:spPr>
          <a:xfrm>
            <a:off x="8064500" y="13398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Site patrimonial, musée, monument</a:t>
            </a:r>
          </a:p>
        </p:txBody>
      </p:sp>
      <p:sp>
        <p:nvSpPr>
          <p:cNvPr id="21" name="Rectangle 20"/>
          <p:cNvSpPr/>
          <p:nvPr/>
        </p:nvSpPr>
        <p:spPr>
          <a:xfrm>
            <a:off x="7810500" y="1530350"/>
            <a:ext cx="165100" cy="101600"/>
          </a:xfrm>
          <a:prstGeom prst="rect">
            <a:avLst/>
          </a:prstGeom>
          <a:solidFill>
            <a:srgbClr val="B9B1A5"/>
          </a:solidFill>
          <a:ln>
            <a:noFill/>
          </a:ln>
        </p:spPr>
        <p:txBody>
          <a:bodyPr rtlCol="0" anchor="ctr"/>
          <a:lstStyle/>
          <a:p>
            <a:pPr algn="ctr"/>
          </a:p>
        </p:txBody>
      </p:sp>
      <p:sp>
        <p:nvSpPr>
          <p:cNvPr id="22" name="TextBox 21"/>
          <p:cNvSpPr txBox="1"/>
          <p:nvPr/>
        </p:nvSpPr>
        <p:spPr>
          <a:xfrm>
            <a:off x="8064500" y="15176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relevé (OSM)</a:t>
            </a:r>
          </a:p>
        </p:txBody>
      </p:sp>
      <p:cxnSp>
        <p:nvCxnSpPr>
          <p:cNvPr id="23" name="Connector 22"/>
          <p:cNvCxnSpPr/>
          <p:nvPr/>
        </p:nvCxnSpPr>
        <p:spPr>
          <a:xfrm>
            <a:off x="7810500" y="1758950"/>
            <a:ext cx="165100" cy="0"/>
          </a:xfrm>
          <a:prstGeom prst="line">
            <a:avLst/>
          </a:prstGeom>
          <a:ln w="22225">
            <a:solidFill>
              <a:srgbClr val="23303A"/>
            </a:solidFill>
          </a:ln>
        </p:spPr>
      </p:cxnSp>
      <p:sp>
        <p:nvSpPr>
          <p:cNvPr id="24" name="TextBox 23"/>
          <p:cNvSpPr txBox="1"/>
          <p:nvPr/>
        </p:nvSpPr>
        <p:spPr>
          <a:xfrm>
            <a:off x="8064500" y="16954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Remparts</a:t>
            </a:r>
          </a:p>
        </p:txBody>
      </p:sp>
      <p:sp>
        <p:nvSpPr>
          <p:cNvPr id="25" name="Rectangle 24"/>
          <p:cNvSpPr/>
          <p:nvPr/>
        </p:nvSpPr>
        <p:spPr>
          <a:xfrm>
            <a:off x="7810500" y="1885950"/>
            <a:ext cx="165100" cy="101600"/>
          </a:xfrm>
          <a:prstGeom prst="rect">
            <a:avLst/>
          </a:prstGeom>
          <a:solidFill>
            <a:srgbClr val="C9D3BB"/>
          </a:solidFill>
          <a:ln>
            <a:noFill/>
          </a:ln>
        </p:spPr>
        <p:txBody>
          <a:bodyPr rtlCol="0" anchor="ctr"/>
          <a:lstStyle/>
          <a:p>
            <a:pPr algn="ctr"/>
          </a:p>
        </p:txBody>
      </p:sp>
      <p:sp>
        <p:nvSpPr>
          <p:cNvPr id="26" name="TextBox 25"/>
          <p:cNvSpPr txBox="1"/>
          <p:nvPr/>
        </p:nvSpPr>
        <p:spPr>
          <a:xfrm>
            <a:off x="8064500" y="18732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Jardins et espaces verts</a:t>
            </a:r>
          </a:p>
        </p:txBody>
      </p:sp>
      <p:sp>
        <p:nvSpPr>
          <p:cNvPr id="27" name="Rectangle 26"/>
          <p:cNvSpPr/>
          <p:nvPr/>
        </p:nvSpPr>
        <p:spPr>
          <a:xfrm>
            <a:off x="7810500" y="2063750"/>
            <a:ext cx="165100" cy="101600"/>
          </a:xfrm>
          <a:prstGeom prst="rect">
            <a:avLst/>
          </a:prstGeom>
          <a:solidFill>
            <a:srgbClr val="A8C0C6"/>
          </a:solidFill>
          <a:ln>
            <a:noFill/>
          </a:ln>
        </p:spPr>
        <p:txBody>
          <a:bodyPr rtlCol="0" anchor="ctr"/>
          <a:lstStyle/>
          <a:p>
            <a:pPr algn="ctr"/>
          </a:p>
        </p:txBody>
      </p:sp>
      <p:sp>
        <p:nvSpPr>
          <p:cNvPr id="28" name="TextBox 27"/>
          <p:cNvSpPr txBox="1"/>
          <p:nvPr/>
        </p:nvSpPr>
        <p:spPr>
          <a:xfrm>
            <a:off x="8064500" y="20510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Mer et bassins portuaires</a:t>
            </a:r>
          </a:p>
        </p:txBody>
      </p:sp>
      <p:sp>
        <p:nvSpPr>
          <p:cNvPr id="29" name="TextBox 28"/>
          <p:cNvSpPr txBox="1"/>
          <p:nvPr/>
        </p:nvSpPr>
        <p:spPr>
          <a:xfrm>
            <a:off x="7810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OÙ VA L'ARGENT ?</a:t>
            </a:r>
          </a:p>
        </p:txBody>
      </p:sp>
      <p:sp>
        <p:nvSpPr>
          <p:cNvPr id="30" name="TextBox 29"/>
          <p:cNvSpPr txBox="1"/>
          <p:nvPr/>
        </p:nvSpPr>
        <p:spPr>
          <a:xfrm>
            <a:off x="7810500" y="2628900"/>
            <a:ext cx="317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Programme médina 2020-2024</a:t>
            </a:r>
          </a:p>
        </p:txBody>
      </p:sp>
      <p:sp>
        <p:nvSpPr>
          <p:cNvPr id="31" name="Rectangle 30"/>
          <p:cNvSpPr/>
          <p:nvPr/>
        </p:nvSpPr>
        <p:spPr>
          <a:xfrm>
            <a:off x="7810500" y="2794000"/>
            <a:ext cx="3048000" cy="139700"/>
          </a:xfrm>
          <a:prstGeom prst="rect">
            <a:avLst/>
          </a:prstGeom>
          <a:solidFill>
            <a:srgbClr val="B5563C"/>
          </a:solidFill>
          <a:ln>
            <a:noFill/>
          </a:ln>
        </p:spPr>
        <p:txBody>
          <a:bodyPr rtlCol="0" anchor="ctr"/>
          <a:lstStyle/>
          <a:p>
            <a:pPr algn="ctr"/>
          </a:p>
        </p:txBody>
      </p:sp>
      <p:sp>
        <p:nvSpPr>
          <p:cNvPr id="32" name="TextBox 31"/>
          <p:cNvSpPr txBox="1"/>
          <p:nvPr/>
        </p:nvSpPr>
        <p:spPr>
          <a:xfrm>
            <a:off x="10922000" y="2781300"/>
            <a:ext cx="1016000" cy="152400"/>
          </a:xfrm>
          <a:prstGeom prst="rect">
            <a:avLst/>
          </a:prstGeom>
          <a:noFill/>
        </p:spPr>
        <p:txBody>
          <a:bodyPr wrap="square" lIns="0" rIns="0" tIns="0" bIns="0" anchor="t">
            <a:spAutoFit/>
          </a:bodyPr>
          <a:lstStyle/>
          <a:p>
            <a:pPr algn="l">
              <a:lnSpc>
                <a:spcPct val="120000"/>
              </a:lnSpc>
            </a:pPr>
            <a:r>
              <a:rPr sz="1100" b="1" i="0">
                <a:solidFill>
                  <a:srgbClr val="B5563C"/>
                </a:solidFill>
                <a:latin typeface="Barlow Condensed"/>
              </a:rPr>
              <a:t>850 M MAD</a:t>
            </a:r>
          </a:p>
        </p:txBody>
      </p:sp>
      <p:sp>
        <p:nvSpPr>
          <p:cNvPr id="33" name="TextBox 32"/>
          <p:cNvSpPr txBox="1"/>
          <p:nvPr/>
        </p:nvSpPr>
        <p:spPr>
          <a:xfrm>
            <a:off x="7810500" y="3035300"/>
            <a:ext cx="317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Bâtiments menaçant ruine 2024-2027</a:t>
            </a:r>
          </a:p>
        </p:txBody>
      </p:sp>
      <p:sp>
        <p:nvSpPr>
          <p:cNvPr id="34" name="Rectangle 33"/>
          <p:cNvSpPr/>
          <p:nvPr/>
        </p:nvSpPr>
        <p:spPr>
          <a:xfrm>
            <a:off x="7810500" y="3200400"/>
            <a:ext cx="351416" cy="139700"/>
          </a:xfrm>
          <a:prstGeom prst="rect">
            <a:avLst/>
          </a:prstGeom>
          <a:solidFill>
            <a:srgbClr val="3E5A6E"/>
          </a:solidFill>
          <a:ln>
            <a:noFill/>
          </a:ln>
        </p:spPr>
        <p:txBody>
          <a:bodyPr rtlCol="0" anchor="ctr"/>
          <a:lstStyle/>
          <a:p>
            <a:pPr algn="ctr"/>
          </a:p>
        </p:txBody>
      </p:sp>
      <p:sp>
        <p:nvSpPr>
          <p:cNvPr id="35" name="TextBox 34"/>
          <p:cNvSpPr txBox="1"/>
          <p:nvPr/>
        </p:nvSpPr>
        <p:spPr>
          <a:xfrm>
            <a:off x="8225416" y="3187700"/>
            <a:ext cx="1016000" cy="152400"/>
          </a:xfrm>
          <a:prstGeom prst="rect">
            <a:avLst/>
          </a:prstGeom>
          <a:noFill/>
        </p:spPr>
        <p:txBody>
          <a:bodyPr wrap="square" lIns="0" rIns="0" tIns="0" bIns="0" anchor="t">
            <a:spAutoFit/>
          </a:bodyPr>
          <a:lstStyle/>
          <a:p>
            <a:pPr algn="l">
              <a:lnSpc>
                <a:spcPct val="120000"/>
              </a:lnSpc>
            </a:pPr>
            <a:r>
              <a:rPr sz="1100" b="1" i="0">
                <a:solidFill>
                  <a:srgbClr val="3E5A6E"/>
                </a:solidFill>
                <a:latin typeface="Barlow Condensed"/>
              </a:rPr>
              <a:t>98 M MAD</a:t>
            </a:r>
          </a:p>
        </p:txBody>
      </p:sp>
      <p:sp>
        <p:nvSpPr>
          <p:cNvPr id="36" name="TextBox 35"/>
          <p:cNvSpPr txBox="1"/>
          <p:nvPr/>
        </p:nvSpPr>
        <p:spPr>
          <a:xfrm>
            <a:off x="7810500" y="3556000"/>
            <a:ext cx="40640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Dans moins d'un kilomètre carré, on recense 65 hébergements touristiques pour 5 équipements de santé. Les travaux suivent les portes, places et parcours des visiteurs, alors que 328 bâtiments habités menacent ruine et relèvent d'un budget près de neuf fois plus petit. La médina se transforme en décor : logements convertis en maisons d'hôtes, commerces tournés vers le visiteur.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3 · MONDIAL 2030 : L'URBANISME D'EXCEPTION</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Le grand stade Ibn Batouta vu par Sentinel-2, et l'évaluation de la ville par la FIFA.</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2,2 / 5</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hôtels</a:t>
            </a:r>
          </a:p>
        </p:txBody>
      </p:sp>
      <p:sp>
        <p:nvSpPr>
          <p:cNvPr id="7" name="TextBox 6"/>
          <p:cNvSpPr txBox="1"/>
          <p:nvPr/>
        </p:nvSpPr>
        <p:spPr>
          <a:xfrm>
            <a:off x="972820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2,6 / 5</a:t>
            </a:r>
          </a:p>
        </p:txBody>
      </p:sp>
      <p:sp>
        <p:nvSpPr>
          <p:cNvPr id="8" name="TextBox 7"/>
          <p:cNvSpPr txBox="1"/>
          <p:nvPr/>
        </p:nvSpPr>
        <p:spPr>
          <a:xfrm>
            <a:off x="972820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transports</a:t>
            </a:r>
          </a:p>
        </p:txBody>
      </p:sp>
      <p:sp>
        <p:nvSpPr>
          <p:cNvPr id="9" name="TextBox 8"/>
          <p:cNvSpPr txBox="1"/>
          <p:nvPr/>
        </p:nvSpPr>
        <p:spPr>
          <a:xfrm>
            <a:off x="85153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4,0 / 5</a:t>
            </a:r>
          </a:p>
        </p:txBody>
      </p:sp>
      <p:sp>
        <p:nvSpPr>
          <p:cNvPr id="10" name="TextBox 9"/>
          <p:cNvSpPr txBox="1"/>
          <p:nvPr/>
        </p:nvSpPr>
        <p:spPr>
          <a:xfrm>
            <a:off x="85153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stade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25 / 32</a:t>
            </a:r>
          </a:p>
        </p:txBody>
      </p:sp>
      <p:pic>
        <p:nvPicPr>
          <p:cNvPr id="14" name="Picture 13" descr="s03_stade_2017.jpg"/>
          <p:cNvPicPr>
            <a:picLocks noChangeAspect="1"/>
          </p:cNvPicPr>
          <p:nvPr/>
        </p:nvPicPr>
        <p:blipFill>
          <a:blip r:embed="rId2"/>
          <a:stretch>
            <a:fillRect/>
          </a:stretch>
        </p:blipFill>
        <p:spPr>
          <a:xfrm>
            <a:off x="254000" y="1079500"/>
            <a:ext cx="3810000" cy="2659380"/>
          </a:xfrm>
          <a:prstGeom prst="rect">
            <a:avLst/>
          </a:prstGeom>
        </p:spPr>
      </p:pic>
      <p:pic>
        <p:nvPicPr>
          <p:cNvPr id="15" name="Picture 14" descr="s03_stade_2025.jpg"/>
          <p:cNvPicPr>
            <a:picLocks noChangeAspect="1"/>
          </p:cNvPicPr>
          <p:nvPr/>
        </p:nvPicPr>
        <p:blipFill>
          <a:blip r:embed="rId3"/>
          <a:stretch>
            <a:fillRect/>
          </a:stretch>
        </p:blipFill>
        <p:spPr>
          <a:xfrm>
            <a:off x="4191000" y="1079500"/>
            <a:ext cx="3810000" cy="2659380"/>
          </a:xfrm>
          <a:prstGeom prst="rect">
            <a:avLst/>
          </a:prstGeom>
        </p:spPr>
      </p:pic>
      <p:sp>
        <p:nvSpPr>
          <p:cNvPr id="16" name="TextBox 15"/>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7" name="TextBox 16"/>
          <p:cNvSpPr txBox="1"/>
          <p:nvPr/>
        </p:nvSpPr>
        <p:spPr>
          <a:xfrm>
            <a:off x="4267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sp>
        <p:nvSpPr>
          <p:cNvPr id="18" name="TextBox 17"/>
          <p:cNvSpPr txBox="1"/>
          <p:nvPr/>
        </p:nvSpPr>
        <p:spPr>
          <a:xfrm>
            <a:off x="254000" y="392938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DEUX CHEMINS POUR CONSTRUIRE</a:t>
            </a:r>
          </a:p>
        </p:txBody>
      </p:sp>
      <p:sp>
        <p:nvSpPr>
          <p:cNvPr id="19" name="TextBox 18"/>
          <p:cNvSpPr txBox="1"/>
          <p:nvPr/>
        </p:nvSpPr>
        <p:spPr>
          <a:xfrm>
            <a:off x="254000" y="4259580"/>
            <a:ext cx="749300" cy="190500"/>
          </a:xfrm>
          <a:prstGeom prst="rect">
            <a:avLst/>
          </a:prstGeom>
          <a:noFill/>
        </p:spPr>
        <p:txBody>
          <a:bodyPr wrap="square" lIns="0" rIns="0" tIns="0" bIns="0" anchor="t">
            <a:spAutoFit/>
          </a:bodyPr>
          <a:lstStyle/>
          <a:p>
            <a:pPr algn="l">
              <a:lnSpc>
                <a:spcPct val="120000"/>
              </a:lnSpc>
            </a:pPr>
            <a:r>
              <a:rPr sz="1000" b="1" i="0" spc="100">
                <a:solidFill>
                  <a:srgbClr val="3E5A6E"/>
                </a:solidFill>
                <a:latin typeface="Barlow Condensed"/>
              </a:rPr>
              <a:t>LA RÈGLE</a:t>
            </a:r>
          </a:p>
        </p:txBody>
      </p:sp>
      <p:sp>
        <p:nvSpPr>
          <p:cNvPr id="20" name="Rectangle 19"/>
          <p:cNvSpPr/>
          <p:nvPr/>
        </p:nvSpPr>
        <p:spPr>
          <a:xfrm>
            <a:off x="1016000" y="4145280"/>
            <a:ext cx="1524000" cy="381000"/>
          </a:xfrm>
          <a:prstGeom prst="rect">
            <a:avLst/>
          </a:prstGeom>
          <a:solidFill>
            <a:srgbClr val="FFFFFF"/>
          </a:solidFill>
          <a:ln w="9525">
            <a:solidFill>
              <a:srgbClr val="3E5A6E"/>
            </a:solidFill>
          </a:ln>
        </p:spPr>
        <p:txBody>
          <a:bodyPr rtlCol="0" anchor="ctr"/>
          <a:lstStyle/>
          <a:p>
            <a:pPr algn="ctr"/>
          </a:p>
        </p:txBody>
      </p:sp>
      <p:sp>
        <p:nvSpPr>
          <p:cNvPr id="21" name="TextBox 20"/>
          <p:cNvSpPr txBox="1"/>
          <p:nvPr/>
        </p:nvSpPr>
        <p:spPr>
          <a:xfrm>
            <a:off x="1066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Plan d'aménagement</a:t>
            </a:r>
          </a:p>
        </p:txBody>
      </p:sp>
      <p:cxnSp>
        <p:nvCxnSpPr>
          <p:cNvPr id="22" name="Connector 21"/>
          <p:cNvCxnSpPr/>
          <p:nvPr/>
        </p:nvCxnSpPr>
        <p:spPr>
          <a:xfrm>
            <a:off x="2552700" y="4335780"/>
            <a:ext cx="165100" cy="0"/>
          </a:xfrm>
          <a:prstGeom prst="line">
            <a:avLst/>
          </a:prstGeom>
          <a:ln w="9525">
            <a:solidFill>
              <a:srgbClr val="3E5A6E"/>
            </a:solidFill>
            <a:tailEnd type="triangle"/>
          </a:ln>
        </p:spPr>
      </p:cxnSp>
      <p:sp>
        <p:nvSpPr>
          <p:cNvPr id="23" name="Rectangle 22"/>
          <p:cNvSpPr/>
          <p:nvPr/>
        </p:nvSpPr>
        <p:spPr>
          <a:xfrm>
            <a:off x="2730500" y="4145280"/>
            <a:ext cx="1524000" cy="381000"/>
          </a:xfrm>
          <a:prstGeom prst="rect">
            <a:avLst/>
          </a:prstGeom>
          <a:solidFill>
            <a:srgbClr val="FFFFFF"/>
          </a:solidFill>
          <a:ln w="9525">
            <a:solidFill>
              <a:srgbClr val="3E5A6E"/>
            </a:solidFill>
          </a:ln>
        </p:spPr>
        <p:txBody>
          <a:bodyPr rtlCol="0" anchor="ctr"/>
          <a:lstStyle/>
          <a:p>
            <a:pPr algn="ctr"/>
          </a:p>
        </p:txBody>
      </p:sp>
      <p:sp>
        <p:nvSpPr>
          <p:cNvPr id="24" name="TextBox 23"/>
          <p:cNvSpPr txBox="1"/>
          <p:nvPr/>
        </p:nvSpPr>
        <p:spPr>
          <a:xfrm>
            <a:off x="2781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Enquête publique</a:t>
            </a:r>
          </a:p>
        </p:txBody>
      </p:sp>
      <p:cxnSp>
        <p:nvCxnSpPr>
          <p:cNvPr id="25" name="Connector 24"/>
          <p:cNvCxnSpPr/>
          <p:nvPr/>
        </p:nvCxnSpPr>
        <p:spPr>
          <a:xfrm>
            <a:off x="4267200" y="4335780"/>
            <a:ext cx="165100" cy="0"/>
          </a:xfrm>
          <a:prstGeom prst="line">
            <a:avLst/>
          </a:prstGeom>
          <a:ln w="9525">
            <a:solidFill>
              <a:srgbClr val="3E5A6E"/>
            </a:solidFill>
            <a:tailEnd type="triangle"/>
          </a:ln>
        </p:spPr>
      </p:cxnSp>
      <p:sp>
        <p:nvSpPr>
          <p:cNvPr id="26" name="Rectangle 25"/>
          <p:cNvSpPr/>
          <p:nvPr/>
        </p:nvSpPr>
        <p:spPr>
          <a:xfrm>
            <a:off x="4445000" y="4145280"/>
            <a:ext cx="1524000" cy="381000"/>
          </a:xfrm>
          <a:prstGeom prst="rect">
            <a:avLst/>
          </a:prstGeom>
          <a:solidFill>
            <a:srgbClr val="FFFFFF"/>
          </a:solidFill>
          <a:ln w="9525">
            <a:solidFill>
              <a:srgbClr val="3E5A6E"/>
            </a:solidFill>
          </a:ln>
        </p:spPr>
        <p:txBody>
          <a:bodyPr rtlCol="0" anchor="ctr"/>
          <a:lstStyle/>
          <a:p>
            <a:pPr algn="ctr"/>
          </a:p>
        </p:txBody>
      </p:sp>
      <p:sp>
        <p:nvSpPr>
          <p:cNvPr id="27" name="TextBox 26"/>
          <p:cNvSpPr txBox="1"/>
          <p:nvPr/>
        </p:nvSpPr>
        <p:spPr>
          <a:xfrm>
            <a:off x="4495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Avis des habitants</a:t>
            </a:r>
          </a:p>
        </p:txBody>
      </p:sp>
      <p:cxnSp>
        <p:nvCxnSpPr>
          <p:cNvPr id="28" name="Connector 27"/>
          <p:cNvCxnSpPr/>
          <p:nvPr/>
        </p:nvCxnSpPr>
        <p:spPr>
          <a:xfrm>
            <a:off x="5981700" y="4335780"/>
            <a:ext cx="165100" cy="0"/>
          </a:xfrm>
          <a:prstGeom prst="line">
            <a:avLst/>
          </a:prstGeom>
          <a:ln w="9525">
            <a:solidFill>
              <a:srgbClr val="3E5A6E"/>
            </a:solidFill>
            <a:tailEnd type="triangle"/>
          </a:ln>
        </p:spPr>
      </p:cxnSp>
      <p:sp>
        <p:nvSpPr>
          <p:cNvPr id="29" name="Rectangle 28"/>
          <p:cNvSpPr/>
          <p:nvPr/>
        </p:nvSpPr>
        <p:spPr>
          <a:xfrm>
            <a:off x="6159500" y="4145280"/>
            <a:ext cx="1524000" cy="381000"/>
          </a:xfrm>
          <a:prstGeom prst="rect">
            <a:avLst/>
          </a:prstGeom>
          <a:solidFill>
            <a:srgbClr val="FFFFFF"/>
          </a:solidFill>
          <a:ln w="9525">
            <a:solidFill>
              <a:srgbClr val="3E5A6E"/>
            </a:solidFill>
          </a:ln>
        </p:spPr>
        <p:txBody>
          <a:bodyPr rtlCol="0" anchor="ctr"/>
          <a:lstStyle/>
          <a:p>
            <a:pPr algn="ctr"/>
          </a:p>
        </p:txBody>
      </p:sp>
      <p:sp>
        <p:nvSpPr>
          <p:cNvPr id="30" name="TextBox 29"/>
          <p:cNvSpPr txBox="1"/>
          <p:nvPr/>
        </p:nvSpPr>
        <p:spPr>
          <a:xfrm>
            <a:off x="6210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Permis</a:t>
            </a:r>
          </a:p>
        </p:txBody>
      </p:sp>
      <p:sp>
        <p:nvSpPr>
          <p:cNvPr id="31" name="TextBox 30"/>
          <p:cNvSpPr txBox="1"/>
          <p:nvPr/>
        </p:nvSpPr>
        <p:spPr>
          <a:xfrm>
            <a:off x="254000" y="4831080"/>
            <a:ext cx="749300" cy="190500"/>
          </a:xfrm>
          <a:prstGeom prst="rect">
            <a:avLst/>
          </a:prstGeom>
          <a:noFill/>
        </p:spPr>
        <p:txBody>
          <a:bodyPr wrap="square" lIns="0" rIns="0" tIns="0" bIns="0" anchor="t">
            <a:spAutoFit/>
          </a:bodyPr>
          <a:lstStyle/>
          <a:p>
            <a:pPr algn="l">
              <a:lnSpc>
                <a:spcPct val="120000"/>
              </a:lnSpc>
            </a:pPr>
            <a:r>
              <a:rPr sz="1000" b="1" i="0" spc="100">
                <a:solidFill>
                  <a:srgbClr val="B5563C"/>
                </a:solidFill>
                <a:latin typeface="Barlow Condensed"/>
              </a:rPr>
              <a:t>L'EXCEPTION</a:t>
            </a:r>
          </a:p>
        </p:txBody>
      </p:sp>
      <p:sp>
        <p:nvSpPr>
          <p:cNvPr id="32" name="Rectangle 31"/>
          <p:cNvSpPr/>
          <p:nvPr/>
        </p:nvSpPr>
        <p:spPr>
          <a:xfrm>
            <a:off x="1016000" y="4716780"/>
            <a:ext cx="1524000" cy="381000"/>
          </a:xfrm>
          <a:prstGeom prst="rect">
            <a:avLst/>
          </a:prstGeom>
          <a:solidFill>
            <a:srgbClr val="B5563C"/>
          </a:solidFill>
          <a:ln w="9525">
            <a:solidFill>
              <a:srgbClr val="B5563C"/>
            </a:solidFill>
          </a:ln>
        </p:spPr>
        <p:txBody>
          <a:bodyPr rtlCol="0" anchor="ctr"/>
          <a:lstStyle/>
          <a:p>
            <a:pPr algn="ctr"/>
          </a:p>
        </p:txBody>
      </p:sp>
      <p:sp>
        <p:nvSpPr>
          <p:cNvPr id="33" name="TextBox 32"/>
          <p:cNvSpPr txBox="1"/>
          <p:nvPr/>
        </p:nvSpPr>
        <p:spPr>
          <a:xfrm>
            <a:off x="1066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Événement (2030)</a:t>
            </a:r>
          </a:p>
        </p:txBody>
      </p:sp>
      <p:cxnSp>
        <p:nvCxnSpPr>
          <p:cNvPr id="34" name="Connector 33"/>
          <p:cNvCxnSpPr/>
          <p:nvPr/>
        </p:nvCxnSpPr>
        <p:spPr>
          <a:xfrm>
            <a:off x="2552700" y="4907280"/>
            <a:ext cx="165100" cy="0"/>
          </a:xfrm>
          <a:prstGeom prst="line">
            <a:avLst/>
          </a:prstGeom>
          <a:ln w="9525">
            <a:solidFill>
              <a:srgbClr val="B5563C"/>
            </a:solidFill>
            <a:tailEnd type="triangle"/>
          </a:ln>
        </p:spPr>
      </p:cxnSp>
      <p:sp>
        <p:nvSpPr>
          <p:cNvPr id="35" name="Rectangle 34"/>
          <p:cNvSpPr/>
          <p:nvPr/>
        </p:nvSpPr>
        <p:spPr>
          <a:xfrm>
            <a:off x="2730500" y="4716780"/>
            <a:ext cx="1524000" cy="381000"/>
          </a:xfrm>
          <a:prstGeom prst="rect">
            <a:avLst/>
          </a:prstGeom>
          <a:solidFill>
            <a:srgbClr val="B5563C"/>
          </a:solidFill>
          <a:ln w="9525">
            <a:solidFill>
              <a:srgbClr val="B5563C"/>
            </a:solidFill>
          </a:ln>
        </p:spPr>
        <p:txBody>
          <a:bodyPr rtlCol="0" anchor="ctr"/>
          <a:lstStyle/>
          <a:p>
            <a:pPr algn="ctr"/>
          </a:p>
        </p:txBody>
      </p:sp>
      <p:sp>
        <p:nvSpPr>
          <p:cNvPr id="36" name="TextBox 35"/>
          <p:cNvSpPr txBox="1"/>
          <p:nvPr/>
        </p:nvSpPr>
        <p:spPr>
          <a:xfrm>
            <a:off x="2781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Urgence « date FIFA »</a:t>
            </a:r>
          </a:p>
        </p:txBody>
      </p:sp>
      <p:cxnSp>
        <p:nvCxnSpPr>
          <p:cNvPr id="37" name="Connector 36"/>
          <p:cNvCxnSpPr/>
          <p:nvPr/>
        </p:nvCxnSpPr>
        <p:spPr>
          <a:xfrm>
            <a:off x="4267200" y="4907280"/>
            <a:ext cx="165100" cy="0"/>
          </a:xfrm>
          <a:prstGeom prst="line">
            <a:avLst/>
          </a:prstGeom>
          <a:ln w="9525">
            <a:solidFill>
              <a:srgbClr val="B5563C"/>
            </a:solidFill>
            <a:tailEnd type="triangle"/>
          </a:ln>
        </p:spPr>
      </p:cxnSp>
      <p:sp>
        <p:nvSpPr>
          <p:cNvPr id="38" name="Rectangle 37"/>
          <p:cNvSpPr/>
          <p:nvPr/>
        </p:nvSpPr>
        <p:spPr>
          <a:xfrm>
            <a:off x="4445000" y="4716780"/>
            <a:ext cx="1524000" cy="381000"/>
          </a:xfrm>
          <a:prstGeom prst="rect">
            <a:avLst/>
          </a:prstGeom>
          <a:solidFill>
            <a:srgbClr val="B5563C"/>
          </a:solidFill>
          <a:ln w="9525">
            <a:solidFill>
              <a:srgbClr val="B5563C"/>
            </a:solidFill>
          </a:ln>
        </p:spPr>
        <p:txBody>
          <a:bodyPr rtlCol="0" anchor="ctr"/>
          <a:lstStyle/>
          <a:p>
            <a:pPr algn="ctr"/>
          </a:p>
        </p:txBody>
      </p:sp>
      <p:sp>
        <p:nvSpPr>
          <p:cNvPr id="39" name="TextBox 38"/>
          <p:cNvSpPr txBox="1"/>
          <p:nvPr/>
        </p:nvSpPr>
        <p:spPr>
          <a:xfrm>
            <a:off x="4495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Autorisation exceptionnelle</a:t>
            </a:r>
          </a:p>
        </p:txBody>
      </p:sp>
      <p:cxnSp>
        <p:nvCxnSpPr>
          <p:cNvPr id="40" name="Connector 39"/>
          <p:cNvCxnSpPr/>
          <p:nvPr/>
        </p:nvCxnSpPr>
        <p:spPr>
          <a:xfrm>
            <a:off x="5981700" y="4907280"/>
            <a:ext cx="165100" cy="0"/>
          </a:xfrm>
          <a:prstGeom prst="line">
            <a:avLst/>
          </a:prstGeom>
          <a:ln w="9525">
            <a:solidFill>
              <a:srgbClr val="B5563C"/>
            </a:solidFill>
            <a:tailEnd type="triangle"/>
          </a:ln>
        </p:spPr>
      </p:cxnSp>
      <p:sp>
        <p:nvSpPr>
          <p:cNvPr id="41" name="Rectangle 40"/>
          <p:cNvSpPr/>
          <p:nvPr/>
        </p:nvSpPr>
        <p:spPr>
          <a:xfrm>
            <a:off x="6159500" y="4716780"/>
            <a:ext cx="1524000" cy="381000"/>
          </a:xfrm>
          <a:prstGeom prst="rect">
            <a:avLst/>
          </a:prstGeom>
          <a:solidFill>
            <a:srgbClr val="B5563C"/>
          </a:solidFill>
          <a:ln w="9525">
            <a:solidFill>
              <a:srgbClr val="B5563C"/>
            </a:solidFill>
          </a:ln>
        </p:spPr>
        <p:txBody>
          <a:bodyPr rtlCol="0" anchor="ctr"/>
          <a:lstStyle/>
          <a:p>
            <a:pPr algn="ctr"/>
          </a:p>
        </p:txBody>
      </p:sp>
      <p:sp>
        <p:nvSpPr>
          <p:cNvPr id="42" name="TextBox 41"/>
          <p:cNvSpPr txBox="1"/>
          <p:nvPr/>
        </p:nvSpPr>
        <p:spPr>
          <a:xfrm>
            <a:off x="6210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Hôtels, résidences</a:t>
            </a:r>
          </a:p>
        </p:txBody>
      </p:sp>
      <p:sp>
        <p:nvSpPr>
          <p:cNvPr id="43" name="TextBox 42"/>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CAPACITÉ DU STADE (PLACES)</a:t>
            </a:r>
          </a:p>
        </p:txBody>
      </p:sp>
      <p:sp>
        <p:nvSpPr>
          <p:cNvPr id="44" name="TextBox 43"/>
          <p:cNvSpPr txBox="1"/>
          <p:nvPr/>
        </p:nvSpPr>
        <p:spPr>
          <a:xfrm>
            <a:off x="8445500" y="13081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Origine</a:t>
            </a:r>
          </a:p>
        </p:txBody>
      </p:sp>
      <p:sp>
        <p:nvSpPr>
          <p:cNvPr id="45" name="Rectangle 44"/>
          <p:cNvSpPr/>
          <p:nvPr/>
        </p:nvSpPr>
        <p:spPr>
          <a:xfrm>
            <a:off x="9461500" y="1320800"/>
            <a:ext cx="1008529" cy="127000"/>
          </a:xfrm>
          <a:prstGeom prst="rect">
            <a:avLst/>
          </a:prstGeom>
          <a:solidFill>
            <a:srgbClr val="C2B8AA"/>
          </a:solidFill>
          <a:ln>
            <a:noFill/>
          </a:ln>
        </p:spPr>
        <p:txBody>
          <a:bodyPr rtlCol="0" anchor="ctr"/>
          <a:lstStyle/>
          <a:p>
            <a:pPr algn="ctr"/>
          </a:p>
        </p:txBody>
      </p:sp>
      <p:sp>
        <p:nvSpPr>
          <p:cNvPr id="46" name="TextBox 45"/>
          <p:cNvSpPr txBox="1"/>
          <p:nvPr/>
        </p:nvSpPr>
        <p:spPr>
          <a:xfrm>
            <a:off x="10533529" y="13081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&gt;40 000</a:t>
            </a:r>
          </a:p>
        </p:txBody>
      </p:sp>
      <p:sp>
        <p:nvSpPr>
          <p:cNvPr id="47" name="TextBox 46"/>
          <p:cNvSpPr txBox="1"/>
          <p:nvPr/>
        </p:nvSpPr>
        <p:spPr>
          <a:xfrm>
            <a:off x="8445500" y="16256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Après extension</a:t>
            </a:r>
          </a:p>
        </p:txBody>
      </p:sp>
      <p:sp>
        <p:nvSpPr>
          <p:cNvPr id="48" name="Rectangle 47"/>
          <p:cNvSpPr/>
          <p:nvPr/>
        </p:nvSpPr>
        <p:spPr>
          <a:xfrm>
            <a:off x="9461500" y="1638300"/>
            <a:ext cx="1456765" cy="127000"/>
          </a:xfrm>
          <a:prstGeom prst="rect">
            <a:avLst/>
          </a:prstGeom>
          <a:solidFill>
            <a:srgbClr val="B5563C"/>
          </a:solidFill>
          <a:ln>
            <a:noFill/>
          </a:ln>
        </p:spPr>
        <p:txBody>
          <a:bodyPr rtlCol="0" anchor="ctr"/>
          <a:lstStyle/>
          <a:p>
            <a:pPr algn="ctr"/>
          </a:p>
        </p:txBody>
      </p:sp>
      <p:sp>
        <p:nvSpPr>
          <p:cNvPr id="49" name="TextBox 48"/>
          <p:cNvSpPr txBox="1"/>
          <p:nvPr/>
        </p:nvSpPr>
        <p:spPr>
          <a:xfrm>
            <a:off x="10981765" y="16256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65 000</a:t>
            </a:r>
          </a:p>
        </p:txBody>
      </p:sp>
      <p:sp>
        <p:nvSpPr>
          <p:cNvPr id="50" name="TextBox 49"/>
          <p:cNvSpPr txBox="1"/>
          <p:nvPr/>
        </p:nvSpPr>
        <p:spPr>
          <a:xfrm>
            <a:off x="8445500" y="19431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Objectif Mondial</a:t>
            </a:r>
          </a:p>
        </p:txBody>
      </p:sp>
      <p:sp>
        <p:nvSpPr>
          <p:cNvPr id="51" name="Rectangle 50"/>
          <p:cNvSpPr/>
          <p:nvPr/>
        </p:nvSpPr>
        <p:spPr>
          <a:xfrm>
            <a:off x="9461500" y="1955800"/>
            <a:ext cx="1905000" cy="127000"/>
          </a:xfrm>
          <a:prstGeom prst="rect">
            <a:avLst/>
          </a:prstGeom>
          <a:solidFill>
            <a:srgbClr val="E0A86A"/>
          </a:solidFill>
          <a:ln>
            <a:noFill/>
          </a:ln>
        </p:spPr>
        <p:txBody>
          <a:bodyPr rtlCol="0" anchor="ctr"/>
          <a:lstStyle/>
          <a:p>
            <a:pPr algn="ctr"/>
          </a:p>
        </p:txBody>
      </p:sp>
      <p:sp>
        <p:nvSpPr>
          <p:cNvPr id="52" name="TextBox 51"/>
          <p:cNvSpPr txBox="1"/>
          <p:nvPr/>
        </p:nvSpPr>
        <p:spPr>
          <a:xfrm>
            <a:off x="11430000" y="19431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85 000</a:t>
            </a:r>
          </a:p>
        </p:txBody>
      </p:sp>
      <p:pic>
        <p:nvPicPr>
          <p:cNvPr id="53" name="Picture 52" descr="p_stade.jpg"/>
          <p:cNvPicPr>
            <a:picLocks noChangeAspect="1"/>
          </p:cNvPicPr>
          <p:nvPr/>
        </p:nvPicPr>
        <p:blipFill>
          <a:blip r:embed="rId4"/>
          <a:stretch>
            <a:fillRect/>
          </a:stretch>
        </p:blipFill>
        <p:spPr>
          <a:xfrm>
            <a:off x="8445500" y="2381250"/>
            <a:ext cx="3492500" cy="1963561"/>
          </a:xfrm>
          <a:prstGeom prst="rect">
            <a:avLst/>
          </a:prstGeom>
        </p:spPr>
      </p:pic>
      <p:sp>
        <p:nvSpPr>
          <p:cNvPr id="54" name="TextBox 53"/>
          <p:cNvSpPr txBox="1"/>
          <p:nvPr/>
        </p:nvSpPr>
        <p:spPr>
          <a:xfrm>
            <a:off x="8445500" y="4382911"/>
            <a:ext cx="34925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Le grand stade en 2025  </a:t>
            </a:r>
            <a:r>
              <a:rPr sz="800" b="0" i="1">
                <a:solidFill>
                  <a:srgbClr val="7B746B"/>
                </a:solidFill>
                <a:latin typeface="Barlow"/>
              </a:rPr>
              <a:t>Wikimedia Commons, CC0</a:t>
            </a:r>
          </a:p>
        </p:txBody>
      </p:sp>
      <p:sp>
        <p:nvSpPr>
          <p:cNvPr id="55" name="TextBox 54"/>
          <p:cNvSpPr txBox="1"/>
          <p:nvPr/>
        </p:nvSpPr>
        <p:spPr>
          <a:xfrm>
            <a:off x="8445500" y="4572000"/>
            <a:ext cx="3492500" cy="1905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Lecture. </a:t>
            </a:r>
            <a:r>
              <a:rPr sz="1000" b="0" i="0">
                <a:solidFill>
                  <a:srgbClr val="23303A"/>
                </a:solidFill>
                <a:latin typeface="Barlow"/>
              </a:rPr>
              <a:t>Le stade a été agrandi deux fois et sa toiture est visible depuis l'espace. La FIFA juge pourtant les transports (2,6/5) et les hôtels (2,2/5) insuffisants. Ce qui peut être livré à temps (stade, hôtels, façades) passe devant le logement, le transport et les équipements de quartier.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4 · LES OUVRIERS LOIN DE LEURS EMPLOIS</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Distances entre le quartier le plus peuplé et les zones d'emploi industrielles.</a:t>
            </a:r>
          </a:p>
        </p:txBody>
      </p:sp>
      <p:pic>
        <p:nvPicPr>
          <p:cNvPr id="5" name="Picture 4" descr="nc_sk_cervantes.png"/>
          <p:cNvPicPr>
            <a:picLocks noChangeAspect="1"/>
          </p:cNvPicPr>
          <p:nvPr/>
        </p:nvPicPr>
        <p:blipFill>
          <a:blip r:embed="rId2"/>
          <a:stretch>
            <a:fillRect/>
          </a:stretch>
        </p:blipFill>
        <p:spPr>
          <a:xfrm>
            <a:off x="10985500" y="164399"/>
            <a:ext cx="952500" cy="661802"/>
          </a:xfrm>
          <a:prstGeom prst="rect">
            <a:avLst/>
          </a:prstGeom>
        </p:spPr>
      </p:pic>
      <p:sp>
        <p:nvSpPr>
          <p:cNvPr id="6" name="TextBox 5"/>
          <p:cNvSpPr txBox="1"/>
          <p:nvPr/>
        </p:nvSpPr>
        <p:spPr>
          <a:xfrm>
            <a:off x="9756140" y="215900"/>
            <a:ext cx="97536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36</a:t>
            </a:r>
          </a:p>
        </p:txBody>
      </p:sp>
      <p:sp>
        <p:nvSpPr>
          <p:cNvPr id="7" name="TextBox 6"/>
          <p:cNvSpPr txBox="1"/>
          <p:nvPr/>
        </p:nvSpPr>
        <p:spPr>
          <a:xfrm>
            <a:off x="9756140" y="546100"/>
            <a:ext cx="97536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comptés</a:t>
            </a:r>
          </a:p>
          <a:p>
            <a:pPr algn="r">
              <a:lnSpc>
                <a:spcPct val="110000"/>
              </a:lnSpc>
            </a:pPr>
            <a:r>
              <a:rPr sz="850" b="0" i="0">
                <a:solidFill>
                  <a:srgbClr val="7B746B"/>
                </a:solidFill>
                <a:latin typeface="Barlow"/>
              </a:rPr>
              <a:t>(Cour des comptes, 2024)</a:t>
            </a:r>
          </a:p>
        </p:txBody>
      </p:sp>
      <p:sp>
        <p:nvSpPr>
          <p:cNvPr id="8" name="TextBox 7"/>
          <p:cNvSpPr txBox="1"/>
          <p:nvPr/>
        </p:nvSpPr>
        <p:spPr>
          <a:xfrm>
            <a:off x="854329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150 000</a:t>
            </a:r>
          </a:p>
        </p:txBody>
      </p:sp>
      <p:sp>
        <p:nvSpPr>
          <p:cNvPr id="9" name="TextBox 8"/>
          <p:cNvSpPr txBox="1"/>
          <p:nvPr/>
        </p:nvSpPr>
        <p:spPr>
          <a:xfrm>
            <a:off x="854329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prévus</a:t>
            </a:r>
          </a:p>
          <a:p>
            <a:pPr algn="r">
              <a:lnSpc>
                <a:spcPct val="110000"/>
              </a:lnSpc>
            </a:pPr>
            <a:r>
              <a:rPr sz="850" b="0" i="0">
                <a:solidFill>
                  <a:srgbClr val="7B746B"/>
                </a:solidFill>
                <a:latin typeface="Barlow"/>
              </a:rPr>
              <a:t>à Chrafate (2009)</a:t>
            </a:r>
          </a:p>
        </p:txBody>
      </p:sp>
      <p:sp>
        <p:nvSpPr>
          <p:cNvPr id="10" name="TextBox 9"/>
          <p:cNvSpPr txBox="1"/>
          <p:nvPr/>
        </p:nvSpPr>
        <p:spPr>
          <a:xfrm>
            <a:off x="733044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9-32 km</a:t>
            </a:r>
          </a:p>
        </p:txBody>
      </p:sp>
      <p:sp>
        <p:nvSpPr>
          <p:cNvPr id="11" name="TextBox 10"/>
          <p:cNvSpPr txBox="1"/>
          <p:nvPr/>
        </p:nvSpPr>
        <p:spPr>
          <a:xfrm>
            <a:off x="733044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entre Beni Makada et</a:t>
            </a:r>
          </a:p>
          <a:p>
            <a:pPr algn="r">
              <a:lnSpc>
                <a:spcPct val="110000"/>
              </a:lnSpc>
            </a:pPr>
            <a:r>
              <a:rPr sz="850" b="0" i="0">
                <a:solidFill>
                  <a:srgbClr val="7B746B"/>
                </a:solidFill>
                <a:latin typeface="Barlow"/>
              </a:rPr>
              <a:t>les zones d'emploi</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26 / 32</a:t>
            </a:r>
          </a:p>
        </p:txBody>
      </p:sp>
      <p:pic>
        <p:nvPicPr>
          <p:cNvPr id="15" name="Picture 14" descr="m12_industrie.jpg"/>
          <p:cNvPicPr>
            <a:picLocks noChangeAspect="1"/>
          </p:cNvPicPr>
          <p:nvPr/>
        </p:nvPicPr>
        <p:blipFill>
          <a:blip r:embed="rId3"/>
          <a:stretch>
            <a:fillRect/>
          </a:stretch>
        </p:blipFill>
        <p:spPr>
          <a:xfrm>
            <a:off x="254000" y="952500"/>
            <a:ext cx="7937500" cy="4960938"/>
          </a:xfrm>
          <a:prstGeom prst="rect">
            <a:avLst/>
          </a:prstGeom>
        </p:spPr>
      </p:pic>
      <p:sp>
        <p:nvSpPr>
          <p:cNvPr id="16" name="TextBox 15"/>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7" name="Rectangle 16"/>
          <p:cNvSpPr/>
          <p:nvPr/>
        </p:nvSpPr>
        <p:spPr>
          <a:xfrm>
            <a:off x="8445500" y="1174750"/>
            <a:ext cx="165100" cy="101600"/>
          </a:xfrm>
          <a:prstGeom prst="rect">
            <a:avLst/>
          </a:prstGeom>
          <a:solidFill>
            <a:srgbClr val="3E5A6E"/>
          </a:solidFill>
          <a:ln>
            <a:noFill/>
          </a:ln>
        </p:spPr>
        <p:txBody>
          <a:bodyPr rtlCol="0" anchor="ctr"/>
          <a:lstStyle/>
          <a:p>
            <a:pPr algn="ctr"/>
          </a:p>
        </p:txBody>
      </p:sp>
      <p:sp>
        <p:nvSpPr>
          <p:cNvPr id="18" name="TextBox 17"/>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Zones industrielles (OSM)</a:t>
            </a:r>
          </a:p>
        </p:txBody>
      </p:sp>
      <p:sp>
        <p:nvSpPr>
          <p:cNvPr id="19" name="Rectangle 18"/>
          <p:cNvSpPr/>
          <p:nvPr/>
        </p:nvSpPr>
        <p:spPr>
          <a:xfrm>
            <a:off x="8445500" y="1352550"/>
            <a:ext cx="165100" cy="101600"/>
          </a:xfrm>
          <a:prstGeom prst="rect">
            <a:avLst/>
          </a:prstGeom>
          <a:solidFill>
            <a:srgbClr val="BFB3A3"/>
          </a:solidFill>
          <a:ln>
            <a:noFill/>
          </a:ln>
        </p:spPr>
        <p:txBody>
          <a:bodyPr rtlCol="0" anchor="ctr"/>
          <a:lstStyle/>
          <a:p>
            <a:pPr algn="ctr"/>
          </a:p>
        </p:txBody>
      </p:sp>
      <p:sp>
        <p:nvSpPr>
          <p:cNvPr id="20" name="TextBox 19"/>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a:t>
            </a:r>
          </a:p>
        </p:txBody>
      </p:sp>
      <p:cxnSp>
        <p:nvCxnSpPr>
          <p:cNvPr id="21" name="Connector 20"/>
          <p:cNvCxnSpPr/>
          <p:nvPr/>
        </p:nvCxnSpPr>
        <p:spPr>
          <a:xfrm>
            <a:off x="8445500" y="1581150"/>
            <a:ext cx="165100" cy="0"/>
          </a:xfrm>
          <a:prstGeom prst="line">
            <a:avLst/>
          </a:prstGeom>
          <a:ln w="13970">
            <a:solidFill>
              <a:srgbClr val="B5563C"/>
            </a:solidFill>
            <a:prstDash val="dash"/>
          </a:ln>
        </p:spPr>
      </p:cxnSp>
      <p:sp>
        <p:nvSpPr>
          <p:cNvPr id="22" name="TextBox 21"/>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Distance à vol d'oiseau depuis Beni Makada</a:t>
            </a:r>
          </a:p>
        </p:txBody>
      </p:sp>
      <p:cxnSp>
        <p:nvCxnSpPr>
          <p:cNvPr id="23" name="Connector 22"/>
          <p:cNvCxnSpPr/>
          <p:nvPr/>
        </p:nvCxnSpPr>
        <p:spPr>
          <a:xfrm>
            <a:off x="8445500" y="1758950"/>
            <a:ext cx="165100" cy="0"/>
          </a:xfrm>
          <a:prstGeom prst="line">
            <a:avLst/>
          </a:prstGeom>
          <a:ln w="22225">
            <a:solidFill>
              <a:srgbClr val="B5563C"/>
            </a:solidFill>
          </a:ln>
        </p:spPr>
      </p:cxnSp>
      <p:sp>
        <p:nvSpPr>
          <p:cNvPr id="24" name="TextBox 23"/>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25" name="Connector 24"/>
          <p:cNvCxnSpPr/>
          <p:nvPr/>
        </p:nvCxnSpPr>
        <p:spPr>
          <a:xfrm>
            <a:off x="8445500" y="1936750"/>
            <a:ext cx="165100" cy="0"/>
          </a:xfrm>
          <a:prstGeom prst="line">
            <a:avLst/>
          </a:prstGeom>
          <a:ln w="13970">
            <a:solidFill>
              <a:srgbClr val="23303A"/>
            </a:solidFill>
            <a:prstDash val="dash"/>
          </a:ln>
        </p:spPr>
      </p:cxnSp>
      <p:sp>
        <p:nvSpPr>
          <p:cNvPr id="26" name="TextBox 25"/>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a:t>
            </a:r>
          </a:p>
        </p:txBody>
      </p:sp>
      <p:sp>
        <p:nvSpPr>
          <p:cNvPr id="27" name="TextBox 26"/>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CHRAFATE : PRÉVU VS COMPTÉ</a:t>
            </a:r>
          </a:p>
        </p:txBody>
      </p:sp>
      <p:sp>
        <p:nvSpPr>
          <p:cNvPr id="28" name="Oval 27"/>
          <p:cNvSpPr/>
          <p:nvPr/>
        </p:nvSpPr>
        <p:spPr>
          <a:xfrm>
            <a:off x="8464550" y="2432050"/>
            <a:ext cx="114300" cy="114300"/>
          </a:xfrm>
          <a:prstGeom prst="ellipse">
            <a:avLst/>
          </a:prstGeom>
          <a:solidFill>
            <a:srgbClr val="CFD9DE"/>
          </a:solidFill>
          <a:ln w="5080">
            <a:solidFill>
              <a:srgbClr val="3E5A6E"/>
            </a:solidFill>
          </a:ln>
        </p:spPr>
        <p:txBody>
          <a:bodyPr rtlCol="0" anchor="ctr"/>
          <a:lstStyle/>
          <a:p>
            <a:pPr algn="ctr"/>
          </a:p>
        </p:txBody>
      </p:sp>
      <p:sp>
        <p:nvSpPr>
          <p:cNvPr id="29" name="Oval 28"/>
          <p:cNvSpPr/>
          <p:nvPr/>
        </p:nvSpPr>
        <p:spPr>
          <a:xfrm>
            <a:off x="8636000" y="2432050"/>
            <a:ext cx="114300" cy="114300"/>
          </a:xfrm>
          <a:prstGeom prst="ellipse">
            <a:avLst/>
          </a:prstGeom>
          <a:solidFill>
            <a:srgbClr val="CFD9DE"/>
          </a:solidFill>
          <a:ln w="5080">
            <a:solidFill>
              <a:srgbClr val="3E5A6E"/>
            </a:solidFill>
          </a:ln>
        </p:spPr>
        <p:txBody>
          <a:bodyPr rtlCol="0" anchor="ctr"/>
          <a:lstStyle/>
          <a:p>
            <a:pPr algn="ctr"/>
          </a:p>
        </p:txBody>
      </p:sp>
      <p:sp>
        <p:nvSpPr>
          <p:cNvPr id="30" name="Oval 29"/>
          <p:cNvSpPr/>
          <p:nvPr/>
        </p:nvSpPr>
        <p:spPr>
          <a:xfrm>
            <a:off x="8807450" y="2432050"/>
            <a:ext cx="114300" cy="114300"/>
          </a:xfrm>
          <a:prstGeom prst="ellipse">
            <a:avLst/>
          </a:prstGeom>
          <a:solidFill>
            <a:srgbClr val="CFD9DE"/>
          </a:solidFill>
          <a:ln w="5080">
            <a:solidFill>
              <a:srgbClr val="3E5A6E"/>
            </a:solidFill>
          </a:ln>
        </p:spPr>
        <p:txBody>
          <a:bodyPr rtlCol="0" anchor="ctr"/>
          <a:lstStyle/>
          <a:p>
            <a:pPr algn="ctr"/>
          </a:p>
        </p:txBody>
      </p:sp>
      <p:sp>
        <p:nvSpPr>
          <p:cNvPr id="31" name="Oval 30"/>
          <p:cNvSpPr/>
          <p:nvPr/>
        </p:nvSpPr>
        <p:spPr>
          <a:xfrm>
            <a:off x="8978900" y="2432050"/>
            <a:ext cx="114300" cy="114300"/>
          </a:xfrm>
          <a:prstGeom prst="ellipse">
            <a:avLst/>
          </a:prstGeom>
          <a:solidFill>
            <a:srgbClr val="CFD9DE"/>
          </a:solidFill>
          <a:ln w="5080">
            <a:solidFill>
              <a:srgbClr val="3E5A6E"/>
            </a:solidFill>
          </a:ln>
        </p:spPr>
        <p:txBody>
          <a:bodyPr rtlCol="0" anchor="ctr"/>
          <a:lstStyle/>
          <a:p>
            <a:pPr algn="ctr"/>
          </a:p>
        </p:txBody>
      </p:sp>
      <p:sp>
        <p:nvSpPr>
          <p:cNvPr id="32" name="Oval 31"/>
          <p:cNvSpPr/>
          <p:nvPr/>
        </p:nvSpPr>
        <p:spPr>
          <a:xfrm>
            <a:off x="9150350" y="2432050"/>
            <a:ext cx="114300" cy="114300"/>
          </a:xfrm>
          <a:prstGeom prst="ellipse">
            <a:avLst/>
          </a:prstGeom>
          <a:solidFill>
            <a:srgbClr val="CFD9DE"/>
          </a:solidFill>
          <a:ln w="5080">
            <a:solidFill>
              <a:srgbClr val="3E5A6E"/>
            </a:solidFill>
          </a:ln>
        </p:spPr>
        <p:txBody>
          <a:bodyPr rtlCol="0" anchor="ctr"/>
          <a:lstStyle/>
          <a:p>
            <a:pPr algn="ctr"/>
          </a:p>
        </p:txBody>
      </p:sp>
      <p:sp>
        <p:nvSpPr>
          <p:cNvPr id="33" name="Oval 32"/>
          <p:cNvSpPr/>
          <p:nvPr/>
        </p:nvSpPr>
        <p:spPr>
          <a:xfrm>
            <a:off x="9321800" y="2432050"/>
            <a:ext cx="114300" cy="114300"/>
          </a:xfrm>
          <a:prstGeom prst="ellipse">
            <a:avLst/>
          </a:prstGeom>
          <a:solidFill>
            <a:srgbClr val="CFD9DE"/>
          </a:solidFill>
          <a:ln w="5080">
            <a:solidFill>
              <a:srgbClr val="3E5A6E"/>
            </a:solidFill>
          </a:ln>
        </p:spPr>
        <p:txBody>
          <a:bodyPr rtlCol="0" anchor="ctr"/>
          <a:lstStyle/>
          <a:p>
            <a:pPr algn="ctr"/>
          </a:p>
        </p:txBody>
      </p:sp>
      <p:sp>
        <p:nvSpPr>
          <p:cNvPr id="34" name="Oval 33"/>
          <p:cNvSpPr/>
          <p:nvPr/>
        </p:nvSpPr>
        <p:spPr>
          <a:xfrm>
            <a:off x="9493250" y="2432050"/>
            <a:ext cx="114300" cy="114300"/>
          </a:xfrm>
          <a:prstGeom prst="ellipse">
            <a:avLst/>
          </a:prstGeom>
          <a:solidFill>
            <a:srgbClr val="CFD9DE"/>
          </a:solidFill>
          <a:ln w="5080">
            <a:solidFill>
              <a:srgbClr val="3E5A6E"/>
            </a:solidFill>
          </a:ln>
        </p:spPr>
        <p:txBody>
          <a:bodyPr rtlCol="0" anchor="ctr"/>
          <a:lstStyle/>
          <a:p>
            <a:pPr algn="ctr"/>
          </a:p>
        </p:txBody>
      </p:sp>
      <p:sp>
        <p:nvSpPr>
          <p:cNvPr id="35" name="Oval 34"/>
          <p:cNvSpPr/>
          <p:nvPr/>
        </p:nvSpPr>
        <p:spPr>
          <a:xfrm>
            <a:off x="9664700" y="2432050"/>
            <a:ext cx="114300" cy="114300"/>
          </a:xfrm>
          <a:prstGeom prst="ellipse">
            <a:avLst/>
          </a:prstGeom>
          <a:solidFill>
            <a:srgbClr val="CFD9DE"/>
          </a:solidFill>
          <a:ln w="5080">
            <a:solidFill>
              <a:srgbClr val="3E5A6E"/>
            </a:solidFill>
          </a:ln>
        </p:spPr>
        <p:txBody>
          <a:bodyPr rtlCol="0" anchor="ctr"/>
          <a:lstStyle/>
          <a:p>
            <a:pPr algn="ctr"/>
          </a:p>
        </p:txBody>
      </p:sp>
      <p:sp>
        <p:nvSpPr>
          <p:cNvPr id="36" name="Oval 35"/>
          <p:cNvSpPr/>
          <p:nvPr/>
        </p:nvSpPr>
        <p:spPr>
          <a:xfrm>
            <a:off x="9836150" y="2432050"/>
            <a:ext cx="114300" cy="114300"/>
          </a:xfrm>
          <a:prstGeom prst="ellipse">
            <a:avLst/>
          </a:prstGeom>
          <a:solidFill>
            <a:srgbClr val="CFD9DE"/>
          </a:solidFill>
          <a:ln w="5080">
            <a:solidFill>
              <a:srgbClr val="3E5A6E"/>
            </a:solidFill>
          </a:ln>
        </p:spPr>
        <p:txBody>
          <a:bodyPr rtlCol="0" anchor="ctr"/>
          <a:lstStyle/>
          <a:p>
            <a:pPr algn="ctr"/>
          </a:p>
        </p:txBody>
      </p:sp>
      <p:sp>
        <p:nvSpPr>
          <p:cNvPr id="37" name="Oval 36"/>
          <p:cNvSpPr/>
          <p:nvPr/>
        </p:nvSpPr>
        <p:spPr>
          <a:xfrm>
            <a:off x="10007600" y="2432050"/>
            <a:ext cx="114300" cy="114300"/>
          </a:xfrm>
          <a:prstGeom prst="ellipse">
            <a:avLst/>
          </a:prstGeom>
          <a:solidFill>
            <a:srgbClr val="CFD9DE"/>
          </a:solidFill>
          <a:ln w="5080">
            <a:solidFill>
              <a:srgbClr val="3E5A6E"/>
            </a:solidFill>
          </a:ln>
        </p:spPr>
        <p:txBody>
          <a:bodyPr rtlCol="0" anchor="ctr"/>
          <a:lstStyle/>
          <a:p>
            <a:pPr algn="ctr"/>
          </a:p>
        </p:txBody>
      </p:sp>
      <p:sp>
        <p:nvSpPr>
          <p:cNvPr id="38" name="Oval 37"/>
          <p:cNvSpPr/>
          <p:nvPr/>
        </p:nvSpPr>
        <p:spPr>
          <a:xfrm>
            <a:off x="10179050" y="2432050"/>
            <a:ext cx="114300" cy="114300"/>
          </a:xfrm>
          <a:prstGeom prst="ellipse">
            <a:avLst/>
          </a:prstGeom>
          <a:solidFill>
            <a:srgbClr val="CFD9DE"/>
          </a:solidFill>
          <a:ln w="5080">
            <a:solidFill>
              <a:srgbClr val="3E5A6E"/>
            </a:solidFill>
          </a:ln>
        </p:spPr>
        <p:txBody>
          <a:bodyPr rtlCol="0" anchor="ctr"/>
          <a:lstStyle/>
          <a:p>
            <a:pPr algn="ctr"/>
          </a:p>
        </p:txBody>
      </p:sp>
      <p:sp>
        <p:nvSpPr>
          <p:cNvPr id="39" name="Oval 38"/>
          <p:cNvSpPr/>
          <p:nvPr/>
        </p:nvSpPr>
        <p:spPr>
          <a:xfrm>
            <a:off x="10350500" y="2432050"/>
            <a:ext cx="114300" cy="114300"/>
          </a:xfrm>
          <a:prstGeom prst="ellipse">
            <a:avLst/>
          </a:prstGeom>
          <a:solidFill>
            <a:srgbClr val="CFD9DE"/>
          </a:solidFill>
          <a:ln w="5080">
            <a:solidFill>
              <a:srgbClr val="3E5A6E"/>
            </a:solidFill>
          </a:ln>
        </p:spPr>
        <p:txBody>
          <a:bodyPr rtlCol="0" anchor="ctr"/>
          <a:lstStyle/>
          <a:p>
            <a:pPr algn="ctr"/>
          </a:p>
        </p:txBody>
      </p:sp>
      <p:sp>
        <p:nvSpPr>
          <p:cNvPr id="40" name="Oval 39"/>
          <p:cNvSpPr/>
          <p:nvPr/>
        </p:nvSpPr>
        <p:spPr>
          <a:xfrm>
            <a:off x="10521950" y="2432050"/>
            <a:ext cx="114300" cy="114300"/>
          </a:xfrm>
          <a:prstGeom prst="ellipse">
            <a:avLst/>
          </a:prstGeom>
          <a:solidFill>
            <a:srgbClr val="CFD9DE"/>
          </a:solidFill>
          <a:ln w="5080">
            <a:solidFill>
              <a:srgbClr val="3E5A6E"/>
            </a:solidFill>
          </a:ln>
        </p:spPr>
        <p:txBody>
          <a:bodyPr rtlCol="0" anchor="ctr"/>
          <a:lstStyle/>
          <a:p>
            <a:pPr algn="ctr"/>
          </a:p>
        </p:txBody>
      </p:sp>
      <p:sp>
        <p:nvSpPr>
          <p:cNvPr id="41" name="Oval 40"/>
          <p:cNvSpPr/>
          <p:nvPr/>
        </p:nvSpPr>
        <p:spPr>
          <a:xfrm>
            <a:off x="10693400" y="2432050"/>
            <a:ext cx="114300" cy="114300"/>
          </a:xfrm>
          <a:prstGeom prst="ellipse">
            <a:avLst/>
          </a:prstGeom>
          <a:solidFill>
            <a:srgbClr val="CFD9DE"/>
          </a:solidFill>
          <a:ln w="5080">
            <a:solidFill>
              <a:srgbClr val="3E5A6E"/>
            </a:solidFill>
          </a:ln>
        </p:spPr>
        <p:txBody>
          <a:bodyPr rtlCol="0" anchor="ctr"/>
          <a:lstStyle/>
          <a:p>
            <a:pPr algn="ctr"/>
          </a:p>
        </p:txBody>
      </p:sp>
      <p:sp>
        <p:nvSpPr>
          <p:cNvPr id="42" name="Oval 41"/>
          <p:cNvSpPr/>
          <p:nvPr/>
        </p:nvSpPr>
        <p:spPr>
          <a:xfrm>
            <a:off x="10864850" y="2432050"/>
            <a:ext cx="114300" cy="114300"/>
          </a:xfrm>
          <a:prstGeom prst="ellipse">
            <a:avLst/>
          </a:prstGeom>
          <a:solidFill>
            <a:srgbClr val="CFD9DE"/>
          </a:solidFill>
          <a:ln w="5080">
            <a:solidFill>
              <a:srgbClr val="3E5A6E"/>
            </a:solidFill>
          </a:ln>
        </p:spPr>
        <p:txBody>
          <a:bodyPr rtlCol="0" anchor="ctr"/>
          <a:lstStyle/>
          <a:p>
            <a:pPr algn="ctr"/>
          </a:p>
        </p:txBody>
      </p:sp>
      <p:sp>
        <p:nvSpPr>
          <p:cNvPr id="43" name="Oval 42"/>
          <p:cNvSpPr/>
          <p:nvPr/>
        </p:nvSpPr>
        <p:spPr>
          <a:xfrm>
            <a:off x="11036300" y="2432050"/>
            <a:ext cx="114300" cy="114300"/>
          </a:xfrm>
          <a:prstGeom prst="ellipse">
            <a:avLst/>
          </a:prstGeom>
          <a:solidFill>
            <a:srgbClr val="CFD9DE"/>
          </a:solidFill>
          <a:ln w="5080">
            <a:solidFill>
              <a:srgbClr val="3E5A6E"/>
            </a:solidFill>
          </a:ln>
        </p:spPr>
        <p:txBody>
          <a:bodyPr rtlCol="0" anchor="ctr"/>
          <a:lstStyle/>
          <a:p>
            <a:pPr algn="ctr"/>
          </a:p>
        </p:txBody>
      </p:sp>
      <p:sp>
        <p:nvSpPr>
          <p:cNvPr id="44" name="Oval 43"/>
          <p:cNvSpPr/>
          <p:nvPr/>
        </p:nvSpPr>
        <p:spPr>
          <a:xfrm>
            <a:off x="11207750" y="2432050"/>
            <a:ext cx="114300" cy="114300"/>
          </a:xfrm>
          <a:prstGeom prst="ellipse">
            <a:avLst/>
          </a:prstGeom>
          <a:solidFill>
            <a:srgbClr val="CFD9DE"/>
          </a:solidFill>
          <a:ln w="5080">
            <a:solidFill>
              <a:srgbClr val="3E5A6E"/>
            </a:solidFill>
          </a:ln>
        </p:spPr>
        <p:txBody>
          <a:bodyPr rtlCol="0" anchor="ctr"/>
          <a:lstStyle/>
          <a:p>
            <a:pPr algn="ctr"/>
          </a:p>
        </p:txBody>
      </p:sp>
      <p:sp>
        <p:nvSpPr>
          <p:cNvPr id="45" name="Oval 44"/>
          <p:cNvSpPr/>
          <p:nvPr/>
        </p:nvSpPr>
        <p:spPr>
          <a:xfrm>
            <a:off x="11379200" y="2432050"/>
            <a:ext cx="114300" cy="114300"/>
          </a:xfrm>
          <a:prstGeom prst="ellipse">
            <a:avLst/>
          </a:prstGeom>
          <a:solidFill>
            <a:srgbClr val="CFD9DE"/>
          </a:solidFill>
          <a:ln w="5080">
            <a:solidFill>
              <a:srgbClr val="3E5A6E"/>
            </a:solidFill>
          </a:ln>
        </p:spPr>
        <p:txBody>
          <a:bodyPr rtlCol="0" anchor="ctr"/>
          <a:lstStyle/>
          <a:p>
            <a:pPr algn="ctr"/>
          </a:p>
        </p:txBody>
      </p:sp>
      <p:sp>
        <p:nvSpPr>
          <p:cNvPr id="46" name="Oval 45"/>
          <p:cNvSpPr/>
          <p:nvPr/>
        </p:nvSpPr>
        <p:spPr>
          <a:xfrm>
            <a:off x="11550650" y="2432050"/>
            <a:ext cx="114300" cy="114300"/>
          </a:xfrm>
          <a:prstGeom prst="ellipse">
            <a:avLst/>
          </a:prstGeom>
          <a:solidFill>
            <a:srgbClr val="CFD9DE"/>
          </a:solidFill>
          <a:ln w="5080">
            <a:solidFill>
              <a:srgbClr val="3E5A6E"/>
            </a:solidFill>
          </a:ln>
        </p:spPr>
        <p:txBody>
          <a:bodyPr rtlCol="0" anchor="ctr"/>
          <a:lstStyle/>
          <a:p>
            <a:pPr algn="ctr"/>
          </a:p>
        </p:txBody>
      </p:sp>
      <p:sp>
        <p:nvSpPr>
          <p:cNvPr id="47" name="Oval 46"/>
          <p:cNvSpPr/>
          <p:nvPr/>
        </p:nvSpPr>
        <p:spPr>
          <a:xfrm>
            <a:off x="11722100" y="2432050"/>
            <a:ext cx="114300" cy="114300"/>
          </a:xfrm>
          <a:prstGeom prst="ellipse">
            <a:avLst/>
          </a:prstGeom>
          <a:solidFill>
            <a:srgbClr val="CFD9DE"/>
          </a:solidFill>
          <a:ln w="5080">
            <a:solidFill>
              <a:srgbClr val="3E5A6E"/>
            </a:solidFill>
          </a:ln>
        </p:spPr>
        <p:txBody>
          <a:bodyPr rtlCol="0" anchor="ctr"/>
          <a:lstStyle/>
          <a:p>
            <a:pPr algn="ctr"/>
          </a:p>
        </p:txBody>
      </p:sp>
      <p:sp>
        <p:nvSpPr>
          <p:cNvPr id="48" name="Oval 47"/>
          <p:cNvSpPr/>
          <p:nvPr/>
        </p:nvSpPr>
        <p:spPr>
          <a:xfrm>
            <a:off x="8464550" y="2603500"/>
            <a:ext cx="114300" cy="114300"/>
          </a:xfrm>
          <a:prstGeom prst="ellipse">
            <a:avLst/>
          </a:prstGeom>
          <a:solidFill>
            <a:srgbClr val="CFD9DE"/>
          </a:solidFill>
          <a:ln w="5080">
            <a:solidFill>
              <a:srgbClr val="3E5A6E"/>
            </a:solidFill>
          </a:ln>
        </p:spPr>
        <p:txBody>
          <a:bodyPr rtlCol="0" anchor="ctr"/>
          <a:lstStyle/>
          <a:p>
            <a:pPr algn="ctr"/>
          </a:p>
        </p:txBody>
      </p:sp>
      <p:sp>
        <p:nvSpPr>
          <p:cNvPr id="49" name="Oval 48"/>
          <p:cNvSpPr/>
          <p:nvPr/>
        </p:nvSpPr>
        <p:spPr>
          <a:xfrm>
            <a:off x="8636000" y="2603500"/>
            <a:ext cx="114300" cy="114300"/>
          </a:xfrm>
          <a:prstGeom prst="ellipse">
            <a:avLst/>
          </a:prstGeom>
          <a:solidFill>
            <a:srgbClr val="CFD9DE"/>
          </a:solidFill>
          <a:ln w="5080">
            <a:solidFill>
              <a:srgbClr val="3E5A6E"/>
            </a:solidFill>
          </a:ln>
        </p:spPr>
        <p:txBody>
          <a:bodyPr rtlCol="0" anchor="ctr"/>
          <a:lstStyle/>
          <a:p>
            <a:pPr algn="ctr"/>
          </a:p>
        </p:txBody>
      </p:sp>
      <p:sp>
        <p:nvSpPr>
          <p:cNvPr id="50" name="Oval 49"/>
          <p:cNvSpPr/>
          <p:nvPr/>
        </p:nvSpPr>
        <p:spPr>
          <a:xfrm>
            <a:off x="8807450" y="2603500"/>
            <a:ext cx="114300" cy="114300"/>
          </a:xfrm>
          <a:prstGeom prst="ellipse">
            <a:avLst/>
          </a:prstGeom>
          <a:solidFill>
            <a:srgbClr val="CFD9DE"/>
          </a:solidFill>
          <a:ln w="5080">
            <a:solidFill>
              <a:srgbClr val="3E5A6E"/>
            </a:solidFill>
          </a:ln>
        </p:spPr>
        <p:txBody>
          <a:bodyPr rtlCol="0" anchor="ctr"/>
          <a:lstStyle/>
          <a:p>
            <a:pPr algn="ctr"/>
          </a:p>
        </p:txBody>
      </p:sp>
      <p:sp>
        <p:nvSpPr>
          <p:cNvPr id="51" name="Oval 50"/>
          <p:cNvSpPr/>
          <p:nvPr/>
        </p:nvSpPr>
        <p:spPr>
          <a:xfrm>
            <a:off x="8978900" y="2603500"/>
            <a:ext cx="114300" cy="114300"/>
          </a:xfrm>
          <a:prstGeom prst="ellipse">
            <a:avLst/>
          </a:prstGeom>
          <a:solidFill>
            <a:srgbClr val="CFD9DE"/>
          </a:solidFill>
          <a:ln w="5080">
            <a:solidFill>
              <a:srgbClr val="3E5A6E"/>
            </a:solidFill>
          </a:ln>
        </p:spPr>
        <p:txBody>
          <a:bodyPr rtlCol="0" anchor="ctr"/>
          <a:lstStyle/>
          <a:p>
            <a:pPr algn="ctr"/>
          </a:p>
        </p:txBody>
      </p:sp>
      <p:sp>
        <p:nvSpPr>
          <p:cNvPr id="52" name="Oval 51"/>
          <p:cNvSpPr/>
          <p:nvPr/>
        </p:nvSpPr>
        <p:spPr>
          <a:xfrm>
            <a:off x="9150350" y="2603500"/>
            <a:ext cx="114300" cy="114300"/>
          </a:xfrm>
          <a:prstGeom prst="ellipse">
            <a:avLst/>
          </a:prstGeom>
          <a:solidFill>
            <a:srgbClr val="CFD9DE"/>
          </a:solidFill>
          <a:ln w="5080">
            <a:solidFill>
              <a:srgbClr val="3E5A6E"/>
            </a:solidFill>
          </a:ln>
        </p:spPr>
        <p:txBody>
          <a:bodyPr rtlCol="0" anchor="ctr"/>
          <a:lstStyle/>
          <a:p>
            <a:pPr algn="ctr"/>
          </a:p>
        </p:txBody>
      </p:sp>
      <p:sp>
        <p:nvSpPr>
          <p:cNvPr id="53" name="Oval 52"/>
          <p:cNvSpPr/>
          <p:nvPr/>
        </p:nvSpPr>
        <p:spPr>
          <a:xfrm>
            <a:off x="9321800" y="2603500"/>
            <a:ext cx="114300" cy="114300"/>
          </a:xfrm>
          <a:prstGeom prst="ellipse">
            <a:avLst/>
          </a:prstGeom>
          <a:solidFill>
            <a:srgbClr val="CFD9DE"/>
          </a:solidFill>
          <a:ln w="5080">
            <a:solidFill>
              <a:srgbClr val="3E5A6E"/>
            </a:solidFill>
          </a:ln>
        </p:spPr>
        <p:txBody>
          <a:bodyPr rtlCol="0" anchor="ctr"/>
          <a:lstStyle/>
          <a:p>
            <a:pPr algn="ctr"/>
          </a:p>
        </p:txBody>
      </p:sp>
      <p:sp>
        <p:nvSpPr>
          <p:cNvPr id="54" name="Oval 53"/>
          <p:cNvSpPr/>
          <p:nvPr/>
        </p:nvSpPr>
        <p:spPr>
          <a:xfrm>
            <a:off x="9493250" y="2603500"/>
            <a:ext cx="114300" cy="114300"/>
          </a:xfrm>
          <a:prstGeom prst="ellipse">
            <a:avLst/>
          </a:prstGeom>
          <a:solidFill>
            <a:srgbClr val="CFD9DE"/>
          </a:solidFill>
          <a:ln w="5080">
            <a:solidFill>
              <a:srgbClr val="3E5A6E"/>
            </a:solidFill>
          </a:ln>
        </p:spPr>
        <p:txBody>
          <a:bodyPr rtlCol="0" anchor="ctr"/>
          <a:lstStyle/>
          <a:p>
            <a:pPr algn="ctr"/>
          </a:p>
        </p:txBody>
      </p:sp>
      <p:sp>
        <p:nvSpPr>
          <p:cNvPr id="55" name="Oval 54"/>
          <p:cNvSpPr/>
          <p:nvPr/>
        </p:nvSpPr>
        <p:spPr>
          <a:xfrm>
            <a:off x="9664700" y="2603500"/>
            <a:ext cx="114300" cy="114300"/>
          </a:xfrm>
          <a:prstGeom prst="ellipse">
            <a:avLst/>
          </a:prstGeom>
          <a:solidFill>
            <a:srgbClr val="CFD9DE"/>
          </a:solidFill>
          <a:ln w="5080">
            <a:solidFill>
              <a:srgbClr val="3E5A6E"/>
            </a:solidFill>
          </a:ln>
        </p:spPr>
        <p:txBody>
          <a:bodyPr rtlCol="0" anchor="ctr"/>
          <a:lstStyle/>
          <a:p>
            <a:pPr algn="ctr"/>
          </a:p>
        </p:txBody>
      </p:sp>
      <p:sp>
        <p:nvSpPr>
          <p:cNvPr id="56" name="Oval 55"/>
          <p:cNvSpPr/>
          <p:nvPr/>
        </p:nvSpPr>
        <p:spPr>
          <a:xfrm>
            <a:off x="9836150" y="2603500"/>
            <a:ext cx="114300" cy="114300"/>
          </a:xfrm>
          <a:prstGeom prst="ellipse">
            <a:avLst/>
          </a:prstGeom>
          <a:solidFill>
            <a:srgbClr val="CFD9DE"/>
          </a:solidFill>
          <a:ln w="5080">
            <a:solidFill>
              <a:srgbClr val="3E5A6E"/>
            </a:solidFill>
          </a:ln>
        </p:spPr>
        <p:txBody>
          <a:bodyPr rtlCol="0" anchor="ctr"/>
          <a:lstStyle/>
          <a:p>
            <a:pPr algn="ctr"/>
          </a:p>
        </p:txBody>
      </p:sp>
      <p:sp>
        <p:nvSpPr>
          <p:cNvPr id="57" name="Oval 56"/>
          <p:cNvSpPr/>
          <p:nvPr/>
        </p:nvSpPr>
        <p:spPr>
          <a:xfrm>
            <a:off x="10007600" y="2603500"/>
            <a:ext cx="114300" cy="114300"/>
          </a:xfrm>
          <a:prstGeom prst="ellipse">
            <a:avLst/>
          </a:prstGeom>
          <a:solidFill>
            <a:srgbClr val="CFD9DE"/>
          </a:solidFill>
          <a:ln w="5080">
            <a:solidFill>
              <a:srgbClr val="3E5A6E"/>
            </a:solidFill>
          </a:ln>
        </p:spPr>
        <p:txBody>
          <a:bodyPr rtlCol="0" anchor="ctr"/>
          <a:lstStyle/>
          <a:p>
            <a:pPr algn="ctr"/>
          </a:p>
        </p:txBody>
      </p:sp>
      <p:sp>
        <p:nvSpPr>
          <p:cNvPr id="58" name="Oval 57"/>
          <p:cNvSpPr/>
          <p:nvPr/>
        </p:nvSpPr>
        <p:spPr>
          <a:xfrm>
            <a:off x="10179050" y="2603500"/>
            <a:ext cx="114300" cy="114300"/>
          </a:xfrm>
          <a:prstGeom prst="ellipse">
            <a:avLst/>
          </a:prstGeom>
          <a:solidFill>
            <a:srgbClr val="CFD9DE"/>
          </a:solidFill>
          <a:ln w="5080">
            <a:solidFill>
              <a:srgbClr val="3E5A6E"/>
            </a:solidFill>
          </a:ln>
        </p:spPr>
        <p:txBody>
          <a:bodyPr rtlCol="0" anchor="ctr"/>
          <a:lstStyle/>
          <a:p>
            <a:pPr algn="ctr"/>
          </a:p>
        </p:txBody>
      </p:sp>
      <p:sp>
        <p:nvSpPr>
          <p:cNvPr id="59" name="Oval 58"/>
          <p:cNvSpPr/>
          <p:nvPr/>
        </p:nvSpPr>
        <p:spPr>
          <a:xfrm>
            <a:off x="10350500" y="2603500"/>
            <a:ext cx="114300" cy="114300"/>
          </a:xfrm>
          <a:prstGeom prst="ellipse">
            <a:avLst/>
          </a:prstGeom>
          <a:solidFill>
            <a:srgbClr val="CFD9DE"/>
          </a:solidFill>
          <a:ln w="5080">
            <a:solidFill>
              <a:srgbClr val="3E5A6E"/>
            </a:solidFill>
          </a:ln>
        </p:spPr>
        <p:txBody>
          <a:bodyPr rtlCol="0" anchor="ctr"/>
          <a:lstStyle/>
          <a:p>
            <a:pPr algn="ctr"/>
          </a:p>
        </p:txBody>
      </p:sp>
      <p:sp>
        <p:nvSpPr>
          <p:cNvPr id="60" name="Oval 59"/>
          <p:cNvSpPr/>
          <p:nvPr/>
        </p:nvSpPr>
        <p:spPr>
          <a:xfrm>
            <a:off x="10521950" y="2603500"/>
            <a:ext cx="114300" cy="114300"/>
          </a:xfrm>
          <a:prstGeom prst="ellipse">
            <a:avLst/>
          </a:prstGeom>
          <a:solidFill>
            <a:srgbClr val="CFD9DE"/>
          </a:solidFill>
          <a:ln w="5080">
            <a:solidFill>
              <a:srgbClr val="3E5A6E"/>
            </a:solidFill>
          </a:ln>
        </p:spPr>
        <p:txBody>
          <a:bodyPr rtlCol="0" anchor="ctr"/>
          <a:lstStyle/>
          <a:p>
            <a:pPr algn="ctr"/>
          </a:p>
        </p:txBody>
      </p:sp>
      <p:sp>
        <p:nvSpPr>
          <p:cNvPr id="61" name="Oval 60"/>
          <p:cNvSpPr/>
          <p:nvPr/>
        </p:nvSpPr>
        <p:spPr>
          <a:xfrm>
            <a:off x="10693400" y="2603500"/>
            <a:ext cx="114300" cy="114300"/>
          </a:xfrm>
          <a:prstGeom prst="ellipse">
            <a:avLst/>
          </a:prstGeom>
          <a:solidFill>
            <a:srgbClr val="CFD9DE"/>
          </a:solidFill>
          <a:ln w="5080">
            <a:solidFill>
              <a:srgbClr val="3E5A6E"/>
            </a:solidFill>
          </a:ln>
        </p:spPr>
        <p:txBody>
          <a:bodyPr rtlCol="0" anchor="ctr"/>
          <a:lstStyle/>
          <a:p>
            <a:pPr algn="ctr"/>
          </a:p>
        </p:txBody>
      </p:sp>
      <p:sp>
        <p:nvSpPr>
          <p:cNvPr id="62" name="Oval 61"/>
          <p:cNvSpPr/>
          <p:nvPr/>
        </p:nvSpPr>
        <p:spPr>
          <a:xfrm>
            <a:off x="10864850" y="2603500"/>
            <a:ext cx="114300" cy="114300"/>
          </a:xfrm>
          <a:prstGeom prst="ellipse">
            <a:avLst/>
          </a:prstGeom>
          <a:solidFill>
            <a:srgbClr val="CFD9DE"/>
          </a:solidFill>
          <a:ln w="5080">
            <a:solidFill>
              <a:srgbClr val="3E5A6E"/>
            </a:solidFill>
          </a:ln>
        </p:spPr>
        <p:txBody>
          <a:bodyPr rtlCol="0" anchor="ctr"/>
          <a:lstStyle/>
          <a:p>
            <a:pPr algn="ctr"/>
          </a:p>
        </p:txBody>
      </p:sp>
      <p:sp>
        <p:nvSpPr>
          <p:cNvPr id="63" name="Oval 62"/>
          <p:cNvSpPr/>
          <p:nvPr/>
        </p:nvSpPr>
        <p:spPr>
          <a:xfrm>
            <a:off x="11036300" y="2603500"/>
            <a:ext cx="114300" cy="114300"/>
          </a:xfrm>
          <a:prstGeom prst="ellipse">
            <a:avLst/>
          </a:prstGeom>
          <a:solidFill>
            <a:srgbClr val="CFD9DE"/>
          </a:solidFill>
          <a:ln w="5080">
            <a:solidFill>
              <a:srgbClr val="3E5A6E"/>
            </a:solidFill>
          </a:ln>
        </p:spPr>
        <p:txBody>
          <a:bodyPr rtlCol="0" anchor="ctr"/>
          <a:lstStyle/>
          <a:p>
            <a:pPr algn="ctr"/>
          </a:p>
        </p:txBody>
      </p:sp>
      <p:sp>
        <p:nvSpPr>
          <p:cNvPr id="64" name="Oval 63"/>
          <p:cNvSpPr/>
          <p:nvPr/>
        </p:nvSpPr>
        <p:spPr>
          <a:xfrm>
            <a:off x="11207750" y="2603500"/>
            <a:ext cx="114300" cy="114300"/>
          </a:xfrm>
          <a:prstGeom prst="ellipse">
            <a:avLst/>
          </a:prstGeom>
          <a:solidFill>
            <a:srgbClr val="CFD9DE"/>
          </a:solidFill>
          <a:ln w="5080">
            <a:solidFill>
              <a:srgbClr val="3E5A6E"/>
            </a:solidFill>
          </a:ln>
        </p:spPr>
        <p:txBody>
          <a:bodyPr rtlCol="0" anchor="ctr"/>
          <a:lstStyle/>
          <a:p>
            <a:pPr algn="ctr"/>
          </a:p>
        </p:txBody>
      </p:sp>
      <p:sp>
        <p:nvSpPr>
          <p:cNvPr id="65" name="Oval 64"/>
          <p:cNvSpPr/>
          <p:nvPr/>
        </p:nvSpPr>
        <p:spPr>
          <a:xfrm>
            <a:off x="11379200" y="2603500"/>
            <a:ext cx="114300" cy="114300"/>
          </a:xfrm>
          <a:prstGeom prst="ellipse">
            <a:avLst/>
          </a:prstGeom>
          <a:solidFill>
            <a:srgbClr val="CFD9DE"/>
          </a:solidFill>
          <a:ln w="5080">
            <a:solidFill>
              <a:srgbClr val="3E5A6E"/>
            </a:solidFill>
          </a:ln>
        </p:spPr>
        <p:txBody>
          <a:bodyPr rtlCol="0" anchor="ctr"/>
          <a:lstStyle/>
          <a:p>
            <a:pPr algn="ctr"/>
          </a:p>
        </p:txBody>
      </p:sp>
      <p:sp>
        <p:nvSpPr>
          <p:cNvPr id="66" name="Oval 65"/>
          <p:cNvSpPr/>
          <p:nvPr/>
        </p:nvSpPr>
        <p:spPr>
          <a:xfrm>
            <a:off x="11550650" y="2603500"/>
            <a:ext cx="114300" cy="114300"/>
          </a:xfrm>
          <a:prstGeom prst="ellipse">
            <a:avLst/>
          </a:prstGeom>
          <a:solidFill>
            <a:srgbClr val="CFD9DE"/>
          </a:solidFill>
          <a:ln w="5080">
            <a:solidFill>
              <a:srgbClr val="3E5A6E"/>
            </a:solidFill>
          </a:ln>
        </p:spPr>
        <p:txBody>
          <a:bodyPr rtlCol="0" anchor="ctr"/>
          <a:lstStyle/>
          <a:p>
            <a:pPr algn="ctr"/>
          </a:p>
        </p:txBody>
      </p:sp>
      <p:sp>
        <p:nvSpPr>
          <p:cNvPr id="67" name="Oval 66"/>
          <p:cNvSpPr/>
          <p:nvPr/>
        </p:nvSpPr>
        <p:spPr>
          <a:xfrm>
            <a:off x="11722100" y="2603500"/>
            <a:ext cx="114300" cy="114300"/>
          </a:xfrm>
          <a:prstGeom prst="ellipse">
            <a:avLst/>
          </a:prstGeom>
          <a:solidFill>
            <a:srgbClr val="CFD9DE"/>
          </a:solidFill>
          <a:ln w="5080">
            <a:solidFill>
              <a:srgbClr val="3E5A6E"/>
            </a:solidFill>
          </a:ln>
        </p:spPr>
        <p:txBody>
          <a:bodyPr rtlCol="0" anchor="ctr"/>
          <a:lstStyle/>
          <a:p>
            <a:pPr algn="ctr"/>
          </a:p>
        </p:txBody>
      </p:sp>
      <p:sp>
        <p:nvSpPr>
          <p:cNvPr id="68" name="Oval 67"/>
          <p:cNvSpPr/>
          <p:nvPr/>
        </p:nvSpPr>
        <p:spPr>
          <a:xfrm>
            <a:off x="8464550" y="2774950"/>
            <a:ext cx="114300" cy="114300"/>
          </a:xfrm>
          <a:prstGeom prst="ellipse">
            <a:avLst/>
          </a:prstGeom>
          <a:solidFill>
            <a:srgbClr val="CFD9DE"/>
          </a:solidFill>
          <a:ln w="5080">
            <a:solidFill>
              <a:srgbClr val="3E5A6E"/>
            </a:solidFill>
          </a:ln>
        </p:spPr>
        <p:txBody>
          <a:bodyPr rtlCol="0" anchor="ctr"/>
          <a:lstStyle/>
          <a:p>
            <a:pPr algn="ctr"/>
          </a:p>
        </p:txBody>
      </p:sp>
      <p:sp>
        <p:nvSpPr>
          <p:cNvPr id="69" name="Oval 68"/>
          <p:cNvSpPr/>
          <p:nvPr/>
        </p:nvSpPr>
        <p:spPr>
          <a:xfrm>
            <a:off x="8636000" y="2774950"/>
            <a:ext cx="114300" cy="114300"/>
          </a:xfrm>
          <a:prstGeom prst="ellipse">
            <a:avLst/>
          </a:prstGeom>
          <a:solidFill>
            <a:srgbClr val="CFD9DE"/>
          </a:solidFill>
          <a:ln w="5080">
            <a:solidFill>
              <a:srgbClr val="3E5A6E"/>
            </a:solidFill>
          </a:ln>
        </p:spPr>
        <p:txBody>
          <a:bodyPr rtlCol="0" anchor="ctr"/>
          <a:lstStyle/>
          <a:p>
            <a:pPr algn="ctr"/>
          </a:p>
        </p:txBody>
      </p:sp>
      <p:sp>
        <p:nvSpPr>
          <p:cNvPr id="70" name="Oval 69"/>
          <p:cNvSpPr/>
          <p:nvPr/>
        </p:nvSpPr>
        <p:spPr>
          <a:xfrm>
            <a:off x="8807450" y="2774950"/>
            <a:ext cx="114300" cy="114300"/>
          </a:xfrm>
          <a:prstGeom prst="ellipse">
            <a:avLst/>
          </a:prstGeom>
          <a:solidFill>
            <a:srgbClr val="CFD9DE"/>
          </a:solidFill>
          <a:ln w="5080">
            <a:solidFill>
              <a:srgbClr val="3E5A6E"/>
            </a:solidFill>
          </a:ln>
        </p:spPr>
        <p:txBody>
          <a:bodyPr rtlCol="0" anchor="ctr"/>
          <a:lstStyle/>
          <a:p>
            <a:pPr algn="ctr"/>
          </a:p>
        </p:txBody>
      </p:sp>
      <p:sp>
        <p:nvSpPr>
          <p:cNvPr id="71" name="Oval 70"/>
          <p:cNvSpPr/>
          <p:nvPr/>
        </p:nvSpPr>
        <p:spPr>
          <a:xfrm>
            <a:off x="8978900" y="2774950"/>
            <a:ext cx="114300" cy="114300"/>
          </a:xfrm>
          <a:prstGeom prst="ellipse">
            <a:avLst/>
          </a:prstGeom>
          <a:solidFill>
            <a:srgbClr val="CFD9DE"/>
          </a:solidFill>
          <a:ln w="5080">
            <a:solidFill>
              <a:srgbClr val="3E5A6E"/>
            </a:solidFill>
          </a:ln>
        </p:spPr>
        <p:txBody>
          <a:bodyPr rtlCol="0" anchor="ctr"/>
          <a:lstStyle/>
          <a:p>
            <a:pPr algn="ctr"/>
          </a:p>
        </p:txBody>
      </p:sp>
      <p:sp>
        <p:nvSpPr>
          <p:cNvPr id="72" name="Oval 71"/>
          <p:cNvSpPr/>
          <p:nvPr/>
        </p:nvSpPr>
        <p:spPr>
          <a:xfrm>
            <a:off x="9150350" y="2774950"/>
            <a:ext cx="114300" cy="114300"/>
          </a:xfrm>
          <a:prstGeom prst="ellipse">
            <a:avLst/>
          </a:prstGeom>
          <a:solidFill>
            <a:srgbClr val="CFD9DE"/>
          </a:solidFill>
          <a:ln w="5080">
            <a:solidFill>
              <a:srgbClr val="3E5A6E"/>
            </a:solidFill>
          </a:ln>
        </p:spPr>
        <p:txBody>
          <a:bodyPr rtlCol="0" anchor="ctr"/>
          <a:lstStyle/>
          <a:p>
            <a:pPr algn="ctr"/>
          </a:p>
        </p:txBody>
      </p:sp>
      <p:sp>
        <p:nvSpPr>
          <p:cNvPr id="73" name="Oval 72"/>
          <p:cNvSpPr/>
          <p:nvPr/>
        </p:nvSpPr>
        <p:spPr>
          <a:xfrm>
            <a:off x="9321800" y="2774950"/>
            <a:ext cx="114300" cy="114300"/>
          </a:xfrm>
          <a:prstGeom prst="ellipse">
            <a:avLst/>
          </a:prstGeom>
          <a:solidFill>
            <a:srgbClr val="CFD9DE"/>
          </a:solidFill>
          <a:ln w="5080">
            <a:solidFill>
              <a:srgbClr val="3E5A6E"/>
            </a:solidFill>
          </a:ln>
        </p:spPr>
        <p:txBody>
          <a:bodyPr rtlCol="0" anchor="ctr"/>
          <a:lstStyle/>
          <a:p>
            <a:pPr algn="ctr"/>
          </a:p>
        </p:txBody>
      </p:sp>
      <p:sp>
        <p:nvSpPr>
          <p:cNvPr id="74" name="Oval 73"/>
          <p:cNvSpPr/>
          <p:nvPr/>
        </p:nvSpPr>
        <p:spPr>
          <a:xfrm>
            <a:off x="9493250" y="2774950"/>
            <a:ext cx="114300" cy="114300"/>
          </a:xfrm>
          <a:prstGeom prst="ellipse">
            <a:avLst/>
          </a:prstGeom>
          <a:solidFill>
            <a:srgbClr val="CFD9DE"/>
          </a:solidFill>
          <a:ln w="5080">
            <a:solidFill>
              <a:srgbClr val="3E5A6E"/>
            </a:solidFill>
          </a:ln>
        </p:spPr>
        <p:txBody>
          <a:bodyPr rtlCol="0" anchor="ctr"/>
          <a:lstStyle/>
          <a:p>
            <a:pPr algn="ctr"/>
          </a:p>
        </p:txBody>
      </p:sp>
      <p:sp>
        <p:nvSpPr>
          <p:cNvPr id="75" name="Oval 74"/>
          <p:cNvSpPr/>
          <p:nvPr/>
        </p:nvSpPr>
        <p:spPr>
          <a:xfrm>
            <a:off x="9664700" y="2774950"/>
            <a:ext cx="114300" cy="114300"/>
          </a:xfrm>
          <a:prstGeom prst="ellipse">
            <a:avLst/>
          </a:prstGeom>
          <a:solidFill>
            <a:srgbClr val="CFD9DE"/>
          </a:solidFill>
          <a:ln w="5080">
            <a:solidFill>
              <a:srgbClr val="3E5A6E"/>
            </a:solidFill>
          </a:ln>
        </p:spPr>
        <p:txBody>
          <a:bodyPr rtlCol="0" anchor="ctr"/>
          <a:lstStyle/>
          <a:p>
            <a:pPr algn="ctr"/>
          </a:p>
        </p:txBody>
      </p:sp>
      <p:sp>
        <p:nvSpPr>
          <p:cNvPr id="76" name="Oval 75"/>
          <p:cNvSpPr/>
          <p:nvPr/>
        </p:nvSpPr>
        <p:spPr>
          <a:xfrm>
            <a:off x="9836150" y="2774950"/>
            <a:ext cx="114300" cy="114300"/>
          </a:xfrm>
          <a:prstGeom prst="ellipse">
            <a:avLst/>
          </a:prstGeom>
          <a:solidFill>
            <a:srgbClr val="CFD9DE"/>
          </a:solidFill>
          <a:ln w="5080">
            <a:solidFill>
              <a:srgbClr val="3E5A6E"/>
            </a:solidFill>
          </a:ln>
        </p:spPr>
        <p:txBody>
          <a:bodyPr rtlCol="0" anchor="ctr"/>
          <a:lstStyle/>
          <a:p>
            <a:pPr algn="ctr"/>
          </a:p>
        </p:txBody>
      </p:sp>
      <p:sp>
        <p:nvSpPr>
          <p:cNvPr id="77" name="Oval 76"/>
          <p:cNvSpPr/>
          <p:nvPr/>
        </p:nvSpPr>
        <p:spPr>
          <a:xfrm>
            <a:off x="10007600" y="2774950"/>
            <a:ext cx="114300" cy="114300"/>
          </a:xfrm>
          <a:prstGeom prst="ellipse">
            <a:avLst/>
          </a:prstGeom>
          <a:solidFill>
            <a:srgbClr val="CFD9DE"/>
          </a:solidFill>
          <a:ln w="5080">
            <a:solidFill>
              <a:srgbClr val="3E5A6E"/>
            </a:solidFill>
          </a:ln>
        </p:spPr>
        <p:txBody>
          <a:bodyPr rtlCol="0" anchor="ctr"/>
          <a:lstStyle/>
          <a:p>
            <a:pPr algn="ctr"/>
          </a:p>
        </p:txBody>
      </p:sp>
      <p:sp>
        <p:nvSpPr>
          <p:cNvPr id="78" name="Oval 77"/>
          <p:cNvSpPr/>
          <p:nvPr/>
        </p:nvSpPr>
        <p:spPr>
          <a:xfrm>
            <a:off x="10179050" y="2774950"/>
            <a:ext cx="114300" cy="114300"/>
          </a:xfrm>
          <a:prstGeom prst="ellipse">
            <a:avLst/>
          </a:prstGeom>
          <a:solidFill>
            <a:srgbClr val="CFD9DE"/>
          </a:solidFill>
          <a:ln w="5080">
            <a:solidFill>
              <a:srgbClr val="3E5A6E"/>
            </a:solidFill>
          </a:ln>
        </p:spPr>
        <p:txBody>
          <a:bodyPr rtlCol="0" anchor="ctr"/>
          <a:lstStyle/>
          <a:p>
            <a:pPr algn="ctr"/>
          </a:p>
        </p:txBody>
      </p:sp>
      <p:sp>
        <p:nvSpPr>
          <p:cNvPr id="79" name="Oval 78"/>
          <p:cNvSpPr/>
          <p:nvPr/>
        </p:nvSpPr>
        <p:spPr>
          <a:xfrm>
            <a:off x="10350500" y="2774950"/>
            <a:ext cx="114300" cy="114300"/>
          </a:xfrm>
          <a:prstGeom prst="ellipse">
            <a:avLst/>
          </a:prstGeom>
          <a:solidFill>
            <a:srgbClr val="CFD9DE"/>
          </a:solidFill>
          <a:ln w="5080">
            <a:solidFill>
              <a:srgbClr val="3E5A6E"/>
            </a:solidFill>
          </a:ln>
        </p:spPr>
        <p:txBody>
          <a:bodyPr rtlCol="0" anchor="ctr"/>
          <a:lstStyle/>
          <a:p>
            <a:pPr algn="ctr"/>
          </a:p>
        </p:txBody>
      </p:sp>
      <p:sp>
        <p:nvSpPr>
          <p:cNvPr id="80" name="Oval 79"/>
          <p:cNvSpPr/>
          <p:nvPr/>
        </p:nvSpPr>
        <p:spPr>
          <a:xfrm>
            <a:off x="10521950" y="2774950"/>
            <a:ext cx="114300" cy="114300"/>
          </a:xfrm>
          <a:prstGeom prst="ellipse">
            <a:avLst/>
          </a:prstGeom>
          <a:solidFill>
            <a:srgbClr val="CFD9DE"/>
          </a:solidFill>
          <a:ln w="5080">
            <a:solidFill>
              <a:srgbClr val="3E5A6E"/>
            </a:solidFill>
          </a:ln>
        </p:spPr>
        <p:txBody>
          <a:bodyPr rtlCol="0" anchor="ctr"/>
          <a:lstStyle/>
          <a:p>
            <a:pPr algn="ctr"/>
          </a:p>
        </p:txBody>
      </p:sp>
      <p:sp>
        <p:nvSpPr>
          <p:cNvPr id="81" name="Oval 80"/>
          <p:cNvSpPr/>
          <p:nvPr/>
        </p:nvSpPr>
        <p:spPr>
          <a:xfrm>
            <a:off x="10693400" y="2774950"/>
            <a:ext cx="114300" cy="114300"/>
          </a:xfrm>
          <a:prstGeom prst="ellipse">
            <a:avLst/>
          </a:prstGeom>
          <a:solidFill>
            <a:srgbClr val="CFD9DE"/>
          </a:solidFill>
          <a:ln w="5080">
            <a:solidFill>
              <a:srgbClr val="3E5A6E"/>
            </a:solidFill>
          </a:ln>
        </p:spPr>
        <p:txBody>
          <a:bodyPr rtlCol="0" anchor="ctr"/>
          <a:lstStyle/>
          <a:p>
            <a:pPr algn="ctr"/>
          </a:p>
        </p:txBody>
      </p:sp>
      <p:sp>
        <p:nvSpPr>
          <p:cNvPr id="82" name="Oval 81"/>
          <p:cNvSpPr/>
          <p:nvPr/>
        </p:nvSpPr>
        <p:spPr>
          <a:xfrm>
            <a:off x="10864850" y="2774950"/>
            <a:ext cx="114300" cy="114300"/>
          </a:xfrm>
          <a:prstGeom prst="ellipse">
            <a:avLst/>
          </a:prstGeom>
          <a:solidFill>
            <a:srgbClr val="CFD9DE"/>
          </a:solidFill>
          <a:ln w="5080">
            <a:solidFill>
              <a:srgbClr val="3E5A6E"/>
            </a:solidFill>
          </a:ln>
        </p:spPr>
        <p:txBody>
          <a:bodyPr rtlCol="0" anchor="ctr"/>
          <a:lstStyle/>
          <a:p>
            <a:pPr algn="ctr"/>
          </a:p>
        </p:txBody>
      </p:sp>
      <p:sp>
        <p:nvSpPr>
          <p:cNvPr id="83" name="Oval 82"/>
          <p:cNvSpPr/>
          <p:nvPr/>
        </p:nvSpPr>
        <p:spPr>
          <a:xfrm>
            <a:off x="11036300" y="2774950"/>
            <a:ext cx="114300" cy="114300"/>
          </a:xfrm>
          <a:prstGeom prst="ellipse">
            <a:avLst/>
          </a:prstGeom>
          <a:solidFill>
            <a:srgbClr val="CFD9DE"/>
          </a:solidFill>
          <a:ln w="5080">
            <a:solidFill>
              <a:srgbClr val="3E5A6E"/>
            </a:solidFill>
          </a:ln>
        </p:spPr>
        <p:txBody>
          <a:bodyPr rtlCol="0" anchor="ctr"/>
          <a:lstStyle/>
          <a:p>
            <a:pPr algn="ctr"/>
          </a:p>
        </p:txBody>
      </p:sp>
      <p:sp>
        <p:nvSpPr>
          <p:cNvPr id="84" name="Oval 83"/>
          <p:cNvSpPr/>
          <p:nvPr/>
        </p:nvSpPr>
        <p:spPr>
          <a:xfrm>
            <a:off x="11207750" y="2774950"/>
            <a:ext cx="114300" cy="114300"/>
          </a:xfrm>
          <a:prstGeom prst="ellipse">
            <a:avLst/>
          </a:prstGeom>
          <a:solidFill>
            <a:srgbClr val="CFD9DE"/>
          </a:solidFill>
          <a:ln w="5080">
            <a:solidFill>
              <a:srgbClr val="3E5A6E"/>
            </a:solidFill>
          </a:ln>
        </p:spPr>
        <p:txBody>
          <a:bodyPr rtlCol="0" anchor="ctr"/>
          <a:lstStyle/>
          <a:p>
            <a:pPr algn="ctr"/>
          </a:p>
        </p:txBody>
      </p:sp>
      <p:sp>
        <p:nvSpPr>
          <p:cNvPr id="85" name="Oval 84"/>
          <p:cNvSpPr/>
          <p:nvPr/>
        </p:nvSpPr>
        <p:spPr>
          <a:xfrm>
            <a:off x="11379200" y="2774950"/>
            <a:ext cx="114300" cy="114300"/>
          </a:xfrm>
          <a:prstGeom prst="ellipse">
            <a:avLst/>
          </a:prstGeom>
          <a:solidFill>
            <a:srgbClr val="CFD9DE"/>
          </a:solidFill>
          <a:ln w="5080">
            <a:solidFill>
              <a:srgbClr val="3E5A6E"/>
            </a:solidFill>
          </a:ln>
        </p:spPr>
        <p:txBody>
          <a:bodyPr rtlCol="0" anchor="ctr"/>
          <a:lstStyle/>
          <a:p>
            <a:pPr algn="ctr"/>
          </a:p>
        </p:txBody>
      </p:sp>
      <p:sp>
        <p:nvSpPr>
          <p:cNvPr id="86" name="Oval 85"/>
          <p:cNvSpPr/>
          <p:nvPr/>
        </p:nvSpPr>
        <p:spPr>
          <a:xfrm>
            <a:off x="11550650" y="2774950"/>
            <a:ext cx="114300" cy="114300"/>
          </a:xfrm>
          <a:prstGeom prst="ellipse">
            <a:avLst/>
          </a:prstGeom>
          <a:solidFill>
            <a:srgbClr val="CFD9DE"/>
          </a:solidFill>
          <a:ln w="5080">
            <a:solidFill>
              <a:srgbClr val="3E5A6E"/>
            </a:solidFill>
          </a:ln>
        </p:spPr>
        <p:txBody>
          <a:bodyPr rtlCol="0" anchor="ctr"/>
          <a:lstStyle/>
          <a:p>
            <a:pPr algn="ctr"/>
          </a:p>
        </p:txBody>
      </p:sp>
      <p:sp>
        <p:nvSpPr>
          <p:cNvPr id="87" name="Oval 86"/>
          <p:cNvSpPr/>
          <p:nvPr/>
        </p:nvSpPr>
        <p:spPr>
          <a:xfrm>
            <a:off x="11722100" y="2774950"/>
            <a:ext cx="114300" cy="114300"/>
          </a:xfrm>
          <a:prstGeom prst="ellipse">
            <a:avLst/>
          </a:prstGeom>
          <a:solidFill>
            <a:srgbClr val="CFD9DE"/>
          </a:solidFill>
          <a:ln w="5080">
            <a:solidFill>
              <a:srgbClr val="3E5A6E"/>
            </a:solidFill>
          </a:ln>
        </p:spPr>
        <p:txBody>
          <a:bodyPr rtlCol="0" anchor="ctr"/>
          <a:lstStyle/>
          <a:p>
            <a:pPr algn="ctr"/>
          </a:p>
        </p:txBody>
      </p:sp>
      <p:sp>
        <p:nvSpPr>
          <p:cNvPr id="88" name="Oval 87"/>
          <p:cNvSpPr/>
          <p:nvPr/>
        </p:nvSpPr>
        <p:spPr>
          <a:xfrm>
            <a:off x="8464550" y="2946400"/>
            <a:ext cx="114300" cy="114300"/>
          </a:xfrm>
          <a:prstGeom prst="ellipse">
            <a:avLst/>
          </a:prstGeom>
          <a:solidFill>
            <a:srgbClr val="CFD9DE"/>
          </a:solidFill>
          <a:ln w="5080">
            <a:solidFill>
              <a:srgbClr val="3E5A6E"/>
            </a:solidFill>
          </a:ln>
        </p:spPr>
        <p:txBody>
          <a:bodyPr rtlCol="0" anchor="ctr"/>
          <a:lstStyle/>
          <a:p>
            <a:pPr algn="ctr"/>
          </a:p>
        </p:txBody>
      </p:sp>
      <p:sp>
        <p:nvSpPr>
          <p:cNvPr id="89" name="Oval 88"/>
          <p:cNvSpPr/>
          <p:nvPr/>
        </p:nvSpPr>
        <p:spPr>
          <a:xfrm>
            <a:off x="8636000" y="2946400"/>
            <a:ext cx="114300" cy="114300"/>
          </a:xfrm>
          <a:prstGeom prst="ellipse">
            <a:avLst/>
          </a:prstGeom>
          <a:solidFill>
            <a:srgbClr val="CFD9DE"/>
          </a:solidFill>
          <a:ln w="5080">
            <a:solidFill>
              <a:srgbClr val="3E5A6E"/>
            </a:solidFill>
          </a:ln>
        </p:spPr>
        <p:txBody>
          <a:bodyPr rtlCol="0" anchor="ctr"/>
          <a:lstStyle/>
          <a:p>
            <a:pPr algn="ctr"/>
          </a:p>
        </p:txBody>
      </p:sp>
      <p:sp>
        <p:nvSpPr>
          <p:cNvPr id="90" name="Oval 89"/>
          <p:cNvSpPr/>
          <p:nvPr/>
        </p:nvSpPr>
        <p:spPr>
          <a:xfrm>
            <a:off x="8807450" y="2946400"/>
            <a:ext cx="114300" cy="114300"/>
          </a:xfrm>
          <a:prstGeom prst="ellipse">
            <a:avLst/>
          </a:prstGeom>
          <a:solidFill>
            <a:srgbClr val="CFD9DE"/>
          </a:solidFill>
          <a:ln w="5080">
            <a:solidFill>
              <a:srgbClr val="3E5A6E"/>
            </a:solidFill>
          </a:ln>
        </p:spPr>
        <p:txBody>
          <a:bodyPr rtlCol="0" anchor="ctr"/>
          <a:lstStyle/>
          <a:p>
            <a:pPr algn="ctr"/>
          </a:p>
        </p:txBody>
      </p:sp>
      <p:sp>
        <p:nvSpPr>
          <p:cNvPr id="91" name="Oval 90"/>
          <p:cNvSpPr/>
          <p:nvPr/>
        </p:nvSpPr>
        <p:spPr>
          <a:xfrm>
            <a:off x="8978900" y="2946400"/>
            <a:ext cx="114300" cy="114300"/>
          </a:xfrm>
          <a:prstGeom prst="ellipse">
            <a:avLst/>
          </a:prstGeom>
          <a:solidFill>
            <a:srgbClr val="CFD9DE"/>
          </a:solidFill>
          <a:ln w="5080">
            <a:solidFill>
              <a:srgbClr val="3E5A6E"/>
            </a:solidFill>
          </a:ln>
        </p:spPr>
        <p:txBody>
          <a:bodyPr rtlCol="0" anchor="ctr"/>
          <a:lstStyle/>
          <a:p>
            <a:pPr algn="ctr"/>
          </a:p>
        </p:txBody>
      </p:sp>
      <p:sp>
        <p:nvSpPr>
          <p:cNvPr id="92" name="Oval 91"/>
          <p:cNvSpPr/>
          <p:nvPr/>
        </p:nvSpPr>
        <p:spPr>
          <a:xfrm>
            <a:off x="9150350" y="2946400"/>
            <a:ext cx="114300" cy="114300"/>
          </a:xfrm>
          <a:prstGeom prst="ellipse">
            <a:avLst/>
          </a:prstGeom>
          <a:solidFill>
            <a:srgbClr val="CFD9DE"/>
          </a:solidFill>
          <a:ln w="5080">
            <a:solidFill>
              <a:srgbClr val="3E5A6E"/>
            </a:solidFill>
          </a:ln>
        </p:spPr>
        <p:txBody>
          <a:bodyPr rtlCol="0" anchor="ctr"/>
          <a:lstStyle/>
          <a:p>
            <a:pPr algn="ctr"/>
          </a:p>
        </p:txBody>
      </p:sp>
      <p:sp>
        <p:nvSpPr>
          <p:cNvPr id="93" name="Oval 92"/>
          <p:cNvSpPr/>
          <p:nvPr/>
        </p:nvSpPr>
        <p:spPr>
          <a:xfrm>
            <a:off x="9321800" y="2946400"/>
            <a:ext cx="114300" cy="114300"/>
          </a:xfrm>
          <a:prstGeom prst="ellipse">
            <a:avLst/>
          </a:prstGeom>
          <a:solidFill>
            <a:srgbClr val="CFD9DE"/>
          </a:solidFill>
          <a:ln w="5080">
            <a:solidFill>
              <a:srgbClr val="3E5A6E"/>
            </a:solidFill>
          </a:ln>
        </p:spPr>
        <p:txBody>
          <a:bodyPr rtlCol="0" anchor="ctr"/>
          <a:lstStyle/>
          <a:p>
            <a:pPr algn="ctr"/>
          </a:p>
        </p:txBody>
      </p:sp>
      <p:sp>
        <p:nvSpPr>
          <p:cNvPr id="94" name="Oval 93"/>
          <p:cNvSpPr/>
          <p:nvPr/>
        </p:nvSpPr>
        <p:spPr>
          <a:xfrm>
            <a:off x="9493250" y="2946400"/>
            <a:ext cx="114300" cy="114300"/>
          </a:xfrm>
          <a:prstGeom prst="ellipse">
            <a:avLst/>
          </a:prstGeom>
          <a:solidFill>
            <a:srgbClr val="CFD9DE"/>
          </a:solidFill>
          <a:ln w="5080">
            <a:solidFill>
              <a:srgbClr val="3E5A6E"/>
            </a:solidFill>
          </a:ln>
        </p:spPr>
        <p:txBody>
          <a:bodyPr rtlCol="0" anchor="ctr"/>
          <a:lstStyle/>
          <a:p>
            <a:pPr algn="ctr"/>
          </a:p>
        </p:txBody>
      </p:sp>
      <p:sp>
        <p:nvSpPr>
          <p:cNvPr id="95" name="Oval 94"/>
          <p:cNvSpPr/>
          <p:nvPr/>
        </p:nvSpPr>
        <p:spPr>
          <a:xfrm>
            <a:off x="9664700" y="2946400"/>
            <a:ext cx="114300" cy="114300"/>
          </a:xfrm>
          <a:prstGeom prst="ellipse">
            <a:avLst/>
          </a:prstGeom>
          <a:solidFill>
            <a:srgbClr val="CFD9DE"/>
          </a:solidFill>
          <a:ln w="5080">
            <a:solidFill>
              <a:srgbClr val="3E5A6E"/>
            </a:solidFill>
          </a:ln>
        </p:spPr>
        <p:txBody>
          <a:bodyPr rtlCol="0" anchor="ctr"/>
          <a:lstStyle/>
          <a:p>
            <a:pPr algn="ctr"/>
          </a:p>
        </p:txBody>
      </p:sp>
      <p:sp>
        <p:nvSpPr>
          <p:cNvPr id="96" name="Oval 95"/>
          <p:cNvSpPr/>
          <p:nvPr/>
        </p:nvSpPr>
        <p:spPr>
          <a:xfrm>
            <a:off x="9836150" y="2946400"/>
            <a:ext cx="114300" cy="114300"/>
          </a:xfrm>
          <a:prstGeom prst="ellipse">
            <a:avLst/>
          </a:prstGeom>
          <a:solidFill>
            <a:srgbClr val="CFD9DE"/>
          </a:solidFill>
          <a:ln w="5080">
            <a:solidFill>
              <a:srgbClr val="3E5A6E"/>
            </a:solidFill>
          </a:ln>
        </p:spPr>
        <p:txBody>
          <a:bodyPr rtlCol="0" anchor="ctr"/>
          <a:lstStyle/>
          <a:p>
            <a:pPr algn="ctr"/>
          </a:p>
        </p:txBody>
      </p:sp>
      <p:sp>
        <p:nvSpPr>
          <p:cNvPr id="97" name="Oval 96"/>
          <p:cNvSpPr/>
          <p:nvPr/>
        </p:nvSpPr>
        <p:spPr>
          <a:xfrm>
            <a:off x="10007600" y="2946400"/>
            <a:ext cx="114300" cy="114300"/>
          </a:xfrm>
          <a:prstGeom prst="ellipse">
            <a:avLst/>
          </a:prstGeom>
          <a:solidFill>
            <a:srgbClr val="CFD9DE"/>
          </a:solidFill>
          <a:ln w="5080">
            <a:solidFill>
              <a:srgbClr val="3E5A6E"/>
            </a:solidFill>
          </a:ln>
        </p:spPr>
        <p:txBody>
          <a:bodyPr rtlCol="0" anchor="ctr"/>
          <a:lstStyle/>
          <a:p>
            <a:pPr algn="ctr"/>
          </a:p>
        </p:txBody>
      </p:sp>
      <p:sp>
        <p:nvSpPr>
          <p:cNvPr id="98" name="Oval 97"/>
          <p:cNvSpPr/>
          <p:nvPr/>
        </p:nvSpPr>
        <p:spPr>
          <a:xfrm>
            <a:off x="10179050" y="2946400"/>
            <a:ext cx="114300" cy="114300"/>
          </a:xfrm>
          <a:prstGeom prst="ellipse">
            <a:avLst/>
          </a:prstGeom>
          <a:solidFill>
            <a:srgbClr val="CFD9DE"/>
          </a:solidFill>
          <a:ln w="5080">
            <a:solidFill>
              <a:srgbClr val="3E5A6E"/>
            </a:solidFill>
          </a:ln>
        </p:spPr>
        <p:txBody>
          <a:bodyPr rtlCol="0" anchor="ctr"/>
          <a:lstStyle/>
          <a:p>
            <a:pPr algn="ctr"/>
          </a:p>
        </p:txBody>
      </p:sp>
      <p:sp>
        <p:nvSpPr>
          <p:cNvPr id="99" name="Oval 98"/>
          <p:cNvSpPr/>
          <p:nvPr/>
        </p:nvSpPr>
        <p:spPr>
          <a:xfrm>
            <a:off x="103505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0" name="Oval 99"/>
          <p:cNvSpPr/>
          <p:nvPr/>
        </p:nvSpPr>
        <p:spPr>
          <a:xfrm>
            <a:off x="105219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1" name="Oval 100"/>
          <p:cNvSpPr/>
          <p:nvPr/>
        </p:nvSpPr>
        <p:spPr>
          <a:xfrm>
            <a:off x="106934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2" name="Oval 101"/>
          <p:cNvSpPr/>
          <p:nvPr/>
        </p:nvSpPr>
        <p:spPr>
          <a:xfrm>
            <a:off x="108648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3" name="Oval 102"/>
          <p:cNvSpPr/>
          <p:nvPr/>
        </p:nvSpPr>
        <p:spPr>
          <a:xfrm>
            <a:off x="110363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4" name="Oval 103"/>
          <p:cNvSpPr/>
          <p:nvPr/>
        </p:nvSpPr>
        <p:spPr>
          <a:xfrm>
            <a:off x="112077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5" name="Oval 104"/>
          <p:cNvSpPr/>
          <p:nvPr/>
        </p:nvSpPr>
        <p:spPr>
          <a:xfrm>
            <a:off x="113792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6" name="Oval 105"/>
          <p:cNvSpPr/>
          <p:nvPr/>
        </p:nvSpPr>
        <p:spPr>
          <a:xfrm>
            <a:off x="115506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7" name="Oval 106"/>
          <p:cNvSpPr/>
          <p:nvPr/>
        </p:nvSpPr>
        <p:spPr>
          <a:xfrm>
            <a:off x="117221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8" name="Oval 107"/>
          <p:cNvSpPr/>
          <p:nvPr/>
        </p:nvSpPr>
        <p:spPr>
          <a:xfrm>
            <a:off x="8464550" y="3117850"/>
            <a:ext cx="114300" cy="114300"/>
          </a:xfrm>
          <a:prstGeom prst="ellipse">
            <a:avLst/>
          </a:prstGeom>
          <a:solidFill>
            <a:srgbClr val="CFD9DE"/>
          </a:solidFill>
          <a:ln w="5080">
            <a:solidFill>
              <a:srgbClr val="3E5A6E"/>
            </a:solidFill>
          </a:ln>
        </p:spPr>
        <p:txBody>
          <a:bodyPr rtlCol="0" anchor="ctr"/>
          <a:lstStyle/>
          <a:p>
            <a:pPr algn="ctr"/>
          </a:p>
        </p:txBody>
      </p:sp>
      <p:sp>
        <p:nvSpPr>
          <p:cNvPr id="109" name="Oval 108"/>
          <p:cNvSpPr/>
          <p:nvPr/>
        </p:nvSpPr>
        <p:spPr>
          <a:xfrm>
            <a:off x="86360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0" name="Oval 109"/>
          <p:cNvSpPr/>
          <p:nvPr/>
        </p:nvSpPr>
        <p:spPr>
          <a:xfrm>
            <a:off x="88074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1" name="Oval 110"/>
          <p:cNvSpPr/>
          <p:nvPr/>
        </p:nvSpPr>
        <p:spPr>
          <a:xfrm>
            <a:off x="89789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2" name="Oval 111"/>
          <p:cNvSpPr/>
          <p:nvPr/>
        </p:nvSpPr>
        <p:spPr>
          <a:xfrm>
            <a:off x="91503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3" name="Oval 112"/>
          <p:cNvSpPr/>
          <p:nvPr/>
        </p:nvSpPr>
        <p:spPr>
          <a:xfrm>
            <a:off x="93218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4" name="Oval 113"/>
          <p:cNvSpPr/>
          <p:nvPr/>
        </p:nvSpPr>
        <p:spPr>
          <a:xfrm>
            <a:off x="94932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5" name="Oval 114"/>
          <p:cNvSpPr/>
          <p:nvPr/>
        </p:nvSpPr>
        <p:spPr>
          <a:xfrm>
            <a:off x="96647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6" name="Oval 115"/>
          <p:cNvSpPr/>
          <p:nvPr/>
        </p:nvSpPr>
        <p:spPr>
          <a:xfrm>
            <a:off x="98361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7" name="Oval 116"/>
          <p:cNvSpPr/>
          <p:nvPr/>
        </p:nvSpPr>
        <p:spPr>
          <a:xfrm>
            <a:off x="100076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8" name="Oval 117"/>
          <p:cNvSpPr/>
          <p:nvPr/>
        </p:nvSpPr>
        <p:spPr>
          <a:xfrm>
            <a:off x="101790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9" name="Oval 118"/>
          <p:cNvSpPr/>
          <p:nvPr/>
        </p:nvSpPr>
        <p:spPr>
          <a:xfrm>
            <a:off x="103505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0" name="Oval 119"/>
          <p:cNvSpPr/>
          <p:nvPr/>
        </p:nvSpPr>
        <p:spPr>
          <a:xfrm>
            <a:off x="105219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1" name="Oval 120"/>
          <p:cNvSpPr/>
          <p:nvPr/>
        </p:nvSpPr>
        <p:spPr>
          <a:xfrm>
            <a:off x="106934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2" name="Oval 121"/>
          <p:cNvSpPr/>
          <p:nvPr/>
        </p:nvSpPr>
        <p:spPr>
          <a:xfrm>
            <a:off x="108648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3" name="Oval 122"/>
          <p:cNvSpPr/>
          <p:nvPr/>
        </p:nvSpPr>
        <p:spPr>
          <a:xfrm>
            <a:off x="110363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4" name="Oval 123"/>
          <p:cNvSpPr/>
          <p:nvPr/>
        </p:nvSpPr>
        <p:spPr>
          <a:xfrm>
            <a:off x="112077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5" name="Oval 124"/>
          <p:cNvSpPr/>
          <p:nvPr/>
        </p:nvSpPr>
        <p:spPr>
          <a:xfrm>
            <a:off x="113792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6" name="Oval 125"/>
          <p:cNvSpPr/>
          <p:nvPr/>
        </p:nvSpPr>
        <p:spPr>
          <a:xfrm>
            <a:off x="115506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7" name="Oval 126"/>
          <p:cNvSpPr/>
          <p:nvPr/>
        </p:nvSpPr>
        <p:spPr>
          <a:xfrm>
            <a:off x="117221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8" name="TextBox 127"/>
          <p:cNvSpPr txBox="1"/>
          <p:nvPr/>
        </p:nvSpPr>
        <p:spPr>
          <a:xfrm>
            <a:off x="8445500" y="3378200"/>
            <a:ext cx="3492500" cy="190500"/>
          </a:xfrm>
          <a:prstGeom prst="rect">
            <a:avLst/>
          </a:prstGeom>
          <a:noFill/>
        </p:spPr>
        <p:txBody>
          <a:bodyPr wrap="square" lIns="0" rIns="0" tIns="0" bIns="0" anchor="t">
            <a:spAutoFit/>
          </a:bodyPr>
          <a:lstStyle/>
          <a:p>
            <a:pPr algn="l">
              <a:lnSpc>
                <a:spcPct val="120000"/>
              </a:lnSpc>
            </a:pPr>
            <a:r>
              <a:rPr sz="900" b="0" i="1">
                <a:solidFill>
                  <a:srgbClr val="7B746B"/>
                </a:solidFill>
                <a:latin typeface="Barlow"/>
              </a:rPr>
              <a:t>chaque cercle = 1 500 habitants prévus ; les 36 habitants comptés tiennent dans moins d'un cercle.</a:t>
            </a:r>
          </a:p>
        </p:txBody>
      </p:sp>
      <p:sp>
        <p:nvSpPr>
          <p:cNvPr id="129" name="TextBox 128"/>
          <p:cNvSpPr txBox="1"/>
          <p:nvPr/>
        </p:nvSpPr>
        <p:spPr>
          <a:xfrm>
            <a:off x="8445500" y="3695700"/>
            <a:ext cx="34925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ville nouvelle de Chrafate, lancée en 2009 près des usines pour loger 150 000 personnes, ne comptait que 36 habitants selon la Cour des comptes. Les ouvriers vivent donc dans les quartiers denses de Tanger et font chaque jour 9 à 32 km. Les projets pour le visiteur ont été livrés en moins de dix ans ; celui pour les travailleurs attend depuis 2009.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MOBILITÉ : LE BÂTI HORS DE PORTÉE DU BUS</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Surfaces bâties à moins ou à plus de 300 m d'un arrêt de bus recensé.</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0</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ligne de tram</a:t>
            </a:r>
          </a:p>
          <a:p>
            <a:pPr algn="r">
              <a:lnSpc>
                <a:spcPct val="110000"/>
              </a:lnSpc>
            </a:pPr>
            <a:r>
              <a:rPr sz="850" b="0" i="0">
                <a:solidFill>
                  <a:srgbClr val="7B746B"/>
                </a:solidFill>
                <a:latin typeface="Barlow"/>
              </a:rPr>
              <a:t>ou de BHNS</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à plus de</a:t>
            </a:r>
          </a:p>
          <a:p>
            <a:pPr algn="r">
              <a:lnSpc>
                <a:spcPct val="110000"/>
              </a:lnSpc>
            </a:pPr>
            <a:r>
              <a:rPr sz="850" b="0" i="0">
                <a:solidFill>
                  <a:srgbClr val="7B746B"/>
                </a:solidFill>
                <a:latin typeface="Barlow"/>
              </a:rPr>
              <a:t>300 m d'un arrêt</a:t>
            </a:r>
          </a:p>
        </p:txBody>
      </p:sp>
      <p:sp>
        <p:nvSpPr>
          <p:cNvPr id="9" name="TextBox 8"/>
          <p:cNvSpPr txBox="1"/>
          <p:nvPr/>
        </p:nvSpPr>
        <p:spPr>
          <a:xfrm>
            <a:off x="92202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1 674</a:t>
            </a:r>
          </a:p>
        </p:txBody>
      </p:sp>
      <p:sp>
        <p:nvSpPr>
          <p:cNvPr id="10" name="TextBox 9"/>
          <p:cNvSpPr txBox="1"/>
          <p:nvPr/>
        </p:nvSpPr>
        <p:spPr>
          <a:xfrm>
            <a:off x="92202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arrêts de bus</a:t>
            </a:r>
          </a:p>
          <a:p>
            <a:pPr algn="r">
              <a:lnSpc>
                <a:spcPct val="110000"/>
              </a:lnSpc>
            </a:pPr>
            <a:r>
              <a:rPr sz="850" b="0" i="0">
                <a:solidFill>
                  <a:srgbClr val="7B746B"/>
                </a:solidFill>
                <a:latin typeface="Barlow"/>
              </a:rPr>
              <a:t>recensés</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27 / 32</a:t>
            </a:r>
          </a:p>
        </p:txBody>
      </p:sp>
      <p:pic>
        <p:nvPicPr>
          <p:cNvPr id="14" name="Picture 13" descr="m06_mobilit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Rectangle 15"/>
          <p:cNvSpPr/>
          <p:nvPr/>
        </p:nvSpPr>
        <p:spPr>
          <a:xfrm>
            <a:off x="8445500" y="1174750"/>
            <a:ext cx="165100" cy="101600"/>
          </a:xfrm>
          <a:prstGeom prst="rect">
            <a:avLst/>
          </a:prstGeom>
          <a:solidFill>
            <a:srgbClr val="A9B6C6"/>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desservi (moins de 300 m d'un arrêt)</a:t>
            </a:r>
          </a:p>
        </p:txBody>
      </p:sp>
      <p:sp>
        <p:nvSpPr>
          <p:cNvPr id="18" name="Rectangle 17"/>
          <p:cNvSpPr/>
          <p:nvPr/>
        </p:nvSpPr>
        <p:spPr>
          <a:xfrm>
            <a:off x="8445500" y="1352550"/>
            <a:ext cx="165100" cy="101600"/>
          </a:xfrm>
          <a:prstGeom prst="rect">
            <a:avLst/>
          </a:prstGeom>
          <a:solidFill>
            <a:srgbClr val="B5563C"/>
          </a:solidFill>
          <a:ln>
            <a:no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non desservi (plus de 300 m)</a:t>
            </a:r>
          </a:p>
        </p:txBody>
      </p:sp>
      <p:sp>
        <p:nvSpPr>
          <p:cNvPr id="20" name="Oval 19"/>
          <p:cNvSpPr/>
          <p:nvPr/>
        </p:nvSpPr>
        <p:spPr>
          <a:xfrm>
            <a:off x="8483600" y="1536700"/>
            <a:ext cx="88900" cy="88900"/>
          </a:xfrm>
          <a:prstGeom prst="ellipse">
            <a:avLst/>
          </a:prstGeom>
          <a:solidFill>
            <a:srgbClr val="3E5A6E"/>
          </a:solidFill>
          <a:ln w="6350">
            <a:solidFill>
              <a:srgbClr val="FFFFFF"/>
            </a:solidFill>
          </a:ln>
        </p:spPr>
        <p:txBody>
          <a:bodyPr rtlCol="0" anchor="ctr"/>
          <a:lstStyle/>
          <a:p>
            <a:pPr algn="ctr"/>
          </a:p>
        </p:txBody>
      </p: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Arrêt de bus</a:t>
            </a:r>
          </a:p>
        </p:txBody>
      </p:sp>
      <p:cxnSp>
        <p:nvCxnSpPr>
          <p:cNvPr id="22" name="Connector 21"/>
          <p:cNvCxnSpPr/>
          <p:nvPr/>
        </p:nvCxnSpPr>
        <p:spPr>
          <a:xfrm>
            <a:off x="8445500" y="1758950"/>
            <a:ext cx="165100" cy="0"/>
          </a:xfrm>
          <a:prstGeom prst="line">
            <a:avLst/>
          </a:prstGeom>
          <a:ln w="22225">
            <a:solidFill>
              <a:srgbClr val="B5563C"/>
            </a:solidFill>
          </a:ln>
        </p:spPr>
      </p:cxn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24" name="Connector 23"/>
          <p:cNvCxnSpPr/>
          <p:nvPr/>
        </p:nvCxnSpPr>
        <p:spPr>
          <a:xfrm>
            <a:off x="8445500" y="1936750"/>
            <a:ext cx="165100" cy="0"/>
          </a:xfrm>
          <a:prstGeom prst="line">
            <a:avLst/>
          </a:prstGeom>
          <a:ln w="13970">
            <a:solidFill>
              <a:srgbClr val="23303A"/>
            </a:solidFill>
            <a:prstDash val="dash"/>
          </a:ln>
        </p:spPr>
      </p:cxn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 et LGV</a:t>
            </a:r>
          </a:p>
        </p:txBody>
      </p:sp>
      <p:sp>
        <p:nvSpPr>
          <p:cNvPr id="26" name="Oval 25"/>
          <p:cNvSpPr/>
          <p:nvPr/>
        </p:nvSpPr>
        <p:spPr>
          <a:xfrm>
            <a:off x="8483600" y="2070100"/>
            <a:ext cx="88900" cy="88900"/>
          </a:xfrm>
          <a:prstGeom prst="ellipse">
            <a:avLst/>
          </a:prstGeom>
          <a:solidFill>
            <a:srgbClr val="B5563C"/>
          </a:solidFill>
          <a:ln w="6350">
            <a:solidFill>
              <a:srgbClr val="FFFFFF"/>
            </a:solidFill>
          </a:ln>
        </p:spPr>
        <p:txBody>
          <a:bodyPr rtlCol="0" anchor="ctr"/>
          <a:lstStyle/>
          <a:p>
            <a:pPr algn="ctr"/>
          </a:p>
        </p:txBody>
      </p:sp>
      <p:sp>
        <p:nvSpPr>
          <p:cNvPr id="27" name="TextBox 26"/>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Gare TGV Tanger Ville</a:t>
            </a:r>
          </a:p>
        </p:txBody>
      </p:sp>
      <p:sp>
        <p:nvSpPr>
          <p:cNvPr id="28" name="TextBox 27"/>
          <p:cNvSpPr txBox="1"/>
          <p:nvPr/>
        </p:nvSpPr>
        <p:spPr>
          <a:xfrm>
            <a:off x="8445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PART DU BÂTI DESSERVI</a:t>
            </a:r>
          </a:p>
        </p:txBody>
      </p:sp>
      <p:sp>
        <p:nvSpPr>
          <p:cNvPr id="29" name="TextBox 28"/>
          <p:cNvSpPr txBox="1"/>
          <p:nvPr/>
        </p:nvSpPr>
        <p:spPr>
          <a:xfrm>
            <a:off x="8445500" y="2603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30" name="Rectangle 29"/>
          <p:cNvSpPr/>
          <p:nvPr/>
        </p:nvSpPr>
        <p:spPr>
          <a:xfrm>
            <a:off x="9232900" y="2628900"/>
            <a:ext cx="1454220" cy="88900"/>
          </a:xfrm>
          <a:prstGeom prst="rect">
            <a:avLst/>
          </a:prstGeom>
          <a:solidFill>
            <a:srgbClr val="C2B8AA"/>
          </a:solidFill>
          <a:ln>
            <a:noFill/>
          </a:ln>
        </p:spPr>
        <p:txBody>
          <a:bodyPr rtlCol="0" anchor="ctr"/>
          <a:lstStyle/>
          <a:p>
            <a:pPr algn="ctr"/>
          </a:p>
        </p:txBody>
      </p:sp>
      <p:sp>
        <p:nvSpPr>
          <p:cNvPr id="31" name="TextBox 30"/>
          <p:cNvSpPr txBox="1"/>
          <p:nvPr/>
        </p:nvSpPr>
        <p:spPr>
          <a:xfrm>
            <a:off x="10725220" y="2603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64%</a:t>
            </a:r>
          </a:p>
        </p:txBody>
      </p:sp>
      <p:sp>
        <p:nvSpPr>
          <p:cNvPr id="32" name="TextBox 31"/>
          <p:cNvSpPr txBox="1"/>
          <p:nvPr/>
        </p:nvSpPr>
        <p:spPr>
          <a:xfrm>
            <a:off x="8445500" y="2794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33" name="Rectangle 32"/>
          <p:cNvSpPr/>
          <p:nvPr/>
        </p:nvSpPr>
        <p:spPr>
          <a:xfrm>
            <a:off x="9232900" y="2819400"/>
            <a:ext cx="2000838" cy="88900"/>
          </a:xfrm>
          <a:prstGeom prst="rect">
            <a:avLst/>
          </a:prstGeom>
          <a:solidFill>
            <a:srgbClr val="C2B8AA"/>
          </a:solidFill>
          <a:ln>
            <a:noFill/>
          </a:ln>
        </p:spPr>
        <p:txBody>
          <a:bodyPr rtlCol="0" anchor="ctr"/>
          <a:lstStyle/>
          <a:p>
            <a:pPr algn="ctr"/>
          </a:p>
        </p:txBody>
      </p:sp>
      <p:sp>
        <p:nvSpPr>
          <p:cNvPr id="34" name="TextBox 33"/>
          <p:cNvSpPr txBox="1"/>
          <p:nvPr/>
        </p:nvSpPr>
        <p:spPr>
          <a:xfrm>
            <a:off x="11271838" y="2794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88%</a:t>
            </a:r>
          </a:p>
        </p:txBody>
      </p:sp>
      <p:sp>
        <p:nvSpPr>
          <p:cNvPr id="35" name="TextBox 34"/>
          <p:cNvSpPr txBox="1"/>
          <p:nvPr/>
        </p:nvSpPr>
        <p:spPr>
          <a:xfrm>
            <a:off x="8445500" y="2984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36" name="Rectangle 35"/>
          <p:cNvSpPr/>
          <p:nvPr/>
        </p:nvSpPr>
        <p:spPr>
          <a:xfrm>
            <a:off x="9232900" y="3009900"/>
            <a:ext cx="1517910" cy="88900"/>
          </a:xfrm>
          <a:prstGeom prst="rect">
            <a:avLst/>
          </a:prstGeom>
          <a:solidFill>
            <a:srgbClr val="C2B8AA"/>
          </a:solidFill>
          <a:ln>
            <a:noFill/>
          </a:ln>
        </p:spPr>
        <p:txBody>
          <a:bodyPr rtlCol="0" anchor="ctr"/>
          <a:lstStyle/>
          <a:p>
            <a:pPr algn="ctr"/>
          </a:p>
        </p:txBody>
      </p:sp>
      <p:sp>
        <p:nvSpPr>
          <p:cNvPr id="37" name="TextBox 36"/>
          <p:cNvSpPr txBox="1"/>
          <p:nvPr/>
        </p:nvSpPr>
        <p:spPr>
          <a:xfrm>
            <a:off x="10788910" y="2984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66%</a:t>
            </a:r>
          </a:p>
        </p:txBody>
      </p:sp>
      <p:sp>
        <p:nvSpPr>
          <p:cNvPr id="38" name="TextBox 37"/>
          <p:cNvSpPr txBox="1"/>
          <p:nvPr/>
        </p:nvSpPr>
        <p:spPr>
          <a:xfrm>
            <a:off x="8445500" y="3175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39" name="Rectangle 38"/>
          <p:cNvSpPr/>
          <p:nvPr/>
        </p:nvSpPr>
        <p:spPr>
          <a:xfrm>
            <a:off x="9232900" y="3200400"/>
            <a:ext cx="1615146" cy="88900"/>
          </a:xfrm>
          <a:prstGeom prst="rect">
            <a:avLst/>
          </a:prstGeom>
          <a:solidFill>
            <a:srgbClr val="B5563C"/>
          </a:solidFill>
          <a:ln>
            <a:noFill/>
          </a:ln>
        </p:spPr>
        <p:txBody>
          <a:bodyPr rtlCol="0" anchor="ctr"/>
          <a:lstStyle/>
          <a:p>
            <a:pPr algn="ctr"/>
          </a:p>
        </p:txBody>
      </p:sp>
      <p:sp>
        <p:nvSpPr>
          <p:cNvPr id="40" name="TextBox 39"/>
          <p:cNvSpPr txBox="1"/>
          <p:nvPr/>
        </p:nvSpPr>
        <p:spPr>
          <a:xfrm>
            <a:off x="10886146" y="3175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71%</a:t>
            </a:r>
          </a:p>
        </p:txBody>
      </p:sp>
      <p:sp>
        <p:nvSpPr>
          <p:cNvPr id="41" name="TextBox 40"/>
          <p:cNvSpPr txBox="1"/>
          <p:nvPr/>
        </p:nvSpPr>
        <p:spPr>
          <a:xfrm>
            <a:off x="8445500" y="3492500"/>
            <a:ext cx="3492500" cy="2540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Près d'un tiers des surfaces bâties de la commune est à plus de 300 m d'un arrêt, surtout dans les extensions récentes du sud et de Gzenaya. Tanger est reliée à Casablanca en 2 h 10 par le TGV, mais ses quartiers ne sont reliés entre eux que par le bus, le grand taxi et la voiture.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SYNTHÈSE SPATIALE ET ENJEUX</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Trois figures superposées : la vitrine littorale, la périphérie dense, la lisière forestière sous pression.</a:t>
            </a:r>
          </a:p>
        </p:txBody>
      </p:sp>
      <p:pic>
        <p:nvPicPr>
          <p:cNvPr id="5" name="Picture 4" descr="nc_sk_hafa.png"/>
          <p:cNvPicPr>
            <a:picLocks noChangeAspect="1"/>
          </p:cNvPicPr>
          <p:nvPr/>
        </p:nvPicPr>
        <p:blipFill>
          <a:blip r:embed="rId2"/>
          <a:stretch>
            <a:fillRect/>
          </a:stretch>
        </p:blipFill>
        <p:spPr>
          <a:xfrm>
            <a:off x="10985500" y="205740"/>
            <a:ext cx="952500" cy="579120"/>
          </a:xfrm>
          <a:prstGeom prst="rect">
            <a:avLst/>
          </a:prstGeom>
        </p:spPr>
      </p:pic>
      <p:sp>
        <p:nvSpPr>
          <p:cNvPr id="6" name="TextBox 5"/>
          <p:cNvSpPr txBox="1"/>
          <p:nvPr/>
        </p:nvSpPr>
        <p:spPr>
          <a:xfrm>
            <a:off x="99695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a:t>
            </a:r>
          </a:p>
        </p:txBody>
      </p:sp>
      <p:sp>
        <p:nvSpPr>
          <p:cNvPr id="7" name="TextBox 6"/>
          <p:cNvSpPr txBox="1"/>
          <p:nvPr/>
        </p:nvSpPr>
        <p:spPr>
          <a:xfrm>
            <a:off x="99695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enjeux</a:t>
            </a:r>
          </a:p>
        </p:txBody>
      </p:sp>
      <p:sp>
        <p:nvSpPr>
          <p:cNvPr id="8" name="TextBox 7"/>
          <p:cNvSpPr txBox="1"/>
          <p:nvPr/>
        </p:nvSpPr>
        <p:spPr>
          <a:xfrm>
            <a:off x="87566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567 000</a:t>
            </a:r>
          </a:p>
        </p:txBody>
      </p:sp>
      <p:sp>
        <p:nvSpPr>
          <p:cNvPr id="9" name="TextBox 8"/>
          <p:cNvSpPr txBox="1"/>
          <p:nvPr/>
        </p:nvSpPr>
        <p:spPr>
          <a:xfrm>
            <a:off x="87566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dans la</a:t>
            </a:r>
          </a:p>
          <a:p>
            <a:pPr algn="r">
              <a:lnSpc>
                <a:spcPct val="110000"/>
              </a:lnSpc>
            </a:pPr>
            <a:r>
              <a:rPr sz="850" b="0" i="0">
                <a:solidFill>
                  <a:srgbClr val="7B746B"/>
                </a:solidFill>
                <a:latin typeface="Barlow"/>
              </a:rPr>
              <a:t>périphérie dense</a:t>
            </a:r>
          </a:p>
        </p:txBody>
      </p:sp>
      <p:sp>
        <p:nvSpPr>
          <p:cNvPr id="10" name="TextBox 9"/>
          <p:cNvSpPr txBox="1"/>
          <p:nvPr/>
        </p:nvSpPr>
        <p:spPr>
          <a:xfrm>
            <a:off x="7768590" y="215900"/>
            <a:ext cx="77216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km</a:t>
            </a:r>
          </a:p>
        </p:txBody>
      </p:sp>
      <p:sp>
        <p:nvSpPr>
          <p:cNvPr id="11" name="TextBox 10"/>
          <p:cNvSpPr txBox="1"/>
          <p:nvPr/>
        </p:nvSpPr>
        <p:spPr>
          <a:xfrm>
            <a:off x="7768590" y="546100"/>
            <a:ext cx="77216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bande littorale</a:t>
            </a:r>
          </a:p>
          <a:p>
            <a:pPr algn="r">
              <a:lnSpc>
                <a:spcPct val="110000"/>
              </a:lnSpc>
            </a:pPr>
            <a:r>
              <a:rPr sz="850" b="0" i="0">
                <a:solidFill>
                  <a:srgbClr val="7B746B"/>
                </a:solidFill>
                <a:latin typeface="Barlow"/>
              </a:rPr>
              <a:t>concentrant l'image</a:t>
            </a:r>
          </a:p>
        </p:txBody>
      </p:sp>
      <p:cxnSp>
        <p:nvCxnSpPr>
          <p:cNvPr id="12" name="Connector 11"/>
          <p:cNvCxnSpPr/>
          <p:nvPr/>
        </p:nvCxnSpPr>
        <p:spPr>
          <a:xfrm>
            <a:off x="254000" y="6578600"/>
            <a:ext cx="11684000" cy="0"/>
          </a:xfrm>
          <a:prstGeom prst="line">
            <a:avLst/>
          </a:prstGeom>
          <a:ln w="6350">
            <a:solidFill>
              <a:srgbClr val="CFC6B8"/>
            </a:solidFill>
          </a:ln>
        </p:spPr>
      </p:cxnSp>
      <p:sp>
        <p:nvSpPr>
          <p:cNvPr id="13" name="TextBox 12"/>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4" name="TextBox 13"/>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28 / 32</a:t>
            </a:r>
          </a:p>
        </p:txBody>
      </p:sp>
      <p:pic>
        <p:nvPicPr>
          <p:cNvPr id="15" name="Picture 14" descr="m10_synthese.jpg"/>
          <p:cNvPicPr>
            <a:picLocks noChangeAspect="1"/>
          </p:cNvPicPr>
          <p:nvPr/>
        </p:nvPicPr>
        <p:blipFill>
          <a:blip r:embed="rId3"/>
          <a:stretch>
            <a:fillRect/>
          </a:stretch>
        </p:blipFill>
        <p:spPr>
          <a:xfrm>
            <a:off x="254000" y="952500"/>
            <a:ext cx="7937500" cy="5622396"/>
          </a:xfrm>
          <a:prstGeom prst="rect">
            <a:avLst/>
          </a:prstGeom>
        </p:spPr>
      </p:pic>
      <p:sp>
        <p:nvSpPr>
          <p:cNvPr id="16" name="TextBox 15"/>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7" name="Rectangle 16"/>
          <p:cNvSpPr/>
          <p:nvPr/>
        </p:nvSpPr>
        <p:spPr>
          <a:xfrm>
            <a:off x="8445500" y="1174750"/>
            <a:ext cx="165100" cy="101600"/>
          </a:xfrm>
          <a:prstGeom prst="rect">
            <a:avLst/>
          </a:prstGeom>
          <a:solidFill>
            <a:srgbClr val="E6C3B2"/>
          </a:solidFill>
          <a:ln>
            <a:noFill/>
          </a:ln>
        </p:spPr>
        <p:txBody>
          <a:bodyPr rtlCol="0" anchor="ctr"/>
          <a:lstStyle/>
          <a:p>
            <a:pPr algn="ctr"/>
          </a:p>
        </p:txBody>
      </p:sp>
      <p:sp>
        <p:nvSpPr>
          <p:cNvPr id="18" name="TextBox 17"/>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Vitrine littorale : bande de 1 km</a:t>
            </a:r>
          </a:p>
        </p:txBody>
      </p:sp>
      <p:sp>
        <p:nvSpPr>
          <p:cNvPr id="19" name="Rectangle 18"/>
          <p:cNvSpPr/>
          <p:nvPr/>
        </p:nvSpPr>
        <p:spPr>
          <a:xfrm>
            <a:off x="8445500" y="1352550"/>
            <a:ext cx="165100" cy="101600"/>
          </a:xfrm>
          <a:prstGeom prst="rect">
            <a:avLst/>
          </a:prstGeom>
          <a:noFill/>
          <a:ln w="12700">
            <a:solidFill>
              <a:srgbClr val="3E5A6E"/>
            </a:solidFill>
          </a:ln>
        </p:spPr>
        <p:txBody>
          <a:bodyPr rtlCol="0" anchor="ctr"/>
          <a:lstStyle/>
          <a:p>
            <a:pPr algn="ctr"/>
          </a:p>
        </p:txBody>
      </p:sp>
      <p:sp>
        <p:nvSpPr>
          <p:cNvPr id="20" name="TextBox 19"/>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Périphérie dense sous-équipée (Beni Makada)</a:t>
            </a:r>
          </a:p>
        </p:txBody>
      </p:sp>
      <p:sp>
        <p:nvSpPr>
          <p:cNvPr id="21" name="Rectangle 20"/>
          <p:cNvSpPr/>
          <p:nvPr/>
        </p:nvSpPr>
        <p:spPr>
          <a:xfrm>
            <a:off x="8445500" y="1530350"/>
            <a:ext cx="165100" cy="101600"/>
          </a:xfrm>
          <a:prstGeom prst="rect">
            <a:avLst/>
          </a:prstGeom>
          <a:solidFill>
            <a:srgbClr val="4F6B4A"/>
          </a:solidFill>
          <a:ln>
            <a:noFill/>
          </a:ln>
        </p:spPr>
        <p:txBody>
          <a:bodyPr rtlCol="0" anchor="ctr"/>
          <a:lstStyle/>
          <a:p>
            <a:pPr algn="ctr"/>
          </a:p>
        </p:txBody>
      </p:sp>
      <p:sp>
        <p:nvSpPr>
          <p:cNvPr id="22" name="TextBox 21"/>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Lisière forestière au contact du bâti</a:t>
            </a:r>
          </a:p>
        </p:txBody>
      </p:sp>
      <p:sp>
        <p:nvSpPr>
          <p:cNvPr id="23" name="Rectangle 22"/>
          <p:cNvSpPr/>
          <p:nvPr/>
        </p:nvSpPr>
        <p:spPr>
          <a:xfrm>
            <a:off x="8445500" y="1708150"/>
            <a:ext cx="165100" cy="101600"/>
          </a:xfrm>
          <a:prstGeom prst="rect">
            <a:avLst/>
          </a:prstGeom>
          <a:solidFill>
            <a:srgbClr val="C6B9A8"/>
          </a:solidFill>
          <a:ln>
            <a:noFill/>
          </a:ln>
        </p:spPr>
        <p:txBody>
          <a:bodyPr rtlCol="0" anchor="ctr"/>
          <a:lstStyle/>
          <a:p>
            <a:pPr algn="ctr"/>
          </a:p>
        </p:txBody>
      </p:sp>
      <p:sp>
        <p:nvSpPr>
          <p:cNvPr id="24" name="TextBox 23"/>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a:t>
            </a:r>
          </a:p>
        </p:txBody>
      </p:sp>
      <p:sp>
        <p:nvSpPr>
          <p:cNvPr id="25" name="Rectangle 24"/>
          <p:cNvSpPr/>
          <p:nvPr/>
        </p:nvSpPr>
        <p:spPr>
          <a:xfrm>
            <a:off x="8445500" y="1885950"/>
            <a:ext cx="165100" cy="101600"/>
          </a:xfrm>
          <a:prstGeom prst="rect">
            <a:avLst/>
          </a:prstGeom>
          <a:solidFill>
            <a:srgbClr val="BAC8A8"/>
          </a:solidFill>
          <a:ln>
            <a:noFill/>
          </a:ln>
        </p:spPr>
        <p:txBody>
          <a:bodyPr rtlCol="0" anchor="ctr"/>
          <a:lstStyle/>
          <a:p>
            <a:pPr algn="ctr"/>
          </a:p>
        </p:txBody>
      </p:sp>
      <p:sp>
        <p:nvSpPr>
          <p:cNvPr id="26" name="TextBox 25"/>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Couvert arboré</a:t>
            </a:r>
          </a:p>
        </p:txBody>
      </p:sp>
      <p:sp>
        <p:nvSpPr>
          <p:cNvPr id="27" name="TextBox 26"/>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ENJEUX</a:t>
            </a:r>
          </a:p>
        </p:txBody>
      </p:sp>
      <p:sp>
        <p:nvSpPr>
          <p:cNvPr id="28" name="Oval 27"/>
          <p:cNvSpPr/>
          <p:nvPr/>
        </p:nvSpPr>
        <p:spPr>
          <a:xfrm>
            <a:off x="8445500" y="2419350"/>
            <a:ext cx="165100" cy="165100"/>
          </a:xfrm>
          <a:prstGeom prst="ellipse">
            <a:avLst/>
          </a:prstGeom>
          <a:solidFill>
            <a:srgbClr val="23303A"/>
          </a:solidFill>
          <a:ln w="9525">
            <a:solidFill>
              <a:srgbClr val="FFFFFF"/>
            </a:solidFill>
          </a:ln>
        </p:spPr>
        <p:txBody>
          <a:bodyPr rtlCol="0" anchor="ctr"/>
          <a:lstStyle/>
          <a:p>
            <a:pPr algn="ctr"/>
          </a:p>
        </p:txBody>
      </p:sp>
      <p:sp>
        <p:nvSpPr>
          <p:cNvPr id="29" name="TextBox 28"/>
          <p:cNvSpPr txBox="1"/>
          <p:nvPr/>
        </p:nvSpPr>
        <p:spPr>
          <a:xfrm>
            <a:off x="8445500" y="24193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1</a:t>
            </a:r>
          </a:p>
        </p:txBody>
      </p:sp>
      <p:sp>
        <p:nvSpPr>
          <p:cNvPr id="30" name="TextBox 29"/>
          <p:cNvSpPr txBox="1"/>
          <p:nvPr/>
        </p:nvSpPr>
        <p:spPr>
          <a:xfrm>
            <a:off x="8686800" y="24257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Front de mer et port</a:t>
            </a:r>
          </a:p>
        </p:txBody>
      </p:sp>
      <p:sp>
        <p:nvSpPr>
          <p:cNvPr id="31" name="TextBox 30"/>
          <p:cNvSpPr txBox="1"/>
          <p:nvPr/>
        </p:nvSpPr>
        <p:spPr>
          <a:xfrm>
            <a:off x="8686800" y="25781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la vitrine concentre l'investissement et l'hébergement</a:t>
            </a:r>
          </a:p>
        </p:txBody>
      </p:sp>
      <p:sp>
        <p:nvSpPr>
          <p:cNvPr id="32" name="Oval 31"/>
          <p:cNvSpPr/>
          <p:nvPr/>
        </p:nvSpPr>
        <p:spPr>
          <a:xfrm>
            <a:off x="8445500" y="2787650"/>
            <a:ext cx="165100" cy="165100"/>
          </a:xfrm>
          <a:prstGeom prst="ellipse">
            <a:avLst/>
          </a:prstGeom>
          <a:solidFill>
            <a:srgbClr val="23303A"/>
          </a:solidFill>
          <a:ln w="9525">
            <a:solidFill>
              <a:srgbClr val="FFFFFF"/>
            </a:solidFill>
          </a:ln>
        </p:spPr>
        <p:txBody>
          <a:bodyPr rtlCol="0" anchor="ctr"/>
          <a:lstStyle/>
          <a:p>
            <a:pPr algn="ctr"/>
          </a:p>
        </p:txBody>
      </p:sp>
      <p:sp>
        <p:nvSpPr>
          <p:cNvPr id="33" name="TextBox 32"/>
          <p:cNvSpPr txBox="1"/>
          <p:nvPr/>
        </p:nvSpPr>
        <p:spPr>
          <a:xfrm>
            <a:off x="8445500" y="27876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2</a:t>
            </a:r>
          </a:p>
        </p:txBody>
      </p:sp>
      <p:sp>
        <p:nvSpPr>
          <p:cNvPr id="34" name="TextBox 33"/>
          <p:cNvSpPr txBox="1"/>
          <p:nvPr/>
        </p:nvSpPr>
        <p:spPr>
          <a:xfrm>
            <a:off x="8686800" y="27940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Beni Makada</a:t>
            </a:r>
          </a:p>
        </p:txBody>
      </p:sp>
      <p:sp>
        <p:nvSpPr>
          <p:cNvPr id="35" name="TextBox 34"/>
          <p:cNvSpPr txBox="1"/>
          <p:nvPr/>
        </p:nvSpPr>
        <p:spPr>
          <a:xfrm>
            <a:off x="8686800" y="29464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44 % des habitants, le moins d'équipements et d'arbres</a:t>
            </a:r>
          </a:p>
        </p:txBody>
      </p:sp>
      <p:sp>
        <p:nvSpPr>
          <p:cNvPr id="36" name="Oval 35"/>
          <p:cNvSpPr/>
          <p:nvPr/>
        </p:nvSpPr>
        <p:spPr>
          <a:xfrm>
            <a:off x="8445500" y="3155950"/>
            <a:ext cx="165100" cy="165100"/>
          </a:xfrm>
          <a:prstGeom prst="ellipse">
            <a:avLst/>
          </a:prstGeom>
          <a:solidFill>
            <a:srgbClr val="23303A"/>
          </a:solidFill>
          <a:ln w="9525">
            <a:solidFill>
              <a:srgbClr val="FFFFFF"/>
            </a:solidFill>
          </a:ln>
        </p:spPr>
        <p:txBody>
          <a:bodyPr rtlCol="0" anchor="ctr"/>
          <a:lstStyle/>
          <a:p>
            <a:pPr algn="ctr"/>
          </a:p>
        </p:txBody>
      </p:sp>
      <p:sp>
        <p:nvSpPr>
          <p:cNvPr id="37" name="TextBox 36"/>
          <p:cNvSpPr txBox="1"/>
          <p:nvPr/>
        </p:nvSpPr>
        <p:spPr>
          <a:xfrm>
            <a:off x="8445500" y="31559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3</a:t>
            </a:r>
          </a:p>
        </p:txBody>
      </p:sp>
      <p:sp>
        <p:nvSpPr>
          <p:cNvPr id="38" name="TextBox 37"/>
          <p:cNvSpPr txBox="1"/>
          <p:nvPr/>
        </p:nvSpPr>
        <p:spPr>
          <a:xfrm>
            <a:off x="8686800" y="31623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Rmilat, Perdicaris, cap Spartel</a:t>
            </a:r>
          </a:p>
        </p:txBody>
      </p:sp>
      <p:sp>
        <p:nvSpPr>
          <p:cNvPr id="39" name="TextBox 38"/>
          <p:cNvSpPr txBox="1"/>
          <p:nvPr/>
        </p:nvSpPr>
        <p:spPr>
          <a:xfrm>
            <a:off x="8686800" y="33147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la forêt devient la prochaine réserve foncière</a:t>
            </a:r>
          </a:p>
        </p:txBody>
      </p:sp>
      <p:sp>
        <p:nvSpPr>
          <p:cNvPr id="40" name="Oval 39"/>
          <p:cNvSpPr/>
          <p:nvPr/>
        </p:nvSpPr>
        <p:spPr>
          <a:xfrm>
            <a:off x="8445500" y="3524250"/>
            <a:ext cx="165100" cy="165100"/>
          </a:xfrm>
          <a:prstGeom prst="ellipse">
            <a:avLst/>
          </a:prstGeom>
          <a:solidFill>
            <a:srgbClr val="23303A"/>
          </a:solidFill>
          <a:ln w="9525">
            <a:solidFill>
              <a:srgbClr val="FFFFFF"/>
            </a:solidFill>
          </a:ln>
        </p:spPr>
        <p:txBody>
          <a:bodyPr rtlCol="0" anchor="ctr"/>
          <a:lstStyle/>
          <a:p>
            <a:pPr algn="ctr"/>
          </a:p>
        </p:txBody>
      </p:sp>
      <p:sp>
        <p:nvSpPr>
          <p:cNvPr id="41" name="TextBox 40"/>
          <p:cNvSpPr txBox="1"/>
          <p:nvPr/>
        </p:nvSpPr>
        <p:spPr>
          <a:xfrm>
            <a:off x="8445500" y="35242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4</a:t>
            </a:r>
          </a:p>
        </p:txBody>
      </p:sp>
      <p:sp>
        <p:nvSpPr>
          <p:cNvPr id="42" name="TextBox 41"/>
          <p:cNvSpPr txBox="1"/>
          <p:nvPr/>
        </p:nvSpPr>
        <p:spPr>
          <a:xfrm>
            <a:off x="8686800" y="35306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Grand stade</a:t>
            </a:r>
          </a:p>
        </p:txBody>
      </p:sp>
      <p:sp>
        <p:nvSpPr>
          <p:cNvPr id="43" name="TextBox 42"/>
          <p:cNvSpPr txBox="1"/>
          <p:nvPr/>
        </p:nvSpPr>
        <p:spPr>
          <a:xfrm>
            <a:off x="8686800" y="36830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un investissement d'événement, loin des transports</a:t>
            </a:r>
          </a:p>
        </p:txBody>
      </p:sp>
      <p:sp>
        <p:nvSpPr>
          <p:cNvPr id="44" name="Oval 43"/>
          <p:cNvSpPr/>
          <p:nvPr/>
        </p:nvSpPr>
        <p:spPr>
          <a:xfrm>
            <a:off x="8445500" y="3892550"/>
            <a:ext cx="165100" cy="165100"/>
          </a:xfrm>
          <a:prstGeom prst="ellipse">
            <a:avLst/>
          </a:prstGeom>
          <a:solidFill>
            <a:srgbClr val="23303A"/>
          </a:solidFill>
          <a:ln w="9525">
            <a:solidFill>
              <a:srgbClr val="FFFFFF"/>
            </a:solidFill>
          </a:ln>
        </p:spPr>
        <p:txBody>
          <a:bodyPr rtlCol="0" anchor="ctr"/>
          <a:lstStyle/>
          <a:p>
            <a:pPr algn="ctr"/>
          </a:p>
        </p:txBody>
      </p:sp>
      <p:sp>
        <p:nvSpPr>
          <p:cNvPr id="45" name="TextBox 44"/>
          <p:cNvSpPr txBox="1"/>
          <p:nvPr/>
        </p:nvSpPr>
        <p:spPr>
          <a:xfrm>
            <a:off x="8445500" y="38925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5</a:t>
            </a:r>
          </a:p>
        </p:txBody>
      </p:sp>
      <p:sp>
        <p:nvSpPr>
          <p:cNvPr id="46" name="TextBox 45"/>
          <p:cNvSpPr txBox="1"/>
          <p:nvPr/>
        </p:nvSpPr>
        <p:spPr>
          <a:xfrm>
            <a:off x="8686800" y="38989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Gzenaya, zone franche</a:t>
            </a:r>
          </a:p>
        </p:txBody>
      </p:sp>
      <p:sp>
        <p:nvSpPr>
          <p:cNvPr id="47" name="TextBox 46"/>
          <p:cNvSpPr txBox="1"/>
          <p:nvPr/>
        </p:nvSpPr>
        <p:spPr>
          <a:xfrm>
            <a:off x="8686800" y="40513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l'emploi sans la ville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UN AUTRE PA : LA RÈGLE AU SERVICE DE LA VILLE VÉCUE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Proposition de zonage dans la logique d'un PA (loi 12-90) : densifier autour d'un transport, protéger le rivage (loi 81-12), réserver les équipements.</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littoral public</a:t>
            </a:r>
          </a:p>
        </p:txBody>
      </p:sp>
      <p:sp>
        <p:nvSpPr>
          <p:cNvPr id="7" name="TextBox 6"/>
          <p:cNvSpPr txBox="1"/>
          <p:nvPr/>
        </p:nvSpPr>
        <p:spPr>
          <a:xfrm>
            <a:off x="98615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325 ha</a:t>
            </a:r>
          </a:p>
        </p:txBody>
      </p:sp>
      <p:sp>
        <p:nvSpPr>
          <p:cNvPr id="8" name="TextBox 7"/>
          <p:cNvSpPr txBox="1"/>
          <p:nvPr/>
        </p:nvSpPr>
        <p:spPr>
          <a:xfrm>
            <a:off x="98615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réserves pour</a:t>
            </a:r>
          </a:p>
          <a:p>
            <a:pPr algn="r">
              <a:lnSpc>
                <a:spcPct val="110000"/>
              </a:lnSpc>
            </a:pPr>
            <a:r>
              <a:rPr sz="850" b="0" i="0">
                <a:solidFill>
                  <a:srgbClr val="7B746B"/>
                </a:solidFill>
                <a:latin typeface="Barlow"/>
              </a:rPr>
              <a:t>parcs et équipements</a:t>
            </a:r>
          </a:p>
        </p:txBody>
      </p:sp>
      <p:sp>
        <p:nvSpPr>
          <p:cNvPr id="9" name="TextBox 8"/>
          <p:cNvSpPr txBox="1"/>
          <p:nvPr/>
        </p:nvSpPr>
        <p:spPr>
          <a:xfrm>
            <a:off x="88836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17 km</a:t>
            </a:r>
          </a:p>
        </p:txBody>
      </p:sp>
      <p:sp>
        <p:nvSpPr>
          <p:cNvPr id="10" name="TextBox 9"/>
          <p:cNvSpPr txBox="1"/>
          <p:nvPr/>
        </p:nvSpPr>
        <p:spPr>
          <a:xfrm>
            <a:off x="88836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tram / BHNS,</a:t>
            </a:r>
          </a:p>
          <a:p>
            <a:pPr algn="r">
              <a:lnSpc>
                <a:spcPct val="110000"/>
              </a:lnSpc>
            </a:pPr>
            <a:r>
              <a:rPr sz="850" b="0" i="0">
                <a:solidFill>
                  <a:srgbClr val="7B746B"/>
                </a:solidFill>
                <a:latin typeface="Barlow"/>
              </a:rPr>
              <a:t>8 stations</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29 / 32</a:t>
            </a:r>
          </a:p>
        </p:txBody>
      </p:sp>
      <p:pic>
        <p:nvPicPr>
          <p:cNvPr id="14" name="Picture 13" descr="m15_plan.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3820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ZONAGE PROPOSÉ</a:t>
            </a:r>
          </a:p>
        </p:txBody>
      </p:sp>
      <p:sp>
        <p:nvSpPr>
          <p:cNvPr id="16" name="Rectangle 15"/>
          <p:cNvSpPr/>
          <p:nvPr/>
        </p:nvSpPr>
        <p:spPr>
          <a:xfrm>
            <a:off x="8382000" y="1174750"/>
            <a:ext cx="165100" cy="101600"/>
          </a:xfrm>
          <a:prstGeom prst="rect">
            <a:avLst/>
          </a:prstGeom>
          <a:solidFill>
            <a:srgbClr val="A9BC97"/>
          </a:solidFill>
          <a:ln>
            <a:noFill/>
          </a:ln>
        </p:spPr>
        <p:txBody>
          <a:bodyPr rtlCol="0" anchor="ctr"/>
          <a:lstStyle/>
          <a:p>
            <a:pPr algn="ctr"/>
          </a:p>
        </p:txBody>
      </p:sp>
      <p:sp>
        <p:nvSpPr>
          <p:cNvPr id="17" name="TextBox 16"/>
          <p:cNvSpPr txBox="1"/>
          <p:nvPr/>
        </p:nvSpPr>
        <p:spPr>
          <a:xfrm>
            <a:off x="8636000" y="1162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N  · forêts protégées : Rmilat, Perdicaris, Malabata</a:t>
            </a:r>
          </a:p>
        </p:txBody>
      </p:sp>
      <p:sp>
        <p:nvSpPr>
          <p:cNvPr id="18" name="Rectangle 17"/>
          <p:cNvSpPr/>
          <p:nvPr/>
        </p:nvSpPr>
        <p:spPr>
          <a:xfrm>
            <a:off x="8382000" y="1352550"/>
            <a:ext cx="165100" cy="101600"/>
          </a:xfrm>
          <a:prstGeom prst="rect">
            <a:avLst/>
          </a:prstGeom>
          <a:solidFill>
            <a:srgbClr val="ECE6D3"/>
          </a:solidFill>
          <a:ln>
            <a:noFill/>
          </a:ln>
        </p:spPr>
        <p:txBody>
          <a:bodyPr rtlCol="0" anchor="ctr"/>
          <a:lstStyle/>
          <a:p>
            <a:pPr algn="ctr"/>
          </a:p>
        </p:txBody>
      </p:sp>
      <p:sp>
        <p:nvSpPr>
          <p:cNvPr id="19" name="TextBox 18"/>
          <p:cNvSpPr txBox="1"/>
          <p:nvPr/>
        </p:nvSpPr>
        <p:spPr>
          <a:xfrm>
            <a:off x="8636000" y="1339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  · zone agricole hors limite d'urbanisation</a:t>
            </a:r>
          </a:p>
        </p:txBody>
      </p:sp>
      <p:sp>
        <p:nvSpPr>
          <p:cNvPr id="20" name="Rectangle 19"/>
          <p:cNvSpPr/>
          <p:nvPr/>
        </p:nvSpPr>
        <p:spPr>
          <a:xfrm>
            <a:off x="8382000" y="1530350"/>
            <a:ext cx="165100" cy="101600"/>
          </a:xfrm>
          <a:prstGeom prst="rect">
            <a:avLst/>
          </a:prstGeom>
          <a:solidFill>
            <a:srgbClr val="DCCDB9"/>
          </a:solidFill>
          <a:ln>
            <a:noFill/>
          </a:ln>
        </p:spPr>
        <p:txBody>
          <a:bodyPr rtlCol="0" anchor="ctr"/>
          <a:lstStyle/>
          <a:p>
            <a:pPr algn="ctr"/>
          </a:p>
        </p:txBody>
      </p:sp>
      <p:sp>
        <p:nvSpPr>
          <p:cNvPr id="21" name="TextBox 20"/>
          <p:cNvSpPr txBox="1"/>
          <p:nvPr/>
        </p:nvSpPr>
        <p:spPr>
          <a:xfrm>
            <a:off x="8636000" y="1517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U  · tissu existant à requalifier</a:t>
            </a:r>
          </a:p>
        </p:txBody>
      </p:sp>
      <p:sp>
        <p:nvSpPr>
          <p:cNvPr id="22" name="Rectangle 21"/>
          <p:cNvSpPr/>
          <p:nvPr/>
        </p:nvSpPr>
        <p:spPr>
          <a:xfrm>
            <a:off x="8382000" y="1708150"/>
            <a:ext cx="165100" cy="101600"/>
          </a:xfrm>
          <a:prstGeom prst="rect">
            <a:avLst/>
          </a:prstGeom>
          <a:solidFill>
            <a:srgbClr val="E2B48F"/>
          </a:solidFill>
          <a:ln>
            <a:noFill/>
          </a:ln>
        </p:spPr>
        <p:txBody>
          <a:bodyPr rtlCol="0" anchor="ctr"/>
          <a:lstStyle/>
          <a:p>
            <a:pPr algn="ctr"/>
          </a:p>
        </p:txBody>
      </p:sp>
      <p:sp>
        <p:nvSpPr>
          <p:cNvPr id="23" name="TextBox 22"/>
          <p:cNvSpPr txBox="1"/>
          <p:nvPr/>
        </p:nvSpPr>
        <p:spPr>
          <a:xfrm>
            <a:off x="8636000" y="16954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UT · densification mixte à 500 m du tram</a:t>
            </a:r>
          </a:p>
        </p:txBody>
      </p:sp>
      <p:sp>
        <p:nvSpPr>
          <p:cNvPr id="24" name="Rectangle 23"/>
          <p:cNvSpPr/>
          <p:nvPr/>
        </p:nvSpPr>
        <p:spPr>
          <a:xfrm>
            <a:off x="8382000" y="1885950"/>
            <a:ext cx="165100" cy="101600"/>
          </a:xfrm>
          <a:prstGeom prst="rect">
            <a:avLst/>
          </a:prstGeom>
          <a:solidFill>
            <a:srgbClr val="F0D9B8"/>
          </a:solidFill>
          <a:ln>
            <a:noFill/>
          </a:ln>
        </p:spPr>
        <p:txBody>
          <a:bodyPr rtlCol="0" anchor="ctr"/>
          <a:lstStyle/>
          <a:p>
            <a:pPr algn="ctr"/>
          </a:p>
        </p:txBody>
      </p:sp>
      <p:sp>
        <p:nvSpPr>
          <p:cNvPr id="25" name="TextBox 24"/>
          <p:cNvSpPr txBox="1"/>
          <p:nvPr/>
        </p:nvSpPr>
        <p:spPr>
          <a:xfrm>
            <a:off x="8636000" y="18732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 · extension maîtrisée autour des stations</a:t>
            </a:r>
          </a:p>
        </p:txBody>
      </p:sp>
      <p:sp>
        <p:nvSpPr>
          <p:cNvPr id="26" name="Rectangle 25"/>
          <p:cNvSpPr/>
          <p:nvPr/>
        </p:nvSpPr>
        <p:spPr>
          <a:xfrm>
            <a:off x="8382000" y="2063750"/>
            <a:ext cx="165100" cy="101600"/>
          </a:xfrm>
          <a:prstGeom prst="rect">
            <a:avLst/>
          </a:prstGeom>
          <a:solidFill>
            <a:srgbClr val="9EB78E"/>
          </a:solidFill>
          <a:ln>
            <a:noFill/>
          </a:ln>
        </p:spPr>
        <p:txBody>
          <a:bodyPr rtlCol="0" anchor="ctr"/>
          <a:lstStyle/>
          <a:p>
            <a:pPr algn="ctr"/>
          </a:p>
        </p:txBody>
      </p:sp>
      <p:sp>
        <p:nvSpPr>
          <p:cNvPr id="27" name="TextBox 26"/>
          <p:cNvSpPr txBox="1"/>
          <p:nvPr/>
        </p:nvSpPr>
        <p:spPr>
          <a:xfrm>
            <a:off x="8636000" y="2051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LP · littoral public (100 m) rendu aux habitants</a:t>
            </a:r>
          </a:p>
        </p:txBody>
      </p:sp>
      <p:sp>
        <p:nvSpPr>
          <p:cNvPr id="28" name="Rectangle 27"/>
          <p:cNvSpPr/>
          <p:nvPr/>
        </p:nvSpPr>
        <p:spPr>
          <a:xfrm>
            <a:off x="8382000" y="2241550"/>
            <a:ext cx="165100" cy="101600"/>
          </a:xfrm>
          <a:prstGeom prst="rect">
            <a:avLst/>
          </a:prstGeom>
          <a:solidFill>
            <a:srgbClr val="9DB98F"/>
          </a:solidFill>
          <a:ln>
            <a:noFill/>
          </a:ln>
        </p:spPr>
        <p:txBody>
          <a:bodyPr rtlCol="0" anchor="ctr"/>
          <a:lstStyle/>
          <a:p>
            <a:pPr algn="ctr"/>
          </a:p>
        </p:txBody>
      </p:sp>
      <p:sp>
        <p:nvSpPr>
          <p:cNvPr id="29" name="TextBox 28"/>
          <p:cNvSpPr txBox="1"/>
          <p:nvPr/>
        </p:nvSpPr>
        <p:spPr>
          <a:xfrm>
            <a:off x="8636000" y="2228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Parcs linéaires d'oued (trame bleue)</a:t>
            </a:r>
          </a:p>
        </p:txBody>
      </p:sp>
      <p:sp>
        <p:nvSpPr>
          <p:cNvPr id="30" name="Rectangle 29"/>
          <p:cNvSpPr/>
          <p:nvPr/>
        </p:nvSpPr>
        <p:spPr>
          <a:xfrm>
            <a:off x="8382000" y="2419350"/>
            <a:ext cx="165100" cy="101600"/>
          </a:xfrm>
          <a:prstGeom prst="rect">
            <a:avLst/>
          </a:prstGeom>
          <a:solidFill>
            <a:srgbClr val="B9C9A2"/>
          </a:solidFill>
          <a:ln>
            <a:noFill/>
          </a:ln>
        </p:spPr>
        <p:txBody>
          <a:bodyPr rtlCol="0" anchor="ctr"/>
          <a:lstStyle/>
          <a:p>
            <a:pPr algn="ctr"/>
          </a:p>
        </p:txBody>
      </p:sp>
      <p:sp>
        <p:nvSpPr>
          <p:cNvPr id="31" name="TextBox 30"/>
          <p:cNvSpPr txBox="1"/>
          <p:nvPr/>
        </p:nvSpPr>
        <p:spPr>
          <a:xfrm>
            <a:off x="8636000" y="2406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Réserves foncières mobilisées</a:t>
            </a:r>
          </a:p>
        </p:txBody>
      </p:sp>
      <p:sp>
        <p:nvSpPr>
          <p:cNvPr id="32" name="Rectangle 31"/>
          <p:cNvSpPr/>
          <p:nvPr/>
        </p:nvSpPr>
        <p:spPr>
          <a:xfrm>
            <a:off x="8426450" y="2609850"/>
            <a:ext cx="76200" cy="76200"/>
          </a:xfrm>
          <a:prstGeom prst="rect">
            <a:avLst/>
          </a:prstGeom>
          <a:solidFill>
            <a:srgbClr val="C9965A"/>
          </a:solidFill>
          <a:ln>
            <a:noFill/>
          </a:ln>
        </p:spPr>
        <p:txBody>
          <a:bodyPr rtlCol="0" anchor="ctr"/>
          <a:lstStyle/>
          <a:p>
            <a:pPr algn="ctr"/>
          </a:p>
        </p:txBody>
      </p:sp>
      <p:sp>
        <p:nvSpPr>
          <p:cNvPr id="33" name="TextBox 32"/>
          <p:cNvSpPr txBox="1"/>
          <p:nvPr/>
        </p:nvSpPr>
        <p:spPr>
          <a:xfrm>
            <a:off x="8636000" y="25844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Équipements de quartier prioritaires</a:t>
            </a:r>
          </a:p>
        </p:txBody>
      </p:sp>
      <p:cxnSp>
        <p:nvCxnSpPr>
          <p:cNvPr id="34" name="Connector 33"/>
          <p:cNvCxnSpPr/>
          <p:nvPr/>
        </p:nvCxnSpPr>
        <p:spPr>
          <a:xfrm>
            <a:off x="8382000" y="2825750"/>
            <a:ext cx="165100" cy="0"/>
          </a:xfrm>
          <a:prstGeom prst="line">
            <a:avLst/>
          </a:prstGeom>
          <a:ln w="22225">
            <a:solidFill>
              <a:srgbClr val="2F3E48"/>
            </a:solidFill>
          </a:ln>
        </p:spPr>
      </p:cxnSp>
      <p:sp>
        <p:nvSpPr>
          <p:cNvPr id="35" name="TextBox 34"/>
          <p:cNvSpPr txBox="1"/>
          <p:nvPr/>
        </p:nvSpPr>
        <p:spPr>
          <a:xfrm>
            <a:off x="8636000" y="27622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Ligne de tram / BHNS et stations</a:t>
            </a:r>
          </a:p>
        </p:txBody>
      </p:sp>
      <p:cxnSp>
        <p:nvCxnSpPr>
          <p:cNvPr id="36" name="Connector 35"/>
          <p:cNvCxnSpPr/>
          <p:nvPr/>
        </p:nvCxnSpPr>
        <p:spPr>
          <a:xfrm>
            <a:off x="8382000" y="3003550"/>
            <a:ext cx="165100" cy="0"/>
          </a:xfrm>
          <a:prstGeom prst="line">
            <a:avLst/>
          </a:prstGeom>
          <a:ln w="13970">
            <a:solidFill>
              <a:srgbClr val="23303A"/>
            </a:solidFill>
            <a:prstDash val="dash"/>
          </a:ln>
        </p:spPr>
      </p:cxnSp>
      <p:sp>
        <p:nvSpPr>
          <p:cNvPr id="37" name="TextBox 36"/>
          <p:cNvSpPr txBox="1"/>
          <p:nvPr/>
        </p:nvSpPr>
        <p:spPr>
          <a:xfrm>
            <a:off x="8636000" y="2940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Limite d'urbanisation</a:t>
            </a:r>
          </a:p>
        </p:txBody>
      </p:sp>
      <p:cxnSp>
        <p:nvCxnSpPr>
          <p:cNvPr id="38" name="Connector 37"/>
          <p:cNvCxnSpPr/>
          <p:nvPr/>
        </p:nvCxnSpPr>
        <p:spPr>
          <a:xfrm>
            <a:off x="8382000" y="3181350"/>
            <a:ext cx="165100" cy="0"/>
          </a:xfrm>
          <a:prstGeom prst="line">
            <a:avLst/>
          </a:prstGeom>
          <a:ln w="13970">
            <a:solidFill>
              <a:srgbClr val="B5563C"/>
            </a:solidFill>
            <a:prstDash val="dash"/>
          </a:ln>
        </p:spPr>
      </p:cxnSp>
      <p:sp>
        <p:nvSpPr>
          <p:cNvPr id="39" name="TextBox 38"/>
          <p:cNvSpPr txBox="1"/>
          <p:nvPr/>
        </p:nvSpPr>
        <p:spPr>
          <a:xfrm>
            <a:off x="8636000" y="3117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Liaison piétonne médina-port-corniche</a:t>
            </a:r>
          </a:p>
        </p:txBody>
      </p:sp>
      <p:sp>
        <p:nvSpPr>
          <p:cNvPr id="40" name="Rectangle 39"/>
          <p:cNvSpPr/>
          <p:nvPr/>
        </p:nvSpPr>
        <p:spPr>
          <a:xfrm>
            <a:off x="8382000" y="3308350"/>
            <a:ext cx="165100" cy="101600"/>
          </a:xfrm>
          <a:prstGeom prst="rect">
            <a:avLst/>
          </a:prstGeom>
          <a:noFill/>
          <a:ln w="12700">
            <a:solidFill>
              <a:srgbClr val="B5563C"/>
            </a:solidFill>
          </a:ln>
        </p:spPr>
        <p:txBody>
          <a:bodyPr rtlCol="0" anchor="ctr"/>
          <a:lstStyle/>
          <a:p>
            <a:pPr algn="ctr"/>
          </a:p>
        </p:txBody>
      </p:sp>
      <p:sp>
        <p:nvSpPr>
          <p:cNvPr id="41" name="TextBox 40"/>
          <p:cNvSpPr txBox="1"/>
          <p:nvPr/>
        </p:nvSpPr>
        <p:spPr>
          <a:xfrm>
            <a:off x="8636000" y="3295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Médina : logement d'abord</a:t>
            </a:r>
          </a:p>
        </p:txBody>
      </p:sp>
      <p:sp>
        <p:nvSpPr>
          <p:cNvPr id="42" name="TextBox 41"/>
          <p:cNvSpPr txBox="1"/>
          <p:nvPr/>
        </p:nvSpPr>
        <p:spPr>
          <a:xfrm>
            <a:off x="8382000" y="3568700"/>
            <a:ext cx="3556000" cy="1270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Principe. </a:t>
            </a:r>
            <a:r>
              <a:rPr sz="1000" b="0" i="0">
                <a:solidFill>
                  <a:srgbClr val="23303A"/>
                </a:solidFill>
                <a:latin typeface="Barlow"/>
              </a:rPr>
              <a:t>L'investissement suit la population, pas l'image : chaque mètre carré ouvert à l'urbanisation est desservi par le tram et accompagné d'équipements ; la forêt et le littoral deviennent des biens communs protégés.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 QUARTIER DE STATION : UN MODÈLE POUR LA PÉRIPHÉRIE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Schéma de principe d'un quartier organisé autour d'une station du tram proposé, appliqué à Beni Makada et Mghogha.</a:t>
            </a:r>
          </a:p>
        </p:txBody>
      </p:sp>
      <p:pic>
        <p:nvPicPr>
          <p:cNvPr id="5" name="Picture 4" descr="nc_sk_standrew.png"/>
          <p:cNvPicPr>
            <a:picLocks noChangeAspect="1"/>
          </p:cNvPicPr>
          <p:nvPr/>
        </p:nvPicPr>
        <p:blipFill>
          <a:blip r:embed="rId2"/>
          <a:stretch>
            <a:fillRect/>
          </a:stretch>
        </p:blipFill>
        <p:spPr>
          <a:xfrm>
            <a:off x="11026205" y="139700"/>
            <a:ext cx="911795" cy="711200"/>
          </a:xfrm>
          <a:prstGeom prst="rect">
            <a:avLst/>
          </a:prstGeom>
        </p:spPr>
      </p:pic>
      <p:sp>
        <p:nvSpPr>
          <p:cNvPr id="6" name="TextBox 5"/>
          <p:cNvSpPr txBox="1"/>
          <p:nvPr/>
        </p:nvSpPr>
        <p:spPr>
          <a:xfrm>
            <a:off x="10010205"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 min</a:t>
            </a:r>
          </a:p>
        </p:txBody>
      </p:sp>
      <p:sp>
        <p:nvSpPr>
          <p:cNvPr id="7" name="TextBox 6"/>
          <p:cNvSpPr txBox="1"/>
          <p:nvPr/>
        </p:nvSpPr>
        <p:spPr>
          <a:xfrm>
            <a:off x="10010205"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vers l'école</a:t>
            </a:r>
          </a:p>
          <a:p>
            <a:pPr algn="r">
              <a:lnSpc>
                <a:spcPct val="110000"/>
              </a:lnSpc>
            </a:pPr>
            <a:r>
              <a:rPr sz="850" b="0" i="0">
                <a:solidFill>
                  <a:srgbClr val="7B746B"/>
                </a:solidFill>
                <a:latin typeface="Barlow"/>
              </a:rPr>
              <a:t>et la santé</a:t>
            </a:r>
          </a:p>
        </p:txBody>
      </p:sp>
      <p:sp>
        <p:nvSpPr>
          <p:cNvPr id="8" name="TextBox 7"/>
          <p:cNvSpPr txBox="1"/>
          <p:nvPr/>
        </p:nvSpPr>
        <p:spPr>
          <a:xfrm>
            <a:off x="9032305"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500 m</a:t>
            </a:r>
          </a:p>
        </p:txBody>
      </p:sp>
      <p:sp>
        <p:nvSpPr>
          <p:cNvPr id="9" name="TextBox 8"/>
          <p:cNvSpPr txBox="1"/>
          <p:nvPr/>
        </p:nvSpPr>
        <p:spPr>
          <a:xfrm>
            <a:off x="9032305"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rayon à pied</a:t>
            </a:r>
          </a:p>
        </p:txBody>
      </p:sp>
      <p:cxnSp>
        <p:nvCxnSpPr>
          <p:cNvPr id="10" name="Connector 9"/>
          <p:cNvCxnSpPr/>
          <p:nvPr/>
        </p:nvCxnSpPr>
        <p:spPr>
          <a:xfrm>
            <a:off x="254000" y="6578600"/>
            <a:ext cx="11684000" cy="0"/>
          </a:xfrm>
          <a:prstGeom prst="line">
            <a:avLst/>
          </a:prstGeom>
          <a:ln w="6350">
            <a:solidFill>
              <a:srgbClr val="CFC6B8"/>
            </a:solidFill>
          </a:ln>
        </p:spPr>
      </p:cxnSp>
      <p:sp>
        <p:nvSpPr>
          <p:cNvPr id="11" name="TextBox 10"/>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2" name="TextBox 11"/>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30 / 32</a:t>
            </a:r>
          </a:p>
        </p:txBody>
      </p:sp>
      <p:pic>
        <p:nvPicPr>
          <p:cNvPr id="13" name="Picture 12" descr="s_tod.jpg"/>
          <p:cNvPicPr>
            <a:picLocks noChangeAspect="1"/>
          </p:cNvPicPr>
          <p:nvPr/>
        </p:nvPicPr>
        <p:blipFill>
          <a:blip r:embed="rId3"/>
          <a:stretch>
            <a:fillRect/>
          </a:stretch>
        </p:blipFill>
        <p:spPr>
          <a:xfrm>
            <a:off x="1841500" y="952500"/>
            <a:ext cx="8494889" cy="5461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PROPOSITIONS : RETOURNER LA VITRINE</a:t>
            </a:r>
          </a:p>
        </p:txBody>
      </p:sp>
      <p:sp>
        <p:nvSpPr>
          <p:cNvPr id="4" name="TextBox 3"/>
          <p:cNvSpPr txBox="1"/>
          <p:nvPr/>
        </p:nvSpPr>
        <p:spPr>
          <a:xfrm>
            <a:off x="254000" y="571500"/>
            <a:ext cx="7302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Cinq interventions localisées, et une règle du jeu pour l'expérimentation : chaque exception doit profiter au quartier le plus éloigné.</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328</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logements à sauver</a:t>
            </a:r>
          </a:p>
          <a:p>
            <a:pPr algn="r">
              <a:lnSpc>
                <a:spcPct val="110000"/>
              </a:lnSpc>
            </a:pPr>
            <a:r>
              <a:rPr sz="850" b="0" i="0">
                <a:solidFill>
                  <a:srgbClr val="7B746B"/>
                </a:solidFill>
                <a:latin typeface="Barlow"/>
              </a:rPr>
              <a:t>en médina</a:t>
            </a:r>
          </a:p>
        </p:txBody>
      </p:sp>
      <p:sp>
        <p:nvSpPr>
          <p:cNvPr id="7" name="TextBox 6"/>
          <p:cNvSpPr txBox="1"/>
          <p:nvPr/>
        </p:nvSpPr>
        <p:spPr>
          <a:xfrm>
            <a:off x="1010666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a:t>
            </a:r>
          </a:p>
        </p:txBody>
      </p:sp>
      <p:sp>
        <p:nvSpPr>
          <p:cNvPr id="8" name="TextBox 7"/>
          <p:cNvSpPr txBox="1"/>
          <p:nvPr/>
        </p:nvSpPr>
        <p:spPr>
          <a:xfrm>
            <a:off x="1010666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équipements de</a:t>
            </a:r>
          </a:p>
          <a:p>
            <a:pPr algn="r">
              <a:lnSpc>
                <a:spcPct val="110000"/>
              </a:lnSpc>
            </a:pPr>
            <a:r>
              <a:rPr sz="850" b="0" i="0">
                <a:solidFill>
                  <a:srgbClr val="7B746B"/>
                </a:solidFill>
                <a:latin typeface="Barlow"/>
              </a:rPr>
              <a:t>quartier prioritaires</a:t>
            </a:r>
          </a:p>
        </p:txBody>
      </p:sp>
      <p:sp>
        <p:nvSpPr>
          <p:cNvPr id="9" name="TextBox 8"/>
          <p:cNvSpPr txBox="1"/>
          <p:nvPr/>
        </p:nvSpPr>
        <p:spPr>
          <a:xfrm>
            <a:off x="903732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17 km</a:t>
            </a:r>
          </a:p>
        </p:txBody>
      </p:sp>
      <p:sp>
        <p:nvSpPr>
          <p:cNvPr id="10" name="TextBox 9"/>
          <p:cNvSpPr txBox="1"/>
          <p:nvPr/>
        </p:nvSpPr>
        <p:spPr>
          <a:xfrm>
            <a:off x="903732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ligne structurante</a:t>
            </a:r>
          </a:p>
          <a:p>
            <a:pPr algn="r">
              <a:lnSpc>
                <a:spcPct val="110000"/>
              </a:lnSpc>
            </a:pPr>
            <a:r>
              <a:rPr sz="850" b="0" i="0">
                <a:solidFill>
                  <a:srgbClr val="7B746B"/>
                </a:solidFill>
                <a:latin typeface="Barlow"/>
              </a:rPr>
              <a:t>Gzenaya-gare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13" name="TextBox 12"/>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31 / 32</a:t>
            </a:r>
          </a:p>
        </p:txBody>
      </p:sp>
      <p:pic>
        <p:nvPicPr>
          <p:cNvPr id="14" name="Picture 13" descr="m11_propositions.jpg"/>
          <p:cNvPicPr>
            <a:picLocks noChangeAspect="1"/>
          </p:cNvPicPr>
          <p:nvPr/>
        </p:nvPicPr>
        <p:blipFill>
          <a:blip r:embed="rId2"/>
          <a:stretch>
            <a:fillRect/>
          </a:stretch>
        </p:blipFill>
        <p:spPr>
          <a:xfrm>
            <a:off x="254000" y="952500"/>
            <a:ext cx="7937500" cy="5622396"/>
          </a:xfrm>
          <a:prstGeom prst="rect">
            <a:avLst/>
          </a:prstGeom>
        </p:spPr>
      </p:pic>
      <p:sp>
        <p:nvSpPr>
          <p:cNvPr id="15" name="Oval 14"/>
          <p:cNvSpPr/>
          <p:nvPr/>
        </p:nvSpPr>
        <p:spPr>
          <a:xfrm>
            <a:off x="8445500" y="952500"/>
            <a:ext cx="177800" cy="177800"/>
          </a:xfrm>
          <a:prstGeom prst="ellipse">
            <a:avLst/>
          </a:prstGeom>
          <a:solidFill>
            <a:srgbClr val="23303A"/>
          </a:solidFill>
          <a:ln w="9525">
            <a:solidFill>
              <a:srgbClr val="FFFFFF"/>
            </a:solidFill>
          </a:ln>
        </p:spPr>
        <p:txBody>
          <a:bodyPr rtlCol="0" anchor="ctr"/>
          <a:lstStyle/>
          <a:p>
            <a:pPr algn="ctr"/>
          </a:p>
        </p:txBody>
      </p:sp>
      <p:sp>
        <p:nvSpPr>
          <p:cNvPr id="16" name="TextBox 15"/>
          <p:cNvSpPr txBox="1"/>
          <p:nvPr/>
        </p:nvSpPr>
        <p:spPr>
          <a:xfrm>
            <a:off x="8445500" y="9525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1</a:t>
            </a:r>
          </a:p>
        </p:txBody>
      </p:sp>
      <p:sp>
        <p:nvSpPr>
          <p:cNvPr id="17" name="Rectangle 16"/>
          <p:cNvSpPr/>
          <p:nvPr/>
        </p:nvSpPr>
        <p:spPr>
          <a:xfrm>
            <a:off x="8699500" y="977900"/>
            <a:ext cx="38100" cy="139700"/>
          </a:xfrm>
          <a:prstGeom prst="rect">
            <a:avLst/>
          </a:prstGeom>
          <a:solidFill>
            <a:srgbClr val="B5563C"/>
          </a:solidFill>
          <a:ln>
            <a:noFill/>
          </a:ln>
        </p:spPr>
        <p:txBody>
          <a:bodyPr rtlCol="0" anchor="ctr"/>
          <a:lstStyle/>
          <a:p>
            <a:pPr algn="ctr"/>
          </a:p>
        </p:txBody>
      </p:sp>
      <p:sp>
        <p:nvSpPr>
          <p:cNvPr id="18" name="TextBox 17"/>
          <p:cNvSpPr txBox="1"/>
          <p:nvPr/>
        </p:nvSpPr>
        <p:spPr>
          <a:xfrm>
            <a:off x="8801100" y="9652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RECONNECTER</a:t>
            </a:r>
          </a:p>
        </p:txBody>
      </p:sp>
      <p:sp>
        <p:nvSpPr>
          <p:cNvPr id="19" name="TextBox 18"/>
          <p:cNvSpPr txBox="1"/>
          <p:nvPr/>
        </p:nvSpPr>
        <p:spPr>
          <a:xfrm>
            <a:off x="8699500" y="1181100"/>
            <a:ext cx="3238500" cy="5715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Liaison piétonne continue médina, port, corniche ; apaisement de la route littorale.</a:t>
            </a:r>
          </a:p>
        </p:txBody>
      </p:sp>
      <p:sp>
        <p:nvSpPr>
          <p:cNvPr id="20" name="Oval 19"/>
          <p:cNvSpPr/>
          <p:nvPr/>
        </p:nvSpPr>
        <p:spPr>
          <a:xfrm>
            <a:off x="8445500" y="1727200"/>
            <a:ext cx="177800" cy="177800"/>
          </a:xfrm>
          <a:prstGeom prst="ellipse">
            <a:avLst/>
          </a:prstGeom>
          <a:solidFill>
            <a:srgbClr val="23303A"/>
          </a:solidFill>
          <a:ln w="9525">
            <a:solidFill>
              <a:srgbClr val="FFFFFF"/>
            </a:solidFill>
          </a:ln>
        </p:spPr>
        <p:txBody>
          <a:bodyPr rtlCol="0" anchor="ctr"/>
          <a:lstStyle/>
          <a:p>
            <a:pPr algn="ctr"/>
          </a:p>
        </p:txBody>
      </p:sp>
      <p:sp>
        <p:nvSpPr>
          <p:cNvPr id="21" name="TextBox 20"/>
          <p:cNvSpPr txBox="1"/>
          <p:nvPr/>
        </p:nvSpPr>
        <p:spPr>
          <a:xfrm>
            <a:off x="8445500" y="17272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2</a:t>
            </a:r>
          </a:p>
        </p:txBody>
      </p:sp>
      <p:sp>
        <p:nvSpPr>
          <p:cNvPr id="22" name="Rectangle 21"/>
          <p:cNvSpPr/>
          <p:nvPr/>
        </p:nvSpPr>
        <p:spPr>
          <a:xfrm>
            <a:off x="8699500" y="1752600"/>
            <a:ext cx="38100" cy="139700"/>
          </a:xfrm>
          <a:prstGeom prst="rect">
            <a:avLst/>
          </a:prstGeom>
          <a:solidFill>
            <a:srgbClr val="B5563C"/>
          </a:solidFill>
          <a:ln>
            <a:noFill/>
          </a:ln>
        </p:spPr>
        <p:txBody>
          <a:bodyPr rtlCol="0" anchor="ctr"/>
          <a:lstStyle/>
          <a:p>
            <a:pPr algn="ctr"/>
          </a:p>
        </p:txBody>
      </p:sp>
      <p:sp>
        <p:nvSpPr>
          <p:cNvPr id="23" name="TextBox 22"/>
          <p:cNvSpPr txBox="1"/>
          <p:nvPr/>
        </p:nvSpPr>
        <p:spPr>
          <a:xfrm>
            <a:off x="8801100" y="17399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HABITER LA MÉDINA</a:t>
            </a:r>
          </a:p>
        </p:txBody>
      </p:sp>
      <p:sp>
        <p:nvSpPr>
          <p:cNvPr id="24" name="TextBox 23"/>
          <p:cNvSpPr txBox="1"/>
          <p:nvPr/>
        </p:nvSpPr>
        <p:spPr>
          <a:xfrm>
            <a:off x="8699500" y="1955800"/>
            <a:ext cx="3238500" cy="5715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Logement d'abord : les 328 bâtiments en péril avant les façades ; encadrer la location de courte durée.</a:t>
            </a:r>
          </a:p>
        </p:txBody>
      </p:sp>
      <p:sp>
        <p:nvSpPr>
          <p:cNvPr id="25" name="Oval 24"/>
          <p:cNvSpPr/>
          <p:nvPr/>
        </p:nvSpPr>
        <p:spPr>
          <a:xfrm>
            <a:off x="8445500" y="2501900"/>
            <a:ext cx="177800" cy="177800"/>
          </a:xfrm>
          <a:prstGeom prst="ellipse">
            <a:avLst/>
          </a:prstGeom>
          <a:solidFill>
            <a:srgbClr val="23303A"/>
          </a:solidFill>
          <a:ln w="9525">
            <a:solidFill>
              <a:srgbClr val="FFFFFF"/>
            </a:solidFill>
          </a:ln>
        </p:spPr>
        <p:txBody>
          <a:bodyPr rtlCol="0" anchor="ctr"/>
          <a:lstStyle/>
          <a:p>
            <a:pPr algn="ctr"/>
          </a:p>
        </p:txBody>
      </p:sp>
      <p:sp>
        <p:nvSpPr>
          <p:cNvPr id="26" name="TextBox 25"/>
          <p:cNvSpPr txBox="1"/>
          <p:nvPr/>
        </p:nvSpPr>
        <p:spPr>
          <a:xfrm>
            <a:off x="8445500" y="25019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3</a:t>
            </a:r>
          </a:p>
        </p:txBody>
      </p:sp>
      <p:sp>
        <p:nvSpPr>
          <p:cNvPr id="27" name="Rectangle 26"/>
          <p:cNvSpPr/>
          <p:nvPr/>
        </p:nvSpPr>
        <p:spPr>
          <a:xfrm>
            <a:off x="8699500" y="2527300"/>
            <a:ext cx="38100" cy="139700"/>
          </a:xfrm>
          <a:prstGeom prst="rect">
            <a:avLst/>
          </a:prstGeom>
          <a:solidFill>
            <a:srgbClr val="23303A"/>
          </a:solidFill>
          <a:ln>
            <a:noFill/>
          </a:ln>
        </p:spPr>
        <p:txBody>
          <a:bodyPr rtlCol="0" anchor="ctr"/>
          <a:lstStyle/>
          <a:p>
            <a:pPr algn="ctr"/>
          </a:p>
        </p:txBody>
      </p:sp>
      <p:sp>
        <p:nvSpPr>
          <p:cNvPr id="28" name="TextBox 27"/>
          <p:cNvSpPr txBox="1"/>
          <p:nvPr/>
        </p:nvSpPr>
        <p:spPr>
          <a:xfrm>
            <a:off x="8801100" y="25146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RELIER LES QUARTIERS</a:t>
            </a:r>
          </a:p>
        </p:txBody>
      </p:sp>
      <p:sp>
        <p:nvSpPr>
          <p:cNvPr id="29" name="TextBox 28"/>
          <p:cNvSpPr txBox="1"/>
          <p:nvPr/>
        </p:nvSpPr>
        <p:spPr>
          <a:xfrm>
            <a:off x="8699500" y="2730500"/>
            <a:ext cx="3238500" cy="5715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Une ligne de tram ou de BHNS de 17 km, tracée sur la voirie existante : Gzenaya, Mesnana, Beni Makada, centre, gare.</a:t>
            </a:r>
          </a:p>
        </p:txBody>
      </p:sp>
      <p:sp>
        <p:nvSpPr>
          <p:cNvPr id="30" name="Oval 29"/>
          <p:cNvSpPr/>
          <p:nvPr/>
        </p:nvSpPr>
        <p:spPr>
          <a:xfrm>
            <a:off x="8445500" y="3276600"/>
            <a:ext cx="177800" cy="177800"/>
          </a:xfrm>
          <a:prstGeom prst="ellipse">
            <a:avLst/>
          </a:prstGeom>
          <a:solidFill>
            <a:srgbClr val="23303A"/>
          </a:solidFill>
          <a:ln w="9525">
            <a:solidFill>
              <a:srgbClr val="FFFFFF"/>
            </a:solidFill>
          </a:ln>
        </p:spPr>
        <p:txBody>
          <a:bodyPr rtlCol="0" anchor="ctr"/>
          <a:lstStyle/>
          <a:p>
            <a:pPr algn="ctr"/>
          </a:p>
        </p:txBody>
      </p:sp>
      <p:sp>
        <p:nvSpPr>
          <p:cNvPr id="31" name="TextBox 30"/>
          <p:cNvSpPr txBox="1"/>
          <p:nvPr/>
        </p:nvSpPr>
        <p:spPr>
          <a:xfrm>
            <a:off x="8445500" y="32766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4</a:t>
            </a:r>
          </a:p>
        </p:txBody>
      </p:sp>
      <p:sp>
        <p:nvSpPr>
          <p:cNvPr id="32" name="Rectangle 31"/>
          <p:cNvSpPr/>
          <p:nvPr/>
        </p:nvSpPr>
        <p:spPr>
          <a:xfrm>
            <a:off x="8699500" y="3302000"/>
            <a:ext cx="38100" cy="139700"/>
          </a:xfrm>
          <a:prstGeom prst="rect">
            <a:avLst/>
          </a:prstGeom>
          <a:solidFill>
            <a:srgbClr val="4F6B4A"/>
          </a:solidFill>
          <a:ln>
            <a:noFill/>
          </a:ln>
        </p:spPr>
        <p:txBody>
          <a:bodyPr rtlCol="0" anchor="ctr"/>
          <a:lstStyle/>
          <a:p>
            <a:pPr algn="ctr"/>
          </a:p>
        </p:txBody>
      </p:sp>
      <p:sp>
        <p:nvSpPr>
          <p:cNvPr id="33" name="TextBox 32"/>
          <p:cNvSpPr txBox="1"/>
          <p:nvPr/>
        </p:nvSpPr>
        <p:spPr>
          <a:xfrm>
            <a:off x="8801100" y="32893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PROTÉGER LA LISIÈRE ET LE RIVAGE</a:t>
            </a:r>
          </a:p>
        </p:txBody>
      </p:sp>
      <p:sp>
        <p:nvSpPr>
          <p:cNvPr id="34" name="TextBox 33"/>
          <p:cNvSpPr txBox="1"/>
          <p:nvPr/>
        </p:nvSpPr>
        <p:spPr>
          <a:xfrm>
            <a:off x="8699500" y="3505200"/>
            <a:ext cx="3238500" cy="5715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Bande de 100 m de la loi 81-12 sans dérogation ; limite verte ferme autour de Rmilat, Perdicaris et cap Spartel.</a:t>
            </a:r>
          </a:p>
        </p:txBody>
      </p:sp>
      <p:sp>
        <p:nvSpPr>
          <p:cNvPr id="35" name="Oval 34"/>
          <p:cNvSpPr/>
          <p:nvPr/>
        </p:nvSpPr>
        <p:spPr>
          <a:xfrm>
            <a:off x="8445500" y="4051300"/>
            <a:ext cx="177800" cy="177800"/>
          </a:xfrm>
          <a:prstGeom prst="ellipse">
            <a:avLst/>
          </a:prstGeom>
          <a:solidFill>
            <a:srgbClr val="23303A"/>
          </a:solidFill>
          <a:ln w="9525">
            <a:solidFill>
              <a:srgbClr val="FFFFFF"/>
            </a:solidFill>
          </a:ln>
        </p:spPr>
        <p:txBody>
          <a:bodyPr rtlCol="0" anchor="ctr"/>
          <a:lstStyle/>
          <a:p>
            <a:pPr algn="ctr"/>
          </a:p>
        </p:txBody>
      </p:sp>
      <p:sp>
        <p:nvSpPr>
          <p:cNvPr id="36" name="TextBox 35"/>
          <p:cNvSpPr txBox="1"/>
          <p:nvPr/>
        </p:nvSpPr>
        <p:spPr>
          <a:xfrm>
            <a:off x="8445500" y="40513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5</a:t>
            </a:r>
          </a:p>
        </p:txBody>
      </p:sp>
      <p:sp>
        <p:nvSpPr>
          <p:cNvPr id="37" name="Rectangle 36"/>
          <p:cNvSpPr/>
          <p:nvPr/>
        </p:nvSpPr>
        <p:spPr>
          <a:xfrm>
            <a:off x="8699500" y="4076700"/>
            <a:ext cx="38100" cy="139700"/>
          </a:xfrm>
          <a:prstGeom prst="rect">
            <a:avLst/>
          </a:prstGeom>
          <a:solidFill>
            <a:srgbClr val="C9965A"/>
          </a:solidFill>
          <a:ln>
            <a:noFill/>
          </a:ln>
        </p:spPr>
        <p:txBody>
          <a:bodyPr rtlCol="0" anchor="ctr"/>
          <a:lstStyle/>
          <a:p>
            <a:pPr algn="ctr"/>
          </a:p>
        </p:txBody>
      </p:sp>
      <p:sp>
        <p:nvSpPr>
          <p:cNvPr id="38" name="TextBox 37"/>
          <p:cNvSpPr txBox="1"/>
          <p:nvPr/>
        </p:nvSpPr>
        <p:spPr>
          <a:xfrm>
            <a:off x="8801100" y="40640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ÉQUIPER LA PÉRIPHÉRIE</a:t>
            </a:r>
          </a:p>
        </p:txBody>
      </p:sp>
      <p:sp>
        <p:nvSpPr>
          <p:cNvPr id="39" name="TextBox 38"/>
          <p:cNvSpPr txBox="1"/>
          <p:nvPr/>
        </p:nvSpPr>
        <p:spPr>
          <a:xfrm>
            <a:off x="8699500" y="4279900"/>
            <a:ext cx="3238500" cy="5715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Héritage Mondial : chaque dirham de l'événement couplé à une école, un centre de santé ou un parc à Beni Makada et Mghogha.</a:t>
            </a:r>
          </a:p>
        </p:txBody>
      </p:sp>
      <p:sp>
        <p:nvSpPr>
          <p:cNvPr id="40" name="Rectangle 39"/>
          <p:cNvSpPr/>
          <p:nvPr/>
        </p:nvSpPr>
        <p:spPr>
          <a:xfrm>
            <a:off x="8445500" y="5054600"/>
            <a:ext cx="3492500" cy="711200"/>
          </a:xfrm>
          <a:prstGeom prst="rect">
            <a:avLst/>
          </a:prstGeom>
          <a:solidFill>
            <a:srgbClr val="F8F5EF"/>
          </a:solidFill>
          <a:ln w="6350">
            <a:solidFill>
              <a:srgbClr val="CFC6B8"/>
            </a:solidFill>
          </a:ln>
        </p:spPr>
        <p:txBody>
          <a:bodyPr rtlCol="0" anchor="ctr"/>
          <a:lstStyle/>
          <a:p>
            <a:pPr algn="ctr"/>
          </a:p>
        </p:txBody>
      </p:sp>
      <p:sp>
        <p:nvSpPr>
          <p:cNvPr id="41" name="Rectangle 40"/>
          <p:cNvSpPr/>
          <p:nvPr/>
        </p:nvSpPr>
        <p:spPr>
          <a:xfrm>
            <a:off x="8445500" y="5054600"/>
            <a:ext cx="38100" cy="711200"/>
          </a:xfrm>
          <a:prstGeom prst="rect">
            <a:avLst/>
          </a:prstGeom>
          <a:solidFill>
            <a:srgbClr val="B5563C"/>
          </a:solidFill>
          <a:ln>
            <a:noFill/>
          </a:ln>
        </p:spPr>
        <p:txBody>
          <a:bodyPr rtlCol="0" anchor="ctr"/>
          <a:lstStyle/>
          <a:p>
            <a:pPr algn="ctr"/>
          </a:p>
        </p:txBody>
      </p:sp>
      <p:sp>
        <p:nvSpPr>
          <p:cNvPr id="42" name="TextBox 41"/>
          <p:cNvSpPr txBox="1"/>
          <p:nvPr/>
        </p:nvSpPr>
        <p:spPr>
          <a:xfrm>
            <a:off x="8585200" y="5118100"/>
            <a:ext cx="3302000" cy="635000"/>
          </a:xfrm>
          <a:prstGeom prst="rect">
            <a:avLst/>
          </a:prstGeom>
          <a:noFill/>
        </p:spPr>
        <p:txBody>
          <a:bodyPr wrap="square" lIns="0" rIns="0" tIns="0" bIns="0" anchor="t">
            <a:spAutoFit/>
          </a:bodyPr>
          <a:lstStyle/>
          <a:p>
            <a:pPr algn="l">
              <a:lnSpc>
                <a:spcPct val="130000"/>
              </a:lnSpc>
            </a:pPr>
            <a:r>
              <a:rPr sz="1000" b="1" i="0">
                <a:solidFill>
                  <a:srgbClr val="B5563C"/>
                </a:solidFill>
                <a:latin typeface="Barlow"/>
              </a:rPr>
              <a:t>Règle du jeu. </a:t>
            </a:r>
            <a:r>
              <a:rPr sz="1000" b="0" i="0">
                <a:solidFill>
                  <a:srgbClr val="23303A"/>
                </a:solidFill>
                <a:latin typeface="Barlow"/>
              </a:rPr>
              <a:t>Toute dérogation (loi 22-24) ou tout projet d'exception est conditionné à une contrepartie équivalente en périphérie, inscrite au PA et suivie publiquement.</a:t>
            </a:r>
          </a:p>
        </p:txBody>
      </p:sp>
      <p:cxnSp>
        <p:nvCxnSpPr>
          <p:cNvPr id="43" name="Connector 42"/>
          <p:cNvCxnSpPr/>
          <p:nvPr/>
        </p:nvCxnSpPr>
        <p:spPr>
          <a:xfrm>
            <a:off x="8445500" y="5943600"/>
            <a:ext cx="165100" cy="0"/>
          </a:xfrm>
          <a:prstGeom prst="line">
            <a:avLst/>
          </a:prstGeom>
          <a:ln w="22225">
            <a:solidFill>
              <a:srgbClr val="23303A"/>
            </a:solidFill>
          </a:ln>
        </p:spPr>
      </p:cxnSp>
      <p:sp>
        <p:nvSpPr>
          <p:cNvPr id="44" name="TextBox 43"/>
          <p:cNvSpPr txBox="1"/>
          <p:nvPr/>
        </p:nvSpPr>
        <p:spPr>
          <a:xfrm>
            <a:off x="8699500" y="588010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Ligne structurante proposée, tracée sur la voirie réelle</a:t>
            </a:r>
          </a:p>
        </p:txBody>
      </p:sp>
      <p:sp>
        <p:nvSpPr>
          <p:cNvPr id="45" name="Rectangle 44"/>
          <p:cNvSpPr/>
          <p:nvPr/>
        </p:nvSpPr>
        <p:spPr>
          <a:xfrm>
            <a:off x="8489950" y="6083300"/>
            <a:ext cx="76200" cy="76200"/>
          </a:xfrm>
          <a:prstGeom prst="rect">
            <a:avLst/>
          </a:prstGeom>
          <a:solidFill>
            <a:srgbClr val="C9965A"/>
          </a:solidFill>
          <a:ln>
            <a:noFill/>
          </a:ln>
        </p:spPr>
        <p:txBody>
          <a:bodyPr rtlCol="0" anchor="ctr"/>
          <a:lstStyle/>
          <a:p>
            <a:pPr algn="ctr"/>
          </a:p>
        </p:txBody>
      </p:sp>
      <p:sp>
        <p:nvSpPr>
          <p:cNvPr id="46" name="TextBox 45"/>
          <p:cNvSpPr txBox="1"/>
          <p:nvPr/>
        </p:nvSpPr>
        <p:spPr>
          <a:xfrm>
            <a:off x="8699500" y="605790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 de quartier prioritaire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CONCLUSION</a:t>
            </a:r>
          </a:p>
        </p:txBody>
      </p:sp>
      <p:pic>
        <p:nvPicPr>
          <p:cNvPr id="4" name="Picture 3" descr="nc_sk_medina.png"/>
          <p:cNvPicPr>
            <a:picLocks noChangeAspect="1"/>
          </p:cNvPicPr>
          <p:nvPr/>
        </p:nvPicPr>
        <p:blipFill>
          <a:blip r:embed="rId2"/>
          <a:stretch>
            <a:fillRect/>
          </a:stretch>
        </p:blipFill>
        <p:spPr>
          <a:xfrm>
            <a:off x="10985500" y="232659"/>
            <a:ext cx="952500" cy="525283"/>
          </a:xfrm>
          <a:prstGeom prst="rect">
            <a:avLst/>
          </a:prstGeom>
        </p:spPr>
      </p:pic>
      <p:cxnSp>
        <p:nvCxnSpPr>
          <p:cNvPr id="5" name="Connector 4"/>
          <p:cNvCxnSpPr/>
          <p:nvPr/>
        </p:nvCxnSpPr>
        <p:spPr>
          <a:xfrm>
            <a:off x="254000" y="6578600"/>
            <a:ext cx="11684000" cy="0"/>
          </a:xfrm>
          <a:prstGeom prst="line">
            <a:avLst/>
          </a:prstGeom>
          <a:ln w="6350">
            <a:solidFill>
              <a:srgbClr val="CFC6B8"/>
            </a:solidFill>
          </a:ln>
        </p:spPr>
      </p:cxnSp>
      <p:sp>
        <p:nvSpPr>
          <p:cNvPr id="6" name="TextBox 5"/>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RÈGLE ET EXPÉRIMENTATION</a:t>
            </a:r>
          </a:p>
        </p:txBody>
      </p:sp>
      <p:sp>
        <p:nvSpPr>
          <p:cNvPr id="7" name="TextBox 6"/>
          <p:cNvSpPr txBox="1"/>
          <p:nvPr/>
        </p:nvSpPr>
        <p:spPr>
          <a:xfrm>
            <a:off x="5588000" y="6642100"/>
            <a:ext cx="635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I. SEFIANI · A. AZARKAN  ·  ENAT S7 G4  ·  SÉMINAIRE, M. H. BAHOUSS        32 / 32</a:t>
            </a:r>
          </a:p>
        </p:txBody>
      </p:sp>
      <p:sp>
        <p:nvSpPr>
          <p:cNvPr id="8" name="TextBox 7"/>
          <p:cNvSpPr txBox="1"/>
          <p:nvPr/>
        </p:nvSpPr>
        <p:spPr>
          <a:xfrm>
            <a:off x="254000" y="825500"/>
            <a:ext cx="11684000" cy="889000"/>
          </a:xfrm>
          <a:prstGeom prst="rect">
            <a:avLst/>
          </a:prstGeom>
          <a:noFill/>
        </p:spPr>
        <p:txBody>
          <a:bodyPr wrap="square" lIns="0" rIns="0" tIns="0" bIns="0" anchor="t">
            <a:spAutoFit/>
          </a:bodyPr>
          <a:lstStyle/>
          <a:p>
            <a:pPr algn="l">
              <a:lnSpc>
                <a:spcPct val="115000"/>
              </a:lnSpc>
            </a:pPr>
            <a:r>
              <a:rPr sz="2600" b="1" i="0">
                <a:solidFill>
                  <a:srgbClr val="23303A"/>
                </a:solidFill>
                <a:latin typeface="Barlow Condensed"/>
              </a:rPr>
              <a:t>Tanger a été refaite pour être vue. </a:t>
            </a:r>
            <a:r>
              <a:rPr sz="2600" b="1" i="0">
                <a:solidFill>
                  <a:srgbClr val="B5563C"/>
                </a:solidFill>
                <a:latin typeface="Barlow Condensed"/>
              </a:rPr>
              <a:t>L'expérimentation a servi la vitrine, la règle a encadré, tardivement, la ville vécue.</a:t>
            </a:r>
          </a:p>
        </p:txBody>
      </p:sp>
      <p:sp>
        <p:nvSpPr>
          <p:cNvPr id="9" name="Rectangle 8"/>
          <p:cNvSpPr/>
          <p:nvPr/>
        </p:nvSpPr>
        <p:spPr>
          <a:xfrm>
            <a:off x="254000" y="1905000"/>
            <a:ext cx="2235200" cy="1206500"/>
          </a:xfrm>
          <a:prstGeom prst="rect">
            <a:avLst/>
          </a:prstGeom>
          <a:solidFill>
            <a:srgbClr val="FFFFFF"/>
          </a:solidFill>
          <a:ln w="6350">
            <a:solidFill>
              <a:srgbClr val="CFC6B8"/>
            </a:solidFill>
          </a:ln>
        </p:spPr>
        <p:txBody>
          <a:bodyPr rtlCol="0" anchor="ctr"/>
          <a:lstStyle/>
          <a:p>
            <a:pPr algn="ctr"/>
          </a:p>
        </p:txBody>
      </p:sp>
      <p:sp>
        <p:nvSpPr>
          <p:cNvPr id="10" name="Rectangle 9"/>
          <p:cNvSpPr/>
          <p:nvPr/>
        </p:nvSpPr>
        <p:spPr>
          <a:xfrm>
            <a:off x="254000" y="1905000"/>
            <a:ext cx="2235200" cy="38100"/>
          </a:xfrm>
          <a:prstGeom prst="rect">
            <a:avLst/>
          </a:prstGeom>
          <a:solidFill>
            <a:srgbClr val="B5563C"/>
          </a:solidFill>
          <a:ln>
            <a:noFill/>
          </a:ln>
        </p:spPr>
        <p:txBody>
          <a:bodyPr rtlCol="0" anchor="ctr"/>
          <a:lstStyle/>
          <a:p>
            <a:pPr algn="ctr"/>
          </a:p>
        </p:txBody>
      </p:sp>
      <p:sp>
        <p:nvSpPr>
          <p:cNvPr id="11" name="TextBox 10"/>
          <p:cNvSpPr txBox="1"/>
          <p:nvPr/>
        </p:nvSpPr>
        <p:spPr>
          <a:xfrm>
            <a:off x="393700" y="2070100"/>
            <a:ext cx="2032000" cy="317500"/>
          </a:xfrm>
          <a:prstGeom prst="rect">
            <a:avLst/>
          </a:prstGeom>
          <a:noFill/>
        </p:spPr>
        <p:txBody>
          <a:bodyPr wrap="square" lIns="0" rIns="0" tIns="0" bIns="0" anchor="t">
            <a:spAutoFit/>
          </a:bodyPr>
          <a:lstStyle/>
          <a:p>
            <a:pPr algn="l">
              <a:lnSpc>
                <a:spcPct val="120000"/>
              </a:lnSpc>
            </a:pPr>
            <a:r>
              <a:rPr sz="2600" b="1" i="0">
                <a:solidFill>
                  <a:srgbClr val="B5563C"/>
                </a:solidFill>
                <a:latin typeface="Barlow Condensed"/>
              </a:rPr>
              <a:t>77 % / 14 %</a:t>
            </a:r>
          </a:p>
        </p:txBody>
      </p:sp>
      <p:sp>
        <p:nvSpPr>
          <p:cNvPr id="12" name="TextBox 11"/>
          <p:cNvSpPr txBox="1"/>
          <p:nvPr/>
        </p:nvSpPr>
        <p:spPr>
          <a:xfrm>
            <a:off x="3937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des hébergements contre part du bâti à moins de 1 km de la mer</a:t>
            </a:r>
          </a:p>
        </p:txBody>
      </p:sp>
      <p:sp>
        <p:nvSpPr>
          <p:cNvPr id="13" name="Rectangle 12"/>
          <p:cNvSpPr/>
          <p:nvPr/>
        </p:nvSpPr>
        <p:spPr>
          <a:xfrm>
            <a:off x="2616200" y="1905000"/>
            <a:ext cx="2235200" cy="1206500"/>
          </a:xfrm>
          <a:prstGeom prst="rect">
            <a:avLst/>
          </a:prstGeom>
          <a:solidFill>
            <a:srgbClr val="FFFFFF"/>
          </a:solidFill>
          <a:ln w="6350">
            <a:solidFill>
              <a:srgbClr val="CFC6B8"/>
            </a:solidFill>
          </a:ln>
        </p:spPr>
        <p:txBody>
          <a:bodyPr rtlCol="0" anchor="ctr"/>
          <a:lstStyle/>
          <a:p>
            <a:pPr algn="ctr"/>
          </a:p>
        </p:txBody>
      </p:sp>
      <p:sp>
        <p:nvSpPr>
          <p:cNvPr id="14" name="Rectangle 13"/>
          <p:cNvSpPr/>
          <p:nvPr/>
        </p:nvSpPr>
        <p:spPr>
          <a:xfrm>
            <a:off x="2616200" y="1905000"/>
            <a:ext cx="2235200" cy="38100"/>
          </a:xfrm>
          <a:prstGeom prst="rect">
            <a:avLst/>
          </a:prstGeom>
          <a:solidFill>
            <a:srgbClr val="3E5A6E"/>
          </a:solidFill>
          <a:ln>
            <a:noFill/>
          </a:ln>
        </p:spPr>
        <p:txBody>
          <a:bodyPr rtlCol="0" anchor="ctr"/>
          <a:lstStyle/>
          <a:p>
            <a:pPr algn="ctr"/>
          </a:p>
        </p:txBody>
      </p:sp>
      <p:sp>
        <p:nvSpPr>
          <p:cNvPr id="15" name="TextBox 14"/>
          <p:cNvSpPr txBox="1"/>
          <p:nvPr/>
        </p:nvSpPr>
        <p:spPr>
          <a:xfrm>
            <a:off x="27559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44 %</a:t>
            </a:r>
          </a:p>
        </p:txBody>
      </p:sp>
      <p:sp>
        <p:nvSpPr>
          <p:cNvPr id="16" name="TextBox 15"/>
          <p:cNvSpPr txBox="1"/>
          <p:nvPr/>
        </p:nvSpPr>
        <p:spPr>
          <a:xfrm>
            <a:off x="27559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des habitants à Beni Makada, dernier pour presque tous les équipements</a:t>
            </a:r>
          </a:p>
        </p:txBody>
      </p:sp>
      <p:sp>
        <p:nvSpPr>
          <p:cNvPr id="17" name="Rectangle 16"/>
          <p:cNvSpPr/>
          <p:nvPr/>
        </p:nvSpPr>
        <p:spPr>
          <a:xfrm>
            <a:off x="4978400" y="1905000"/>
            <a:ext cx="2235200" cy="1206500"/>
          </a:xfrm>
          <a:prstGeom prst="rect">
            <a:avLst/>
          </a:prstGeom>
          <a:solidFill>
            <a:srgbClr val="FFFFFF"/>
          </a:solidFill>
          <a:ln w="6350">
            <a:solidFill>
              <a:srgbClr val="CFC6B8"/>
            </a:solidFill>
          </a:ln>
        </p:spPr>
        <p:txBody>
          <a:bodyPr rtlCol="0" anchor="ctr"/>
          <a:lstStyle/>
          <a:p>
            <a:pPr algn="ctr"/>
          </a:p>
        </p:txBody>
      </p:sp>
      <p:sp>
        <p:nvSpPr>
          <p:cNvPr id="18" name="Rectangle 17"/>
          <p:cNvSpPr/>
          <p:nvPr/>
        </p:nvSpPr>
        <p:spPr>
          <a:xfrm>
            <a:off x="4978400" y="1905000"/>
            <a:ext cx="2235200" cy="38100"/>
          </a:xfrm>
          <a:prstGeom prst="rect">
            <a:avLst/>
          </a:prstGeom>
          <a:solidFill>
            <a:srgbClr val="3E5A6E"/>
          </a:solidFill>
          <a:ln>
            <a:noFill/>
          </a:ln>
        </p:spPr>
        <p:txBody>
          <a:bodyPr rtlCol="0" anchor="ctr"/>
          <a:lstStyle/>
          <a:p>
            <a:pPr algn="ctr"/>
          </a:p>
        </p:txBody>
      </p:sp>
      <p:sp>
        <p:nvSpPr>
          <p:cNvPr id="19" name="TextBox 18"/>
          <p:cNvSpPr txBox="1"/>
          <p:nvPr/>
        </p:nvSpPr>
        <p:spPr>
          <a:xfrm>
            <a:off x="51181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0,17 m²</a:t>
            </a:r>
          </a:p>
        </p:txBody>
      </p:sp>
      <p:sp>
        <p:nvSpPr>
          <p:cNvPr id="20" name="TextBox 19"/>
          <p:cNvSpPr txBox="1"/>
          <p:nvPr/>
        </p:nvSpPr>
        <p:spPr>
          <a:xfrm>
            <a:off x="51181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 parc par habitant à Beni Makada</a:t>
            </a:r>
          </a:p>
        </p:txBody>
      </p:sp>
      <p:sp>
        <p:nvSpPr>
          <p:cNvPr id="21" name="Rectangle 20"/>
          <p:cNvSpPr/>
          <p:nvPr/>
        </p:nvSpPr>
        <p:spPr>
          <a:xfrm>
            <a:off x="7340600" y="1905000"/>
            <a:ext cx="2235200" cy="1206500"/>
          </a:xfrm>
          <a:prstGeom prst="rect">
            <a:avLst/>
          </a:prstGeom>
          <a:solidFill>
            <a:srgbClr val="FFFFFF"/>
          </a:solidFill>
          <a:ln w="6350">
            <a:solidFill>
              <a:srgbClr val="CFC6B8"/>
            </a:solidFill>
          </a:ln>
        </p:spPr>
        <p:txBody>
          <a:bodyPr rtlCol="0" anchor="ctr"/>
          <a:lstStyle/>
          <a:p>
            <a:pPr algn="ctr"/>
          </a:p>
        </p:txBody>
      </p:sp>
      <p:sp>
        <p:nvSpPr>
          <p:cNvPr id="22" name="Rectangle 21"/>
          <p:cNvSpPr/>
          <p:nvPr/>
        </p:nvSpPr>
        <p:spPr>
          <a:xfrm>
            <a:off x="7340600" y="1905000"/>
            <a:ext cx="2235200" cy="38100"/>
          </a:xfrm>
          <a:prstGeom prst="rect">
            <a:avLst/>
          </a:prstGeom>
          <a:solidFill>
            <a:srgbClr val="3E5A6E"/>
          </a:solidFill>
          <a:ln>
            <a:noFill/>
          </a:ln>
        </p:spPr>
        <p:txBody>
          <a:bodyPr rtlCol="0" anchor="ctr"/>
          <a:lstStyle/>
          <a:p>
            <a:pPr algn="ctr"/>
          </a:p>
        </p:txBody>
      </p:sp>
      <p:sp>
        <p:nvSpPr>
          <p:cNvPr id="23" name="TextBox 22"/>
          <p:cNvSpPr txBox="1"/>
          <p:nvPr/>
        </p:nvSpPr>
        <p:spPr>
          <a:xfrm>
            <a:off x="74803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36 / 150 000</a:t>
            </a:r>
          </a:p>
        </p:txBody>
      </p:sp>
      <p:sp>
        <p:nvSpPr>
          <p:cNvPr id="24" name="TextBox 23"/>
          <p:cNvSpPr txBox="1"/>
          <p:nvPr/>
        </p:nvSpPr>
        <p:spPr>
          <a:xfrm>
            <a:off x="74803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habitants comptés vs prévus à Chrafate</a:t>
            </a:r>
          </a:p>
        </p:txBody>
      </p:sp>
      <p:sp>
        <p:nvSpPr>
          <p:cNvPr id="25" name="Rectangle 24"/>
          <p:cNvSpPr/>
          <p:nvPr/>
        </p:nvSpPr>
        <p:spPr>
          <a:xfrm>
            <a:off x="9702800" y="1905000"/>
            <a:ext cx="2235200" cy="1206500"/>
          </a:xfrm>
          <a:prstGeom prst="rect">
            <a:avLst/>
          </a:prstGeom>
          <a:solidFill>
            <a:srgbClr val="FFFFFF"/>
          </a:solidFill>
          <a:ln w="6350">
            <a:solidFill>
              <a:srgbClr val="CFC6B8"/>
            </a:solidFill>
          </a:ln>
        </p:spPr>
        <p:txBody>
          <a:bodyPr rtlCol="0" anchor="ctr"/>
          <a:lstStyle/>
          <a:p>
            <a:pPr algn="ctr"/>
          </a:p>
        </p:txBody>
      </p:sp>
      <p:sp>
        <p:nvSpPr>
          <p:cNvPr id="26" name="Rectangle 25"/>
          <p:cNvSpPr/>
          <p:nvPr/>
        </p:nvSpPr>
        <p:spPr>
          <a:xfrm>
            <a:off x="9702800" y="1905000"/>
            <a:ext cx="2235200" cy="38100"/>
          </a:xfrm>
          <a:prstGeom prst="rect">
            <a:avLst/>
          </a:prstGeom>
          <a:solidFill>
            <a:srgbClr val="B5563C"/>
          </a:solidFill>
          <a:ln>
            <a:noFill/>
          </a:ln>
        </p:spPr>
        <p:txBody>
          <a:bodyPr rtlCol="0" anchor="ctr"/>
          <a:lstStyle/>
          <a:p>
            <a:pPr algn="ctr"/>
          </a:p>
        </p:txBody>
      </p:sp>
      <p:sp>
        <p:nvSpPr>
          <p:cNvPr id="27" name="TextBox 26"/>
          <p:cNvSpPr txBox="1"/>
          <p:nvPr/>
        </p:nvSpPr>
        <p:spPr>
          <a:xfrm>
            <a:off x="9842500" y="2070100"/>
            <a:ext cx="2032000" cy="317500"/>
          </a:xfrm>
          <a:prstGeom prst="rect">
            <a:avLst/>
          </a:prstGeom>
          <a:noFill/>
        </p:spPr>
        <p:txBody>
          <a:bodyPr wrap="square" lIns="0" rIns="0" tIns="0" bIns="0" anchor="t">
            <a:spAutoFit/>
          </a:bodyPr>
          <a:lstStyle/>
          <a:p>
            <a:pPr algn="l">
              <a:lnSpc>
                <a:spcPct val="120000"/>
              </a:lnSpc>
            </a:pPr>
            <a:r>
              <a:rPr sz="2600" b="1" i="0">
                <a:solidFill>
                  <a:srgbClr val="B5563C"/>
                </a:solidFill>
                <a:latin typeface="Barlow Condensed"/>
              </a:rPr>
              <a:t>850 vs 98 M</a:t>
            </a:r>
          </a:p>
        </p:txBody>
      </p:sp>
      <p:sp>
        <p:nvSpPr>
          <p:cNvPr id="28" name="TextBox 27"/>
          <p:cNvSpPr txBox="1"/>
          <p:nvPr/>
        </p:nvSpPr>
        <p:spPr>
          <a:xfrm>
            <a:off x="98425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MAD : décor de la médina vs bâtiments en ruine</a:t>
            </a:r>
          </a:p>
        </p:txBody>
      </p:sp>
      <p:sp>
        <p:nvSpPr>
          <p:cNvPr id="29" name="TextBox 28"/>
          <p:cNvSpPr txBox="1"/>
          <p:nvPr/>
        </p:nvSpPr>
        <p:spPr>
          <a:xfrm>
            <a:off x="254000" y="3302000"/>
            <a:ext cx="11684000" cy="317500"/>
          </a:xfrm>
          <a:prstGeom prst="rect">
            <a:avLst/>
          </a:prstGeom>
          <a:noFill/>
        </p:spPr>
        <p:txBody>
          <a:bodyPr wrap="square" lIns="0" rIns="0" tIns="0" bIns="0" anchor="t">
            <a:spAutoFit/>
          </a:bodyPr>
          <a:lstStyle/>
          <a:p>
            <a:pPr algn="ctr">
              <a:lnSpc>
                <a:spcPct val="120000"/>
              </a:lnSpc>
            </a:pPr>
            <a:r>
              <a:rPr sz="1700" b="0" i="1">
                <a:solidFill>
                  <a:srgbClr val="23303A"/>
                </a:solidFill>
                <a:latin typeface="Barlow Condensed"/>
              </a:rPr>
              <a:t>« Une ville se juge moins à son front de mer qu'à la vie quotidienne de son quartier le plus éloigné. »</a:t>
            </a:r>
          </a:p>
        </p:txBody>
      </p:sp>
      <p:cxnSp>
        <p:nvCxnSpPr>
          <p:cNvPr id="30" name="Connector 29"/>
          <p:cNvCxnSpPr/>
          <p:nvPr/>
        </p:nvCxnSpPr>
        <p:spPr>
          <a:xfrm>
            <a:off x="254000" y="3746500"/>
            <a:ext cx="11684000" cy="0"/>
          </a:xfrm>
          <a:prstGeom prst="line">
            <a:avLst/>
          </a:prstGeom>
          <a:ln w="6350">
            <a:solidFill>
              <a:srgbClr val="CFC6B8"/>
            </a:solidFill>
          </a:ln>
        </p:spPr>
      </p:cxnSp>
      <p:sp>
        <p:nvSpPr>
          <p:cNvPr id="31" name="TextBox 30"/>
          <p:cNvSpPr txBox="1"/>
          <p:nvPr/>
        </p:nvSpPr>
        <p:spPr>
          <a:xfrm>
            <a:off x="254000" y="38481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SOURCES</a:t>
            </a:r>
          </a:p>
        </p:txBody>
      </p:sp>
      <p:sp>
        <p:nvSpPr>
          <p:cNvPr id="32" name="TextBox 31"/>
          <p:cNvSpPr txBox="1"/>
          <p:nvPr/>
        </p:nvSpPr>
        <p:spPr>
          <a:xfrm>
            <a:off x="254000" y="4013200"/>
            <a:ext cx="11684000" cy="1270000"/>
          </a:xfrm>
          <a:prstGeom prst="rect">
            <a:avLst/>
          </a:prstGeom>
          <a:noFill/>
        </p:spPr>
        <p:txBody>
          <a:bodyPr wrap="square" lIns="0" rIns="0" tIns="0" bIns="0" anchor="t">
            <a:spAutoFit/>
          </a:bodyPr>
          <a:lstStyle/>
          <a:p>
            <a:pPr algn="l">
              <a:lnSpc>
                <a:spcPct val="140000"/>
              </a:lnSpc>
            </a:pPr>
            <a:r>
              <a:rPr sz="850" b="0" i="0">
                <a:solidFill>
                  <a:srgbClr val="7B746B"/>
                </a:solidFill>
                <a:latin typeface="Barlow"/>
              </a:rPr>
              <a:t>Données spatiales : OpenStreetMap contributors via Overture Maps Foundation, release 2026-09-23 (voirie, bâti, lieux, infrastructures, limites administratives) · ESA WorldCover 2021 v200 (10 m) · Copernicus DEM GLO-30 · Sentinel-2 L2A, scènes du 16/07/2017 et du 19/07/2025 (Copernicus, via AWS Open Data).</a:t>
            </a:r>
          </a:p>
          <a:p>
            <a:pPr algn="l">
              <a:lnSpc>
                <a:spcPct val="140000"/>
              </a:lnSpc>
            </a:pPr>
            <a:r>
              <a:rPr sz="850" b="0" i="0">
                <a:solidFill>
                  <a:srgbClr val="7B746B"/>
                </a:solidFill>
                <a:latin typeface="Barlow"/>
              </a:rPr>
              <a:t>Population : HCP, Recensement général de la population et de l'habitat 2014 et 2024, données par arrondissement (via citypopulation.de).</a:t>
            </a:r>
          </a:p>
          <a:p>
            <a:pPr algn="l">
              <a:lnSpc>
                <a:spcPct val="140000"/>
              </a:lnSpc>
            </a:pPr>
            <a:r>
              <a:rPr sz="850" b="0" i="0">
                <a:solidFill>
                  <a:srgbClr val="7B746B"/>
                </a:solidFill>
                <a:latin typeface="Barlow"/>
              </a:rPr>
              <a:t>Tourisme : Observatoire national du tourisme via Hespress FR (nov. 2025) ; port de Tanger Ville via Finances News Hebdo (2025) et Le360.</a:t>
            </a:r>
          </a:p>
          <a:p>
            <a:pPr algn="l">
              <a:lnSpc>
                <a:spcPct val="140000"/>
              </a:lnSpc>
            </a:pPr>
            <a:r>
              <a:rPr sz="850" b="0" i="0">
                <a:solidFill>
                  <a:srgbClr val="7B746B"/>
                </a:solidFill>
                <a:latin typeface="Barlow"/>
              </a:rPr>
              <a:t>Projets : Ministère de l'Économie et des Finances (2018), Médias24 (2013-2014, 2018, 2020) ; Le360, Finances News (juin 2018) ; TelQuel (2024) ; Le Desk (2025) citant la Cour des comptes (2024) ; Medias24 (2024) et Bladi (2024) pour le stade et la FIFA.</a:t>
            </a:r>
          </a:p>
          <a:p>
            <a:pPr algn="l">
              <a:lnSpc>
                <a:spcPct val="140000"/>
              </a:lnSpc>
            </a:pPr>
            <a:r>
              <a:rPr sz="850" b="0" i="0">
                <a:solidFill>
                  <a:srgbClr val="7B746B"/>
                </a:solidFill>
                <a:latin typeface="Barlow"/>
              </a:rPr>
              <a:t>Images : Landsat 5 et 8 (USGS, via Google Cloud Public Data), Sentinel-2 (Copernicus). Photographies : Wikimedia Commons, auteurs et licences indiqués sur chaque planche.</a:t>
            </a:r>
          </a:p>
          <a:p>
            <a:pPr algn="l">
              <a:lnSpc>
                <a:spcPct val="140000"/>
              </a:lnSpc>
            </a:pPr>
            <a:r>
              <a:rPr sz="850" b="0" i="0">
                <a:solidFill>
                  <a:srgbClr val="7B746B"/>
                </a:solidFill>
                <a:latin typeface="Barlow"/>
              </a:rPr>
              <a:t>Textes : SGG et portail Adala (lois 12-90, 25-90, 22-80, 81-12, 66-12 ; décret 2-18-577) ; BO n° 7161 et 7209 (PA de 2023) ; Medias24, Le Desk, TelQuel, Le360, Hespress, Challenge (2013-2025).</a:t>
            </a:r>
          </a:p>
          <a:p>
            <a:pPr algn="l">
              <a:lnSpc>
                <a:spcPct val="140000"/>
              </a:lnSpc>
            </a:pPr>
            <a:r>
              <a:rPr sz="850" b="0" i="0">
                <a:solidFill>
                  <a:srgbClr val="7B746B"/>
                </a:solidFill>
                <a:latin typeface="Barlow"/>
              </a:rPr>
              <a:t>Méthode : reprojection UTM 30N ; densités par estimation par noyau ; distances euclidiennes au trait de côte ; desserte = 300 m autour des arrêts ; profils extraits du MNT. Calculs, cartes, coupes et croquis : I. Sefiani et A. Azarkan.</a:t>
            </a:r>
          </a:p>
        </p:txBody>
      </p:sp>
      <p:pic>
        <p:nvPicPr>
          <p:cNvPr id="33" name="Picture 32" descr="p_pano.jpg"/>
          <p:cNvPicPr>
            <a:picLocks noChangeAspect="1"/>
          </p:cNvPicPr>
          <p:nvPr/>
        </p:nvPicPr>
        <p:blipFill>
          <a:blip r:embed="rId3"/>
          <a:stretch>
            <a:fillRect/>
          </a:stretch>
        </p:blipFill>
        <p:spPr>
          <a:xfrm>
            <a:off x="254000" y="5308600"/>
            <a:ext cx="11684000" cy="1004824"/>
          </a:xfrm>
          <a:prstGeom prst="rect">
            <a:avLst/>
          </a:prstGeom>
        </p:spPr>
      </p:pic>
      <p:sp>
        <p:nvSpPr>
          <p:cNvPr id="34" name="TextBox 33"/>
          <p:cNvSpPr txBox="1"/>
          <p:nvPr/>
        </p:nvSpPr>
        <p:spPr>
          <a:xfrm>
            <a:off x="254000" y="6350000"/>
            <a:ext cx="7620000" cy="127000"/>
          </a:xfrm>
          <a:prstGeom prst="rect">
            <a:avLst/>
          </a:prstGeom>
          <a:noFill/>
        </p:spPr>
        <p:txBody>
          <a:bodyPr wrap="square" lIns="0" rIns="0" tIns="0" bIns="0" anchor="t">
            <a:spAutoFit/>
          </a:bodyPr>
          <a:lstStyle/>
          <a:p>
            <a:pPr algn="l">
              <a:lnSpc>
                <a:spcPct val="120000"/>
              </a:lnSpc>
            </a:pPr>
            <a:r>
              <a:rPr sz="800" b="0" i="1">
                <a:solidFill>
                  <a:srgbClr val="7B746B"/>
                </a:solidFill>
                <a:latin typeface="Barlow"/>
              </a:rPr>
              <a:t>Panorama de Tanger depuis le port : Börste, Wikimedia Commons, CC BY-SA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